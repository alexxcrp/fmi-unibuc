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s/slide17.xml" ContentType="application/vnd.openxmlformats-officedocument.presentationml.slide+xml"/>
  <Override PartName="/ppt/slides/slide37.xml" ContentType="application/vnd.openxmlformats-officedocument.presentationml.slide+xml"/>
  <Override PartName="/ppt/slides/slide36.xml" ContentType="application/vnd.openxmlformats-officedocument.presentationml.slide+xml"/>
  <Override PartName="/ppt/slides/slide35.xml" ContentType="application/vnd.openxmlformats-officedocument.presentationml.slide+xml"/>
  <Override PartName="/ppt/slides/slide34.xml" ContentType="application/vnd.openxmlformats-officedocument.presentationml.slide+xml"/>
  <Override PartName="/ppt/slides/slide33.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5.xml" ContentType="application/vnd.openxmlformats-officedocument.presentationml.slide+xml"/>
  <Override PartName="/ppt/slides/slide44.xml" ContentType="application/vnd.openxmlformats-officedocument.presentationml.slide+xml"/>
  <Override PartName="/ppt/slides/slide43.xml" ContentType="application/vnd.openxmlformats-officedocument.presentationml.slide+xml"/>
  <Override PartName="/ppt/slides/slide42.xml" ContentType="application/vnd.openxmlformats-officedocument.presentationml.slide+xml"/>
  <Override PartName="/ppt/slides/slide41.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6.xml" ContentType="application/vnd.openxmlformats-officedocument.presentationml.slide+xml"/>
  <Override PartName="/ppt/slides/slide46.xml" ContentType="application/vnd.openxmlformats-officedocument.presentationml.slide+xml"/>
  <Override PartName="/ppt/slides/slide4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47.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8.xml" ContentType="application/vnd.openxmlformats-officedocument.presentationml.slide+xml"/>
  <Override PartName="/ppt/slides/slide3.xml" ContentType="application/vnd.openxmlformats-officedocument.presentationml.slide+xml"/>
  <Override PartName="/ppt/slides/slide10.xml" ContentType="application/vnd.openxmlformats-officedocument.presentationml.slide+xml"/>
  <Override PartName="/ppt/slides/slide49.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1.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notesSlides/notesSlide1.xml" ContentType="application/vnd.openxmlformats-officedocument.presentationml.notesSlide+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1"/>
  </p:notesMasterIdLst>
  <p:sldIdLst>
    <p:sldId id="256" r:id="rId2"/>
    <p:sldId id="257" r:id="rId3"/>
    <p:sldId id="258" r:id="rId4"/>
    <p:sldId id="264" r:id="rId5"/>
    <p:sldId id="265" r:id="rId6"/>
    <p:sldId id="267" r:id="rId7"/>
    <p:sldId id="268" r:id="rId8"/>
    <p:sldId id="272" r:id="rId9"/>
    <p:sldId id="269" r:id="rId10"/>
    <p:sldId id="270" r:id="rId11"/>
    <p:sldId id="271" r:id="rId12"/>
    <p:sldId id="273" r:id="rId13"/>
    <p:sldId id="266" r:id="rId14"/>
    <p:sldId id="275" r:id="rId15"/>
    <p:sldId id="276" r:id="rId16"/>
    <p:sldId id="277" r:id="rId17"/>
    <p:sldId id="278" r:id="rId18"/>
    <p:sldId id="279" r:id="rId19"/>
    <p:sldId id="280" r:id="rId20"/>
    <p:sldId id="281" r:id="rId21"/>
    <p:sldId id="282" r:id="rId22"/>
    <p:sldId id="283" r:id="rId23"/>
    <p:sldId id="284" r:id="rId24"/>
    <p:sldId id="274" r:id="rId25"/>
    <p:sldId id="285" r:id="rId26"/>
    <p:sldId id="286" r:id="rId27"/>
    <p:sldId id="287" r:id="rId28"/>
    <p:sldId id="288" r:id="rId29"/>
    <p:sldId id="289" r:id="rId30"/>
    <p:sldId id="290" r:id="rId31"/>
    <p:sldId id="294" r:id="rId32"/>
    <p:sldId id="295" r:id="rId33"/>
    <p:sldId id="296" r:id="rId34"/>
    <p:sldId id="297" r:id="rId35"/>
    <p:sldId id="320" r:id="rId36"/>
    <p:sldId id="298" r:id="rId37"/>
    <p:sldId id="299" r:id="rId38"/>
    <p:sldId id="300" r:id="rId39"/>
    <p:sldId id="301" r:id="rId40"/>
    <p:sldId id="312" r:id="rId41"/>
    <p:sldId id="302" r:id="rId42"/>
    <p:sldId id="303" r:id="rId43"/>
    <p:sldId id="304" r:id="rId44"/>
    <p:sldId id="314" r:id="rId45"/>
    <p:sldId id="305" r:id="rId46"/>
    <p:sldId id="306" r:id="rId47"/>
    <p:sldId id="308" r:id="rId48"/>
    <p:sldId id="309" r:id="rId49"/>
    <p:sldId id="321" r:id="rId5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15620"/>
    <p:restoredTop sz="94660"/>
  </p:normalViewPr>
  <p:slideViewPr>
    <p:cSldViewPr>
      <p:cViewPr>
        <p:scale>
          <a:sx n="76" d="100"/>
          <a:sy n="76" d="100"/>
        </p:scale>
        <p:origin x="-960"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8" Type="http://schemas.openxmlformats.org/officeDocument/2006/relationships/customXml" Target="../customXml/item3.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customXml" Target="../customXml/item1.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customXml" Target="../customXml/item2.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711B322-A55E-42E8-A83B-1B20C624782B}" type="datetimeFigureOut">
              <a:rPr lang="en-US" smtClean="0"/>
              <a:pPr/>
              <a:t>12/7/2020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7F9226E-8E35-4B7E-9F8B-EC274AAFB1F9}" type="slidenum">
              <a:rPr lang="en-US" smtClean="0"/>
              <a:pPr/>
              <a:t>‹#›</a:t>
            </a:fld>
            <a:endParaRPr lang="en-US"/>
          </a:p>
        </p:txBody>
      </p:sp>
    </p:spTree>
    <p:extLst>
      <p:ext uri="{BB962C8B-B14F-4D97-AF65-F5344CB8AC3E}">
        <p14:creationId xmlns:p14="http://schemas.microsoft.com/office/powerpoint/2010/main" val="28825485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97F9226E-8E35-4B7E-9F8B-EC274AAFB1F9}" type="slidenum">
              <a:rPr lang="en-US" smtClean="0"/>
              <a:pPr/>
              <a:t>18</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E011893-B910-41CC-B781-5EDBD9C442E2}" type="datetimeFigureOut">
              <a:rPr lang="en-US" smtClean="0"/>
              <a:pPr/>
              <a:t>12/7/2020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1FB32B-6B26-45F5-8943-2F327C7FDDE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E011893-B910-41CC-B781-5EDBD9C442E2}" type="datetimeFigureOut">
              <a:rPr lang="en-US" smtClean="0"/>
              <a:pPr/>
              <a:t>12/7/2020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1FB32B-6B26-45F5-8943-2F327C7FDDE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E011893-B910-41CC-B781-5EDBD9C442E2}" type="datetimeFigureOut">
              <a:rPr lang="en-US" smtClean="0"/>
              <a:pPr/>
              <a:t>12/7/2020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1FB32B-6B26-45F5-8943-2F327C7FDDE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E011893-B910-41CC-B781-5EDBD9C442E2}" type="datetimeFigureOut">
              <a:rPr lang="en-US" smtClean="0"/>
              <a:pPr/>
              <a:t>12/7/2020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11FB32B-6B26-45F5-8943-2F327C7FDDE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E011893-B910-41CC-B781-5EDBD9C442E2}" type="datetimeFigureOut">
              <a:rPr lang="en-US" smtClean="0"/>
              <a:pPr/>
              <a:t>12/7/2020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11FB32B-6B26-45F5-8943-2F327C7FDDE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E011893-B910-41CC-B781-5EDBD9C442E2}" type="datetimeFigureOut">
              <a:rPr lang="en-US" smtClean="0"/>
              <a:pPr/>
              <a:t>12/7/2020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11FB32B-6B26-45F5-8943-2F327C7FDDE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011893-B910-41CC-B781-5EDBD9C442E2}" type="datetimeFigureOut">
              <a:rPr lang="en-US" smtClean="0"/>
              <a:pPr/>
              <a:t>12/7/2020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11FB32B-6B26-45F5-8943-2F327C7FDDE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E011893-B910-41CC-B781-5EDBD9C442E2}" type="datetimeFigureOut">
              <a:rPr lang="en-US" smtClean="0"/>
              <a:pPr/>
              <a:t>12/7/2020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11FB32B-6B26-45F5-8943-2F327C7FDDE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E011893-B910-41CC-B781-5EDBD9C442E2}" type="datetimeFigureOut">
              <a:rPr lang="en-US" smtClean="0"/>
              <a:pPr/>
              <a:t>12/7/2020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11FB32B-6B26-45F5-8943-2F327C7FDDE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E011893-B910-41CC-B781-5EDBD9C442E2}" type="datetimeFigureOut">
              <a:rPr lang="en-US" smtClean="0"/>
              <a:pPr/>
              <a:t>12/7/2020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1FB32B-6B26-45F5-8943-2F327C7FDDE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E011893-B910-41CC-B781-5EDBD9C442E2}" type="datetimeFigureOut">
              <a:rPr lang="en-US" smtClean="0"/>
              <a:pPr/>
              <a:t>12/7/2020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1FB32B-6B26-45F5-8943-2F327C7FDDE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E011893-B910-41CC-B781-5EDBD9C442E2}" type="datetimeFigureOut">
              <a:rPr lang="en-US" smtClean="0"/>
              <a:pPr/>
              <a:t>12/7/2020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1FB32B-6B26-45F5-8943-2F327C7FDDE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hyperlink" Target="https://www.youtube.com/watch?v=ZNWCDh1XRN0&amp;ab_channel=NoahDeMent" TargetMode="Externa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Curs </a:t>
            </a:r>
            <a:r>
              <a:rPr lang="en-US" dirty="0" smtClean="0"/>
              <a:t>7</a:t>
            </a:r>
            <a:r>
              <a:rPr lang="ro-RO" dirty="0" smtClean="0"/>
              <a:t>+8</a:t>
            </a:r>
            <a:endParaRPr lang="en-US" dirty="0"/>
          </a:p>
        </p:txBody>
      </p:sp>
      <p:sp>
        <p:nvSpPr>
          <p:cNvPr id="3" name="Subtitle 2"/>
          <p:cNvSpPr>
            <a:spLocks noGrp="1"/>
          </p:cNvSpPr>
          <p:nvPr>
            <p:ph type="subTitle" idx="1"/>
          </p:nvPr>
        </p:nvSpPr>
        <p:spPr/>
        <p:txBody>
          <a:bodyPr/>
          <a:lstStyle/>
          <a:p>
            <a:r>
              <a:rPr lang="ro-RO" dirty="0"/>
              <a:t>Raționamentul </a:t>
            </a:r>
            <a:r>
              <a:rPr lang="ro-RO" dirty="0" smtClean="0"/>
              <a:t>științific</a:t>
            </a:r>
          </a:p>
          <a:p>
            <a:r>
              <a:rPr lang="ro-RO" dirty="0" smtClean="0"/>
              <a:t>Evaluarea argumentelor</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ro-RO" dirty="0" smtClean="0"/>
              <a:t>Ipoteze = enunțuri ce pot fi adevărate sau false</a:t>
            </a:r>
            <a:r>
              <a:rPr lang="en-US" dirty="0" smtClean="0"/>
              <a:t>. </a:t>
            </a:r>
            <a:endParaRPr lang="ro-RO" dirty="0" smtClean="0"/>
          </a:p>
          <a:p>
            <a:r>
              <a:rPr lang="en-US" dirty="0" err="1" smtClean="0"/>
              <a:t>Aminti</a:t>
            </a:r>
            <a:r>
              <a:rPr lang="ro-RO" dirty="0" smtClean="0"/>
              <a:t>ți-vă distincția între enunțuri declarative, interogative și imperative – doar primele pot avea valori de adevăr.</a:t>
            </a:r>
          </a:p>
          <a:p>
            <a:r>
              <a:rPr lang="ro-RO" dirty="0" smtClean="0"/>
              <a:t>Metoda științifică –</a:t>
            </a:r>
            <a:r>
              <a:rPr lang="en-US" dirty="0" smtClean="0"/>
              <a:t>&gt;</a:t>
            </a:r>
            <a:r>
              <a:rPr lang="ro-RO" dirty="0" smtClean="0"/>
              <a:t> testarea ipotezelor</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dirty="0" smtClean="0"/>
              <a:t>Testarea ipotezelor</a:t>
            </a:r>
            <a:endParaRPr lang="en-US" dirty="0"/>
          </a:p>
        </p:txBody>
      </p:sp>
      <p:sp>
        <p:nvSpPr>
          <p:cNvPr id="3" name="Content Placeholder 2"/>
          <p:cNvSpPr>
            <a:spLocks noGrp="1"/>
          </p:cNvSpPr>
          <p:nvPr>
            <p:ph idx="1"/>
          </p:nvPr>
        </p:nvSpPr>
        <p:spPr/>
        <p:txBody>
          <a:bodyPr>
            <a:normAutofit fontScale="77500" lnSpcReduction="20000"/>
          </a:bodyPr>
          <a:lstStyle/>
          <a:p>
            <a:r>
              <a:rPr lang="ro-RO" dirty="0" smtClean="0"/>
              <a:t>Proces bazat pe:</a:t>
            </a:r>
          </a:p>
          <a:p>
            <a:pPr>
              <a:buFontTx/>
              <a:buChar char="-"/>
            </a:pPr>
            <a:r>
              <a:rPr lang="ro-RO" dirty="0"/>
              <a:t>A</a:t>
            </a:r>
            <a:r>
              <a:rPr lang="ro-RO" dirty="0" smtClean="0"/>
              <a:t>dunarea sau </a:t>
            </a:r>
            <a:r>
              <a:rPr lang="ro-RO" b="1" dirty="0" smtClean="0"/>
              <a:t>cumularea</a:t>
            </a:r>
            <a:r>
              <a:rPr lang="ro-RO" dirty="0" smtClean="0"/>
              <a:t> </a:t>
            </a:r>
            <a:r>
              <a:rPr lang="ro-RO" b="1" dirty="0" smtClean="0"/>
              <a:t>dovezilor</a:t>
            </a:r>
            <a:r>
              <a:rPr lang="ro-RO" dirty="0" smtClean="0"/>
              <a:t>, </a:t>
            </a:r>
          </a:p>
          <a:p>
            <a:pPr>
              <a:buFontTx/>
              <a:buChar char="-"/>
            </a:pPr>
            <a:r>
              <a:rPr lang="ro-RO" dirty="0" smtClean="0"/>
              <a:t>Selectarea </a:t>
            </a:r>
            <a:r>
              <a:rPr lang="ro-RO" b="1" dirty="0" smtClean="0"/>
              <a:t>celei mai bune ipoteze</a:t>
            </a:r>
          </a:p>
          <a:p>
            <a:pPr>
              <a:buNone/>
            </a:pPr>
            <a:r>
              <a:rPr lang="ro-RO" dirty="0"/>
              <a:t>Ș</a:t>
            </a:r>
            <a:r>
              <a:rPr lang="ro-RO" dirty="0" smtClean="0"/>
              <a:t>i nu pe:</a:t>
            </a:r>
          </a:p>
          <a:p>
            <a:pPr>
              <a:buFontTx/>
              <a:buChar char="-"/>
            </a:pPr>
            <a:r>
              <a:rPr lang="ro-RO" dirty="0" smtClean="0">
                <a:solidFill>
                  <a:srgbClr val="FF0000"/>
                </a:solidFill>
              </a:rPr>
              <a:t>Intuiții</a:t>
            </a:r>
            <a:r>
              <a:rPr lang="ro-RO" dirty="0" smtClean="0"/>
              <a:t>: ”am senzația că P, deci P.”</a:t>
            </a:r>
          </a:p>
          <a:p>
            <a:pPr>
              <a:buFontTx/>
              <a:buChar char="-"/>
            </a:pPr>
            <a:r>
              <a:rPr lang="ro-RO" dirty="0" smtClean="0">
                <a:solidFill>
                  <a:srgbClr val="FF0000"/>
                </a:solidFill>
              </a:rPr>
              <a:t>Tradiție</a:t>
            </a:r>
            <a:r>
              <a:rPr lang="ro-RO" dirty="0" smtClean="0"/>
              <a:t>: ”timp de atâtea veacuri am considerat că P, deci P este adevărată.”</a:t>
            </a:r>
          </a:p>
          <a:p>
            <a:pPr>
              <a:buFontTx/>
              <a:buChar char="-"/>
            </a:pPr>
            <a:r>
              <a:rPr lang="ro-RO" dirty="0" smtClean="0">
                <a:solidFill>
                  <a:srgbClr val="FF0000"/>
                </a:solidFill>
              </a:rPr>
              <a:t>Popularitate</a:t>
            </a:r>
            <a:r>
              <a:rPr lang="ro-RO" dirty="0" smtClean="0"/>
              <a:t>: ”multă lume consideră că P, deci P este adevărată.”</a:t>
            </a:r>
          </a:p>
          <a:p>
            <a:pPr>
              <a:buFontTx/>
              <a:buChar char="-"/>
            </a:pPr>
            <a:r>
              <a:rPr lang="ro-RO" dirty="0" smtClean="0">
                <a:solidFill>
                  <a:srgbClr val="FF0000"/>
                </a:solidFill>
              </a:rPr>
              <a:t>Autoritate</a:t>
            </a:r>
            <a:r>
              <a:rPr lang="ro-RO" dirty="0" smtClean="0"/>
              <a:t>: ”cercetătorul X consideră că P, deci P.”</a:t>
            </a:r>
          </a:p>
          <a:p>
            <a:pPr>
              <a:buFontTx/>
              <a:buChar char="-"/>
            </a:pPr>
            <a:r>
              <a:rPr lang="ro-RO" dirty="0" smtClean="0">
                <a:solidFill>
                  <a:srgbClr val="FF0000"/>
                </a:solidFill>
              </a:rPr>
              <a:t>Preferințe personale</a:t>
            </a:r>
            <a:r>
              <a:rPr lang="ro-RO" dirty="0" smtClean="0"/>
              <a:t>: ”îmi place să cred că P, deci P.”</a:t>
            </a:r>
          </a:p>
          <a:p>
            <a:r>
              <a:rPr lang="ro-RO" dirty="0" smtClean="0"/>
              <a:t>Proces </a:t>
            </a:r>
            <a:r>
              <a:rPr lang="ro-RO" b="1" dirty="0" smtClean="0"/>
              <a:t>failibil</a:t>
            </a:r>
            <a:r>
              <a:rPr lang="en-US" dirty="0" smtClean="0"/>
              <a:t>!</a:t>
            </a:r>
            <a:endParaRPr lang="ro-RO" dirty="0" smtClean="0"/>
          </a:p>
          <a:p>
            <a:endParaRPr lang="ro-RO" b="1" dirty="0" smtClean="0"/>
          </a:p>
          <a:p>
            <a:pPr>
              <a:buFontTx/>
              <a:buChar char="-"/>
            </a:pPr>
            <a:endParaRPr lang="ro-RO" dirty="0" smtClean="0"/>
          </a:p>
          <a:p>
            <a:pPr>
              <a:buFontTx/>
              <a:buChar char="-"/>
            </a:pPr>
            <a:endParaRPr lang="ro-RO" dirty="0" smtClean="0"/>
          </a:p>
          <a:p>
            <a:pPr>
              <a:buNone/>
            </a:pP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dirty="0" smtClean="0"/>
              <a:t>Metoda ”DEAR”</a:t>
            </a:r>
            <a:endParaRPr lang="en-US" dirty="0"/>
          </a:p>
        </p:txBody>
      </p:sp>
      <p:sp>
        <p:nvSpPr>
          <p:cNvPr id="3" name="Content Placeholder 2"/>
          <p:cNvSpPr>
            <a:spLocks noGrp="1"/>
          </p:cNvSpPr>
          <p:nvPr>
            <p:ph idx="1"/>
          </p:nvPr>
        </p:nvSpPr>
        <p:spPr/>
        <p:txBody>
          <a:bodyPr/>
          <a:lstStyle/>
          <a:p>
            <a:pPr marL="514350" indent="-514350">
              <a:buAutoNum type="arabicParenBoth"/>
            </a:pPr>
            <a:r>
              <a:rPr lang="ro-RO" dirty="0" smtClean="0"/>
              <a:t>(</a:t>
            </a:r>
            <a:r>
              <a:rPr lang="ro-RO" i="1" dirty="0" smtClean="0"/>
              <a:t>Define</a:t>
            </a:r>
            <a:r>
              <a:rPr lang="ro-RO" dirty="0" smtClean="0"/>
              <a:t>) Definește ipoteza pe care dorești s-o testezi.</a:t>
            </a:r>
          </a:p>
          <a:p>
            <a:pPr marL="514350" indent="-514350">
              <a:buAutoNum type="arabicParenBoth"/>
            </a:pPr>
            <a:r>
              <a:rPr lang="ro-RO" dirty="0" smtClean="0"/>
              <a:t>(</a:t>
            </a:r>
            <a:r>
              <a:rPr lang="ro-RO" i="1" dirty="0" smtClean="0"/>
              <a:t>Evidence</a:t>
            </a:r>
            <a:r>
              <a:rPr lang="ro-RO" dirty="0" smtClean="0"/>
              <a:t>) Adună dovezi pro sau contra ipotezei.</a:t>
            </a:r>
          </a:p>
          <a:p>
            <a:pPr marL="514350" indent="-514350">
              <a:buAutoNum type="arabicParenBoth"/>
            </a:pPr>
            <a:r>
              <a:rPr lang="ro-RO" dirty="0" smtClean="0"/>
              <a:t>(</a:t>
            </a:r>
            <a:r>
              <a:rPr lang="ro-RO" i="1" dirty="0" smtClean="0"/>
              <a:t>Alternatives</a:t>
            </a:r>
            <a:r>
              <a:rPr lang="ro-RO" dirty="0" smtClean="0"/>
              <a:t>) Află care sunt ipotezele alternative.</a:t>
            </a:r>
          </a:p>
          <a:p>
            <a:pPr marL="514350" indent="-514350">
              <a:buAutoNum type="arabicParenBoth"/>
            </a:pPr>
            <a:r>
              <a:rPr lang="ro-RO" dirty="0" smtClean="0"/>
              <a:t>(</a:t>
            </a:r>
            <a:r>
              <a:rPr lang="ro-RO" i="1" dirty="0" smtClean="0"/>
              <a:t>Rank</a:t>
            </a:r>
            <a:r>
              <a:rPr lang="ro-RO" dirty="0" smtClean="0"/>
              <a:t>) Ordonează ierarhic ipotezele și selecteaz-o pe cea mai bună dintre acestea.</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a:bodyPr>
          <a:lstStyle/>
          <a:p>
            <a:r>
              <a:rPr lang="ro-RO" dirty="0" smtClean="0"/>
              <a:t>Metoda ”DEAR”</a:t>
            </a:r>
            <a:endParaRPr lang="en-US" dirty="0"/>
          </a:p>
        </p:txBody>
      </p:sp>
      <p:sp>
        <p:nvSpPr>
          <p:cNvPr id="3" name="Content Placeholder 2"/>
          <p:cNvSpPr>
            <a:spLocks noGrp="1"/>
          </p:cNvSpPr>
          <p:nvPr>
            <p:ph idx="1"/>
          </p:nvPr>
        </p:nvSpPr>
        <p:spPr>
          <a:xfrm>
            <a:off x="457200" y="1066800"/>
            <a:ext cx="8229600" cy="5562600"/>
          </a:xfrm>
        </p:spPr>
        <p:txBody>
          <a:bodyPr>
            <a:normAutofit fontScale="85000" lnSpcReduction="20000"/>
          </a:bodyPr>
          <a:lstStyle/>
          <a:p>
            <a:pPr>
              <a:buNone/>
            </a:pPr>
            <a:r>
              <a:rPr lang="ro-RO" dirty="0" smtClean="0"/>
              <a:t>(1) (</a:t>
            </a:r>
            <a:r>
              <a:rPr lang="ro-RO" i="1" dirty="0" smtClean="0"/>
              <a:t>Define</a:t>
            </a:r>
            <a:r>
              <a:rPr lang="ro-RO" dirty="0" smtClean="0"/>
              <a:t>) Definește ipoteza pe care dorești s-o testezi.</a:t>
            </a:r>
          </a:p>
          <a:p>
            <a:pPr>
              <a:buFontTx/>
              <a:buChar char="-"/>
            </a:pPr>
            <a:r>
              <a:rPr lang="ro-RO" dirty="0" smtClean="0"/>
              <a:t>definițiile trebuie să fie </a:t>
            </a:r>
            <a:r>
              <a:rPr lang="ro-RO" b="1" dirty="0" smtClean="0"/>
              <a:t>clare</a:t>
            </a:r>
            <a:r>
              <a:rPr lang="ro-RO" dirty="0" smtClean="0"/>
              <a:t> (implicit, trebuie să ne fie clar ce înseamnă fiecare cuvânt folosit).</a:t>
            </a:r>
          </a:p>
          <a:p>
            <a:pPr>
              <a:buNone/>
            </a:pPr>
            <a:r>
              <a:rPr lang="ro-RO" dirty="0" smtClean="0"/>
              <a:t>Ex.: ”Fiecare persoană are o aură”.</a:t>
            </a:r>
          </a:p>
          <a:p>
            <a:pPr>
              <a:buNone/>
            </a:pPr>
            <a:r>
              <a:rPr lang="ro-RO" dirty="0" smtClean="0"/>
              <a:t>Întrebare: ce înseamnă ”aură”? </a:t>
            </a:r>
          </a:p>
          <a:p>
            <a:pPr>
              <a:buNone/>
            </a:pPr>
            <a:r>
              <a:rPr lang="ro-RO" dirty="0" smtClean="0"/>
              <a:t>Posibile răspunsuri:</a:t>
            </a:r>
          </a:p>
          <a:p>
            <a:pPr>
              <a:buFontTx/>
              <a:buChar char="-"/>
            </a:pPr>
            <a:r>
              <a:rPr lang="ro-RO" dirty="0" smtClean="0"/>
              <a:t>Câmp electromagnetic: fizicienii dețin metode de verificare a existenței unui câmp electromagnetic.</a:t>
            </a:r>
          </a:p>
          <a:p>
            <a:pPr>
              <a:buFontTx/>
              <a:buChar char="-"/>
            </a:pPr>
            <a:r>
              <a:rPr lang="ro-RO" dirty="0" smtClean="0"/>
              <a:t>”</a:t>
            </a:r>
            <a:r>
              <a:rPr lang="it-IT" dirty="0" smtClean="0"/>
              <a:t>conturul </a:t>
            </a:r>
            <a:r>
              <a:rPr lang="it-IT" dirty="0"/>
              <a:t>care ține toate corpurile subtile la un </a:t>
            </a:r>
            <a:r>
              <a:rPr lang="it-IT" dirty="0" smtClean="0"/>
              <a:t>loc</a:t>
            </a:r>
            <a:r>
              <a:rPr lang="ro-RO" dirty="0" smtClean="0"/>
              <a:t>” – ce înseamnă ”contur” în acest context? Ce sunt ”corpurile subtile”? Dacă nu avem metode de a verifica existența acestui obiect, cu cât sens putem vorbi despre acesta? La fel de bine n-am putea vorbi despre unicornul invizibil de pe cel mai înalt munte al planetei Marte?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a:bodyPr>
          <a:lstStyle/>
          <a:p>
            <a:r>
              <a:rPr lang="ro-RO" dirty="0" smtClean="0"/>
              <a:t>Metoda ”DEAR”</a:t>
            </a:r>
            <a:endParaRPr lang="en-US" dirty="0"/>
          </a:p>
        </p:txBody>
      </p:sp>
      <p:sp>
        <p:nvSpPr>
          <p:cNvPr id="3" name="Content Placeholder 2"/>
          <p:cNvSpPr>
            <a:spLocks noGrp="1"/>
          </p:cNvSpPr>
          <p:nvPr>
            <p:ph idx="1"/>
          </p:nvPr>
        </p:nvSpPr>
        <p:spPr>
          <a:xfrm>
            <a:off x="457200" y="1066800"/>
            <a:ext cx="8229600" cy="5562600"/>
          </a:xfrm>
        </p:spPr>
        <p:txBody>
          <a:bodyPr>
            <a:normAutofit fontScale="92500" lnSpcReduction="20000"/>
          </a:bodyPr>
          <a:lstStyle/>
          <a:p>
            <a:pPr>
              <a:buNone/>
            </a:pPr>
            <a:r>
              <a:rPr lang="ro-RO" dirty="0" smtClean="0"/>
              <a:t>(1) (</a:t>
            </a:r>
            <a:r>
              <a:rPr lang="ro-RO" i="1" dirty="0" smtClean="0"/>
              <a:t>Define</a:t>
            </a:r>
            <a:r>
              <a:rPr lang="ro-RO" dirty="0" smtClean="0"/>
              <a:t>) Definește ipoteza pe care dorești s-o testezi.</a:t>
            </a:r>
          </a:p>
          <a:p>
            <a:pPr>
              <a:buFontTx/>
              <a:buChar char="-"/>
            </a:pPr>
            <a:r>
              <a:rPr lang="ro-RO" dirty="0" smtClean="0"/>
              <a:t>definițiile trebuie să fie </a:t>
            </a:r>
            <a:r>
              <a:rPr lang="ro-RO" b="1" dirty="0" smtClean="0"/>
              <a:t>precise</a:t>
            </a:r>
            <a:r>
              <a:rPr lang="ro-RO" dirty="0" smtClean="0"/>
              <a:t>.</a:t>
            </a:r>
          </a:p>
          <a:p>
            <a:pPr>
              <a:buNone/>
            </a:pPr>
            <a:r>
              <a:rPr lang="ro-RO" dirty="0" smtClean="0"/>
              <a:t>Ex.:”A investi în aur este profitabil”</a:t>
            </a:r>
          </a:p>
          <a:p>
            <a:pPr>
              <a:buNone/>
            </a:pPr>
            <a:r>
              <a:rPr lang="ro-RO" dirty="0" smtClean="0"/>
              <a:t>Întrebări: </a:t>
            </a:r>
          </a:p>
          <a:p>
            <a:pPr>
              <a:buFontTx/>
              <a:buChar char="-"/>
            </a:pPr>
            <a:r>
              <a:rPr lang="ro-RO" dirty="0" smtClean="0"/>
              <a:t>Vorbești despre a cumpăra aur, obiecte ce conțin aur sau activități conectate cu prelucrarea aurului etc.?</a:t>
            </a:r>
            <a:r>
              <a:rPr lang="ro-RO" dirty="0"/>
              <a:t> </a:t>
            </a:r>
            <a:r>
              <a:rPr lang="ro-RO" dirty="0" smtClean="0"/>
              <a:t>Nu este clar.</a:t>
            </a:r>
          </a:p>
          <a:p>
            <a:pPr>
              <a:buFontTx/>
              <a:buChar char="-"/>
            </a:pPr>
            <a:r>
              <a:rPr lang="ro-RO" dirty="0" smtClean="0"/>
              <a:t>Este vorba despre o investiție profitabilă pe termen lung sau scurt?</a:t>
            </a:r>
          </a:p>
          <a:p>
            <a:pPr>
              <a:buFontTx/>
              <a:buChar char="-"/>
            </a:pPr>
            <a:r>
              <a:rPr lang="ro-RO" dirty="0" smtClean="0"/>
              <a:t>Cât de profitabil?</a:t>
            </a:r>
          </a:p>
          <a:p>
            <a:pPr>
              <a:buNone/>
            </a:pPr>
            <a:r>
              <a:rPr lang="ro-RO" dirty="0" smtClean="0"/>
              <a:t>Un enunț mai clar ar fi următorul: ”banii investiți în aur sunt feriți de efectele inflației.”</a:t>
            </a:r>
          </a:p>
          <a:p>
            <a:pPr>
              <a:buFontTx/>
              <a:buChar char="-"/>
            </a:pPr>
            <a:endParaRPr lang="ro-RO" dirty="0" smtClean="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a:bodyPr>
          <a:lstStyle/>
          <a:p>
            <a:r>
              <a:rPr lang="ro-RO" dirty="0" smtClean="0"/>
              <a:t>Metoda ”DEAR”</a:t>
            </a:r>
            <a:endParaRPr lang="en-US" dirty="0"/>
          </a:p>
        </p:txBody>
      </p:sp>
      <p:sp>
        <p:nvSpPr>
          <p:cNvPr id="3" name="Content Placeholder 2"/>
          <p:cNvSpPr>
            <a:spLocks noGrp="1"/>
          </p:cNvSpPr>
          <p:nvPr>
            <p:ph idx="1"/>
          </p:nvPr>
        </p:nvSpPr>
        <p:spPr>
          <a:xfrm>
            <a:off x="457200" y="1066800"/>
            <a:ext cx="8229600" cy="5562600"/>
          </a:xfrm>
        </p:spPr>
        <p:txBody>
          <a:bodyPr>
            <a:normAutofit fontScale="92500" lnSpcReduction="20000"/>
          </a:bodyPr>
          <a:lstStyle/>
          <a:p>
            <a:pPr>
              <a:buNone/>
            </a:pPr>
            <a:r>
              <a:rPr lang="ro-RO" dirty="0" smtClean="0"/>
              <a:t>(1) (</a:t>
            </a:r>
            <a:r>
              <a:rPr lang="ro-RO" i="1" dirty="0" smtClean="0"/>
              <a:t>Define</a:t>
            </a:r>
            <a:r>
              <a:rPr lang="ro-RO" dirty="0" smtClean="0"/>
              <a:t>) Definește ipoteza pe care dorești s-o testezi.</a:t>
            </a:r>
          </a:p>
          <a:p>
            <a:pPr>
              <a:buFontTx/>
              <a:buChar char="-"/>
            </a:pPr>
            <a:r>
              <a:rPr lang="ro-RO" dirty="0" smtClean="0"/>
              <a:t>Trebuie să fie clar </a:t>
            </a:r>
            <a:r>
              <a:rPr lang="ro-RO" b="1" dirty="0" smtClean="0"/>
              <a:t>domeniul</a:t>
            </a:r>
            <a:r>
              <a:rPr lang="ro-RO" dirty="0" smtClean="0"/>
              <a:t> ipotezei.</a:t>
            </a:r>
          </a:p>
          <a:p>
            <a:pPr>
              <a:buFontTx/>
              <a:buChar char="-"/>
            </a:pPr>
            <a:r>
              <a:rPr lang="ro-RO" dirty="0" smtClean="0"/>
              <a:t>Ipoteza cuantifică peste toate, unele, majoritatea obiectelor?</a:t>
            </a:r>
          </a:p>
          <a:p>
            <a:pPr>
              <a:buNone/>
            </a:pPr>
            <a:r>
              <a:rPr lang="ro-RO" dirty="0" smtClean="0"/>
              <a:t>Ex.: </a:t>
            </a:r>
          </a:p>
          <a:p>
            <a:pPr>
              <a:buNone/>
            </a:pPr>
            <a:r>
              <a:rPr lang="ro-RO" dirty="0" smtClean="0"/>
              <a:t>”Toate lebedele sunt albe” este clar falsă.</a:t>
            </a:r>
          </a:p>
          <a:p>
            <a:pPr>
              <a:buNone/>
            </a:pPr>
            <a:r>
              <a:rPr lang="ro-RO" dirty="0" smtClean="0"/>
              <a:t>”Unele lebede sunt albe” este adevărată, dar poate nu ne oferă informație interesantă.</a:t>
            </a:r>
          </a:p>
          <a:p>
            <a:pPr>
              <a:buNone/>
            </a:pPr>
            <a:r>
              <a:rPr lang="ro-RO" dirty="0" smtClean="0"/>
              <a:t>”Majoritatea lebedelor sunt albe” este clar interesantă, dar este nevoie de clarificarea termenului ”majoritatea” (peste 50%?).</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ro-RO" dirty="0" smtClean="0"/>
              <a:t>Metoda ”DEAR”</a:t>
            </a:r>
            <a:endParaRPr lang="en-US" dirty="0"/>
          </a:p>
        </p:txBody>
      </p:sp>
      <p:sp>
        <p:nvSpPr>
          <p:cNvPr id="3" name="Content Placeholder 2"/>
          <p:cNvSpPr>
            <a:spLocks noGrp="1"/>
          </p:cNvSpPr>
          <p:nvPr>
            <p:ph idx="1"/>
          </p:nvPr>
        </p:nvSpPr>
        <p:spPr>
          <a:xfrm>
            <a:off x="457200" y="1219200"/>
            <a:ext cx="8229600" cy="5410200"/>
          </a:xfrm>
        </p:spPr>
        <p:txBody>
          <a:bodyPr>
            <a:normAutofit fontScale="77500" lnSpcReduction="20000"/>
          </a:bodyPr>
          <a:lstStyle/>
          <a:p>
            <a:pPr marL="514350" indent="-514350">
              <a:buNone/>
            </a:pPr>
            <a:r>
              <a:rPr lang="ro-RO" dirty="0" smtClean="0"/>
              <a:t>(2) (</a:t>
            </a:r>
            <a:r>
              <a:rPr lang="ro-RO" i="1" dirty="0" smtClean="0"/>
              <a:t>Evidence</a:t>
            </a:r>
            <a:r>
              <a:rPr lang="ro-RO" dirty="0" smtClean="0"/>
              <a:t>) Adună dovezi pro sau contra ipotezei.</a:t>
            </a:r>
          </a:p>
          <a:p>
            <a:pPr marL="514350" indent="-514350">
              <a:buFontTx/>
              <a:buChar char="-"/>
            </a:pPr>
            <a:r>
              <a:rPr lang="ro-RO" dirty="0" smtClean="0">
                <a:solidFill>
                  <a:srgbClr val="FF0000"/>
                </a:solidFill>
              </a:rPr>
              <a:t>Faptele pot confirma ipoteza </a:t>
            </a:r>
            <a:r>
              <a:rPr lang="ro-RO" dirty="0" smtClean="0"/>
              <a:t>= pot spori plauzibilitatea acesteia (încrederea pe care o acordăm acesteia)</a:t>
            </a:r>
          </a:p>
          <a:p>
            <a:pPr marL="514350" indent="-514350">
              <a:buFontTx/>
              <a:buChar char="-"/>
            </a:pPr>
            <a:r>
              <a:rPr lang="ro-RO" dirty="0" smtClean="0">
                <a:solidFill>
                  <a:srgbClr val="FF0000"/>
                </a:solidFill>
              </a:rPr>
              <a:t>Faptele pot infirma ipoteza </a:t>
            </a:r>
            <a:r>
              <a:rPr lang="ro-RO" dirty="0" smtClean="0"/>
              <a:t>= pot scădea plauzibilitatea acesteia.</a:t>
            </a:r>
            <a:endParaRPr lang="ro-RO" dirty="0"/>
          </a:p>
          <a:p>
            <a:pPr marL="514350" indent="-514350">
              <a:buFontTx/>
              <a:buChar char="-"/>
            </a:pPr>
            <a:r>
              <a:rPr lang="ro-RO" dirty="0" smtClean="0"/>
              <a:t>Unele dovezi sunt mai convingătoare decât altele. Spre exemplu, a descoperi lebede albe în țări de pe continente diferite este o dovadă mai convingătoare pentru plauzibilitatea ipotezei ”Toate lebedele sunt albe”. Desigur, nu este o dovadă finală!</a:t>
            </a:r>
          </a:p>
          <a:p>
            <a:pPr marL="514350" indent="-514350">
              <a:buFontTx/>
              <a:buChar char="-"/>
            </a:pPr>
            <a:r>
              <a:rPr lang="ro-RO" dirty="0" smtClean="0"/>
              <a:t>Cu cât avem mai multe fapte ce confirmă ipoteza, cu atât aceasta este mai plauzibilă!</a:t>
            </a:r>
          </a:p>
          <a:p>
            <a:pPr marL="514350" indent="-514350">
              <a:buFontTx/>
              <a:buChar char="-"/>
            </a:pPr>
            <a:r>
              <a:rPr lang="ro-RO" dirty="0" smtClean="0"/>
              <a:t>Atenție la </a:t>
            </a:r>
            <a:r>
              <a:rPr lang="ro-RO" i="1" dirty="0" smtClean="0"/>
              <a:t>confirmation bias</a:t>
            </a:r>
            <a:r>
              <a:rPr lang="ro-RO" dirty="0" smtClean="0"/>
              <a:t>: tindem să ignorăm sau să diminuăm importanța faptelor ce nu ne confirma ipotezele!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dirty="0" smtClean="0"/>
              <a:t>Metoda ”DEAR”</a:t>
            </a:r>
            <a:endParaRPr lang="en-US" dirty="0"/>
          </a:p>
        </p:txBody>
      </p:sp>
      <p:sp>
        <p:nvSpPr>
          <p:cNvPr id="3" name="Content Placeholder 2"/>
          <p:cNvSpPr>
            <a:spLocks noGrp="1"/>
          </p:cNvSpPr>
          <p:nvPr>
            <p:ph idx="1"/>
          </p:nvPr>
        </p:nvSpPr>
        <p:spPr/>
        <p:txBody>
          <a:bodyPr>
            <a:normAutofit fontScale="77500" lnSpcReduction="20000"/>
          </a:bodyPr>
          <a:lstStyle/>
          <a:p>
            <a:pPr marL="514350" indent="-514350">
              <a:buNone/>
            </a:pPr>
            <a:r>
              <a:rPr lang="ro-RO" dirty="0" smtClean="0"/>
              <a:t>(3) (</a:t>
            </a:r>
            <a:r>
              <a:rPr lang="ro-RO" i="1" dirty="0" smtClean="0"/>
              <a:t>Alternatives</a:t>
            </a:r>
            <a:r>
              <a:rPr lang="ro-RO" dirty="0" smtClean="0"/>
              <a:t>) Află care sunt ipotezele alternative.</a:t>
            </a:r>
          </a:p>
          <a:p>
            <a:pPr marL="514350" indent="-514350">
              <a:buNone/>
            </a:pPr>
            <a:endParaRPr lang="ro-RO" dirty="0"/>
          </a:p>
          <a:p>
            <a:pPr marL="514350" indent="-514350">
              <a:buNone/>
            </a:pPr>
            <a:r>
              <a:rPr lang="ro-RO" dirty="0" smtClean="0"/>
              <a:t>Ex.: încălzirea globală este cauzată de acțiunea umană?</a:t>
            </a:r>
          </a:p>
          <a:p>
            <a:pPr marL="514350" indent="-514350">
              <a:buNone/>
            </a:pPr>
            <a:r>
              <a:rPr lang="ro-RO" dirty="0" smtClean="0"/>
              <a:t>Alternativă: încălzirea globală este cauzată de factori ce exclud acțiunile oamenilor. </a:t>
            </a:r>
          </a:p>
          <a:p>
            <a:pPr marL="514350" indent="-514350">
              <a:buNone/>
            </a:pPr>
            <a:r>
              <a:rPr lang="ro-RO" dirty="0" smtClean="0"/>
              <a:t>Rezolvare: geologii verifică variația temperaturii de-a lungul timpului. Dacă variația temperaturii nu a depășit anumiți parametri, putem spune că nu noi suntem cauza încălzirii globale.</a:t>
            </a:r>
          </a:p>
          <a:p>
            <a:pPr marL="514350" indent="-514350">
              <a:buNone/>
            </a:pPr>
            <a:r>
              <a:rPr lang="ro-RO" dirty="0" smtClean="0"/>
              <a:t>- </a:t>
            </a:r>
            <a:r>
              <a:rPr lang="ro-RO" dirty="0" smtClean="0">
                <a:solidFill>
                  <a:srgbClr val="FF0000"/>
                </a:solidFill>
                <a:effectLst>
                  <a:outerShdw blurRad="38100" dist="38100" dir="2700000" algn="tl">
                    <a:srgbClr val="000000">
                      <a:alpha val="43137"/>
                    </a:srgbClr>
                  </a:outerShdw>
                </a:effectLst>
              </a:rPr>
              <a:t>A concepe ipoteze alternative presupune imaginație!</a:t>
            </a:r>
          </a:p>
          <a:p>
            <a:pPr marL="514350" indent="-514350">
              <a:buNone/>
            </a:pPr>
            <a:r>
              <a:rPr lang="ro-RO" dirty="0" smtClean="0"/>
              <a:t>- Activitatea de găsire a ipotezelor alternative este supusă prejudecăților.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dirty="0" smtClean="0"/>
              <a:t>Metoda ”DEAR”</a:t>
            </a:r>
            <a:endParaRPr lang="en-US" dirty="0"/>
          </a:p>
        </p:txBody>
      </p:sp>
      <p:sp>
        <p:nvSpPr>
          <p:cNvPr id="3" name="Content Placeholder 2"/>
          <p:cNvSpPr>
            <a:spLocks noGrp="1"/>
          </p:cNvSpPr>
          <p:nvPr>
            <p:ph idx="1"/>
          </p:nvPr>
        </p:nvSpPr>
        <p:spPr/>
        <p:txBody>
          <a:bodyPr>
            <a:normAutofit fontScale="85000" lnSpcReduction="20000"/>
          </a:bodyPr>
          <a:lstStyle/>
          <a:p>
            <a:pPr marL="514350" indent="-514350">
              <a:buNone/>
            </a:pPr>
            <a:r>
              <a:rPr lang="ro-RO" dirty="0" smtClean="0"/>
              <a:t>(4) (</a:t>
            </a:r>
            <a:r>
              <a:rPr lang="ro-RO" i="1" dirty="0" smtClean="0"/>
              <a:t>Rank).</a:t>
            </a:r>
            <a:r>
              <a:rPr lang="ro-RO" dirty="0" smtClean="0"/>
              <a:t> Schemă de raționament:</a:t>
            </a:r>
          </a:p>
          <a:p>
            <a:pPr marL="514350" indent="-514350">
              <a:buNone/>
            </a:pPr>
            <a:endParaRPr lang="ro-RO" i="1" dirty="0"/>
          </a:p>
          <a:p>
            <a:pPr marL="514350" indent="-514350">
              <a:buNone/>
            </a:pPr>
            <a:r>
              <a:rPr lang="ro-RO" dirty="0"/>
              <a:t>	</a:t>
            </a:r>
            <a:r>
              <a:rPr lang="ro-RO" dirty="0" smtClean="0"/>
              <a:t>1. Deținem o mulțime E de fapte.</a:t>
            </a:r>
          </a:p>
          <a:p>
            <a:pPr marL="514350" indent="-514350">
              <a:buNone/>
            </a:pPr>
            <a:r>
              <a:rPr lang="ro-RO" dirty="0"/>
              <a:t>	</a:t>
            </a:r>
            <a:r>
              <a:rPr lang="ro-RO" dirty="0" smtClean="0"/>
              <a:t>2. Ipotezele X, Y, Z sunt consistente cu E.</a:t>
            </a:r>
          </a:p>
          <a:p>
            <a:pPr marL="514350" indent="-514350">
              <a:buNone/>
            </a:pPr>
            <a:r>
              <a:rPr lang="ro-RO" dirty="0"/>
              <a:t>	</a:t>
            </a:r>
            <a:r>
              <a:rPr lang="ro-RO" dirty="0" smtClean="0"/>
              <a:t>3. X </a:t>
            </a:r>
            <a:r>
              <a:rPr lang="ro-RO" dirty="0" smtClean="0">
                <a:solidFill>
                  <a:srgbClr val="FF0000"/>
                </a:solidFill>
                <a:effectLst>
                  <a:outerShdw blurRad="38100" dist="38100" dir="2700000" algn="tl">
                    <a:srgbClr val="000000">
                      <a:alpha val="43137"/>
                    </a:srgbClr>
                  </a:outerShdw>
                </a:effectLst>
              </a:rPr>
              <a:t>este cea mai bună explicație</a:t>
            </a:r>
            <a:r>
              <a:rPr lang="ro-RO" dirty="0" smtClean="0"/>
              <a:t> pentru E.</a:t>
            </a:r>
          </a:p>
          <a:p>
            <a:pPr marL="514350" indent="-514350">
              <a:buNone/>
            </a:pPr>
            <a:r>
              <a:rPr lang="ro-RO" dirty="0"/>
              <a:t>	</a:t>
            </a:r>
            <a:r>
              <a:rPr lang="ro-RO" dirty="0" smtClean="0"/>
              <a:t>Deci:</a:t>
            </a:r>
          </a:p>
          <a:p>
            <a:pPr marL="514350" indent="-514350">
              <a:buNone/>
            </a:pPr>
            <a:r>
              <a:rPr lang="ro-RO" dirty="0"/>
              <a:t>	</a:t>
            </a:r>
            <a:r>
              <a:rPr lang="ro-RO" dirty="0" smtClean="0"/>
              <a:t>4. X este cel mai probabil adevărată.</a:t>
            </a:r>
            <a:endParaRPr lang="ro-RO" i="1" dirty="0"/>
          </a:p>
          <a:p>
            <a:pPr marL="514350" indent="-514350">
              <a:buNone/>
            </a:pPr>
            <a:endParaRPr lang="ro-RO" i="1" dirty="0" smtClean="0"/>
          </a:p>
          <a:p>
            <a:pPr marL="514350" indent="-514350">
              <a:buNone/>
            </a:pPr>
            <a:r>
              <a:rPr lang="ro-RO" i="1" dirty="0" smtClean="0"/>
              <a:t> </a:t>
            </a:r>
            <a:r>
              <a:rPr lang="ro-RO" dirty="0" smtClean="0"/>
              <a:t>Cum anume selectăm cea mai bună ipoteză? Ce anume contribuie la calitatea unei ipoteze? Ce face o ipoteză să fie bună?</a:t>
            </a:r>
          </a:p>
          <a:p>
            <a:pPr marL="514350" indent="-514350">
              <a:buNone/>
            </a:pPr>
            <a:endParaRPr lang="ro-RO" dirty="0" smtClean="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ro-RO" dirty="0" smtClean="0"/>
              <a:t>Metoda ”DEAR”</a:t>
            </a:r>
            <a:endParaRPr lang="en-US" dirty="0"/>
          </a:p>
        </p:txBody>
      </p:sp>
      <p:sp>
        <p:nvSpPr>
          <p:cNvPr id="3" name="Content Placeholder 2"/>
          <p:cNvSpPr>
            <a:spLocks noGrp="1"/>
          </p:cNvSpPr>
          <p:nvPr>
            <p:ph idx="1"/>
          </p:nvPr>
        </p:nvSpPr>
        <p:spPr>
          <a:xfrm>
            <a:off x="457200" y="1295400"/>
            <a:ext cx="8229600" cy="5257800"/>
          </a:xfrm>
        </p:spPr>
        <p:txBody>
          <a:bodyPr>
            <a:normAutofit fontScale="77500" lnSpcReduction="20000"/>
          </a:bodyPr>
          <a:lstStyle/>
          <a:p>
            <a:pPr marL="514350" indent="-514350">
              <a:buNone/>
            </a:pPr>
            <a:r>
              <a:rPr lang="ro-RO" dirty="0" smtClean="0"/>
              <a:t>O ipoteză bună oferă </a:t>
            </a:r>
            <a:r>
              <a:rPr lang="ro-RO" b="1" dirty="0" smtClean="0"/>
              <a:t>predicții</a:t>
            </a:r>
            <a:r>
              <a:rPr lang="ro-RO" dirty="0" smtClean="0"/>
              <a:t>. Ce contează:</a:t>
            </a:r>
          </a:p>
          <a:p>
            <a:pPr marL="914400" lvl="1" indent="-514350">
              <a:buNone/>
            </a:pPr>
            <a:r>
              <a:rPr lang="ro-RO" dirty="0" smtClean="0"/>
              <a:t>	- </a:t>
            </a:r>
            <a:r>
              <a:rPr lang="ro-RO" sz="3200" dirty="0" smtClean="0"/>
              <a:t>numărul predicțiilor</a:t>
            </a:r>
          </a:p>
          <a:p>
            <a:pPr marL="514350" indent="-514350">
              <a:buNone/>
            </a:pPr>
            <a:r>
              <a:rPr lang="ro-RO" dirty="0"/>
              <a:t>	</a:t>
            </a:r>
            <a:r>
              <a:rPr lang="ro-RO" dirty="0" smtClean="0"/>
              <a:t>	- acuratețea predicțiilor</a:t>
            </a:r>
          </a:p>
          <a:p>
            <a:pPr marL="514350" indent="-514350">
              <a:buNone/>
            </a:pPr>
            <a:r>
              <a:rPr lang="ro-RO" dirty="0"/>
              <a:t>	</a:t>
            </a:r>
            <a:r>
              <a:rPr lang="ro-RO" dirty="0" smtClean="0"/>
              <a:t>	- precizia predicțiilor</a:t>
            </a:r>
          </a:p>
          <a:p>
            <a:pPr marL="514350" indent="-514350">
              <a:buNone/>
            </a:pPr>
            <a:r>
              <a:rPr lang="ro-RO" dirty="0" smtClean="0"/>
              <a:t>Întrebare: dacă predicțiile sunt infirmate, renunțăm imediat la ipoteză?</a:t>
            </a:r>
          </a:p>
          <a:p>
            <a:pPr marL="514350" indent="-514350">
              <a:buNone/>
            </a:pPr>
            <a:r>
              <a:rPr lang="ro-RO" dirty="0" smtClean="0"/>
              <a:t>Răspuns: nu neapărat. Testăm </a:t>
            </a:r>
            <a:r>
              <a:rPr lang="ro-RO" b="1" dirty="0" smtClean="0"/>
              <a:t>asumpțiile auxiliare</a:t>
            </a:r>
            <a:r>
              <a:rPr lang="ro-RO" dirty="0" smtClean="0"/>
              <a:t>.</a:t>
            </a:r>
          </a:p>
          <a:p>
            <a:pPr marL="514350" indent="-514350">
              <a:buNone/>
            </a:pPr>
            <a:r>
              <a:rPr lang="ro-RO" dirty="0" smtClean="0"/>
              <a:t>Exemplu:  Să zicem că vrem să testăm următoarea ipoteză: apa îngheață la 0 grade Celsius. Folosind un termometru, observăm, surprinzător, că nu se întâmplă așa. Înseamnă aceasta ca am respins ipoteza? Nu imediat: trebuie testată și asumpția auxiliară conform căreia termometrul indică în mod corect temperatura. Dacă acesta era stricat, nu ar trebui să ne suprindă faptul că experimentul nostru a eșuat.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ro-RO" dirty="0" smtClean="0"/>
              <a:t>Metoda ”DEAR”</a:t>
            </a:r>
            <a:endParaRPr lang="en-US" dirty="0"/>
          </a:p>
        </p:txBody>
      </p:sp>
      <p:sp>
        <p:nvSpPr>
          <p:cNvPr id="3" name="Content Placeholder 2"/>
          <p:cNvSpPr>
            <a:spLocks noGrp="1"/>
          </p:cNvSpPr>
          <p:nvPr>
            <p:ph idx="1"/>
          </p:nvPr>
        </p:nvSpPr>
        <p:spPr>
          <a:xfrm>
            <a:off x="457200" y="1295400"/>
            <a:ext cx="8229600" cy="5257800"/>
          </a:xfrm>
        </p:spPr>
        <p:txBody>
          <a:bodyPr>
            <a:normAutofit fontScale="92500" lnSpcReduction="20000"/>
          </a:bodyPr>
          <a:lstStyle/>
          <a:p>
            <a:pPr marL="514350" indent="-514350">
              <a:buNone/>
            </a:pPr>
            <a:r>
              <a:rPr lang="ro-RO" dirty="0" smtClean="0"/>
              <a:t>Alt exemplu:</a:t>
            </a:r>
          </a:p>
          <a:p>
            <a:pPr marL="514350" indent="-514350">
              <a:buNone/>
            </a:pPr>
            <a:r>
              <a:rPr lang="ro-RO" dirty="0" smtClean="0"/>
              <a:t>1. Ipoteza: este posibilă comunicarea telepatică.</a:t>
            </a:r>
          </a:p>
          <a:p>
            <a:pPr marL="514350" indent="-514350">
              <a:buNone/>
            </a:pPr>
            <a:r>
              <a:rPr lang="ro-RO" dirty="0" smtClean="0"/>
              <a:t>2. Testăm dacă persoana X poate să citească gândurile persoanei Y.</a:t>
            </a:r>
          </a:p>
          <a:p>
            <a:pPr marL="514350" indent="-514350">
              <a:buNone/>
            </a:pPr>
            <a:r>
              <a:rPr lang="ro-RO" dirty="0" smtClean="0"/>
              <a:t>3. Ne dăm seama că numărul predicțiilor corecte este insignifiant.</a:t>
            </a:r>
          </a:p>
          <a:p>
            <a:pPr marL="514350" indent="-514350">
              <a:buNone/>
            </a:pPr>
            <a:r>
              <a:rPr lang="ro-RO" dirty="0" smtClean="0"/>
              <a:t>4. Ipoteza auxiliară: observatorul, având o atitudine negativă față de ipoteză, a influențat abilitățile lui X.</a:t>
            </a:r>
            <a:endParaRPr lang="ro-RO" dirty="0"/>
          </a:p>
          <a:p>
            <a:pPr marL="514350" indent="-514350">
              <a:buNone/>
            </a:pPr>
            <a:r>
              <a:rPr lang="ro-RO" dirty="0" smtClean="0"/>
              <a:t>Observație: (4) este o </a:t>
            </a:r>
            <a:r>
              <a:rPr lang="ro-RO" i="1" dirty="0" smtClean="0"/>
              <a:t>ipoteză ad hoc </a:t>
            </a:r>
            <a:r>
              <a:rPr lang="ro-RO" dirty="0" smtClean="0"/>
              <a:t>– creată cu singurul scop de a face ipoteza inițială foarte greu (imposibil) de infirmat.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ro-RO" dirty="0" smtClean="0"/>
              <a:t>Metoda ”DEAR”</a:t>
            </a:r>
            <a:endParaRPr lang="en-US" dirty="0"/>
          </a:p>
        </p:txBody>
      </p:sp>
      <p:sp>
        <p:nvSpPr>
          <p:cNvPr id="3" name="Content Placeholder 2"/>
          <p:cNvSpPr>
            <a:spLocks noGrp="1"/>
          </p:cNvSpPr>
          <p:nvPr>
            <p:ph idx="1"/>
          </p:nvPr>
        </p:nvSpPr>
        <p:spPr>
          <a:xfrm>
            <a:off x="457200" y="1219200"/>
            <a:ext cx="8229600" cy="5486400"/>
          </a:xfrm>
        </p:spPr>
        <p:txBody>
          <a:bodyPr>
            <a:normAutofit fontScale="85000" lnSpcReduction="20000"/>
          </a:bodyPr>
          <a:lstStyle/>
          <a:p>
            <a:pPr>
              <a:buNone/>
            </a:pPr>
            <a:r>
              <a:rPr lang="ro-RO" dirty="0" smtClean="0"/>
              <a:t>Ipotezele bune dezvăluie </a:t>
            </a:r>
            <a:r>
              <a:rPr lang="ro-RO" b="1" dirty="0" smtClean="0"/>
              <a:t>mecanisme cauzale</a:t>
            </a:r>
            <a:r>
              <a:rPr lang="ro-RO" dirty="0" smtClean="0"/>
              <a:t>.</a:t>
            </a:r>
          </a:p>
          <a:p>
            <a:pPr>
              <a:buNone/>
            </a:pPr>
            <a:endParaRPr lang="ro-RO" dirty="0"/>
          </a:p>
          <a:p>
            <a:pPr>
              <a:buNone/>
            </a:pPr>
            <a:r>
              <a:rPr lang="ro-RO" dirty="0" smtClean="0"/>
              <a:t>Exemplu:</a:t>
            </a:r>
          </a:p>
          <a:p>
            <a:pPr>
              <a:buNone/>
            </a:pPr>
            <a:r>
              <a:rPr lang="ro-RO" dirty="0" smtClean="0"/>
              <a:t>Ipoteză: vânzarile crescute de înghețată explică creșterea numărului rănilor cauzate de mușcături de rechin  </a:t>
            </a:r>
          </a:p>
          <a:p>
            <a:pPr>
              <a:buNone/>
            </a:pPr>
            <a:r>
              <a:rPr lang="ro-RO" dirty="0" smtClean="0"/>
              <a:t>Evenimentele sunt puternic </a:t>
            </a:r>
            <a:r>
              <a:rPr lang="ro-RO" b="1" dirty="0" smtClean="0"/>
              <a:t>corelate</a:t>
            </a:r>
            <a:r>
              <a:rPr lang="ro-RO" dirty="0" smtClean="0"/>
              <a:t>! Dar este primul o explicație bună pentru al doilea? Oferă această explicație </a:t>
            </a:r>
            <a:r>
              <a:rPr lang="ro-RO" b="1" dirty="0" smtClean="0"/>
              <a:t>cauza</a:t>
            </a:r>
            <a:r>
              <a:rPr lang="ro-RO" dirty="0" smtClean="0"/>
              <a:t> celui de-al doilea eveniment? Nu.</a:t>
            </a:r>
          </a:p>
          <a:p>
            <a:pPr>
              <a:buNone/>
            </a:pPr>
            <a:r>
              <a:rPr lang="ro-RO" dirty="0" smtClean="0"/>
              <a:t>Simpla existență a unei </a:t>
            </a:r>
            <a:r>
              <a:rPr lang="ro-RO" b="1" dirty="0" smtClean="0"/>
              <a:t>corelații</a:t>
            </a:r>
            <a:r>
              <a:rPr lang="ro-RO" dirty="0" smtClean="0"/>
              <a:t> între două evenimente nu ar trebui să ne inspire încrederea într-o </a:t>
            </a:r>
            <a:r>
              <a:rPr lang="ro-RO" b="1" dirty="0" smtClean="0"/>
              <a:t>relație cauzală</a:t>
            </a:r>
            <a:r>
              <a:rPr lang="ro-RO" dirty="0" smtClean="0"/>
              <a:t> între cele două. Corelația între cele două poate fi explicată simplu (și apoi ignorată întreaga ipoteză): vânzările de înghețată cresc în timpul verii, atunci când multe persoane înoată în mare.</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ro-RO" dirty="0" smtClean="0"/>
              <a:t>Metoda ”DEAR”</a:t>
            </a:r>
            <a:endParaRPr lang="en-US" dirty="0"/>
          </a:p>
        </p:txBody>
      </p:sp>
      <p:sp>
        <p:nvSpPr>
          <p:cNvPr id="3" name="Content Placeholder 2"/>
          <p:cNvSpPr>
            <a:spLocks noGrp="1"/>
          </p:cNvSpPr>
          <p:nvPr>
            <p:ph idx="1"/>
          </p:nvPr>
        </p:nvSpPr>
        <p:spPr>
          <a:xfrm>
            <a:off x="457200" y="1295400"/>
            <a:ext cx="8229600" cy="5257800"/>
          </a:xfrm>
        </p:spPr>
        <p:txBody>
          <a:bodyPr>
            <a:normAutofit/>
          </a:bodyPr>
          <a:lstStyle/>
          <a:p>
            <a:pPr marL="514350" indent="-514350">
              <a:buNone/>
            </a:pPr>
            <a:r>
              <a:rPr lang="ro-RO" dirty="0" smtClean="0"/>
              <a:t>Ipotezele bune sunt </a:t>
            </a:r>
            <a:r>
              <a:rPr lang="ro-RO" b="1" dirty="0" smtClean="0"/>
              <a:t>coerente</a:t>
            </a:r>
            <a:r>
              <a:rPr lang="ro-RO" dirty="0" smtClean="0"/>
              <a:t>.</a:t>
            </a:r>
          </a:p>
          <a:p>
            <a:pPr marL="514350" indent="-514350">
              <a:buFontTx/>
              <a:buChar char="-"/>
            </a:pPr>
            <a:r>
              <a:rPr lang="ro-RO" dirty="0" smtClean="0"/>
              <a:t>Ipotezele ar trebui să fie consistente logic (să nu implice absurdități/contradicții).</a:t>
            </a:r>
          </a:p>
          <a:p>
            <a:pPr marL="514350" indent="-514350">
              <a:buFontTx/>
              <a:buChar char="-"/>
            </a:pPr>
            <a:r>
              <a:rPr lang="ro-RO" dirty="0" smtClean="0"/>
              <a:t>Ipotezele </a:t>
            </a:r>
            <a:r>
              <a:rPr lang="ro-RO" b="1" dirty="0" smtClean="0"/>
              <a:t>bune</a:t>
            </a:r>
            <a:r>
              <a:rPr lang="ro-RO" dirty="0" smtClean="0"/>
              <a:t> sunt consistente cu teorii științifice deja acceptate.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ro-RO" dirty="0" smtClean="0"/>
              <a:t>Metoda ”DEAR”</a:t>
            </a:r>
            <a:endParaRPr lang="en-US" dirty="0"/>
          </a:p>
        </p:txBody>
      </p:sp>
      <p:sp>
        <p:nvSpPr>
          <p:cNvPr id="3" name="Content Placeholder 2"/>
          <p:cNvSpPr>
            <a:spLocks noGrp="1"/>
          </p:cNvSpPr>
          <p:nvPr>
            <p:ph idx="1"/>
          </p:nvPr>
        </p:nvSpPr>
        <p:spPr>
          <a:xfrm>
            <a:off x="457200" y="1295400"/>
            <a:ext cx="8229600" cy="5257800"/>
          </a:xfrm>
        </p:spPr>
        <p:txBody>
          <a:bodyPr>
            <a:normAutofit/>
          </a:bodyPr>
          <a:lstStyle/>
          <a:p>
            <a:pPr marL="514350" indent="-514350">
              <a:buNone/>
            </a:pPr>
            <a:r>
              <a:rPr lang="ro-RO" dirty="0" smtClean="0"/>
              <a:t>O ipoteză bună este </a:t>
            </a:r>
            <a:r>
              <a:rPr lang="ro-RO" b="1" dirty="0" smtClean="0"/>
              <a:t>simplă </a:t>
            </a:r>
            <a:r>
              <a:rPr lang="ro-RO" dirty="0" smtClean="0"/>
              <a:t>(briciul lui Ockham):</a:t>
            </a:r>
          </a:p>
          <a:p>
            <a:pPr marL="514350" indent="-514350">
              <a:buFontTx/>
              <a:buChar char="-"/>
            </a:pPr>
            <a:r>
              <a:rPr lang="ro-RO" dirty="0" smtClean="0"/>
              <a:t>o teorie bună stipulează existența câtor mai puține entități.</a:t>
            </a:r>
          </a:p>
          <a:p>
            <a:pPr marL="514350" indent="-514350">
              <a:buNone/>
            </a:pPr>
            <a:endParaRPr lang="ro-RO" dirty="0" smtClean="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ro-RO" dirty="0" smtClean="0"/>
              <a:t>Metoda ”DEAR”</a:t>
            </a:r>
            <a:endParaRPr lang="en-US" dirty="0"/>
          </a:p>
        </p:txBody>
      </p:sp>
      <p:sp>
        <p:nvSpPr>
          <p:cNvPr id="3" name="Content Placeholder 2"/>
          <p:cNvSpPr>
            <a:spLocks noGrp="1"/>
          </p:cNvSpPr>
          <p:nvPr>
            <p:ph idx="1"/>
          </p:nvPr>
        </p:nvSpPr>
        <p:spPr>
          <a:xfrm>
            <a:off x="457200" y="1295400"/>
            <a:ext cx="8229600" cy="5257800"/>
          </a:xfrm>
        </p:spPr>
        <p:txBody>
          <a:bodyPr>
            <a:normAutofit/>
          </a:bodyPr>
          <a:lstStyle/>
          <a:p>
            <a:pPr marL="514350" indent="-514350">
              <a:buNone/>
            </a:pPr>
            <a:r>
              <a:rPr lang="ro-RO" b="1" dirty="0" smtClean="0"/>
              <a:t>Sursa ipotezei </a:t>
            </a:r>
            <a:r>
              <a:rPr lang="ro-RO" dirty="0" smtClean="0"/>
              <a:t>este importantă:</a:t>
            </a:r>
          </a:p>
          <a:p>
            <a:pPr marL="514350" indent="-514350">
              <a:buNone/>
            </a:pPr>
            <a:r>
              <a:rPr lang="ro-RO" dirty="0" smtClean="0"/>
              <a:t>- Este autorul ei un expert în domeniul în care ipoteza este utilă?</a:t>
            </a:r>
          </a:p>
          <a:p>
            <a:pPr marL="514350" indent="-514350">
              <a:buFontTx/>
              <a:buChar char="-"/>
            </a:pPr>
            <a:r>
              <a:rPr lang="ro-RO" dirty="0" smtClean="0"/>
              <a:t>Este </a:t>
            </a:r>
            <a:r>
              <a:rPr lang="ro-RO" dirty="0" smtClean="0"/>
              <a:t>autorul ei o persoană creditată/de încredere? Face adeseori afirmații slab fondate?</a:t>
            </a:r>
          </a:p>
          <a:p>
            <a:pPr marL="514350" indent="-514350">
              <a:buFontTx/>
              <a:buChar char="-"/>
            </a:pPr>
            <a:r>
              <a:rPr lang="ro-RO" dirty="0" smtClean="0"/>
              <a:t>Există conflicte de interese? </a:t>
            </a:r>
          </a:p>
          <a:p>
            <a:pPr marL="514350" indent="-514350">
              <a:buNone/>
            </a:pPr>
            <a:r>
              <a:rPr lang="ro-RO" dirty="0" smtClean="0"/>
              <a:t>Exemplu: companiile de tutun și afirmațiile cu privire la cât de puțin nociv este tutunul.</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dirty="0" smtClean="0"/>
              <a:t>Testarea ipotezelor</a:t>
            </a:r>
            <a:endParaRPr lang="en-US" dirty="0"/>
          </a:p>
        </p:txBody>
      </p:sp>
      <p:sp>
        <p:nvSpPr>
          <p:cNvPr id="3" name="Content Placeholder 2"/>
          <p:cNvSpPr>
            <a:spLocks noGrp="1"/>
          </p:cNvSpPr>
          <p:nvPr>
            <p:ph idx="1"/>
          </p:nvPr>
        </p:nvSpPr>
        <p:spPr/>
        <p:txBody>
          <a:bodyPr>
            <a:normAutofit/>
          </a:bodyPr>
          <a:lstStyle/>
          <a:p>
            <a:pPr>
              <a:buNone/>
            </a:pPr>
            <a:r>
              <a:rPr lang="ro-RO" b="1" dirty="0" smtClean="0"/>
              <a:t>Ignaz Semmelweis </a:t>
            </a:r>
            <a:r>
              <a:rPr lang="ro-RO" dirty="0" smtClean="0"/>
              <a:t>(1818 – 1865) – a introdus spălatul pe mâini printre practicile igienice din spitale – înainte ca </a:t>
            </a:r>
            <a:r>
              <a:rPr lang="ro-RO" b="1" dirty="0" smtClean="0"/>
              <a:t>ipoteza germenilor </a:t>
            </a:r>
            <a:r>
              <a:rPr lang="ro-RO" dirty="0" smtClean="0"/>
              <a:t>(Louis Pasteur 1822 - 1895) să fie acceptată!</a:t>
            </a:r>
          </a:p>
          <a:p>
            <a:pPr>
              <a:buNone/>
            </a:pPr>
            <a:r>
              <a:rPr lang="ro-RO" dirty="0"/>
              <a:t> </a:t>
            </a:r>
            <a:r>
              <a:rPr lang="ro-RO" dirty="0" smtClean="0"/>
              <a:t> Istoria medicinei: ce anume cauzează boli prcum răceala, holera etc.? </a:t>
            </a:r>
          </a:p>
          <a:p>
            <a:pPr>
              <a:buNone/>
            </a:pPr>
            <a:r>
              <a:rPr lang="ro-RO" dirty="0"/>
              <a:t> </a:t>
            </a:r>
            <a:r>
              <a:rPr lang="ro-RO" dirty="0" smtClean="0"/>
              <a:t> Două ipoteze: Ipoteza germenilor (Pasteur) vs. Impoteza miasmelor (Galen 130 - 210)</a:t>
            </a:r>
          </a:p>
          <a:p>
            <a:pPr>
              <a:buNone/>
            </a:pPr>
            <a:endParaRPr lang="ro-RO" dirty="0" smtClean="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dirty="0" smtClean="0"/>
              <a:t>Testarea ipotezelor</a:t>
            </a:r>
            <a:endParaRPr lang="en-US" dirty="0"/>
          </a:p>
        </p:txBody>
      </p:sp>
      <p:sp>
        <p:nvSpPr>
          <p:cNvPr id="3" name="Content Placeholder 2"/>
          <p:cNvSpPr>
            <a:spLocks noGrp="1"/>
          </p:cNvSpPr>
          <p:nvPr>
            <p:ph idx="1"/>
          </p:nvPr>
        </p:nvSpPr>
        <p:spPr/>
        <p:txBody>
          <a:bodyPr>
            <a:normAutofit fontScale="85000" lnSpcReduction="20000"/>
          </a:bodyPr>
          <a:lstStyle/>
          <a:p>
            <a:r>
              <a:rPr lang="ro-RO" b="1" dirty="0" smtClean="0"/>
              <a:t>Clinica 1</a:t>
            </a:r>
            <a:r>
              <a:rPr lang="ro-RO" dirty="0" smtClean="0"/>
              <a:t>: rata mortalității materne: 10%</a:t>
            </a:r>
          </a:p>
          <a:p>
            <a:r>
              <a:rPr lang="ro-RO" b="1" dirty="0" smtClean="0"/>
              <a:t>Clinica 2</a:t>
            </a:r>
            <a:r>
              <a:rPr lang="ro-RO" dirty="0" smtClean="0"/>
              <a:t>: rata mortalității materne: 4%</a:t>
            </a:r>
          </a:p>
          <a:p>
            <a:pPr>
              <a:buNone/>
            </a:pPr>
            <a:r>
              <a:rPr lang="ro-RO" dirty="0" smtClean="0"/>
              <a:t>Ce anume explică cel mai bine diferența între cele două?</a:t>
            </a:r>
          </a:p>
          <a:p>
            <a:pPr>
              <a:buNone/>
            </a:pPr>
            <a:r>
              <a:rPr lang="ro-RO" dirty="0" smtClean="0"/>
              <a:t>Semmelweis a luat în considerare următoarele posibilități (ipoteze alternative):</a:t>
            </a:r>
          </a:p>
          <a:p>
            <a:pPr marL="514350" indent="-514350">
              <a:buAutoNum type="arabicParenBoth"/>
            </a:pPr>
            <a:r>
              <a:rPr lang="ro-RO" dirty="0" smtClean="0"/>
              <a:t>Suprapopularea – în cazul clinicii 1. Infirmată: clinica 2 era mai aglomerată!</a:t>
            </a:r>
          </a:p>
          <a:p>
            <a:pPr marL="514350" indent="-514350">
              <a:buAutoNum type="arabicParenBoth"/>
            </a:pPr>
            <a:r>
              <a:rPr lang="ro-RO" dirty="0" smtClean="0"/>
              <a:t>Diferența de temperatură (climat diferit). Infirmată: același climat/temperatură.</a:t>
            </a:r>
          </a:p>
          <a:p>
            <a:pPr marL="514350" indent="-514350">
              <a:buAutoNum type="arabicParenBoth"/>
            </a:pPr>
            <a:r>
              <a:rPr lang="ro-RO" dirty="0" smtClean="0"/>
              <a:t>Practici religioase diferite în clinice. Infirmată.</a:t>
            </a:r>
          </a:p>
          <a:p>
            <a:pPr marL="514350" indent="-514350">
              <a:buNone/>
            </a:pPr>
            <a:r>
              <a:rPr lang="ro-RO" dirty="0" smtClean="0"/>
              <a:t>(4)  Diferențe în ce privește igiena.</a:t>
            </a:r>
          </a:p>
          <a:p>
            <a:pPr marL="514350" indent="-514350">
              <a:buAutoNum type="arabicParenBoth"/>
            </a:pPr>
            <a:endParaRPr lang="ro-RO" dirty="0" smtClean="0"/>
          </a:p>
          <a:p>
            <a:pPr marL="514350" indent="-514350">
              <a:buAutoNum type="arabicParenBoth"/>
            </a:pP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ro-RO" dirty="0" smtClean="0"/>
              <a:t>Testarea ipotezelor</a:t>
            </a:r>
            <a:endParaRPr lang="en-US" dirty="0"/>
          </a:p>
        </p:txBody>
      </p:sp>
      <p:sp>
        <p:nvSpPr>
          <p:cNvPr id="3" name="Content Placeholder 2"/>
          <p:cNvSpPr>
            <a:spLocks noGrp="1"/>
          </p:cNvSpPr>
          <p:nvPr>
            <p:ph idx="1"/>
          </p:nvPr>
        </p:nvSpPr>
        <p:spPr>
          <a:xfrm>
            <a:off x="457200" y="914400"/>
            <a:ext cx="8229600" cy="5943600"/>
          </a:xfrm>
        </p:spPr>
        <p:txBody>
          <a:bodyPr>
            <a:normAutofit fontScale="62500" lnSpcReduction="20000"/>
          </a:bodyPr>
          <a:lstStyle/>
          <a:p>
            <a:pPr>
              <a:buNone/>
            </a:pPr>
            <a:r>
              <a:rPr lang="ro-RO" dirty="0" smtClean="0"/>
              <a:t>Dovezi încurajatoare: </a:t>
            </a:r>
          </a:p>
          <a:p>
            <a:pPr>
              <a:buNone/>
            </a:pPr>
            <a:r>
              <a:rPr lang="ro-RO" dirty="0" smtClean="0"/>
              <a:t>(1) Un medic decedat în clinica 2 prezenta aceeași patologie cu a mamelor bolnave.</a:t>
            </a:r>
          </a:p>
          <a:p>
            <a:pPr>
              <a:buNone/>
            </a:pPr>
            <a:r>
              <a:rPr lang="ro-RO" dirty="0" smtClean="0"/>
              <a:t>(2) Medicul fusese îngrijit de aceleași persoane.</a:t>
            </a:r>
          </a:p>
          <a:p>
            <a:pPr>
              <a:buNone/>
            </a:pPr>
            <a:endParaRPr lang="ro-RO" dirty="0" smtClean="0"/>
          </a:p>
          <a:p>
            <a:pPr>
              <a:buNone/>
            </a:pPr>
            <a:r>
              <a:rPr lang="ro-RO" dirty="0" smtClean="0"/>
              <a:t>Alte observații:</a:t>
            </a:r>
          </a:p>
          <a:p>
            <a:pPr>
              <a:buNone/>
            </a:pPr>
            <a:endParaRPr lang="ro-RO" dirty="0"/>
          </a:p>
          <a:p>
            <a:pPr marL="514350" indent="-514350">
              <a:buAutoNum type="arabicParenBoth"/>
            </a:pPr>
            <a:r>
              <a:rPr lang="ro-RO" dirty="0" smtClean="0"/>
              <a:t>În clinica 2 exista și o morgă.</a:t>
            </a:r>
          </a:p>
          <a:p>
            <a:pPr marL="514350" indent="-514350">
              <a:buAutoNum type="arabicParenBoth"/>
            </a:pPr>
            <a:r>
              <a:rPr lang="ro-RO" dirty="0" smtClean="0"/>
              <a:t>Persoanele care îngrijeau bolnavii se ocupau și de autopsii.</a:t>
            </a:r>
          </a:p>
          <a:p>
            <a:pPr marL="514350" indent="-514350">
              <a:buNone/>
            </a:pPr>
            <a:endParaRPr lang="ro-RO" dirty="0"/>
          </a:p>
          <a:p>
            <a:pPr marL="514350" indent="-514350">
              <a:buNone/>
            </a:pPr>
            <a:r>
              <a:rPr lang="ro-RO" dirty="0" smtClean="0"/>
              <a:t>Explicația lui Semmelweis oferă și un mecanism cauzal (aproximativ): ”particulele cadaverice intră în contact cu bolnavii, deoarece îngrijitorii se ocupă și de autopsii”</a:t>
            </a:r>
          </a:p>
          <a:p>
            <a:pPr marL="514350" indent="-514350">
              <a:buNone/>
            </a:pPr>
            <a:endParaRPr lang="ro-RO" dirty="0"/>
          </a:p>
          <a:p>
            <a:pPr marL="514350" indent="-514350">
              <a:buNone/>
            </a:pPr>
            <a:r>
              <a:rPr lang="ro-RO" dirty="0" smtClean="0"/>
              <a:t>Explicația lui Semmelweis era consistentă, dar nu neapărat în acord și cu teoria populară cu privire la transmiterea bolilor: teoria generării spontane + teoria miasmelor.</a:t>
            </a:r>
          </a:p>
          <a:p>
            <a:pPr marL="514350" indent="-514350">
              <a:buNone/>
            </a:pPr>
            <a:r>
              <a:rPr lang="ro-RO" dirty="0" smtClean="0"/>
              <a:t>Explicația lui Semmelweis era consistentă, totuși, cu teoriile noi, dar nu încă populare, avansate de Athanasius Kircher, John Snow, Agostino Bassi.</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jonsnow.jpg"/>
          <p:cNvPicPr>
            <a:picLocks noGrp="1" noChangeAspect="1"/>
          </p:cNvPicPr>
          <p:nvPr>
            <p:ph idx="1"/>
          </p:nvPr>
        </p:nvPicPr>
        <p:blipFill>
          <a:blip r:embed="rId2" cstate="print"/>
          <a:stretch>
            <a:fillRect/>
          </a:stretch>
        </p:blipFill>
        <p:spPr>
          <a:xfrm>
            <a:off x="533400" y="533400"/>
            <a:ext cx="4122295" cy="2743200"/>
          </a:xfrm>
        </p:spPr>
      </p:pic>
      <p:pic>
        <p:nvPicPr>
          <p:cNvPr id="6" name="Picture 5" descr="John_Snow.jpg"/>
          <p:cNvPicPr>
            <a:picLocks noChangeAspect="1"/>
          </p:cNvPicPr>
          <p:nvPr/>
        </p:nvPicPr>
        <p:blipFill>
          <a:blip r:embed="rId3" cstate="print"/>
          <a:stretch>
            <a:fillRect/>
          </a:stretch>
        </p:blipFill>
        <p:spPr>
          <a:xfrm>
            <a:off x="4876800" y="228600"/>
            <a:ext cx="3048000" cy="4940300"/>
          </a:xfrm>
          <a:prstGeom prst="rect">
            <a:avLst/>
          </a:prstGeom>
        </p:spPr>
      </p:pic>
      <p:sp>
        <p:nvSpPr>
          <p:cNvPr id="7" name="Title 1"/>
          <p:cNvSpPr>
            <a:spLocks noGrp="1"/>
          </p:cNvSpPr>
          <p:nvPr>
            <p:ph type="title"/>
          </p:nvPr>
        </p:nvSpPr>
        <p:spPr>
          <a:xfrm>
            <a:off x="381000" y="4800600"/>
            <a:ext cx="8229600" cy="1143000"/>
          </a:xfrm>
        </p:spPr>
        <p:txBody>
          <a:bodyPr/>
          <a:lstStyle/>
          <a:p>
            <a:r>
              <a:rPr lang="ro-RO" dirty="0" smtClean="0"/>
              <a:t>Jon Snow vs. John Snow</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352800"/>
            <a:ext cx="8229600" cy="2773363"/>
          </a:xfrm>
        </p:spPr>
        <p:txBody>
          <a:bodyPr/>
          <a:lstStyle/>
          <a:p>
            <a:r>
              <a:rPr lang="ro-RO" dirty="0" smtClean="0"/>
              <a:t>Pro: ”King in the North”, </a:t>
            </a:r>
          </a:p>
          <a:p>
            <a:r>
              <a:rPr lang="ro-RO" dirty="0" smtClean="0"/>
              <a:t> Contra: personaj fictiv...</a:t>
            </a:r>
            <a:endParaRPr lang="en-US" dirty="0"/>
          </a:p>
        </p:txBody>
      </p:sp>
      <p:pic>
        <p:nvPicPr>
          <p:cNvPr id="4" name="Content Placeholder 3" descr="jonsnow.jpg"/>
          <p:cNvPicPr>
            <a:picLocks noChangeAspect="1"/>
          </p:cNvPicPr>
          <p:nvPr/>
        </p:nvPicPr>
        <p:blipFill>
          <a:blip r:embed="rId2" cstate="print"/>
          <a:stretch>
            <a:fillRect/>
          </a:stretch>
        </p:blipFill>
        <p:spPr>
          <a:xfrm>
            <a:off x="533400" y="533400"/>
            <a:ext cx="4122295" cy="27432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John_Snow.jpg"/>
          <p:cNvPicPr>
            <a:picLocks noChangeAspect="1"/>
          </p:cNvPicPr>
          <p:nvPr/>
        </p:nvPicPr>
        <p:blipFill>
          <a:blip r:embed="rId2" cstate="print"/>
          <a:stretch>
            <a:fillRect/>
          </a:stretch>
        </p:blipFill>
        <p:spPr>
          <a:xfrm>
            <a:off x="228600" y="1066800"/>
            <a:ext cx="3048000" cy="4940300"/>
          </a:xfrm>
          <a:prstGeom prst="rect">
            <a:avLst/>
          </a:prstGeom>
        </p:spPr>
      </p:pic>
      <p:sp>
        <p:nvSpPr>
          <p:cNvPr id="5" name="Content Placeholder 2"/>
          <p:cNvSpPr>
            <a:spLocks noGrp="1"/>
          </p:cNvSpPr>
          <p:nvPr>
            <p:ph idx="1"/>
          </p:nvPr>
        </p:nvSpPr>
        <p:spPr>
          <a:xfrm>
            <a:off x="3352800" y="1066800"/>
            <a:ext cx="5791200" cy="5059363"/>
          </a:xfrm>
        </p:spPr>
        <p:txBody>
          <a:bodyPr/>
          <a:lstStyle/>
          <a:p>
            <a:r>
              <a:rPr lang="ro-RO" dirty="0" smtClean="0"/>
              <a:t>Pro: nu e personaj fictiv, a descoperit legătura între calitatea apei și apariția holerei folosind metode statistice.</a:t>
            </a:r>
          </a:p>
          <a:p>
            <a:r>
              <a:rPr lang="ro-RO" dirty="0" smtClean="0"/>
              <a:t> Contra: not the King of the North, just one life, already dead (1813 - 1858)</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6096000"/>
          </a:xfrm>
        </p:spPr>
        <p:txBody>
          <a:bodyPr>
            <a:normAutofit fontScale="70000" lnSpcReduction="20000"/>
          </a:bodyPr>
          <a:lstStyle/>
          <a:p>
            <a:pPr>
              <a:buNone/>
            </a:pPr>
            <a:r>
              <a:rPr lang="ro-RO" b="1" dirty="0" smtClean="0"/>
              <a:t>Observație 1</a:t>
            </a:r>
            <a:r>
              <a:rPr lang="ro-RO" dirty="0" smtClean="0"/>
              <a:t>: apariția holerei este conectată cu un loc urât mirositor (mlaștini, apă ”stricată”)</a:t>
            </a:r>
          </a:p>
          <a:p>
            <a:pPr>
              <a:buNone/>
            </a:pPr>
            <a:r>
              <a:rPr lang="ro-RO" b="1" dirty="0" smtClean="0"/>
              <a:t>Observație 2</a:t>
            </a:r>
            <a:r>
              <a:rPr lang="ro-RO" dirty="0" smtClean="0"/>
              <a:t>: apariția holerei este conectată cu condiții sanitare slabe.</a:t>
            </a:r>
          </a:p>
          <a:p>
            <a:pPr>
              <a:buNone/>
            </a:pPr>
            <a:endParaRPr lang="ro-RO" dirty="0" smtClean="0"/>
          </a:p>
          <a:p>
            <a:pPr>
              <a:buNone/>
            </a:pPr>
            <a:r>
              <a:rPr lang="ro-RO" dirty="0" smtClean="0"/>
              <a:t>Teoria miasmelor era consistentă cu Obs. 1 &amp; 2.</a:t>
            </a:r>
          </a:p>
          <a:p>
            <a:pPr>
              <a:buNone/>
            </a:pPr>
            <a:r>
              <a:rPr lang="ro-RO" dirty="0" smtClean="0"/>
              <a:t>Teoria germenilor era consistentă cu Obs. 1 &amp; 2.</a:t>
            </a:r>
          </a:p>
          <a:p>
            <a:pPr>
              <a:buNone/>
            </a:pPr>
            <a:endParaRPr lang="ro-RO" dirty="0"/>
          </a:p>
          <a:p>
            <a:pPr>
              <a:buNone/>
            </a:pPr>
            <a:r>
              <a:rPr lang="ro-RO" dirty="0" smtClean="0"/>
              <a:t>Egalitate</a:t>
            </a:r>
            <a:r>
              <a:rPr lang="en-US" dirty="0" smtClean="0"/>
              <a:t> (p</a:t>
            </a:r>
            <a:r>
              <a:rPr lang="ro-RO" dirty="0" smtClean="0"/>
              <a:t>â</a:t>
            </a:r>
            <a:r>
              <a:rPr lang="en-US" dirty="0" smtClean="0"/>
              <a:t>n</a:t>
            </a:r>
            <a:r>
              <a:rPr lang="ro-RO" dirty="0" smtClean="0"/>
              <a:t>ă</a:t>
            </a:r>
            <a:r>
              <a:rPr lang="en-US" dirty="0" smtClean="0"/>
              <a:t> </a:t>
            </a:r>
            <a:r>
              <a:rPr lang="en-US" dirty="0" err="1" smtClean="0"/>
              <a:t>acum</a:t>
            </a:r>
            <a:r>
              <a:rPr lang="en-US" dirty="0" smtClean="0"/>
              <a:t>)</a:t>
            </a:r>
          </a:p>
          <a:p>
            <a:pPr>
              <a:buNone/>
            </a:pPr>
            <a:endParaRPr lang="en-US" dirty="0" smtClean="0"/>
          </a:p>
          <a:p>
            <a:pPr>
              <a:buNone/>
            </a:pPr>
            <a:r>
              <a:rPr lang="en-US" dirty="0" smtClean="0"/>
              <a:t>Dar:</a:t>
            </a:r>
          </a:p>
          <a:p>
            <a:pPr>
              <a:buNone/>
            </a:pPr>
            <a:endParaRPr lang="en-US" dirty="0" smtClean="0"/>
          </a:p>
          <a:p>
            <a:pPr>
              <a:buNone/>
            </a:pPr>
            <a:r>
              <a:rPr lang="en-US" b="1" dirty="0" err="1" smtClean="0"/>
              <a:t>Observa</a:t>
            </a:r>
            <a:r>
              <a:rPr lang="ro-RO" b="1" dirty="0" smtClean="0"/>
              <a:t>ț</a:t>
            </a:r>
            <a:r>
              <a:rPr lang="en-US" b="1" dirty="0" err="1" smtClean="0"/>
              <a:t>ie</a:t>
            </a:r>
            <a:r>
              <a:rPr lang="en-US" b="1" dirty="0" smtClean="0"/>
              <a:t> 3</a:t>
            </a:r>
            <a:r>
              <a:rPr lang="en-US" dirty="0" smtClean="0"/>
              <a:t>: Num</a:t>
            </a:r>
            <a:r>
              <a:rPr lang="ro-RO" dirty="0" smtClean="0"/>
              <a:t>ă</a:t>
            </a:r>
            <a:r>
              <a:rPr lang="en-US" dirty="0" err="1" smtClean="0"/>
              <a:t>rul</a:t>
            </a:r>
            <a:r>
              <a:rPr lang="en-US" dirty="0" smtClean="0"/>
              <a:t> </a:t>
            </a:r>
            <a:r>
              <a:rPr lang="en-US" dirty="0" err="1" smtClean="0"/>
              <a:t>persoanelor</a:t>
            </a:r>
            <a:r>
              <a:rPr lang="en-US" dirty="0" smtClean="0"/>
              <a:t> care se </a:t>
            </a:r>
            <a:r>
              <a:rPr lang="ro-RO" dirty="0" smtClean="0"/>
              <a:t>î</a:t>
            </a:r>
            <a:r>
              <a:rPr lang="en-US" dirty="0" err="1" smtClean="0"/>
              <a:t>mboln</a:t>
            </a:r>
            <a:r>
              <a:rPr lang="ro-RO" dirty="0" smtClean="0"/>
              <a:t>ă</a:t>
            </a:r>
            <a:r>
              <a:rPr lang="en-US" dirty="0" err="1" smtClean="0"/>
              <a:t>vesc</a:t>
            </a:r>
            <a:r>
              <a:rPr lang="en-US" dirty="0" smtClean="0"/>
              <a:t> de </a:t>
            </a:r>
            <a:r>
              <a:rPr lang="en-US" dirty="0" err="1" smtClean="0"/>
              <a:t>holera</a:t>
            </a:r>
            <a:r>
              <a:rPr lang="en-US" dirty="0" smtClean="0"/>
              <a:t> </a:t>
            </a:r>
            <a:r>
              <a:rPr lang="en-US" dirty="0" err="1" smtClean="0"/>
              <a:t>este</a:t>
            </a:r>
            <a:r>
              <a:rPr lang="en-US" dirty="0" smtClean="0"/>
              <a:t> </a:t>
            </a:r>
            <a:r>
              <a:rPr lang="en-US" dirty="0" err="1" smtClean="0"/>
              <a:t>mai</a:t>
            </a:r>
            <a:r>
              <a:rPr lang="en-US" dirty="0" smtClean="0"/>
              <a:t> mare </a:t>
            </a:r>
            <a:r>
              <a:rPr lang="ro-RO" dirty="0" smtClean="0"/>
              <a:t>î</a:t>
            </a:r>
            <a:r>
              <a:rPr lang="en-US" dirty="0" smtClean="0"/>
              <a:t>n </a:t>
            </a:r>
            <a:r>
              <a:rPr lang="en-US" dirty="0" err="1" smtClean="0"/>
              <a:t>zona</a:t>
            </a:r>
            <a:r>
              <a:rPr lang="en-US" dirty="0" smtClean="0"/>
              <a:t> </a:t>
            </a:r>
            <a:r>
              <a:rPr lang="ro-RO" dirty="0" smtClean="0"/>
              <a:t>î</a:t>
            </a:r>
            <a:r>
              <a:rPr lang="en-US" dirty="0" smtClean="0"/>
              <a:t>n care se </a:t>
            </a:r>
            <a:r>
              <a:rPr lang="en-US" dirty="0" err="1" smtClean="0"/>
              <a:t>afl</a:t>
            </a:r>
            <a:r>
              <a:rPr lang="ro-RO" dirty="0" smtClean="0"/>
              <a:t>ă</a:t>
            </a:r>
            <a:r>
              <a:rPr lang="en-US" dirty="0" smtClean="0"/>
              <a:t> f</a:t>
            </a:r>
            <a:r>
              <a:rPr lang="ro-RO" dirty="0" smtClean="0"/>
              <a:t>â</a:t>
            </a:r>
            <a:r>
              <a:rPr lang="en-US" dirty="0" err="1" smtClean="0"/>
              <a:t>nt</a:t>
            </a:r>
            <a:r>
              <a:rPr lang="ro-RO" dirty="0" smtClean="0"/>
              <a:t>â</a:t>
            </a:r>
            <a:r>
              <a:rPr lang="en-US" dirty="0" err="1" smtClean="0"/>
              <a:t>na</a:t>
            </a:r>
            <a:r>
              <a:rPr lang="en-US" dirty="0" smtClean="0"/>
              <a:t> X.</a:t>
            </a:r>
          </a:p>
          <a:p>
            <a:pPr>
              <a:buNone/>
            </a:pPr>
            <a:r>
              <a:rPr lang="en-US" b="1" dirty="0" err="1" smtClean="0"/>
              <a:t>Observa</a:t>
            </a:r>
            <a:r>
              <a:rPr lang="ro-RO" b="1" dirty="0" smtClean="0"/>
              <a:t>ț</a:t>
            </a:r>
            <a:r>
              <a:rPr lang="en-US" b="1" dirty="0" err="1" smtClean="0"/>
              <a:t>ie</a:t>
            </a:r>
            <a:r>
              <a:rPr lang="en-US" b="1" dirty="0" smtClean="0"/>
              <a:t> 4</a:t>
            </a:r>
            <a:r>
              <a:rPr lang="en-US" dirty="0" smtClean="0"/>
              <a:t>: Num</a:t>
            </a:r>
            <a:r>
              <a:rPr lang="ro-RO" dirty="0" smtClean="0"/>
              <a:t>ă</a:t>
            </a:r>
            <a:r>
              <a:rPr lang="en-US" dirty="0" err="1" smtClean="0"/>
              <a:t>rul</a:t>
            </a:r>
            <a:r>
              <a:rPr lang="en-US" dirty="0" smtClean="0"/>
              <a:t> </a:t>
            </a:r>
            <a:r>
              <a:rPr lang="en-US" dirty="0" err="1" smtClean="0"/>
              <a:t>scade</a:t>
            </a:r>
            <a:r>
              <a:rPr lang="en-US" dirty="0" smtClean="0"/>
              <a:t> cu c</a:t>
            </a:r>
            <a:r>
              <a:rPr lang="ro-RO" dirty="0" smtClean="0"/>
              <a:t>â</a:t>
            </a:r>
            <a:r>
              <a:rPr lang="en-US" dirty="0" smtClean="0"/>
              <a:t>t ne </a:t>
            </a:r>
            <a:r>
              <a:rPr lang="ro-RO" dirty="0" smtClean="0"/>
              <a:t>î</a:t>
            </a:r>
            <a:r>
              <a:rPr lang="en-US" dirty="0" err="1" smtClean="0"/>
              <a:t>ndep</a:t>
            </a:r>
            <a:r>
              <a:rPr lang="ro-RO" dirty="0" smtClean="0"/>
              <a:t>ă</a:t>
            </a:r>
            <a:r>
              <a:rPr lang="en-US" dirty="0" err="1" smtClean="0"/>
              <a:t>rt</a:t>
            </a:r>
            <a:r>
              <a:rPr lang="ro-RO" dirty="0" smtClean="0"/>
              <a:t>ă</a:t>
            </a:r>
            <a:r>
              <a:rPr lang="en-US" dirty="0" smtClean="0"/>
              <a:t>m de f</a:t>
            </a:r>
            <a:r>
              <a:rPr lang="ro-RO" dirty="0" smtClean="0"/>
              <a:t>â</a:t>
            </a:r>
            <a:r>
              <a:rPr lang="en-US" dirty="0" err="1" smtClean="0"/>
              <a:t>ntan</a:t>
            </a:r>
            <a:r>
              <a:rPr lang="ro-RO" dirty="0" smtClean="0"/>
              <a:t>ă</a:t>
            </a:r>
            <a:r>
              <a:rPr lang="en-US" dirty="0" smtClean="0"/>
              <a:t>.</a:t>
            </a:r>
          </a:p>
          <a:p>
            <a:pPr>
              <a:buNone/>
            </a:pPr>
            <a:endParaRPr lang="en-US" dirty="0" smtClean="0"/>
          </a:p>
          <a:p>
            <a:pPr>
              <a:buNone/>
            </a:pPr>
            <a:r>
              <a:rPr lang="en-US" dirty="0" err="1" smtClean="0"/>
              <a:t>Teoria</a:t>
            </a:r>
            <a:r>
              <a:rPr lang="en-US" dirty="0" smtClean="0"/>
              <a:t> </a:t>
            </a:r>
            <a:r>
              <a:rPr lang="en-US" dirty="0" err="1" smtClean="0"/>
              <a:t>germenilor</a:t>
            </a:r>
            <a:r>
              <a:rPr lang="en-US" dirty="0" smtClean="0"/>
              <a:t> </a:t>
            </a:r>
            <a:r>
              <a:rPr lang="en-US" dirty="0" err="1" smtClean="0"/>
              <a:t>este</a:t>
            </a:r>
            <a:r>
              <a:rPr lang="en-US" dirty="0" smtClean="0"/>
              <a:t> </a:t>
            </a:r>
            <a:r>
              <a:rPr lang="en-US" dirty="0" err="1" smtClean="0"/>
              <a:t>singura</a:t>
            </a:r>
            <a:r>
              <a:rPr lang="en-US" dirty="0" smtClean="0"/>
              <a:t> care </a:t>
            </a:r>
            <a:r>
              <a:rPr lang="en-US" dirty="0" err="1" smtClean="0"/>
              <a:t>explic</a:t>
            </a:r>
            <a:r>
              <a:rPr lang="ro-RO" dirty="0" smtClean="0"/>
              <a:t>ă</a:t>
            </a:r>
            <a:r>
              <a:rPr lang="en-US" dirty="0" smtClean="0"/>
              <a:t> </a:t>
            </a:r>
            <a:r>
              <a:rPr lang="en-US" dirty="0" err="1" smtClean="0"/>
              <a:t>suficient</a:t>
            </a:r>
            <a:r>
              <a:rPr lang="en-US" dirty="0" smtClean="0"/>
              <a:t> de </a:t>
            </a:r>
            <a:r>
              <a:rPr lang="en-US" dirty="0" err="1" smtClean="0"/>
              <a:t>bine</a:t>
            </a:r>
            <a:r>
              <a:rPr lang="en-US" dirty="0" smtClean="0"/>
              <a:t> </a:t>
            </a:r>
            <a:r>
              <a:rPr lang="en-US" dirty="0" err="1" smtClean="0"/>
              <a:t>Observatiile</a:t>
            </a:r>
            <a:r>
              <a:rPr lang="en-US" dirty="0" smtClean="0"/>
              <a:t> 3 </a:t>
            </a:r>
            <a:r>
              <a:rPr lang="ro-RO" dirty="0" err="1" smtClean="0"/>
              <a:t>ț</a:t>
            </a:r>
            <a:r>
              <a:rPr lang="en-US" dirty="0" err="1" smtClean="0"/>
              <a:t>i</a:t>
            </a:r>
            <a:r>
              <a:rPr lang="en-US" dirty="0" smtClean="0"/>
              <a:t> 4.</a:t>
            </a:r>
          </a:p>
          <a:p>
            <a:pPr>
              <a:buNone/>
            </a:pPr>
            <a:endParaRPr lang="en-US" dirty="0" smtClean="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dirty="0" err="1" smtClean="0"/>
              <a:t>Metoda</a:t>
            </a:r>
            <a:r>
              <a:rPr lang="en-US" dirty="0" smtClean="0"/>
              <a:t> </a:t>
            </a:r>
            <a:r>
              <a:rPr lang="en-US" dirty="0" err="1" smtClean="0"/>
              <a:t>lui</a:t>
            </a:r>
            <a:r>
              <a:rPr lang="en-US" dirty="0" smtClean="0"/>
              <a:t> Mill</a:t>
            </a:r>
            <a:endParaRPr lang="en-US" dirty="0"/>
          </a:p>
        </p:txBody>
      </p:sp>
      <p:sp>
        <p:nvSpPr>
          <p:cNvPr id="3" name="Content Placeholder 2"/>
          <p:cNvSpPr>
            <a:spLocks noGrp="1"/>
          </p:cNvSpPr>
          <p:nvPr>
            <p:ph idx="1"/>
          </p:nvPr>
        </p:nvSpPr>
        <p:spPr>
          <a:xfrm>
            <a:off x="457200" y="1371600"/>
            <a:ext cx="8229600" cy="5257800"/>
          </a:xfrm>
        </p:spPr>
        <p:txBody>
          <a:bodyPr>
            <a:normAutofit lnSpcReduction="10000"/>
          </a:bodyPr>
          <a:lstStyle/>
          <a:p>
            <a:pPr>
              <a:buNone/>
            </a:pPr>
            <a:r>
              <a:rPr lang="en-US" dirty="0" err="1" smtClean="0"/>
              <a:t>Problema</a:t>
            </a:r>
            <a:r>
              <a:rPr lang="en-US" dirty="0" smtClean="0"/>
              <a:t>: s</a:t>
            </a:r>
            <a:r>
              <a:rPr lang="ro-RO" dirty="0" smtClean="0"/>
              <a:t>ă zicem că am observat un eveniment E. Cum îi aflăm cauza?</a:t>
            </a:r>
          </a:p>
          <a:p>
            <a:pPr>
              <a:buNone/>
            </a:pPr>
            <a:endParaRPr lang="ro-RO" dirty="0" smtClean="0"/>
          </a:p>
          <a:p>
            <a:pPr>
              <a:buNone/>
            </a:pPr>
            <a:r>
              <a:rPr lang="ro-RO" dirty="0" smtClean="0"/>
              <a:t>Algoritm:</a:t>
            </a:r>
          </a:p>
          <a:p>
            <a:pPr marL="514350" indent="-514350">
              <a:buAutoNum type="arabicParenBoth"/>
            </a:pPr>
            <a:r>
              <a:rPr lang="ro-RO" dirty="0" smtClean="0"/>
              <a:t>Propunem o mulțime de cauze posibile (candidate la un titlu de ”cauză”).</a:t>
            </a:r>
          </a:p>
          <a:p>
            <a:pPr marL="514350" indent="-514350">
              <a:buAutoNum type="arabicParenBoth"/>
            </a:pPr>
            <a:r>
              <a:rPr lang="ro-RO" dirty="0" smtClean="0"/>
              <a:t> Colectăm informație. Ce evenimente au precedat evenimentului E? (există evenimente ale căror cauze se află în viitor?!)</a:t>
            </a:r>
          </a:p>
          <a:p>
            <a:pPr marL="514350" indent="-514350">
              <a:buAutoNum type="arabicParenBoth"/>
            </a:pPr>
            <a:r>
              <a:rPr lang="ro-RO" dirty="0" smtClean="0"/>
              <a:t>Folosește următoarele 5 reguli:</a:t>
            </a:r>
          </a:p>
          <a:p>
            <a:pPr marL="514350" indent="-514350">
              <a:buAutoNum type="arabicParenBoth"/>
            </a:pPr>
            <a:endParaRPr lang="ro-RO" dirty="0" smtClean="0"/>
          </a:p>
          <a:p>
            <a:pPr marL="514350" indent="-514350">
              <a:buAutoNum type="arabicParenBoth"/>
            </a:pPr>
            <a:endParaRPr lang="ro-RO" dirty="0" smtClean="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ro-RO" dirty="0" smtClean="0"/>
              <a:t>Metoda acordului</a:t>
            </a:r>
            <a:endParaRPr lang="en-US" dirty="0"/>
          </a:p>
        </p:txBody>
      </p:sp>
      <p:sp>
        <p:nvSpPr>
          <p:cNvPr id="3" name="Content Placeholder 2"/>
          <p:cNvSpPr>
            <a:spLocks noGrp="1"/>
          </p:cNvSpPr>
          <p:nvPr>
            <p:ph idx="1"/>
          </p:nvPr>
        </p:nvSpPr>
        <p:spPr>
          <a:xfrm>
            <a:off x="457200" y="914400"/>
            <a:ext cx="8229600" cy="2743200"/>
          </a:xfrm>
        </p:spPr>
        <p:txBody>
          <a:bodyPr>
            <a:normAutofit fontScale="70000" lnSpcReduction="20000"/>
          </a:bodyPr>
          <a:lstStyle/>
          <a:p>
            <a:r>
              <a:rPr lang="ro-RO" dirty="0" smtClean="0"/>
              <a:t>Da</a:t>
            </a:r>
            <a:r>
              <a:rPr lang="en-US" dirty="0" smtClean="0"/>
              <a:t>ca </a:t>
            </a:r>
            <a:r>
              <a:rPr lang="en-US" dirty="0" err="1" smtClean="0"/>
              <a:t>mai</a:t>
            </a:r>
            <a:r>
              <a:rPr lang="en-US" dirty="0" smtClean="0"/>
              <a:t> </a:t>
            </a:r>
            <a:r>
              <a:rPr lang="en-US" dirty="0" err="1" smtClean="0"/>
              <a:t>multe</a:t>
            </a:r>
            <a:r>
              <a:rPr lang="en-US" dirty="0" smtClean="0"/>
              <a:t> </a:t>
            </a:r>
            <a:r>
              <a:rPr lang="en-US" dirty="0" err="1" smtClean="0"/>
              <a:t>situatii</a:t>
            </a:r>
            <a:r>
              <a:rPr lang="en-US" dirty="0" smtClean="0"/>
              <a:t> </a:t>
            </a:r>
            <a:r>
              <a:rPr lang="en-US" dirty="0" err="1" smtClean="0"/>
              <a:t>ce</a:t>
            </a:r>
            <a:r>
              <a:rPr lang="en-US" dirty="0" smtClean="0"/>
              <a:t> au </a:t>
            </a:r>
            <a:r>
              <a:rPr lang="en-US" dirty="0" err="1" smtClean="0"/>
              <a:t>drept</a:t>
            </a:r>
            <a:r>
              <a:rPr lang="en-US" dirty="0" smtClean="0"/>
              <a:t> </a:t>
            </a:r>
            <a:r>
              <a:rPr lang="en-US" dirty="0" err="1" smtClean="0"/>
              <a:t>efect</a:t>
            </a:r>
            <a:r>
              <a:rPr lang="en-US" dirty="0" smtClean="0"/>
              <a:t> </a:t>
            </a:r>
            <a:r>
              <a:rPr lang="en-US" dirty="0" err="1" smtClean="0"/>
              <a:t>evenimentul</a:t>
            </a:r>
            <a:r>
              <a:rPr lang="en-US" dirty="0" smtClean="0"/>
              <a:t> E au o </a:t>
            </a:r>
            <a:r>
              <a:rPr lang="en-US" dirty="0" err="1" smtClean="0"/>
              <a:t>singura</a:t>
            </a:r>
            <a:r>
              <a:rPr lang="en-US" dirty="0" smtClean="0"/>
              <a:t> </a:t>
            </a:r>
            <a:r>
              <a:rPr lang="en-US" dirty="0" err="1" smtClean="0"/>
              <a:t>cauza</a:t>
            </a:r>
            <a:r>
              <a:rPr lang="en-US" dirty="0" smtClean="0"/>
              <a:t> in </a:t>
            </a:r>
            <a:r>
              <a:rPr lang="en-US" dirty="0" err="1" smtClean="0"/>
              <a:t>comun</a:t>
            </a:r>
            <a:r>
              <a:rPr lang="en-US" dirty="0" smtClean="0"/>
              <a:t> C, </a:t>
            </a:r>
            <a:r>
              <a:rPr lang="en-US" dirty="0" err="1" smtClean="0"/>
              <a:t>atunci</a:t>
            </a:r>
            <a:r>
              <a:rPr lang="en-US" dirty="0" smtClean="0"/>
              <a:t> C </a:t>
            </a:r>
            <a:r>
              <a:rPr lang="en-US" dirty="0" err="1" smtClean="0"/>
              <a:t>este</a:t>
            </a:r>
            <a:r>
              <a:rPr lang="en-US" dirty="0" smtClean="0"/>
              <a:t> </a:t>
            </a:r>
            <a:r>
              <a:rPr lang="en-US" dirty="0" err="1" smtClean="0"/>
              <a:t>cauza</a:t>
            </a:r>
            <a:r>
              <a:rPr lang="en-US" dirty="0" smtClean="0"/>
              <a:t> </a:t>
            </a:r>
            <a:r>
              <a:rPr lang="en-US" dirty="0" err="1" smtClean="0"/>
              <a:t>lui</a:t>
            </a:r>
            <a:r>
              <a:rPr lang="en-US" dirty="0" smtClean="0"/>
              <a:t> E.</a:t>
            </a:r>
            <a:endParaRPr lang="ro-RO" dirty="0" smtClean="0"/>
          </a:p>
          <a:p>
            <a:pPr>
              <a:buNone/>
            </a:pPr>
            <a:r>
              <a:rPr lang="ro-RO" dirty="0" smtClean="0"/>
              <a:t>	Exemplu: toate persoanele bolnave de SIDA au contractat virusul HIV (deși sunt de etnii diferite, au vârste sau orientări sexuale diferite).</a:t>
            </a:r>
          </a:p>
          <a:p>
            <a:r>
              <a:rPr lang="ro-RO" dirty="0" smtClean="0"/>
              <a:t>Defect: regula acordului nu ne asigură de </a:t>
            </a:r>
            <a:r>
              <a:rPr lang="ro-RO" b="1" dirty="0" smtClean="0"/>
              <a:t>suficiența cauzală</a:t>
            </a:r>
            <a:r>
              <a:rPr lang="ro-RO" dirty="0" smtClean="0"/>
              <a:t>! </a:t>
            </a:r>
          </a:p>
          <a:p>
            <a:pPr>
              <a:buNone/>
            </a:pPr>
            <a:r>
              <a:rPr lang="ro-RO" dirty="0" smtClean="0"/>
              <a:t>	Exemplu: nu este suficient să fi contractat HIV pentru a avea SIDA (dar este necesar)</a:t>
            </a:r>
            <a:endParaRPr lang="en-US" dirty="0"/>
          </a:p>
        </p:txBody>
      </p:sp>
      <p:graphicFrame>
        <p:nvGraphicFramePr>
          <p:cNvPr id="4" name="Table 3"/>
          <p:cNvGraphicFramePr>
            <a:graphicFrameLocks noGrp="1"/>
          </p:cNvGraphicFramePr>
          <p:nvPr/>
        </p:nvGraphicFramePr>
        <p:xfrm>
          <a:off x="1295400" y="3683000"/>
          <a:ext cx="6096000" cy="2946400"/>
        </p:xfrm>
        <a:graphic>
          <a:graphicData uri="http://schemas.openxmlformats.org/drawingml/2006/table">
            <a:tbl>
              <a:tblPr firstRow="1" bandRow="1">
                <a:tableStyleId>{5C22544A-7EE6-4342-B048-85BDC9FD1C3A}</a:tableStyleId>
              </a:tblPr>
              <a:tblGrid>
                <a:gridCol w="1219200"/>
                <a:gridCol w="1219200"/>
                <a:gridCol w="1219200"/>
                <a:gridCol w="1219200"/>
                <a:gridCol w="1219200"/>
              </a:tblGrid>
              <a:tr h="589280">
                <a:tc>
                  <a:txBody>
                    <a:bodyPr/>
                    <a:lstStyle/>
                    <a:p>
                      <a:pPr algn="ctr"/>
                      <a:r>
                        <a:rPr lang="en-US" dirty="0" err="1" smtClean="0"/>
                        <a:t>Situa</a:t>
                      </a:r>
                      <a:r>
                        <a:rPr lang="ro-RO" dirty="0" smtClean="0"/>
                        <a:t>ția</a:t>
                      </a:r>
                      <a:endParaRPr lang="en-US" dirty="0"/>
                    </a:p>
                  </a:txBody>
                  <a:tcPr>
                    <a:solidFill>
                      <a:schemeClr val="tx2">
                        <a:lumMod val="40000"/>
                        <a:lumOff val="60000"/>
                      </a:schemeClr>
                    </a:solidFill>
                  </a:tcPr>
                </a:tc>
                <a:tc gridSpan="3">
                  <a:txBody>
                    <a:bodyPr/>
                    <a:lstStyle/>
                    <a:p>
                      <a:pPr algn="ctr"/>
                      <a:r>
                        <a:rPr lang="ro-RO" dirty="0" smtClean="0"/>
                        <a:t>Cauze posibile</a:t>
                      </a:r>
                      <a:endParaRPr lang="en-US" dirty="0"/>
                    </a:p>
                  </a:txBody>
                  <a:tcPr>
                    <a:solidFill>
                      <a:schemeClr val="tx2">
                        <a:lumMod val="40000"/>
                        <a:lumOff val="60000"/>
                      </a:schemeClr>
                    </a:solidFill>
                  </a:tcPr>
                </a:tc>
                <a:tc hMerge="1">
                  <a:txBody>
                    <a:bodyPr/>
                    <a:lstStyle/>
                    <a:p>
                      <a:endParaRPr lang="en-US" dirty="0"/>
                    </a:p>
                  </a:txBody>
                  <a:tcPr/>
                </a:tc>
                <a:tc hMerge="1">
                  <a:txBody>
                    <a:bodyPr/>
                    <a:lstStyle/>
                    <a:p>
                      <a:endParaRPr lang="en-US" dirty="0"/>
                    </a:p>
                  </a:txBody>
                  <a:tcPr/>
                </a:tc>
                <a:tc>
                  <a:txBody>
                    <a:bodyPr/>
                    <a:lstStyle/>
                    <a:p>
                      <a:pPr algn="ctr"/>
                      <a:r>
                        <a:rPr lang="ro-RO" dirty="0" smtClean="0"/>
                        <a:t>Efect</a:t>
                      </a:r>
                      <a:endParaRPr lang="en-US" dirty="0"/>
                    </a:p>
                  </a:txBody>
                  <a:tcPr>
                    <a:solidFill>
                      <a:schemeClr val="tx2">
                        <a:lumMod val="40000"/>
                        <a:lumOff val="60000"/>
                      </a:schemeClr>
                    </a:solidFill>
                  </a:tcPr>
                </a:tc>
              </a:tr>
              <a:tr h="589280">
                <a:tc>
                  <a:txBody>
                    <a:bodyPr/>
                    <a:lstStyle/>
                    <a:p>
                      <a:pPr algn="ctr"/>
                      <a:endParaRPr lang="en-US"/>
                    </a:p>
                  </a:txBody>
                  <a:tcPr>
                    <a:solidFill>
                      <a:schemeClr val="tx2">
                        <a:lumMod val="40000"/>
                        <a:lumOff val="60000"/>
                      </a:schemeClr>
                    </a:solidFill>
                  </a:tcPr>
                </a:tc>
                <a:tc>
                  <a:txBody>
                    <a:bodyPr/>
                    <a:lstStyle/>
                    <a:p>
                      <a:pPr algn="ctr"/>
                      <a:r>
                        <a:rPr lang="ro-RO" dirty="0" smtClean="0"/>
                        <a:t>A</a:t>
                      </a:r>
                      <a:endParaRPr lang="en-US" dirty="0"/>
                    </a:p>
                  </a:txBody>
                  <a:tcPr>
                    <a:solidFill>
                      <a:schemeClr val="tx2">
                        <a:lumMod val="40000"/>
                        <a:lumOff val="60000"/>
                      </a:schemeClr>
                    </a:solidFill>
                  </a:tcPr>
                </a:tc>
                <a:tc>
                  <a:txBody>
                    <a:bodyPr/>
                    <a:lstStyle/>
                    <a:p>
                      <a:pPr algn="ctr"/>
                      <a:r>
                        <a:rPr lang="ro-RO" dirty="0" smtClean="0"/>
                        <a:t>B</a:t>
                      </a:r>
                      <a:endParaRPr lang="en-US" dirty="0"/>
                    </a:p>
                  </a:txBody>
                  <a:tcPr>
                    <a:solidFill>
                      <a:schemeClr val="tx2">
                        <a:lumMod val="40000"/>
                        <a:lumOff val="60000"/>
                      </a:schemeClr>
                    </a:solidFill>
                  </a:tcPr>
                </a:tc>
                <a:tc>
                  <a:txBody>
                    <a:bodyPr/>
                    <a:lstStyle/>
                    <a:p>
                      <a:pPr algn="ctr"/>
                      <a:r>
                        <a:rPr lang="ro-RO" dirty="0" smtClean="0"/>
                        <a:t>C</a:t>
                      </a:r>
                      <a:endParaRPr lang="en-US" dirty="0"/>
                    </a:p>
                  </a:txBody>
                  <a:tcPr>
                    <a:solidFill>
                      <a:schemeClr val="tx2">
                        <a:lumMod val="40000"/>
                        <a:lumOff val="60000"/>
                      </a:schemeClr>
                    </a:solidFill>
                  </a:tcPr>
                </a:tc>
                <a:tc>
                  <a:txBody>
                    <a:bodyPr/>
                    <a:lstStyle/>
                    <a:p>
                      <a:pPr algn="ctr"/>
                      <a:r>
                        <a:rPr lang="ro-RO" dirty="0" smtClean="0"/>
                        <a:t>E</a:t>
                      </a:r>
                      <a:endParaRPr lang="en-US" dirty="0"/>
                    </a:p>
                  </a:txBody>
                  <a:tcPr>
                    <a:solidFill>
                      <a:schemeClr val="tx2">
                        <a:lumMod val="40000"/>
                        <a:lumOff val="60000"/>
                      </a:schemeClr>
                    </a:solidFill>
                  </a:tcPr>
                </a:tc>
              </a:tr>
              <a:tr h="589280">
                <a:tc>
                  <a:txBody>
                    <a:bodyPr/>
                    <a:lstStyle/>
                    <a:p>
                      <a:pPr algn="ctr"/>
                      <a:r>
                        <a:rPr lang="ro-RO" dirty="0" smtClean="0"/>
                        <a:t>1</a:t>
                      </a:r>
                      <a:endParaRPr lang="en-US" dirty="0"/>
                    </a:p>
                  </a:txBody>
                  <a:tcPr/>
                </a:tc>
                <a:tc>
                  <a:txBody>
                    <a:bodyPr/>
                    <a:lstStyle/>
                    <a:p>
                      <a:pPr algn="ctr"/>
                      <a:r>
                        <a:rPr lang="ro-RO" dirty="0" smtClean="0"/>
                        <a:t>Da</a:t>
                      </a:r>
                      <a:endParaRPr lang="en-US" dirty="0"/>
                    </a:p>
                  </a:txBody>
                  <a:tcPr/>
                </a:tc>
                <a:tc>
                  <a:txBody>
                    <a:bodyPr/>
                    <a:lstStyle/>
                    <a:p>
                      <a:pPr algn="ctr"/>
                      <a:r>
                        <a:rPr lang="ro-RO" dirty="0" smtClean="0"/>
                        <a:t>Nu</a:t>
                      </a:r>
                      <a:endParaRPr lang="en-US" dirty="0"/>
                    </a:p>
                  </a:txBody>
                  <a:tcPr/>
                </a:tc>
                <a:tc>
                  <a:txBody>
                    <a:bodyPr/>
                    <a:lstStyle/>
                    <a:p>
                      <a:pPr algn="ctr"/>
                      <a:r>
                        <a:rPr lang="ro-RO" dirty="0" smtClean="0"/>
                        <a:t>Da</a:t>
                      </a:r>
                      <a:endParaRPr lang="en-US" dirty="0"/>
                    </a:p>
                  </a:txBody>
                  <a:tcPr/>
                </a:tc>
                <a:tc>
                  <a:txBody>
                    <a:bodyPr/>
                    <a:lstStyle/>
                    <a:p>
                      <a:pPr algn="ctr"/>
                      <a:r>
                        <a:rPr lang="ro-RO" dirty="0" smtClean="0"/>
                        <a:t>Da</a:t>
                      </a:r>
                      <a:endParaRPr lang="en-US" dirty="0"/>
                    </a:p>
                  </a:txBody>
                  <a:tcPr/>
                </a:tc>
              </a:tr>
              <a:tr h="589280">
                <a:tc>
                  <a:txBody>
                    <a:bodyPr/>
                    <a:lstStyle/>
                    <a:p>
                      <a:pPr algn="ctr"/>
                      <a:r>
                        <a:rPr lang="ro-RO" dirty="0" smtClean="0"/>
                        <a:t>2</a:t>
                      </a:r>
                      <a:endParaRPr lang="en-US" dirty="0"/>
                    </a:p>
                  </a:txBody>
                  <a:tcPr/>
                </a:tc>
                <a:tc>
                  <a:txBody>
                    <a:bodyPr/>
                    <a:lstStyle/>
                    <a:p>
                      <a:pPr algn="ctr"/>
                      <a:r>
                        <a:rPr lang="ro-RO" dirty="0" smtClean="0"/>
                        <a:t>Nu</a:t>
                      </a:r>
                      <a:endParaRPr lang="en-US" dirty="0"/>
                    </a:p>
                  </a:txBody>
                  <a:tcPr/>
                </a:tc>
                <a:tc>
                  <a:txBody>
                    <a:bodyPr/>
                    <a:lstStyle/>
                    <a:p>
                      <a:pPr algn="ctr"/>
                      <a:r>
                        <a:rPr lang="ro-RO" dirty="0" smtClean="0"/>
                        <a:t>Da</a:t>
                      </a:r>
                      <a:endParaRPr lang="en-US" dirty="0"/>
                    </a:p>
                  </a:txBody>
                  <a:tcPr/>
                </a:tc>
                <a:tc>
                  <a:txBody>
                    <a:bodyPr/>
                    <a:lstStyle/>
                    <a:p>
                      <a:pPr algn="ctr"/>
                      <a:r>
                        <a:rPr lang="ro-RO" dirty="0" smtClean="0"/>
                        <a:t>Da</a:t>
                      </a:r>
                      <a:endParaRPr lang="en-US" dirty="0"/>
                    </a:p>
                  </a:txBody>
                  <a:tcPr/>
                </a:tc>
                <a:tc>
                  <a:txBody>
                    <a:bodyPr/>
                    <a:lstStyle/>
                    <a:p>
                      <a:pPr algn="ctr"/>
                      <a:r>
                        <a:rPr lang="ro-RO" dirty="0" smtClean="0"/>
                        <a:t>Da</a:t>
                      </a:r>
                      <a:endParaRPr lang="en-US" dirty="0"/>
                    </a:p>
                  </a:txBody>
                  <a:tcPr/>
                </a:tc>
              </a:tr>
              <a:tr h="589280">
                <a:tc>
                  <a:txBody>
                    <a:bodyPr/>
                    <a:lstStyle/>
                    <a:p>
                      <a:pPr algn="ctr"/>
                      <a:r>
                        <a:rPr lang="ro-RO" dirty="0" smtClean="0"/>
                        <a:t>3</a:t>
                      </a:r>
                      <a:endParaRPr lang="en-US" dirty="0"/>
                    </a:p>
                  </a:txBody>
                  <a:tcPr/>
                </a:tc>
                <a:tc>
                  <a:txBody>
                    <a:bodyPr/>
                    <a:lstStyle/>
                    <a:p>
                      <a:pPr algn="ctr"/>
                      <a:r>
                        <a:rPr lang="ro-RO" dirty="0" smtClean="0"/>
                        <a:t>Da</a:t>
                      </a:r>
                      <a:endParaRPr lang="en-US" dirty="0"/>
                    </a:p>
                  </a:txBody>
                  <a:tcPr/>
                </a:tc>
                <a:tc>
                  <a:txBody>
                    <a:bodyPr/>
                    <a:lstStyle/>
                    <a:p>
                      <a:pPr algn="ctr"/>
                      <a:r>
                        <a:rPr lang="ro-RO" dirty="0" smtClean="0"/>
                        <a:t>Da</a:t>
                      </a:r>
                      <a:endParaRPr lang="en-US" dirty="0"/>
                    </a:p>
                  </a:txBody>
                  <a:tcPr/>
                </a:tc>
                <a:tc>
                  <a:txBody>
                    <a:bodyPr/>
                    <a:lstStyle/>
                    <a:p>
                      <a:pPr algn="ctr"/>
                      <a:r>
                        <a:rPr lang="ro-RO" dirty="0" smtClean="0"/>
                        <a:t>Da</a:t>
                      </a:r>
                      <a:endParaRPr lang="en-US" dirty="0"/>
                    </a:p>
                  </a:txBody>
                  <a:tcPr/>
                </a:tc>
                <a:tc>
                  <a:txBody>
                    <a:bodyPr/>
                    <a:lstStyle/>
                    <a:p>
                      <a:pPr algn="ctr"/>
                      <a:r>
                        <a:rPr lang="ro-RO" dirty="0" smtClean="0"/>
                        <a:t>Da</a:t>
                      </a:r>
                      <a:endParaRPr lang="en-US" dirty="0"/>
                    </a:p>
                  </a:txBody>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ro-RO" dirty="0" smtClean="0"/>
              <a:t>Metoda diferențelor</a:t>
            </a:r>
            <a:endParaRPr lang="en-US" dirty="0"/>
          </a:p>
        </p:txBody>
      </p:sp>
      <p:sp>
        <p:nvSpPr>
          <p:cNvPr id="3" name="Content Placeholder 2"/>
          <p:cNvSpPr>
            <a:spLocks noGrp="1"/>
          </p:cNvSpPr>
          <p:nvPr>
            <p:ph idx="1"/>
          </p:nvPr>
        </p:nvSpPr>
        <p:spPr>
          <a:xfrm>
            <a:off x="457200" y="914400"/>
            <a:ext cx="8229600" cy="2667000"/>
          </a:xfrm>
        </p:spPr>
        <p:txBody>
          <a:bodyPr>
            <a:normAutofit fontScale="85000" lnSpcReduction="20000"/>
          </a:bodyPr>
          <a:lstStyle/>
          <a:p>
            <a:r>
              <a:rPr lang="ro-RO" dirty="0" smtClean="0"/>
              <a:t>Dacă un grup G1 de situații conduce la un eveniment E și un grup G2 de situații nu conduce la E, și singura diferență între G1 și G2 este că evenimentul C apare în G1 dar nu și în G2, atunci C este cauza lui E.</a:t>
            </a:r>
          </a:p>
          <a:p>
            <a:r>
              <a:rPr lang="ro-RO" dirty="0" smtClean="0"/>
              <a:t>Exemplu: telefonul fără baterie.</a:t>
            </a:r>
          </a:p>
          <a:p>
            <a:r>
              <a:rPr lang="ro-RO" dirty="0" smtClean="0"/>
              <a:t>Aplicații: grupurile de control în cadrul experimentelor.</a:t>
            </a:r>
          </a:p>
          <a:p>
            <a:r>
              <a:rPr lang="ro-RO" dirty="0" smtClean="0"/>
              <a:t>Exemplu: testarea efectelor medicamentelor.</a:t>
            </a:r>
          </a:p>
        </p:txBody>
      </p:sp>
      <p:graphicFrame>
        <p:nvGraphicFramePr>
          <p:cNvPr id="4" name="Table 3"/>
          <p:cNvGraphicFramePr>
            <a:graphicFrameLocks noGrp="1"/>
          </p:cNvGraphicFramePr>
          <p:nvPr/>
        </p:nvGraphicFramePr>
        <p:xfrm>
          <a:off x="1295400" y="3683000"/>
          <a:ext cx="6096000" cy="2946400"/>
        </p:xfrm>
        <a:graphic>
          <a:graphicData uri="http://schemas.openxmlformats.org/drawingml/2006/table">
            <a:tbl>
              <a:tblPr firstRow="1" bandRow="1">
                <a:tableStyleId>{5C22544A-7EE6-4342-B048-85BDC9FD1C3A}</a:tableStyleId>
              </a:tblPr>
              <a:tblGrid>
                <a:gridCol w="1219200"/>
                <a:gridCol w="1219200"/>
                <a:gridCol w="1219200"/>
                <a:gridCol w="1219200"/>
                <a:gridCol w="1219200"/>
              </a:tblGrid>
              <a:tr h="589280">
                <a:tc>
                  <a:txBody>
                    <a:bodyPr/>
                    <a:lstStyle/>
                    <a:p>
                      <a:pPr algn="ctr"/>
                      <a:r>
                        <a:rPr lang="en-US" dirty="0" err="1" smtClean="0"/>
                        <a:t>Situa</a:t>
                      </a:r>
                      <a:r>
                        <a:rPr lang="ro-RO" dirty="0" smtClean="0"/>
                        <a:t>ția</a:t>
                      </a:r>
                      <a:endParaRPr lang="en-US" dirty="0"/>
                    </a:p>
                  </a:txBody>
                  <a:tcPr>
                    <a:solidFill>
                      <a:schemeClr val="tx2">
                        <a:lumMod val="40000"/>
                        <a:lumOff val="60000"/>
                      </a:schemeClr>
                    </a:solidFill>
                  </a:tcPr>
                </a:tc>
                <a:tc gridSpan="3">
                  <a:txBody>
                    <a:bodyPr/>
                    <a:lstStyle/>
                    <a:p>
                      <a:pPr algn="ctr"/>
                      <a:r>
                        <a:rPr lang="ro-RO" dirty="0" smtClean="0"/>
                        <a:t>Cauze posibile</a:t>
                      </a:r>
                      <a:endParaRPr lang="en-US" dirty="0"/>
                    </a:p>
                  </a:txBody>
                  <a:tcPr>
                    <a:solidFill>
                      <a:schemeClr val="tx2">
                        <a:lumMod val="40000"/>
                        <a:lumOff val="60000"/>
                      </a:schemeClr>
                    </a:solidFill>
                  </a:tcPr>
                </a:tc>
                <a:tc hMerge="1">
                  <a:txBody>
                    <a:bodyPr/>
                    <a:lstStyle/>
                    <a:p>
                      <a:endParaRPr lang="en-US" dirty="0"/>
                    </a:p>
                  </a:txBody>
                  <a:tcPr/>
                </a:tc>
                <a:tc hMerge="1">
                  <a:txBody>
                    <a:bodyPr/>
                    <a:lstStyle/>
                    <a:p>
                      <a:endParaRPr lang="en-US" dirty="0"/>
                    </a:p>
                  </a:txBody>
                  <a:tcPr/>
                </a:tc>
                <a:tc>
                  <a:txBody>
                    <a:bodyPr/>
                    <a:lstStyle/>
                    <a:p>
                      <a:pPr algn="ctr"/>
                      <a:r>
                        <a:rPr lang="ro-RO" dirty="0" smtClean="0"/>
                        <a:t>Efect</a:t>
                      </a:r>
                      <a:endParaRPr lang="en-US" dirty="0"/>
                    </a:p>
                  </a:txBody>
                  <a:tcPr>
                    <a:solidFill>
                      <a:schemeClr val="tx2">
                        <a:lumMod val="40000"/>
                        <a:lumOff val="60000"/>
                      </a:schemeClr>
                    </a:solidFill>
                  </a:tcPr>
                </a:tc>
              </a:tr>
              <a:tr h="589280">
                <a:tc>
                  <a:txBody>
                    <a:bodyPr/>
                    <a:lstStyle/>
                    <a:p>
                      <a:pPr algn="ctr"/>
                      <a:endParaRPr lang="en-US"/>
                    </a:p>
                  </a:txBody>
                  <a:tcPr>
                    <a:solidFill>
                      <a:schemeClr val="tx2">
                        <a:lumMod val="40000"/>
                        <a:lumOff val="60000"/>
                      </a:schemeClr>
                    </a:solidFill>
                  </a:tcPr>
                </a:tc>
                <a:tc>
                  <a:txBody>
                    <a:bodyPr/>
                    <a:lstStyle/>
                    <a:p>
                      <a:pPr algn="ctr"/>
                      <a:r>
                        <a:rPr lang="ro-RO" dirty="0" smtClean="0"/>
                        <a:t>A</a:t>
                      </a:r>
                      <a:endParaRPr lang="en-US" dirty="0"/>
                    </a:p>
                  </a:txBody>
                  <a:tcPr>
                    <a:solidFill>
                      <a:schemeClr val="tx2">
                        <a:lumMod val="40000"/>
                        <a:lumOff val="60000"/>
                      </a:schemeClr>
                    </a:solidFill>
                  </a:tcPr>
                </a:tc>
                <a:tc>
                  <a:txBody>
                    <a:bodyPr/>
                    <a:lstStyle/>
                    <a:p>
                      <a:pPr algn="ctr"/>
                      <a:r>
                        <a:rPr lang="ro-RO" dirty="0" smtClean="0"/>
                        <a:t>B</a:t>
                      </a:r>
                      <a:endParaRPr lang="en-US" dirty="0"/>
                    </a:p>
                  </a:txBody>
                  <a:tcPr>
                    <a:solidFill>
                      <a:schemeClr val="tx2">
                        <a:lumMod val="40000"/>
                        <a:lumOff val="60000"/>
                      </a:schemeClr>
                    </a:solidFill>
                  </a:tcPr>
                </a:tc>
                <a:tc>
                  <a:txBody>
                    <a:bodyPr/>
                    <a:lstStyle/>
                    <a:p>
                      <a:pPr algn="ctr"/>
                      <a:r>
                        <a:rPr lang="ro-RO" dirty="0" smtClean="0"/>
                        <a:t>C</a:t>
                      </a:r>
                      <a:endParaRPr lang="en-US" dirty="0"/>
                    </a:p>
                  </a:txBody>
                  <a:tcPr>
                    <a:solidFill>
                      <a:schemeClr val="tx2">
                        <a:lumMod val="40000"/>
                        <a:lumOff val="60000"/>
                      </a:schemeClr>
                    </a:solidFill>
                  </a:tcPr>
                </a:tc>
                <a:tc>
                  <a:txBody>
                    <a:bodyPr/>
                    <a:lstStyle/>
                    <a:p>
                      <a:pPr algn="ctr"/>
                      <a:r>
                        <a:rPr lang="ro-RO" dirty="0" smtClean="0"/>
                        <a:t>E</a:t>
                      </a:r>
                      <a:endParaRPr lang="en-US" dirty="0"/>
                    </a:p>
                  </a:txBody>
                  <a:tcPr>
                    <a:solidFill>
                      <a:schemeClr val="tx2">
                        <a:lumMod val="40000"/>
                        <a:lumOff val="60000"/>
                      </a:schemeClr>
                    </a:solidFill>
                  </a:tcPr>
                </a:tc>
              </a:tr>
              <a:tr h="589280">
                <a:tc>
                  <a:txBody>
                    <a:bodyPr/>
                    <a:lstStyle/>
                    <a:p>
                      <a:pPr algn="ctr"/>
                      <a:r>
                        <a:rPr lang="ro-RO" dirty="0" smtClean="0"/>
                        <a:t>1</a:t>
                      </a:r>
                      <a:endParaRPr lang="en-US" dirty="0"/>
                    </a:p>
                  </a:txBody>
                  <a:tcPr/>
                </a:tc>
                <a:tc>
                  <a:txBody>
                    <a:bodyPr/>
                    <a:lstStyle/>
                    <a:p>
                      <a:pPr algn="ctr"/>
                      <a:r>
                        <a:rPr lang="ro-RO" dirty="0" smtClean="0"/>
                        <a:t>Da</a:t>
                      </a:r>
                      <a:endParaRPr lang="en-US" dirty="0"/>
                    </a:p>
                  </a:txBody>
                  <a:tcPr/>
                </a:tc>
                <a:tc>
                  <a:txBody>
                    <a:bodyPr/>
                    <a:lstStyle/>
                    <a:p>
                      <a:pPr algn="ctr"/>
                      <a:r>
                        <a:rPr lang="ro-RO" dirty="0" smtClean="0"/>
                        <a:t>Nu</a:t>
                      </a:r>
                      <a:endParaRPr lang="en-US" dirty="0"/>
                    </a:p>
                  </a:txBody>
                  <a:tcPr/>
                </a:tc>
                <a:tc>
                  <a:txBody>
                    <a:bodyPr/>
                    <a:lstStyle/>
                    <a:p>
                      <a:pPr algn="ctr"/>
                      <a:r>
                        <a:rPr lang="ro-RO" dirty="0" smtClean="0"/>
                        <a:t>Da</a:t>
                      </a:r>
                      <a:endParaRPr lang="en-US" dirty="0"/>
                    </a:p>
                  </a:txBody>
                  <a:tcPr/>
                </a:tc>
                <a:tc>
                  <a:txBody>
                    <a:bodyPr/>
                    <a:lstStyle/>
                    <a:p>
                      <a:pPr algn="ctr"/>
                      <a:r>
                        <a:rPr lang="ro-RO" dirty="0" smtClean="0"/>
                        <a:t>Da</a:t>
                      </a:r>
                      <a:endParaRPr lang="en-US" dirty="0"/>
                    </a:p>
                  </a:txBody>
                  <a:tcPr/>
                </a:tc>
              </a:tr>
              <a:tr h="589280">
                <a:tc>
                  <a:txBody>
                    <a:bodyPr/>
                    <a:lstStyle/>
                    <a:p>
                      <a:pPr algn="ctr"/>
                      <a:r>
                        <a:rPr lang="ro-RO" dirty="0" smtClean="0"/>
                        <a:t>2</a:t>
                      </a:r>
                      <a:endParaRPr lang="en-US" dirty="0"/>
                    </a:p>
                  </a:txBody>
                  <a:tcPr/>
                </a:tc>
                <a:tc>
                  <a:txBody>
                    <a:bodyPr/>
                    <a:lstStyle/>
                    <a:p>
                      <a:pPr algn="ctr"/>
                      <a:r>
                        <a:rPr lang="ro-RO" dirty="0" smtClean="0"/>
                        <a:t>Da</a:t>
                      </a:r>
                      <a:endParaRPr lang="en-US" dirty="0"/>
                    </a:p>
                  </a:txBody>
                  <a:tcPr/>
                </a:tc>
                <a:tc>
                  <a:txBody>
                    <a:bodyPr/>
                    <a:lstStyle/>
                    <a:p>
                      <a:pPr algn="ctr"/>
                      <a:r>
                        <a:rPr lang="ro-RO" dirty="0" smtClean="0"/>
                        <a:t>Nu</a:t>
                      </a:r>
                      <a:endParaRPr lang="en-US" dirty="0"/>
                    </a:p>
                  </a:txBody>
                  <a:tcPr/>
                </a:tc>
                <a:tc>
                  <a:txBody>
                    <a:bodyPr/>
                    <a:lstStyle/>
                    <a:p>
                      <a:pPr algn="ctr"/>
                      <a:r>
                        <a:rPr lang="ro-RO" dirty="0" smtClean="0"/>
                        <a:t>Da</a:t>
                      </a:r>
                      <a:endParaRPr lang="en-US" dirty="0"/>
                    </a:p>
                  </a:txBody>
                  <a:tcPr/>
                </a:tc>
                <a:tc>
                  <a:txBody>
                    <a:bodyPr/>
                    <a:lstStyle/>
                    <a:p>
                      <a:pPr algn="ctr"/>
                      <a:r>
                        <a:rPr lang="ro-RO" dirty="0" smtClean="0"/>
                        <a:t>Da</a:t>
                      </a:r>
                      <a:endParaRPr lang="en-US" dirty="0"/>
                    </a:p>
                  </a:txBody>
                  <a:tcPr/>
                </a:tc>
              </a:tr>
              <a:tr h="589280">
                <a:tc>
                  <a:txBody>
                    <a:bodyPr/>
                    <a:lstStyle/>
                    <a:p>
                      <a:pPr algn="ctr"/>
                      <a:r>
                        <a:rPr lang="ro-RO" dirty="0" smtClean="0"/>
                        <a:t>3</a:t>
                      </a:r>
                      <a:endParaRPr lang="en-US" dirty="0"/>
                    </a:p>
                  </a:txBody>
                  <a:tcPr/>
                </a:tc>
                <a:tc>
                  <a:txBody>
                    <a:bodyPr/>
                    <a:lstStyle/>
                    <a:p>
                      <a:pPr algn="ctr"/>
                      <a:r>
                        <a:rPr lang="ro-RO" dirty="0" smtClean="0"/>
                        <a:t>Da</a:t>
                      </a:r>
                      <a:endParaRPr lang="en-US" dirty="0"/>
                    </a:p>
                  </a:txBody>
                  <a:tcPr/>
                </a:tc>
                <a:tc>
                  <a:txBody>
                    <a:bodyPr/>
                    <a:lstStyle/>
                    <a:p>
                      <a:pPr algn="ctr"/>
                      <a:r>
                        <a:rPr lang="ro-RO" dirty="0" smtClean="0"/>
                        <a:t>Nu</a:t>
                      </a:r>
                      <a:endParaRPr lang="en-US" dirty="0"/>
                    </a:p>
                  </a:txBody>
                  <a:tcPr/>
                </a:tc>
                <a:tc>
                  <a:txBody>
                    <a:bodyPr/>
                    <a:lstStyle/>
                    <a:p>
                      <a:pPr algn="ctr"/>
                      <a:r>
                        <a:rPr lang="ro-RO" dirty="0" smtClean="0"/>
                        <a:t>Nu</a:t>
                      </a:r>
                      <a:endParaRPr lang="en-US" dirty="0"/>
                    </a:p>
                  </a:txBody>
                  <a:tcPr/>
                </a:tc>
                <a:tc>
                  <a:txBody>
                    <a:bodyPr/>
                    <a:lstStyle/>
                    <a:p>
                      <a:pPr algn="ctr"/>
                      <a:r>
                        <a:rPr lang="ro-RO" dirty="0" smtClean="0"/>
                        <a:t>Nu</a:t>
                      </a:r>
                      <a:endParaRPr lang="en-US" dirty="0"/>
                    </a:p>
                  </a:txBody>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ro-RO" dirty="0" smtClean="0"/>
              <a:t>Metoda cumulului</a:t>
            </a:r>
            <a:endParaRPr lang="en-US" dirty="0"/>
          </a:p>
        </p:txBody>
      </p:sp>
      <p:sp>
        <p:nvSpPr>
          <p:cNvPr id="3" name="Content Placeholder 2"/>
          <p:cNvSpPr>
            <a:spLocks noGrp="1"/>
          </p:cNvSpPr>
          <p:nvPr>
            <p:ph idx="1"/>
          </p:nvPr>
        </p:nvSpPr>
        <p:spPr>
          <a:xfrm>
            <a:off x="457200" y="1066800"/>
            <a:ext cx="8229600" cy="2209800"/>
          </a:xfrm>
        </p:spPr>
        <p:txBody>
          <a:bodyPr>
            <a:normAutofit fontScale="85000" lnSpcReduction="20000"/>
          </a:bodyPr>
          <a:lstStyle/>
          <a:p>
            <a:r>
              <a:rPr lang="ro-RO" dirty="0" smtClean="0"/>
              <a:t>Să zicem că un grup G1 de situații duce la un eveniment E, iar un grup G2 nu. Dacă C este singurul factor comun al situațiilor din G1 și singurul factor absent din G2, atunci C este cauza lui E.</a:t>
            </a:r>
          </a:p>
          <a:p>
            <a:r>
              <a:rPr lang="ro-RO" dirty="0" smtClean="0"/>
              <a:t>Dacă C este singurul eveniment ce a avut loc atunci și doar atunci când E a avut loc, atunci C este cauza lui E.</a:t>
            </a:r>
            <a:endParaRPr lang="en-US" dirty="0"/>
          </a:p>
        </p:txBody>
      </p:sp>
      <p:graphicFrame>
        <p:nvGraphicFramePr>
          <p:cNvPr id="4" name="Table 3"/>
          <p:cNvGraphicFramePr>
            <a:graphicFrameLocks noGrp="1"/>
          </p:cNvGraphicFramePr>
          <p:nvPr/>
        </p:nvGraphicFramePr>
        <p:xfrm>
          <a:off x="1295400" y="3683000"/>
          <a:ext cx="6096000" cy="2946400"/>
        </p:xfrm>
        <a:graphic>
          <a:graphicData uri="http://schemas.openxmlformats.org/drawingml/2006/table">
            <a:tbl>
              <a:tblPr firstRow="1" bandRow="1">
                <a:tableStyleId>{5C22544A-7EE6-4342-B048-85BDC9FD1C3A}</a:tableStyleId>
              </a:tblPr>
              <a:tblGrid>
                <a:gridCol w="1016000"/>
                <a:gridCol w="1016000"/>
                <a:gridCol w="1016000"/>
                <a:gridCol w="1016000"/>
                <a:gridCol w="1016000"/>
                <a:gridCol w="1016000"/>
              </a:tblGrid>
              <a:tr h="589280">
                <a:tc>
                  <a:txBody>
                    <a:bodyPr/>
                    <a:lstStyle/>
                    <a:p>
                      <a:pPr algn="ctr"/>
                      <a:r>
                        <a:rPr lang="en-US" dirty="0" err="1" smtClean="0"/>
                        <a:t>Situa</a:t>
                      </a:r>
                      <a:r>
                        <a:rPr lang="ro-RO" dirty="0" smtClean="0"/>
                        <a:t>ția</a:t>
                      </a:r>
                      <a:endParaRPr lang="en-US" dirty="0"/>
                    </a:p>
                  </a:txBody>
                  <a:tcPr>
                    <a:solidFill>
                      <a:schemeClr val="tx2">
                        <a:lumMod val="40000"/>
                        <a:lumOff val="60000"/>
                      </a:schemeClr>
                    </a:solidFill>
                  </a:tcPr>
                </a:tc>
                <a:tc gridSpan="4">
                  <a:txBody>
                    <a:bodyPr/>
                    <a:lstStyle/>
                    <a:p>
                      <a:pPr algn="ctr"/>
                      <a:r>
                        <a:rPr lang="ro-RO" dirty="0" smtClean="0"/>
                        <a:t>Cauze posibile</a:t>
                      </a:r>
                      <a:endParaRPr lang="en-US" dirty="0"/>
                    </a:p>
                  </a:txBody>
                  <a:tcPr>
                    <a:solidFill>
                      <a:schemeClr val="tx2">
                        <a:lumMod val="40000"/>
                        <a:lumOff val="60000"/>
                      </a:schemeClr>
                    </a:solidFill>
                  </a:tcPr>
                </a:tc>
                <a:tc hMerge="1">
                  <a:txBody>
                    <a:bodyPr/>
                    <a:lstStyle/>
                    <a:p>
                      <a:endParaRPr lang="en-US" dirty="0"/>
                    </a:p>
                  </a:txBody>
                  <a:tcPr/>
                </a:tc>
                <a:tc hMerge="1">
                  <a:txBody>
                    <a:bodyPr/>
                    <a:lstStyle/>
                    <a:p>
                      <a:endParaRPr lang="en-US" dirty="0"/>
                    </a:p>
                  </a:txBody>
                  <a:tcPr/>
                </a:tc>
                <a:tc hMerge="1">
                  <a:txBody>
                    <a:bodyPr/>
                    <a:lstStyle/>
                    <a:p>
                      <a:pPr algn="ctr"/>
                      <a:endParaRPr lang="en-US" dirty="0"/>
                    </a:p>
                  </a:txBody>
                  <a:tcPr>
                    <a:solidFill>
                      <a:schemeClr val="tx2">
                        <a:lumMod val="40000"/>
                        <a:lumOff val="60000"/>
                      </a:schemeClr>
                    </a:solidFill>
                  </a:tcPr>
                </a:tc>
                <a:tc>
                  <a:txBody>
                    <a:bodyPr/>
                    <a:lstStyle/>
                    <a:p>
                      <a:pPr algn="ctr"/>
                      <a:r>
                        <a:rPr lang="ro-RO" dirty="0" smtClean="0"/>
                        <a:t>Efect</a:t>
                      </a:r>
                      <a:endParaRPr lang="en-US" dirty="0"/>
                    </a:p>
                  </a:txBody>
                  <a:tcPr>
                    <a:solidFill>
                      <a:schemeClr val="tx2">
                        <a:lumMod val="40000"/>
                        <a:lumOff val="60000"/>
                      </a:schemeClr>
                    </a:solidFill>
                  </a:tcPr>
                </a:tc>
              </a:tr>
              <a:tr h="589280">
                <a:tc>
                  <a:txBody>
                    <a:bodyPr/>
                    <a:lstStyle/>
                    <a:p>
                      <a:pPr algn="ctr"/>
                      <a:endParaRPr lang="en-US"/>
                    </a:p>
                  </a:txBody>
                  <a:tcPr>
                    <a:solidFill>
                      <a:schemeClr val="tx2">
                        <a:lumMod val="40000"/>
                        <a:lumOff val="60000"/>
                      </a:schemeClr>
                    </a:solidFill>
                  </a:tcPr>
                </a:tc>
                <a:tc>
                  <a:txBody>
                    <a:bodyPr/>
                    <a:lstStyle/>
                    <a:p>
                      <a:pPr algn="ctr"/>
                      <a:r>
                        <a:rPr lang="ro-RO" dirty="0" smtClean="0"/>
                        <a:t>A</a:t>
                      </a:r>
                      <a:endParaRPr lang="en-US" dirty="0"/>
                    </a:p>
                  </a:txBody>
                  <a:tcPr>
                    <a:solidFill>
                      <a:schemeClr val="tx2">
                        <a:lumMod val="40000"/>
                        <a:lumOff val="60000"/>
                      </a:schemeClr>
                    </a:solidFill>
                  </a:tcPr>
                </a:tc>
                <a:tc>
                  <a:txBody>
                    <a:bodyPr/>
                    <a:lstStyle/>
                    <a:p>
                      <a:pPr algn="ctr"/>
                      <a:r>
                        <a:rPr lang="ro-RO" dirty="0" smtClean="0"/>
                        <a:t>B</a:t>
                      </a:r>
                      <a:endParaRPr lang="en-US" dirty="0"/>
                    </a:p>
                  </a:txBody>
                  <a:tcPr>
                    <a:solidFill>
                      <a:schemeClr val="tx2">
                        <a:lumMod val="40000"/>
                        <a:lumOff val="60000"/>
                      </a:schemeClr>
                    </a:solidFill>
                  </a:tcPr>
                </a:tc>
                <a:tc>
                  <a:txBody>
                    <a:bodyPr/>
                    <a:lstStyle/>
                    <a:p>
                      <a:pPr algn="ctr"/>
                      <a:r>
                        <a:rPr lang="ro-RO" dirty="0" smtClean="0"/>
                        <a:t>C</a:t>
                      </a:r>
                      <a:endParaRPr lang="en-US" dirty="0"/>
                    </a:p>
                  </a:txBody>
                  <a:tcPr>
                    <a:solidFill>
                      <a:schemeClr val="tx2">
                        <a:lumMod val="40000"/>
                        <a:lumOff val="60000"/>
                      </a:schemeClr>
                    </a:solidFill>
                  </a:tcPr>
                </a:tc>
                <a:tc>
                  <a:txBody>
                    <a:bodyPr/>
                    <a:lstStyle/>
                    <a:p>
                      <a:pPr algn="ctr"/>
                      <a:r>
                        <a:rPr lang="ro-RO" dirty="0" smtClean="0"/>
                        <a:t>D</a:t>
                      </a:r>
                      <a:endParaRPr lang="en-US" dirty="0"/>
                    </a:p>
                  </a:txBody>
                  <a:tcPr>
                    <a:solidFill>
                      <a:schemeClr val="tx2">
                        <a:lumMod val="40000"/>
                        <a:lumOff val="60000"/>
                      </a:schemeClr>
                    </a:solidFill>
                  </a:tcPr>
                </a:tc>
                <a:tc>
                  <a:txBody>
                    <a:bodyPr/>
                    <a:lstStyle/>
                    <a:p>
                      <a:pPr algn="ctr"/>
                      <a:r>
                        <a:rPr lang="ro-RO" dirty="0" smtClean="0"/>
                        <a:t>E</a:t>
                      </a:r>
                      <a:endParaRPr lang="en-US" dirty="0"/>
                    </a:p>
                  </a:txBody>
                  <a:tcPr>
                    <a:solidFill>
                      <a:schemeClr val="tx2">
                        <a:lumMod val="40000"/>
                        <a:lumOff val="60000"/>
                      </a:schemeClr>
                    </a:solidFill>
                  </a:tcPr>
                </a:tc>
              </a:tr>
              <a:tr h="589280">
                <a:tc>
                  <a:txBody>
                    <a:bodyPr/>
                    <a:lstStyle/>
                    <a:p>
                      <a:pPr algn="ctr"/>
                      <a:r>
                        <a:rPr lang="ro-RO" dirty="0" smtClean="0"/>
                        <a:t>1</a:t>
                      </a:r>
                      <a:endParaRPr lang="en-US" dirty="0"/>
                    </a:p>
                  </a:txBody>
                  <a:tcPr/>
                </a:tc>
                <a:tc>
                  <a:txBody>
                    <a:bodyPr/>
                    <a:lstStyle/>
                    <a:p>
                      <a:pPr algn="ctr"/>
                      <a:r>
                        <a:rPr lang="ro-RO" dirty="0" smtClean="0"/>
                        <a:t>Da</a:t>
                      </a:r>
                      <a:endParaRPr lang="en-US" dirty="0"/>
                    </a:p>
                  </a:txBody>
                  <a:tcPr/>
                </a:tc>
                <a:tc>
                  <a:txBody>
                    <a:bodyPr/>
                    <a:lstStyle/>
                    <a:p>
                      <a:pPr algn="ctr"/>
                      <a:r>
                        <a:rPr lang="ro-RO" dirty="0" smtClean="0"/>
                        <a:t>Da</a:t>
                      </a:r>
                      <a:endParaRPr lang="en-US" dirty="0"/>
                    </a:p>
                  </a:txBody>
                  <a:tcPr/>
                </a:tc>
                <a:tc>
                  <a:txBody>
                    <a:bodyPr/>
                    <a:lstStyle/>
                    <a:p>
                      <a:pPr algn="ctr"/>
                      <a:r>
                        <a:rPr lang="ro-RO" dirty="0" smtClean="0"/>
                        <a:t>Da</a:t>
                      </a:r>
                      <a:endParaRPr lang="en-US" dirty="0"/>
                    </a:p>
                  </a:txBody>
                  <a:tcPr/>
                </a:tc>
                <a:tc>
                  <a:txBody>
                    <a:bodyPr/>
                    <a:lstStyle/>
                    <a:p>
                      <a:pPr algn="ctr"/>
                      <a:r>
                        <a:rPr lang="ro-RO" dirty="0" smtClean="0"/>
                        <a:t>Da</a:t>
                      </a:r>
                      <a:endParaRPr lang="en-US" dirty="0"/>
                    </a:p>
                  </a:txBody>
                  <a:tcPr/>
                </a:tc>
                <a:tc>
                  <a:txBody>
                    <a:bodyPr/>
                    <a:lstStyle/>
                    <a:p>
                      <a:pPr algn="ctr"/>
                      <a:r>
                        <a:rPr lang="ro-RO" dirty="0" smtClean="0"/>
                        <a:t>Da</a:t>
                      </a:r>
                      <a:endParaRPr lang="en-US" dirty="0"/>
                    </a:p>
                  </a:txBody>
                  <a:tcPr/>
                </a:tc>
              </a:tr>
              <a:tr h="589280">
                <a:tc>
                  <a:txBody>
                    <a:bodyPr/>
                    <a:lstStyle/>
                    <a:p>
                      <a:pPr algn="ctr"/>
                      <a:r>
                        <a:rPr lang="ro-RO" dirty="0" smtClean="0"/>
                        <a:t>2</a:t>
                      </a:r>
                      <a:endParaRPr lang="en-US" dirty="0"/>
                    </a:p>
                  </a:txBody>
                  <a:tcPr/>
                </a:tc>
                <a:tc>
                  <a:txBody>
                    <a:bodyPr/>
                    <a:lstStyle/>
                    <a:p>
                      <a:pPr algn="ctr"/>
                      <a:r>
                        <a:rPr lang="ro-RO" dirty="0" smtClean="0"/>
                        <a:t>Da</a:t>
                      </a:r>
                      <a:endParaRPr lang="en-US" dirty="0"/>
                    </a:p>
                  </a:txBody>
                  <a:tcPr/>
                </a:tc>
                <a:tc>
                  <a:txBody>
                    <a:bodyPr/>
                    <a:lstStyle/>
                    <a:p>
                      <a:pPr algn="ctr"/>
                      <a:r>
                        <a:rPr lang="ro-RO" dirty="0" smtClean="0"/>
                        <a:t>Nu</a:t>
                      </a:r>
                      <a:endParaRPr lang="en-US" dirty="0"/>
                    </a:p>
                  </a:txBody>
                  <a:tcPr/>
                </a:tc>
                <a:tc>
                  <a:txBody>
                    <a:bodyPr/>
                    <a:lstStyle/>
                    <a:p>
                      <a:pPr algn="ctr"/>
                      <a:r>
                        <a:rPr lang="ro-RO" dirty="0" smtClean="0"/>
                        <a:t>Da</a:t>
                      </a:r>
                      <a:endParaRPr lang="en-US" dirty="0"/>
                    </a:p>
                  </a:txBody>
                  <a:tcPr/>
                </a:tc>
                <a:tc>
                  <a:txBody>
                    <a:bodyPr/>
                    <a:lstStyle/>
                    <a:p>
                      <a:pPr algn="ctr"/>
                      <a:r>
                        <a:rPr lang="ro-RO" dirty="0" smtClean="0"/>
                        <a:t>Nu</a:t>
                      </a:r>
                      <a:endParaRPr lang="en-US" dirty="0"/>
                    </a:p>
                  </a:txBody>
                  <a:tcPr/>
                </a:tc>
                <a:tc>
                  <a:txBody>
                    <a:bodyPr/>
                    <a:lstStyle/>
                    <a:p>
                      <a:pPr algn="ctr"/>
                      <a:r>
                        <a:rPr lang="ro-RO" dirty="0" smtClean="0"/>
                        <a:t>Da</a:t>
                      </a:r>
                      <a:endParaRPr lang="en-US" dirty="0"/>
                    </a:p>
                  </a:txBody>
                  <a:tcPr/>
                </a:tc>
              </a:tr>
              <a:tr h="589280">
                <a:tc>
                  <a:txBody>
                    <a:bodyPr/>
                    <a:lstStyle/>
                    <a:p>
                      <a:pPr algn="ctr"/>
                      <a:r>
                        <a:rPr lang="ro-RO" dirty="0" smtClean="0"/>
                        <a:t>3</a:t>
                      </a:r>
                      <a:endParaRPr lang="en-US" dirty="0"/>
                    </a:p>
                  </a:txBody>
                  <a:tcPr/>
                </a:tc>
                <a:tc>
                  <a:txBody>
                    <a:bodyPr/>
                    <a:lstStyle/>
                    <a:p>
                      <a:pPr algn="ctr"/>
                      <a:r>
                        <a:rPr lang="ro-RO" dirty="0" smtClean="0"/>
                        <a:t>Da</a:t>
                      </a:r>
                      <a:endParaRPr lang="en-US" dirty="0"/>
                    </a:p>
                  </a:txBody>
                  <a:tcPr/>
                </a:tc>
                <a:tc>
                  <a:txBody>
                    <a:bodyPr/>
                    <a:lstStyle/>
                    <a:p>
                      <a:pPr algn="ctr"/>
                      <a:r>
                        <a:rPr lang="ro-RO" dirty="0" smtClean="0"/>
                        <a:t>Nu</a:t>
                      </a:r>
                      <a:endParaRPr lang="en-US" dirty="0"/>
                    </a:p>
                  </a:txBody>
                  <a:tcPr/>
                </a:tc>
                <a:tc>
                  <a:txBody>
                    <a:bodyPr/>
                    <a:lstStyle/>
                    <a:p>
                      <a:pPr algn="ctr"/>
                      <a:r>
                        <a:rPr lang="ro-RO" dirty="0" smtClean="0"/>
                        <a:t>Nu</a:t>
                      </a:r>
                      <a:endParaRPr lang="en-US" dirty="0"/>
                    </a:p>
                  </a:txBody>
                  <a:tcPr/>
                </a:tc>
                <a:tc>
                  <a:txBody>
                    <a:bodyPr/>
                    <a:lstStyle/>
                    <a:p>
                      <a:pPr algn="ctr"/>
                      <a:r>
                        <a:rPr lang="ro-RO" dirty="0" smtClean="0"/>
                        <a:t>Da</a:t>
                      </a:r>
                      <a:endParaRPr lang="en-US" dirty="0"/>
                    </a:p>
                  </a:txBody>
                  <a:tcPr/>
                </a:tc>
                <a:tc>
                  <a:txBody>
                    <a:bodyPr/>
                    <a:lstStyle/>
                    <a:p>
                      <a:pPr algn="ctr"/>
                      <a:r>
                        <a:rPr lang="ro-RO" dirty="0" smtClean="0"/>
                        <a:t>Nu</a:t>
                      </a:r>
                      <a:endParaRPr lang="en-US" dirty="0"/>
                    </a:p>
                  </a:txBody>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dirty="0" smtClean="0"/>
              <a:t>Metoda variațiilor concomitente</a:t>
            </a:r>
            <a:endParaRPr lang="en-US" dirty="0"/>
          </a:p>
        </p:txBody>
      </p:sp>
      <p:sp>
        <p:nvSpPr>
          <p:cNvPr id="3" name="Content Placeholder 2"/>
          <p:cNvSpPr>
            <a:spLocks noGrp="1"/>
          </p:cNvSpPr>
          <p:nvPr>
            <p:ph idx="1"/>
          </p:nvPr>
        </p:nvSpPr>
        <p:spPr>
          <a:xfrm>
            <a:off x="457200" y="1600201"/>
            <a:ext cx="8229600" cy="2819400"/>
          </a:xfrm>
        </p:spPr>
        <p:txBody>
          <a:bodyPr>
            <a:normAutofit fontScale="77500" lnSpcReduction="20000"/>
          </a:bodyPr>
          <a:lstStyle/>
          <a:p>
            <a:r>
              <a:rPr lang="ro-RO" dirty="0" smtClean="0"/>
              <a:t>Dacă o variație a unui factor C este urmată de o variație (răspuns) a efectului E, atunci C este cauza lui E.</a:t>
            </a:r>
          </a:p>
          <a:p>
            <a:r>
              <a:rPr lang="ro-RO" dirty="0" smtClean="0"/>
              <a:t>Intuiție: caracteristicile efectului se schimbă în funcție de caracteristicile cauzei.</a:t>
            </a:r>
          </a:p>
          <a:p>
            <a:pPr>
              <a:buNone/>
            </a:pPr>
            <a:r>
              <a:rPr lang="ro-RO" dirty="0" smtClean="0"/>
              <a:t>- Exemplu: odată cu creșterea poluării crește și numărul atacurilor de astm + odată cu diminuarea poluării scade numărul atacurilor de astm = poluarea este cauza atacurilor de astm.</a:t>
            </a:r>
            <a:endParaRPr lang="en-US" dirty="0"/>
          </a:p>
        </p:txBody>
      </p:sp>
      <p:graphicFrame>
        <p:nvGraphicFramePr>
          <p:cNvPr id="4" name="Table 3"/>
          <p:cNvGraphicFramePr>
            <a:graphicFrameLocks noGrp="1"/>
          </p:cNvGraphicFramePr>
          <p:nvPr/>
        </p:nvGraphicFramePr>
        <p:xfrm>
          <a:off x="2362200" y="4495800"/>
          <a:ext cx="3657600" cy="2178200"/>
        </p:xfrm>
        <a:graphic>
          <a:graphicData uri="http://schemas.openxmlformats.org/drawingml/2006/table">
            <a:tbl>
              <a:tblPr firstRow="1" bandRow="1">
                <a:tableStyleId>{5C22544A-7EE6-4342-B048-85BDC9FD1C3A}</a:tableStyleId>
              </a:tblPr>
              <a:tblGrid>
                <a:gridCol w="1219200"/>
                <a:gridCol w="1219200"/>
                <a:gridCol w="1219200"/>
              </a:tblGrid>
              <a:tr h="417679">
                <a:tc>
                  <a:txBody>
                    <a:bodyPr/>
                    <a:lstStyle/>
                    <a:p>
                      <a:pPr algn="ctr"/>
                      <a:r>
                        <a:rPr lang="en-US" dirty="0" err="1" smtClean="0"/>
                        <a:t>Situa</a:t>
                      </a:r>
                      <a:r>
                        <a:rPr lang="ro-RO" dirty="0" smtClean="0"/>
                        <a:t>ția</a:t>
                      </a:r>
                      <a:endParaRPr lang="en-US" dirty="0"/>
                    </a:p>
                  </a:txBody>
                  <a:tcPr>
                    <a:solidFill>
                      <a:schemeClr val="tx2">
                        <a:lumMod val="40000"/>
                        <a:lumOff val="60000"/>
                      </a:schemeClr>
                    </a:solidFill>
                  </a:tcPr>
                </a:tc>
                <a:tc>
                  <a:txBody>
                    <a:bodyPr/>
                    <a:lstStyle/>
                    <a:p>
                      <a:pPr algn="ctr"/>
                      <a:r>
                        <a:rPr lang="ro-RO" dirty="0" smtClean="0"/>
                        <a:t>Cauze posibile</a:t>
                      </a:r>
                      <a:endParaRPr lang="en-US" dirty="0"/>
                    </a:p>
                  </a:txBody>
                  <a:tcPr>
                    <a:solidFill>
                      <a:schemeClr val="tx2">
                        <a:lumMod val="40000"/>
                        <a:lumOff val="60000"/>
                      </a:schemeClr>
                    </a:solidFill>
                  </a:tcPr>
                </a:tc>
                <a:tc>
                  <a:txBody>
                    <a:bodyPr/>
                    <a:lstStyle/>
                    <a:p>
                      <a:pPr algn="ctr"/>
                      <a:r>
                        <a:rPr lang="ro-RO" dirty="0" smtClean="0"/>
                        <a:t>Efect</a:t>
                      </a:r>
                      <a:endParaRPr lang="en-US" dirty="0"/>
                    </a:p>
                  </a:txBody>
                  <a:tcPr>
                    <a:solidFill>
                      <a:schemeClr val="tx2">
                        <a:lumMod val="40000"/>
                        <a:lumOff val="60000"/>
                      </a:schemeClr>
                    </a:solidFill>
                  </a:tcPr>
                </a:tc>
              </a:tr>
              <a:tr h="384530">
                <a:tc>
                  <a:txBody>
                    <a:bodyPr/>
                    <a:lstStyle/>
                    <a:p>
                      <a:pPr algn="ctr"/>
                      <a:endParaRPr lang="en-US"/>
                    </a:p>
                  </a:txBody>
                  <a:tcPr>
                    <a:solidFill>
                      <a:schemeClr val="tx2">
                        <a:lumMod val="40000"/>
                        <a:lumOff val="60000"/>
                      </a:schemeClr>
                    </a:solidFill>
                  </a:tcPr>
                </a:tc>
                <a:tc>
                  <a:txBody>
                    <a:bodyPr/>
                    <a:lstStyle/>
                    <a:p>
                      <a:pPr algn="ctr"/>
                      <a:r>
                        <a:rPr lang="ro-RO" dirty="0" smtClean="0"/>
                        <a:t>C</a:t>
                      </a:r>
                      <a:endParaRPr lang="en-US" dirty="0"/>
                    </a:p>
                  </a:txBody>
                  <a:tcPr>
                    <a:solidFill>
                      <a:schemeClr val="tx2">
                        <a:lumMod val="40000"/>
                        <a:lumOff val="60000"/>
                      </a:schemeClr>
                    </a:solidFill>
                  </a:tcPr>
                </a:tc>
                <a:tc>
                  <a:txBody>
                    <a:bodyPr/>
                    <a:lstStyle/>
                    <a:p>
                      <a:pPr algn="ctr"/>
                      <a:r>
                        <a:rPr lang="ro-RO" dirty="0" smtClean="0"/>
                        <a:t>E</a:t>
                      </a:r>
                      <a:endParaRPr lang="en-US" dirty="0"/>
                    </a:p>
                  </a:txBody>
                  <a:tcPr>
                    <a:solidFill>
                      <a:schemeClr val="tx2">
                        <a:lumMod val="40000"/>
                        <a:lumOff val="60000"/>
                      </a:schemeClr>
                    </a:solidFill>
                  </a:tcPr>
                </a:tc>
              </a:tr>
              <a:tr h="384530">
                <a:tc>
                  <a:txBody>
                    <a:bodyPr/>
                    <a:lstStyle/>
                    <a:p>
                      <a:pPr algn="ctr"/>
                      <a:r>
                        <a:rPr lang="ro-RO" dirty="0" smtClean="0"/>
                        <a:t>1</a:t>
                      </a:r>
                      <a:endParaRPr lang="en-US" dirty="0"/>
                    </a:p>
                  </a:txBody>
                  <a:tcPr/>
                </a:tc>
                <a:tc>
                  <a:txBody>
                    <a:bodyPr/>
                    <a:lstStyle/>
                    <a:p>
                      <a:pPr algn="ctr"/>
                      <a:r>
                        <a:rPr lang="ro-RO" dirty="0" smtClean="0"/>
                        <a:t>Da</a:t>
                      </a:r>
                      <a:endParaRPr lang="en-US" dirty="0"/>
                    </a:p>
                  </a:txBody>
                  <a:tcPr/>
                </a:tc>
                <a:tc>
                  <a:txBody>
                    <a:bodyPr/>
                    <a:lstStyle/>
                    <a:p>
                      <a:pPr algn="ctr"/>
                      <a:r>
                        <a:rPr lang="ro-RO" dirty="0" smtClean="0"/>
                        <a:t>Da</a:t>
                      </a:r>
                      <a:endParaRPr lang="en-US" dirty="0"/>
                    </a:p>
                  </a:txBody>
                  <a:tcPr/>
                </a:tc>
              </a:tr>
              <a:tr h="384530">
                <a:tc>
                  <a:txBody>
                    <a:bodyPr/>
                    <a:lstStyle/>
                    <a:p>
                      <a:pPr algn="ctr"/>
                      <a:r>
                        <a:rPr lang="ro-RO" dirty="0" smtClean="0"/>
                        <a:t>2</a:t>
                      </a:r>
                      <a:endParaRPr lang="en-US" dirty="0"/>
                    </a:p>
                  </a:txBody>
                  <a:tcPr/>
                </a:tc>
                <a:tc>
                  <a:txBody>
                    <a:bodyPr/>
                    <a:lstStyle/>
                    <a:p>
                      <a:pPr algn="ctr"/>
                      <a:r>
                        <a:rPr lang="ro-RO" dirty="0" smtClean="0"/>
                        <a:t>Da/Da</a:t>
                      </a:r>
                      <a:endParaRPr lang="en-US" dirty="0"/>
                    </a:p>
                  </a:txBody>
                  <a:tcPr/>
                </a:tc>
                <a:tc>
                  <a:txBody>
                    <a:bodyPr/>
                    <a:lstStyle/>
                    <a:p>
                      <a:pPr algn="ctr"/>
                      <a:r>
                        <a:rPr lang="ro-RO" dirty="0" smtClean="0"/>
                        <a:t>Da/Da</a:t>
                      </a:r>
                      <a:endParaRPr lang="en-US" dirty="0"/>
                    </a:p>
                  </a:txBody>
                  <a:tcPr/>
                </a:tc>
              </a:tr>
              <a:tr h="384530">
                <a:tc>
                  <a:txBody>
                    <a:bodyPr/>
                    <a:lstStyle/>
                    <a:p>
                      <a:pPr algn="ctr"/>
                      <a:r>
                        <a:rPr lang="ro-RO" dirty="0" smtClean="0"/>
                        <a:t>3</a:t>
                      </a:r>
                      <a:endParaRPr lang="en-US" dirty="0"/>
                    </a:p>
                  </a:txBody>
                  <a:tcPr/>
                </a:tc>
                <a:tc>
                  <a:txBody>
                    <a:bodyPr/>
                    <a:lstStyle/>
                    <a:p>
                      <a:pPr algn="ctr"/>
                      <a:r>
                        <a:rPr lang="ro-RO" dirty="0" smtClean="0"/>
                        <a:t>Da/Da/Da</a:t>
                      </a:r>
                      <a:endParaRPr lang="en-US" dirty="0"/>
                    </a:p>
                  </a:txBody>
                  <a:tcPr/>
                </a:tc>
                <a:tc>
                  <a:txBody>
                    <a:bodyPr/>
                    <a:lstStyle/>
                    <a:p>
                      <a:pPr algn="ctr"/>
                      <a:r>
                        <a:rPr lang="ro-RO" dirty="0" smtClean="0"/>
                        <a:t>Da/Da/Da</a:t>
                      </a:r>
                      <a:endParaRPr lang="en-US" dirty="0"/>
                    </a:p>
                  </a:txBody>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ro-RO" dirty="0" smtClean="0"/>
              <a:t>Metoda reziduurilor</a:t>
            </a:r>
            <a:endParaRPr lang="en-US" dirty="0"/>
          </a:p>
        </p:txBody>
      </p:sp>
      <p:sp>
        <p:nvSpPr>
          <p:cNvPr id="3" name="Content Placeholder 2"/>
          <p:cNvSpPr>
            <a:spLocks noGrp="1"/>
          </p:cNvSpPr>
          <p:nvPr>
            <p:ph idx="1"/>
          </p:nvPr>
        </p:nvSpPr>
        <p:spPr>
          <a:xfrm>
            <a:off x="457200" y="990600"/>
            <a:ext cx="8229600" cy="5486400"/>
          </a:xfrm>
        </p:spPr>
        <p:txBody>
          <a:bodyPr>
            <a:normAutofit fontScale="85000" lnSpcReduction="20000"/>
          </a:bodyPr>
          <a:lstStyle/>
          <a:p>
            <a:r>
              <a:rPr lang="ro-RO" dirty="0" smtClean="0"/>
              <a:t>Dacă o mulțime de condiții cauzează o serie de efecte, și unele dintre efecte pot fi explicate făcând apel la condiții anterioare, atunci restul efectelor sunt cauzate de restul condițiilor.</a:t>
            </a:r>
          </a:p>
          <a:p>
            <a:r>
              <a:rPr lang="ro-RO" dirty="0" smtClean="0"/>
              <a:t>=”Metoda eliminării”</a:t>
            </a:r>
          </a:p>
          <a:p>
            <a:r>
              <a:rPr lang="ro-RO" dirty="0" smtClean="0"/>
              <a:t>Exemplu: două cărți au dispărut din bibliotecă</a:t>
            </a:r>
            <a:r>
              <a:rPr lang="en-US" dirty="0" smtClean="0"/>
              <a:t>; </a:t>
            </a:r>
            <a:r>
              <a:rPr lang="en-US" dirty="0" err="1" smtClean="0"/>
              <a:t>doar</a:t>
            </a:r>
            <a:r>
              <a:rPr lang="en-US" dirty="0" smtClean="0"/>
              <a:t> </a:t>
            </a:r>
            <a:r>
              <a:rPr lang="en-US" dirty="0" err="1" smtClean="0"/>
              <a:t>dou</a:t>
            </a:r>
            <a:r>
              <a:rPr lang="ro-RO" dirty="0" smtClean="0"/>
              <a:t>ă persoane au avut acces la bibliotecă în acea zi. Prima persoană recunoaște ca a luat una dintre cărți. Concluzie: a doua persoană a luat cealalăt carte.</a:t>
            </a:r>
          </a:p>
          <a:p>
            <a:r>
              <a:rPr lang="ro-RO" dirty="0" smtClean="0"/>
              <a:t>Exemplu: astronomii puteau explica orbitele tuturor planetelor mai puțin Uranus. Orbita lui Uranus nu putea fi explicată folosind date despre orbitele celorlalte planete. Concluzia lui Leverrier: trebuie să existe o planetă în plus, a cărei influențe asupra lui Uranus să-i explice orbita.</a:t>
            </a: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dirty="0" smtClean="0"/>
              <a:t>Limite ale metodelor lui Mill</a:t>
            </a:r>
            <a:endParaRPr lang="en-US" dirty="0"/>
          </a:p>
        </p:txBody>
      </p:sp>
      <p:sp>
        <p:nvSpPr>
          <p:cNvPr id="3" name="Content Placeholder 2"/>
          <p:cNvSpPr>
            <a:spLocks noGrp="1"/>
          </p:cNvSpPr>
          <p:nvPr>
            <p:ph idx="1"/>
          </p:nvPr>
        </p:nvSpPr>
        <p:spPr>
          <a:xfrm>
            <a:off x="457200" y="1600200"/>
            <a:ext cx="8229600" cy="5029200"/>
          </a:xfrm>
        </p:spPr>
        <p:txBody>
          <a:bodyPr>
            <a:normAutofit fontScale="85000" lnSpcReduction="20000"/>
          </a:bodyPr>
          <a:lstStyle/>
          <a:p>
            <a:r>
              <a:rPr lang="ro-RO" dirty="0" smtClean="0"/>
              <a:t>Nu întotdeauna cauza reală este una dintre candidatele luate în considerare! Deci aplicarea lor nu garantează răspunsul corect.</a:t>
            </a:r>
          </a:p>
          <a:p>
            <a:r>
              <a:rPr lang="ro-RO" dirty="0" smtClean="0"/>
              <a:t>Efectul ar putea avea mai multe cauze!</a:t>
            </a:r>
          </a:p>
          <a:p>
            <a:pPr>
              <a:buNone/>
            </a:pPr>
            <a:r>
              <a:rPr lang="ro-RO" dirty="0" smtClean="0"/>
              <a:t>	- Exemplu: mai multe persoane se îmbolnăvesc după ce mănâncă unul sau mai multe dintre cele 3 feluri oferite. Ceea ce este comun tuturor persoanelor este că au mâncat stridii. Metoda acordului: stridiile sunt cauza. Dar este posibil ca stridiile să fi fost ok, iar salata și supa să fi fost stricate. De asemenea, toata lumea a mâncat (în afara stridiilor) ori salată ori supă (nu pe amândouă). Atunci avem două cauze ale îmbolnăvirii.</a:t>
            </a:r>
          </a:p>
          <a:p>
            <a:r>
              <a:rPr lang="ro-RO" dirty="0" smtClean="0"/>
              <a:t>Metodele lui Mill eșuează atunci când avem de-a face cu cauze non-deterministe. </a:t>
            </a:r>
            <a:r>
              <a:rPr lang="ro-RO" smtClean="0"/>
              <a:t>Vezi metoda cumulului.</a:t>
            </a:r>
            <a:endParaRPr lang="ro-RO" dirty="0" smtClean="0"/>
          </a:p>
          <a:p>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440363"/>
          </a:xfrm>
        </p:spPr>
        <p:txBody>
          <a:bodyPr/>
          <a:lstStyle/>
          <a:p>
            <a:pPr marL="0" indent="0">
              <a:buNone/>
            </a:pPr>
            <a:r>
              <a:rPr lang="en-US" dirty="0"/>
              <a:t>Suppose your family went out together for a buffet dinner, but when you got home all of you started feeling sick and experienced stomach aches. How do you determine the cause of the illness? Suppose you draw up a table of the food taken by each family member :</a:t>
            </a:r>
            <a:endParaRPr lang="en-US" b="1" dirty="0"/>
          </a:p>
        </p:txBody>
      </p:sp>
    </p:spTree>
    <p:extLst>
      <p:ext uri="{BB962C8B-B14F-4D97-AF65-F5344CB8AC3E}">
        <p14:creationId xmlns:p14="http://schemas.microsoft.com/office/powerpoint/2010/main" val="25810053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33400" y="1828800"/>
            <a:ext cx="8305800" cy="3657600"/>
          </a:xfrm>
        </p:spPr>
      </p:pic>
    </p:spTree>
    <p:extLst>
      <p:ext uri="{BB962C8B-B14F-4D97-AF65-F5344CB8AC3E}">
        <p14:creationId xmlns:p14="http://schemas.microsoft.com/office/powerpoint/2010/main" val="33448007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600200"/>
            <a:ext cx="8077199" cy="3733800"/>
          </a:xfrm>
        </p:spPr>
      </p:pic>
    </p:spTree>
    <p:extLst>
      <p:ext uri="{BB962C8B-B14F-4D97-AF65-F5344CB8AC3E}">
        <p14:creationId xmlns:p14="http://schemas.microsoft.com/office/powerpoint/2010/main" val="5788311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85800" y="1600200"/>
            <a:ext cx="7924800" cy="4038599"/>
          </a:xfrm>
        </p:spPr>
      </p:pic>
    </p:spTree>
    <p:extLst>
      <p:ext uri="{BB962C8B-B14F-4D97-AF65-F5344CB8AC3E}">
        <p14:creationId xmlns:p14="http://schemas.microsoft.com/office/powerpoint/2010/main" val="381161127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dirty="0" smtClean="0"/>
              <a:t>Argumente</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673223762"/>
              </p:ext>
            </p:extLst>
          </p:nvPr>
        </p:nvGraphicFramePr>
        <p:xfrm>
          <a:off x="381000" y="1676400"/>
          <a:ext cx="3124200" cy="1219200"/>
        </p:xfrm>
        <a:graphic>
          <a:graphicData uri="http://schemas.openxmlformats.org/drawingml/2006/table">
            <a:tbl>
              <a:tblPr firstRow="1" bandRow="1">
                <a:tableStyleId>{5C22544A-7EE6-4342-B048-85BDC9FD1C3A}</a:tableStyleId>
              </a:tblPr>
              <a:tblGrid>
                <a:gridCol w="1562100"/>
                <a:gridCol w="1562100"/>
              </a:tblGrid>
              <a:tr h="533400">
                <a:tc gridSpan="2">
                  <a:txBody>
                    <a:bodyPr/>
                    <a:lstStyle/>
                    <a:p>
                      <a:pPr algn="ctr"/>
                      <a:r>
                        <a:rPr lang="ro-RO" dirty="0" smtClean="0"/>
                        <a:t>Enunțuri</a:t>
                      </a:r>
                      <a:endParaRPr lang="en-US" dirty="0"/>
                    </a:p>
                  </a:txBody>
                  <a:tcPr/>
                </a:tc>
                <a:tc hMerge="1">
                  <a:txBody>
                    <a:bodyPr/>
                    <a:lstStyle/>
                    <a:p>
                      <a:endParaRPr lang="en-US" dirty="0"/>
                    </a:p>
                  </a:txBody>
                  <a:tcPr/>
                </a:tc>
              </a:tr>
              <a:tr h="685800">
                <a:tc>
                  <a:txBody>
                    <a:bodyPr/>
                    <a:lstStyle/>
                    <a:p>
                      <a:pPr algn="ctr"/>
                      <a:r>
                        <a:rPr lang="ro-RO" dirty="0" smtClean="0"/>
                        <a:t>Adevărate</a:t>
                      </a:r>
                      <a:endParaRPr lang="en-US" dirty="0"/>
                    </a:p>
                  </a:txBody>
                  <a:tcPr/>
                </a:tc>
                <a:tc>
                  <a:txBody>
                    <a:bodyPr/>
                    <a:lstStyle/>
                    <a:p>
                      <a:pPr algn="ctr"/>
                      <a:r>
                        <a:rPr lang="ro-RO" dirty="0" smtClean="0"/>
                        <a:t>False</a:t>
                      </a:r>
                      <a:endParaRPr lang="en-US" dirty="0"/>
                    </a:p>
                  </a:txBody>
                  <a:tcPr/>
                </a:tc>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612818140"/>
              </p:ext>
            </p:extLst>
          </p:nvPr>
        </p:nvGraphicFramePr>
        <p:xfrm>
          <a:off x="4876800" y="1676400"/>
          <a:ext cx="3352800" cy="1219200"/>
        </p:xfrm>
        <a:graphic>
          <a:graphicData uri="http://schemas.openxmlformats.org/drawingml/2006/table">
            <a:tbl>
              <a:tblPr firstRow="1" bandRow="1">
                <a:tableStyleId>{5C22544A-7EE6-4342-B048-85BDC9FD1C3A}</a:tableStyleId>
              </a:tblPr>
              <a:tblGrid>
                <a:gridCol w="1676400"/>
                <a:gridCol w="1676400"/>
              </a:tblGrid>
              <a:tr h="609600">
                <a:tc gridSpan="2">
                  <a:txBody>
                    <a:bodyPr/>
                    <a:lstStyle/>
                    <a:p>
                      <a:pPr algn="ctr"/>
                      <a:r>
                        <a:rPr lang="ro-RO" dirty="0" smtClean="0"/>
                        <a:t>Grup de enunțuri</a:t>
                      </a:r>
                      <a:endParaRPr lang="en-US" dirty="0"/>
                    </a:p>
                  </a:txBody>
                  <a:tcPr/>
                </a:tc>
                <a:tc hMerge="1">
                  <a:txBody>
                    <a:bodyPr/>
                    <a:lstStyle/>
                    <a:p>
                      <a:endParaRPr lang="en-US" dirty="0"/>
                    </a:p>
                  </a:txBody>
                  <a:tcPr/>
                </a:tc>
              </a:tr>
              <a:tr h="609600">
                <a:tc>
                  <a:txBody>
                    <a:bodyPr/>
                    <a:lstStyle/>
                    <a:p>
                      <a:pPr algn="ctr"/>
                      <a:r>
                        <a:rPr lang="ro-RO" dirty="0" smtClean="0">
                          <a:solidFill>
                            <a:srgbClr val="FF0000"/>
                          </a:solidFill>
                        </a:rPr>
                        <a:t>Argument</a:t>
                      </a:r>
                      <a:endParaRPr lang="en-US" dirty="0">
                        <a:solidFill>
                          <a:srgbClr val="FF0000"/>
                        </a:solidFill>
                      </a:endParaRPr>
                    </a:p>
                  </a:txBody>
                  <a:tcPr/>
                </a:tc>
                <a:tc>
                  <a:txBody>
                    <a:bodyPr/>
                    <a:lstStyle/>
                    <a:p>
                      <a:pPr algn="ctr"/>
                      <a:r>
                        <a:rPr lang="ro-RO" dirty="0" smtClean="0"/>
                        <a:t>Non-argument</a:t>
                      </a:r>
                      <a:endParaRPr lang="en-US" dirty="0"/>
                    </a:p>
                  </a:txBody>
                  <a:tcPr/>
                </a:tc>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644507554"/>
              </p:ext>
            </p:extLst>
          </p:nvPr>
        </p:nvGraphicFramePr>
        <p:xfrm>
          <a:off x="1676400" y="3124200"/>
          <a:ext cx="6096000" cy="741680"/>
        </p:xfrm>
        <a:graphic>
          <a:graphicData uri="http://schemas.openxmlformats.org/drawingml/2006/table">
            <a:tbl>
              <a:tblPr firstRow="1" bandRow="1">
                <a:tableStyleId>{5C22544A-7EE6-4342-B048-85BDC9FD1C3A}</a:tableStyleId>
              </a:tblPr>
              <a:tblGrid>
                <a:gridCol w="3048000"/>
                <a:gridCol w="3048000"/>
              </a:tblGrid>
              <a:tr h="370840">
                <a:tc gridSpan="2">
                  <a:txBody>
                    <a:bodyPr/>
                    <a:lstStyle/>
                    <a:p>
                      <a:pPr algn="ctr"/>
                      <a:r>
                        <a:rPr lang="ro-RO" dirty="0" smtClean="0">
                          <a:solidFill>
                            <a:srgbClr val="FF0000"/>
                          </a:solidFill>
                        </a:rPr>
                        <a:t>Argumente</a:t>
                      </a:r>
                      <a:endParaRPr lang="en-US" dirty="0">
                        <a:solidFill>
                          <a:srgbClr val="FF0000"/>
                        </a:solidFill>
                      </a:endParaRPr>
                    </a:p>
                  </a:txBody>
                  <a:tcPr/>
                </a:tc>
                <a:tc hMerge="1">
                  <a:txBody>
                    <a:bodyPr/>
                    <a:lstStyle/>
                    <a:p>
                      <a:endParaRPr lang="en-US" dirty="0"/>
                    </a:p>
                  </a:txBody>
                  <a:tcPr/>
                </a:tc>
              </a:tr>
              <a:tr h="370840">
                <a:tc>
                  <a:txBody>
                    <a:bodyPr/>
                    <a:lstStyle/>
                    <a:p>
                      <a:pPr algn="ctr"/>
                      <a:r>
                        <a:rPr lang="ro-RO" dirty="0" smtClean="0">
                          <a:solidFill>
                            <a:srgbClr val="0070C0"/>
                          </a:solidFill>
                        </a:rPr>
                        <a:t>Deductive</a:t>
                      </a:r>
                      <a:endParaRPr lang="en-US" dirty="0">
                        <a:solidFill>
                          <a:srgbClr val="0070C0"/>
                        </a:solidFill>
                      </a:endParaRPr>
                    </a:p>
                  </a:txBody>
                  <a:tcPr/>
                </a:tc>
                <a:tc>
                  <a:txBody>
                    <a:bodyPr/>
                    <a:lstStyle/>
                    <a:p>
                      <a:pPr algn="ctr"/>
                      <a:r>
                        <a:rPr lang="ro-RO" dirty="0" smtClean="0">
                          <a:solidFill>
                            <a:srgbClr val="003E1C"/>
                          </a:solidFill>
                        </a:rPr>
                        <a:t>Inductive</a:t>
                      </a:r>
                      <a:endParaRPr lang="en-US" dirty="0">
                        <a:solidFill>
                          <a:srgbClr val="003E1C"/>
                        </a:solidFill>
                      </a:endParaRPr>
                    </a:p>
                  </a:txBody>
                  <a:tcPr/>
                </a:tc>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165412711"/>
              </p:ext>
            </p:extLst>
          </p:nvPr>
        </p:nvGraphicFramePr>
        <p:xfrm>
          <a:off x="0" y="4267200"/>
          <a:ext cx="4495800" cy="1097280"/>
        </p:xfrm>
        <a:graphic>
          <a:graphicData uri="http://schemas.openxmlformats.org/drawingml/2006/table">
            <a:tbl>
              <a:tblPr firstRow="1" bandRow="1">
                <a:tableStyleId>{5C22544A-7EE6-4342-B048-85BDC9FD1C3A}</a:tableStyleId>
              </a:tblPr>
              <a:tblGrid>
                <a:gridCol w="1123950"/>
                <a:gridCol w="1123950"/>
                <a:gridCol w="1123950"/>
                <a:gridCol w="1123950"/>
              </a:tblGrid>
              <a:tr h="345440">
                <a:tc gridSpan="4">
                  <a:txBody>
                    <a:bodyPr/>
                    <a:lstStyle/>
                    <a:p>
                      <a:pPr algn="ctr"/>
                      <a:r>
                        <a:rPr lang="ro-RO" dirty="0" smtClean="0">
                          <a:solidFill>
                            <a:srgbClr val="0070C0"/>
                          </a:solidFill>
                        </a:rPr>
                        <a:t>Argumente deductive</a:t>
                      </a:r>
                      <a:endParaRPr lang="en-US" dirty="0">
                        <a:solidFill>
                          <a:srgbClr val="0070C0"/>
                        </a:solidFill>
                      </a:endParaRPr>
                    </a:p>
                  </a:txBody>
                  <a:tcPr/>
                </a:tc>
                <a:tc hMerge="1">
                  <a:txBody>
                    <a:bodyPr/>
                    <a:lstStyle/>
                    <a:p>
                      <a:endParaRPr lang="en-US"/>
                    </a:p>
                  </a:txBody>
                  <a:tcPr/>
                </a:tc>
                <a:tc hMerge="1">
                  <a:txBody>
                    <a:bodyPr/>
                    <a:lstStyle/>
                    <a:p>
                      <a:endParaRPr lang="en-US" dirty="0"/>
                    </a:p>
                  </a:txBody>
                  <a:tcPr/>
                </a:tc>
                <a:tc hMerge="1">
                  <a:txBody>
                    <a:bodyPr/>
                    <a:lstStyle/>
                    <a:p>
                      <a:endParaRPr lang="en-US"/>
                    </a:p>
                  </a:txBody>
                  <a:tcPr/>
                </a:tc>
              </a:tr>
              <a:tr h="345440">
                <a:tc gridSpan="2">
                  <a:txBody>
                    <a:bodyPr/>
                    <a:lstStyle/>
                    <a:p>
                      <a:pPr algn="ctr"/>
                      <a:r>
                        <a:rPr lang="ro-RO" dirty="0" smtClean="0"/>
                        <a:t>Mediate</a:t>
                      </a:r>
                      <a:endParaRPr lang="en-US" dirty="0"/>
                    </a:p>
                  </a:txBody>
                  <a:tcPr/>
                </a:tc>
                <a:tc hMerge="1">
                  <a:txBody>
                    <a:bodyPr/>
                    <a:lstStyle/>
                    <a:p>
                      <a:endParaRPr lang="en-US"/>
                    </a:p>
                  </a:txBody>
                  <a:tcPr/>
                </a:tc>
                <a:tc gridSpan="2">
                  <a:txBody>
                    <a:bodyPr/>
                    <a:lstStyle/>
                    <a:p>
                      <a:pPr algn="ctr"/>
                      <a:r>
                        <a:rPr lang="ro-RO" dirty="0" smtClean="0"/>
                        <a:t>Imediate</a:t>
                      </a:r>
                      <a:endParaRPr lang="en-US" dirty="0"/>
                    </a:p>
                  </a:txBody>
                  <a:tcPr/>
                </a:tc>
                <a:tc hMerge="1">
                  <a:txBody>
                    <a:bodyPr/>
                    <a:lstStyle/>
                    <a:p>
                      <a:endParaRPr lang="en-US"/>
                    </a:p>
                  </a:txBody>
                  <a:tcPr/>
                </a:tc>
              </a:tr>
              <a:tr h="345440">
                <a:tc>
                  <a:txBody>
                    <a:bodyPr/>
                    <a:lstStyle/>
                    <a:p>
                      <a:pPr algn="ctr"/>
                      <a:r>
                        <a:rPr lang="ro-RO" dirty="0" smtClean="0">
                          <a:solidFill>
                            <a:srgbClr val="7030A0"/>
                          </a:solidFill>
                        </a:rPr>
                        <a:t>Valide</a:t>
                      </a:r>
                      <a:endParaRPr lang="en-US" dirty="0">
                        <a:solidFill>
                          <a:srgbClr val="7030A0"/>
                        </a:solidFill>
                      </a:endParaRPr>
                    </a:p>
                  </a:txBody>
                  <a:tcPr/>
                </a:tc>
                <a:tc>
                  <a:txBody>
                    <a:bodyPr/>
                    <a:lstStyle/>
                    <a:p>
                      <a:pPr algn="ctr"/>
                      <a:r>
                        <a:rPr lang="ro-RO" dirty="0" smtClean="0"/>
                        <a:t>Nevalide</a:t>
                      </a:r>
                      <a:endParaRPr lang="en-US" dirty="0"/>
                    </a:p>
                  </a:txBody>
                  <a:tcPr/>
                </a:tc>
                <a:tc>
                  <a:txBody>
                    <a:bodyPr/>
                    <a:lstStyle/>
                    <a:p>
                      <a:pPr algn="ctr"/>
                      <a:r>
                        <a:rPr lang="ro-RO" dirty="0" smtClean="0">
                          <a:solidFill>
                            <a:srgbClr val="7030A0"/>
                          </a:solidFill>
                        </a:rPr>
                        <a:t>Valide</a:t>
                      </a:r>
                      <a:endParaRPr lang="en-US" dirty="0">
                        <a:solidFill>
                          <a:srgbClr val="7030A0"/>
                        </a:solidFill>
                      </a:endParaRPr>
                    </a:p>
                  </a:txBody>
                  <a:tcPr/>
                </a:tc>
                <a:tc>
                  <a:txBody>
                    <a:bodyPr/>
                    <a:lstStyle/>
                    <a:p>
                      <a:pPr algn="ctr"/>
                      <a:r>
                        <a:rPr lang="ro-RO" dirty="0" smtClean="0"/>
                        <a:t>Nevalide</a:t>
                      </a:r>
                      <a:endParaRPr lang="en-US" dirty="0"/>
                    </a:p>
                  </a:txBody>
                  <a:tcPr/>
                </a:tc>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3294794894"/>
              </p:ext>
            </p:extLst>
          </p:nvPr>
        </p:nvGraphicFramePr>
        <p:xfrm>
          <a:off x="4724400" y="4267200"/>
          <a:ext cx="4419600" cy="983974"/>
        </p:xfrm>
        <a:graphic>
          <a:graphicData uri="http://schemas.openxmlformats.org/drawingml/2006/table">
            <a:tbl>
              <a:tblPr firstRow="1" bandRow="1">
                <a:tableStyleId>{5C22544A-7EE6-4342-B048-85BDC9FD1C3A}</a:tableStyleId>
              </a:tblPr>
              <a:tblGrid>
                <a:gridCol w="2209800"/>
                <a:gridCol w="2209800"/>
              </a:tblGrid>
              <a:tr h="381000">
                <a:tc gridSpan="2">
                  <a:txBody>
                    <a:bodyPr/>
                    <a:lstStyle/>
                    <a:p>
                      <a:pPr algn="ctr"/>
                      <a:r>
                        <a:rPr lang="ro-RO" dirty="0" smtClean="0">
                          <a:solidFill>
                            <a:srgbClr val="003E1C"/>
                          </a:solidFill>
                        </a:rPr>
                        <a:t>Argumente inductive</a:t>
                      </a:r>
                      <a:endParaRPr lang="en-US" dirty="0">
                        <a:solidFill>
                          <a:srgbClr val="003E1C"/>
                        </a:solidFill>
                      </a:endParaRPr>
                    </a:p>
                  </a:txBody>
                  <a:tcPr/>
                </a:tc>
                <a:tc hMerge="1">
                  <a:txBody>
                    <a:bodyPr/>
                    <a:lstStyle/>
                    <a:p>
                      <a:endParaRPr lang="en-US" dirty="0"/>
                    </a:p>
                  </a:txBody>
                  <a:tcPr/>
                </a:tc>
              </a:tr>
              <a:tr h="602974">
                <a:tc>
                  <a:txBody>
                    <a:bodyPr/>
                    <a:lstStyle/>
                    <a:p>
                      <a:pPr algn="ctr"/>
                      <a:r>
                        <a:rPr lang="ro-RO" dirty="0" smtClean="0"/>
                        <a:t>Puternice</a:t>
                      </a:r>
                      <a:endParaRPr lang="en-US" dirty="0"/>
                    </a:p>
                  </a:txBody>
                  <a:tcPr/>
                </a:tc>
                <a:tc>
                  <a:txBody>
                    <a:bodyPr/>
                    <a:lstStyle/>
                    <a:p>
                      <a:pPr algn="ctr"/>
                      <a:r>
                        <a:rPr lang="ro-RO" dirty="0" smtClean="0"/>
                        <a:t>Slabe</a:t>
                      </a:r>
                      <a:endParaRPr lang="en-US" dirty="0"/>
                    </a:p>
                  </a:txBody>
                  <a:tcPr/>
                </a:tc>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171655014"/>
              </p:ext>
            </p:extLst>
          </p:nvPr>
        </p:nvGraphicFramePr>
        <p:xfrm>
          <a:off x="1371600" y="5638800"/>
          <a:ext cx="2286000" cy="741680"/>
        </p:xfrm>
        <a:graphic>
          <a:graphicData uri="http://schemas.openxmlformats.org/drawingml/2006/table">
            <a:tbl>
              <a:tblPr firstRow="1" bandRow="1">
                <a:tableStyleId>{5C22544A-7EE6-4342-B048-85BDC9FD1C3A}</a:tableStyleId>
              </a:tblPr>
              <a:tblGrid>
                <a:gridCol w="1143000"/>
                <a:gridCol w="1143000"/>
              </a:tblGrid>
              <a:tr h="370840">
                <a:tc gridSpan="2">
                  <a:txBody>
                    <a:bodyPr/>
                    <a:lstStyle/>
                    <a:p>
                      <a:pPr algn="ctr"/>
                      <a:r>
                        <a:rPr lang="ro-RO" dirty="0" smtClean="0">
                          <a:solidFill>
                            <a:srgbClr val="7030A0"/>
                          </a:solidFill>
                        </a:rPr>
                        <a:t>Argumente valide</a:t>
                      </a:r>
                      <a:endParaRPr lang="en-US" dirty="0">
                        <a:solidFill>
                          <a:srgbClr val="7030A0"/>
                        </a:solidFill>
                      </a:endParaRPr>
                    </a:p>
                  </a:txBody>
                  <a:tcPr/>
                </a:tc>
                <a:tc hMerge="1">
                  <a:txBody>
                    <a:bodyPr/>
                    <a:lstStyle/>
                    <a:p>
                      <a:endParaRPr lang="en-US" dirty="0"/>
                    </a:p>
                  </a:txBody>
                  <a:tcPr/>
                </a:tc>
              </a:tr>
              <a:tr h="370840">
                <a:tc>
                  <a:txBody>
                    <a:bodyPr/>
                    <a:lstStyle/>
                    <a:p>
                      <a:pPr algn="ctr"/>
                      <a:r>
                        <a:rPr lang="ro-RO" dirty="0" smtClean="0"/>
                        <a:t>Sound</a:t>
                      </a:r>
                    </a:p>
                  </a:txBody>
                  <a:tcPr/>
                </a:tc>
                <a:tc>
                  <a:txBody>
                    <a:bodyPr/>
                    <a:lstStyle/>
                    <a:p>
                      <a:pPr algn="ctr"/>
                      <a:r>
                        <a:rPr lang="ro-RO" dirty="0" smtClean="0"/>
                        <a:t>Unsound</a:t>
                      </a:r>
                      <a:endParaRPr lang="en-US" dirty="0"/>
                    </a:p>
                  </a:txBody>
                  <a:tcPr/>
                </a:tc>
              </a:tr>
            </a:tbl>
          </a:graphicData>
        </a:graphic>
      </p:graphicFrame>
    </p:spTree>
    <p:extLst>
      <p:ext uri="{BB962C8B-B14F-4D97-AF65-F5344CB8AC3E}">
        <p14:creationId xmlns:p14="http://schemas.microsoft.com/office/powerpoint/2010/main" val="311677594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dirty="0" smtClean="0"/>
              <a:t>Sofisme - Paralogisme</a:t>
            </a:r>
            <a:endParaRPr lang="en-US" dirty="0"/>
          </a:p>
        </p:txBody>
      </p:sp>
      <p:sp>
        <p:nvSpPr>
          <p:cNvPr id="3" name="Content Placeholder 2"/>
          <p:cNvSpPr>
            <a:spLocks noGrp="1"/>
          </p:cNvSpPr>
          <p:nvPr>
            <p:ph idx="1"/>
          </p:nvPr>
        </p:nvSpPr>
        <p:spPr/>
        <p:txBody>
          <a:bodyPr>
            <a:normAutofit lnSpcReduction="10000"/>
          </a:bodyPr>
          <a:lstStyle/>
          <a:p>
            <a:r>
              <a:rPr lang="ro-RO" b="1" dirty="0"/>
              <a:t>Sofism</a:t>
            </a:r>
            <a:r>
              <a:rPr lang="ro-RO" dirty="0"/>
              <a:t> =</a:t>
            </a:r>
            <a:r>
              <a:rPr lang="ro-RO" baseline="-25000" dirty="0"/>
              <a:t>df</a:t>
            </a:r>
            <a:r>
              <a:rPr lang="ro-RO" dirty="0"/>
              <a:t> exprimarea unor idei greşite sau a unor opinii false</a:t>
            </a:r>
            <a:endParaRPr lang="en-US" dirty="0"/>
          </a:p>
          <a:p>
            <a:pPr marL="0" indent="0">
              <a:buNone/>
            </a:pPr>
            <a:r>
              <a:rPr lang="ro-RO" dirty="0"/>
              <a:t>             =</a:t>
            </a:r>
            <a:r>
              <a:rPr lang="ro-RO" baseline="-25000" dirty="0"/>
              <a:t>df</a:t>
            </a:r>
            <a:r>
              <a:rPr lang="ro-RO" dirty="0"/>
              <a:t> (în sens logic) o eroare de raţionare sau de argumentare, realizată conştient, intenţionat, cu scopul de a înşela sau convinge</a:t>
            </a:r>
            <a:endParaRPr lang="en-US" dirty="0"/>
          </a:p>
          <a:p>
            <a:r>
              <a:rPr lang="ro-RO" b="1" dirty="0"/>
              <a:t>Paralogism</a:t>
            </a:r>
            <a:r>
              <a:rPr lang="ro-RO" dirty="0"/>
              <a:t> =</a:t>
            </a:r>
            <a:r>
              <a:rPr lang="ro-RO" baseline="-25000" dirty="0"/>
              <a:t>df</a:t>
            </a:r>
            <a:r>
              <a:rPr lang="ro-RO" dirty="0"/>
              <a:t> eroare logică produsă în sens involuntar, datorită unei confuzii terminologice sau necunoaşterii unor principii de raţionare</a:t>
            </a:r>
            <a:endParaRPr lang="en-US" dirty="0"/>
          </a:p>
          <a:p>
            <a:pPr marL="0" indent="0">
              <a:buNone/>
            </a:pPr>
            <a:endParaRPr lang="en-US" dirty="0"/>
          </a:p>
        </p:txBody>
      </p:sp>
    </p:spTree>
    <p:extLst>
      <p:ext uri="{BB962C8B-B14F-4D97-AF65-F5344CB8AC3E}">
        <p14:creationId xmlns:p14="http://schemas.microsoft.com/office/powerpoint/2010/main" val="2535042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a:r>
              <a:rPr lang="ro-RO" dirty="0" smtClean="0"/>
              <a:t>Vă puteți gândi la o situație în care ați fi dispuși să utlizați un argument despre care știți că e grești pentru a convinge?</a:t>
            </a:r>
            <a:endParaRPr lang="en-US" dirty="0"/>
          </a:p>
        </p:txBody>
      </p:sp>
    </p:spTree>
    <p:extLst>
      <p:ext uri="{BB962C8B-B14F-4D97-AF65-F5344CB8AC3E}">
        <p14:creationId xmlns:p14="http://schemas.microsoft.com/office/powerpoint/2010/main" val="5191964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5973763"/>
          </a:xfrm>
        </p:spPr>
        <p:txBody>
          <a:bodyPr/>
          <a:lstStyle/>
          <a:p>
            <a:r>
              <a:rPr lang="ro-RO" b="1" i="1" u="sng" dirty="0"/>
              <a:t>Tipuri de sofisme/paralogisme</a:t>
            </a:r>
            <a:r>
              <a:rPr lang="ro-RO" b="1" dirty="0"/>
              <a:t>:</a:t>
            </a:r>
            <a:endParaRPr lang="en-US" dirty="0"/>
          </a:p>
          <a:p>
            <a:r>
              <a:rPr lang="ro-RO" dirty="0"/>
              <a:t>1</a:t>
            </a:r>
            <a:r>
              <a:rPr lang="ro-RO" u="sng" dirty="0"/>
              <a:t>. Formale</a:t>
            </a:r>
            <a:r>
              <a:rPr lang="ro-RO" dirty="0"/>
              <a:t>: argumente incorecte deoarece încarcă principii formale ale validităţii (argumente nevalide)</a:t>
            </a:r>
            <a:endParaRPr lang="en-US" dirty="0"/>
          </a:p>
          <a:p>
            <a:r>
              <a:rPr lang="ro-RO" dirty="0"/>
              <a:t>Ex.: silogisme nevalide deoarece încalcă regula distribuirii termenilor, conversiuni ilicite</a:t>
            </a:r>
            <a:endParaRPr lang="en-US" dirty="0"/>
          </a:p>
          <a:p>
            <a:r>
              <a:rPr lang="ro-RO" dirty="0">
                <a:solidFill>
                  <a:srgbClr val="FF0000"/>
                </a:solidFill>
              </a:rPr>
              <a:t>2</a:t>
            </a:r>
            <a:r>
              <a:rPr lang="ro-RO" u="sng" dirty="0">
                <a:solidFill>
                  <a:srgbClr val="FF0000"/>
                </a:solidFill>
              </a:rPr>
              <a:t>. Informale sau materiale</a:t>
            </a:r>
            <a:r>
              <a:rPr lang="ro-RO" dirty="0">
                <a:solidFill>
                  <a:srgbClr val="FF0000"/>
                </a:solidFill>
              </a:rPr>
              <a:t>: argumente eronate din alte motive decât cele formale</a:t>
            </a:r>
            <a:endParaRPr lang="en-US" dirty="0">
              <a:solidFill>
                <a:srgbClr val="FF0000"/>
              </a:solidFill>
            </a:endParaRPr>
          </a:p>
          <a:p>
            <a:endParaRPr lang="en-US" dirty="0"/>
          </a:p>
        </p:txBody>
      </p:sp>
    </p:spTree>
    <p:extLst>
      <p:ext uri="{BB962C8B-B14F-4D97-AF65-F5344CB8AC3E}">
        <p14:creationId xmlns:p14="http://schemas.microsoft.com/office/powerpoint/2010/main" val="10192923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019800"/>
          </a:xfrm>
        </p:spPr>
        <p:txBody>
          <a:bodyPr/>
          <a:lstStyle/>
          <a:p>
            <a:r>
              <a:rPr lang="ro-RO" b="1" dirty="0"/>
              <a:t>Sofisme/paralogisme materiale</a:t>
            </a:r>
            <a:r>
              <a:rPr lang="ro-RO" dirty="0"/>
              <a:t>:</a:t>
            </a:r>
            <a:endParaRPr lang="en-US" dirty="0"/>
          </a:p>
          <a:p>
            <a:pPr lvl="0"/>
            <a:r>
              <a:rPr lang="ro-RO" dirty="0"/>
              <a:t>De limbaj (ale ambiguităţii)</a:t>
            </a:r>
            <a:endParaRPr lang="en-US" dirty="0"/>
          </a:p>
          <a:p>
            <a:pPr lvl="0"/>
            <a:r>
              <a:rPr lang="ro-RO" dirty="0"/>
              <a:t>Circularităţii (argumente circulare)</a:t>
            </a:r>
            <a:endParaRPr lang="en-US" dirty="0"/>
          </a:p>
          <a:p>
            <a:pPr lvl="0"/>
            <a:r>
              <a:rPr lang="ro-RO" dirty="0"/>
              <a:t>Supoziţiei neîntemeiate</a:t>
            </a:r>
            <a:endParaRPr lang="en-US" dirty="0"/>
          </a:p>
          <a:p>
            <a:pPr lvl="0"/>
            <a:r>
              <a:rPr lang="ro-RO" dirty="0"/>
              <a:t>De relevanţă</a:t>
            </a:r>
            <a:endParaRPr lang="en-US" dirty="0"/>
          </a:p>
          <a:p>
            <a:pPr lvl="0"/>
            <a:r>
              <a:rPr lang="ro-RO" dirty="0"/>
              <a:t>Dovezilor insuficiente</a:t>
            </a:r>
            <a:endParaRPr lang="en-US" dirty="0"/>
          </a:p>
          <a:p>
            <a:pPr marL="0" indent="0">
              <a:buNone/>
            </a:pPr>
            <a:endParaRPr lang="en-US" dirty="0"/>
          </a:p>
        </p:txBody>
      </p:sp>
    </p:spTree>
    <p:extLst>
      <p:ext uri="{BB962C8B-B14F-4D97-AF65-F5344CB8AC3E}">
        <p14:creationId xmlns:p14="http://schemas.microsoft.com/office/powerpoint/2010/main" val="39721102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4610" y="516625"/>
            <a:ext cx="7934781" cy="643608"/>
          </a:xfrm>
          <a:prstGeom prst="rect">
            <a:avLst/>
          </a:prstGeom>
        </p:spPr>
        <p:txBody>
          <a:bodyPr vert="horz" wrap="square" lIns="0" tIns="61051" rIns="0" bIns="0" rtlCol="0">
            <a:spAutoFit/>
          </a:bodyPr>
          <a:lstStyle/>
          <a:p>
            <a:pPr marL="1649516" marR="4607" indent="-1637997">
              <a:lnSpc>
                <a:spcPts val="4498"/>
              </a:lnSpc>
              <a:spcBef>
                <a:spcPts val="481"/>
              </a:spcBef>
            </a:pPr>
            <a:r>
              <a:rPr sz="4000" spc="54" dirty="0" err="1"/>
              <a:t>Erori</a:t>
            </a:r>
            <a:r>
              <a:rPr sz="4000" spc="163" dirty="0"/>
              <a:t> </a:t>
            </a:r>
            <a:r>
              <a:rPr sz="4000" spc="168" dirty="0"/>
              <a:t>in</a:t>
            </a:r>
            <a:r>
              <a:rPr sz="4000" spc="-431" dirty="0"/>
              <a:t> </a:t>
            </a:r>
            <a:r>
              <a:rPr sz="4000" spc="59" dirty="0"/>
              <a:t>argumentare</a:t>
            </a:r>
            <a:endParaRPr sz="4000" dirty="0"/>
          </a:p>
        </p:txBody>
      </p:sp>
      <p:sp>
        <p:nvSpPr>
          <p:cNvPr id="3" name="object 3"/>
          <p:cNvSpPr txBox="1"/>
          <p:nvPr/>
        </p:nvSpPr>
        <p:spPr>
          <a:xfrm>
            <a:off x="445685" y="1794606"/>
            <a:ext cx="111133" cy="156178"/>
          </a:xfrm>
          <a:prstGeom prst="rect">
            <a:avLst/>
          </a:prstGeom>
        </p:spPr>
        <p:txBody>
          <a:bodyPr vert="horz" wrap="square" lIns="0" tIns="12670" rIns="0" bIns="0" rtlCol="0">
            <a:spAutoFit/>
          </a:bodyPr>
          <a:lstStyle/>
          <a:p>
            <a:pPr marL="11518">
              <a:spcBef>
                <a:spcPts val="100"/>
              </a:spcBef>
            </a:pPr>
            <a:r>
              <a:rPr sz="900" spc="168" dirty="0">
                <a:latin typeface="Calibri"/>
                <a:cs typeface="Calibri"/>
              </a:rPr>
              <a:t>●</a:t>
            </a:r>
            <a:endParaRPr sz="900">
              <a:latin typeface="Calibri"/>
              <a:cs typeface="Calibri"/>
            </a:endParaRPr>
          </a:p>
        </p:txBody>
      </p:sp>
      <p:sp>
        <p:nvSpPr>
          <p:cNvPr id="4" name="object 4"/>
          <p:cNvSpPr txBox="1"/>
          <p:nvPr/>
        </p:nvSpPr>
        <p:spPr>
          <a:xfrm>
            <a:off x="445685" y="2746657"/>
            <a:ext cx="111133" cy="156178"/>
          </a:xfrm>
          <a:prstGeom prst="rect">
            <a:avLst/>
          </a:prstGeom>
        </p:spPr>
        <p:txBody>
          <a:bodyPr vert="horz" wrap="square" lIns="0" tIns="12670" rIns="0" bIns="0" rtlCol="0">
            <a:spAutoFit/>
          </a:bodyPr>
          <a:lstStyle/>
          <a:p>
            <a:pPr marL="11518">
              <a:spcBef>
                <a:spcPts val="100"/>
              </a:spcBef>
            </a:pPr>
            <a:r>
              <a:rPr sz="900" spc="168" dirty="0">
                <a:latin typeface="Calibri"/>
                <a:cs typeface="Calibri"/>
              </a:rPr>
              <a:t>●</a:t>
            </a:r>
            <a:endParaRPr sz="900">
              <a:latin typeface="Calibri"/>
              <a:cs typeface="Calibri"/>
            </a:endParaRPr>
          </a:p>
        </p:txBody>
      </p:sp>
      <p:sp>
        <p:nvSpPr>
          <p:cNvPr id="5" name="object 5"/>
          <p:cNvSpPr txBox="1"/>
          <p:nvPr/>
        </p:nvSpPr>
        <p:spPr>
          <a:xfrm>
            <a:off x="511328" y="3417474"/>
            <a:ext cx="111133" cy="156178"/>
          </a:xfrm>
          <a:prstGeom prst="rect">
            <a:avLst/>
          </a:prstGeom>
        </p:spPr>
        <p:txBody>
          <a:bodyPr vert="horz" wrap="square" lIns="0" tIns="12670" rIns="0" bIns="0" rtlCol="0">
            <a:spAutoFit/>
          </a:bodyPr>
          <a:lstStyle/>
          <a:p>
            <a:pPr marL="11518">
              <a:spcBef>
                <a:spcPts val="100"/>
              </a:spcBef>
            </a:pPr>
            <a:r>
              <a:rPr sz="900" spc="168" dirty="0">
                <a:latin typeface="Calibri"/>
                <a:cs typeface="Calibri"/>
              </a:rPr>
              <a:t>●</a:t>
            </a:r>
            <a:endParaRPr sz="900">
              <a:latin typeface="Calibri"/>
              <a:cs typeface="Calibri"/>
            </a:endParaRPr>
          </a:p>
        </p:txBody>
      </p:sp>
      <p:sp>
        <p:nvSpPr>
          <p:cNvPr id="6" name="object 6"/>
          <p:cNvSpPr txBox="1"/>
          <p:nvPr/>
        </p:nvSpPr>
        <p:spPr>
          <a:xfrm>
            <a:off x="445685" y="3807055"/>
            <a:ext cx="111133" cy="156178"/>
          </a:xfrm>
          <a:prstGeom prst="rect">
            <a:avLst/>
          </a:prstGeom>
        </p:spPr>
        <p:txBody>
          <a:bodyPr vert="horz" wrap="square" lIns="0" tIns="12670" rIns="0" bIns="0" rtlCol="0">
            <a:spAutoFit/>
          </a:bodyPr>
          <a:lstStyle/>
          <a:p>
            <a:pPr marL="11518">
              <a:spcBef>
                <a:spcPts val="100"/>
              </a:spcBef>
            </a:pPr>
            <a:r>
              <a:rPr sz="900" spc="168" dirty="0">
                <a:latin typeface="Calibri"/>
                <a:cs typeface="Calibri"/>
              </a:rPr>
              <a:t>●</a:t>
            </a:r>
            <a:endParaRPr sz="900">
              <a:latin typeface="Calibri"/>
              <a:cs typeface="Calibri"/>
            </a:endParaRPr>
          </a:p>
        </p:txBody>
      </p:sp>
      <p:sp>
        <p:nvSpPr>
          <p:cNvPr id="7" name="object 7"/>
          <p:cNvSpPr txBox="1"/>
          <p:nvPr/>
        </p:nvSpPr>
        <p:spPr>
          <a:xfrm>
            <a:off x="511328" y="5991241"/>
            <a:ext cx="111133" cy="156178"/>
          </a:xfrm>
          <a:prstGeom prst="rect">
            <a:avLst/>
          </a:prstGeom>
        </p:spPr>
        <p:txBody>
          <a:bodyPr vert="horz" wrap="square" lIns="0" tIns="12670" rIns="0" bIns="0" rtlCol="0">
            <a:spAutoFit/>
          </a:bodyPr>
          <a:lstStyle/>
          <a:p>
            <a:pPr marL="11518">
              <a:spcBef>
                <a:spcPts val="100"/>
              </a:spcBef>
            </a:pPr>
            <a:r>
              <a:rPr sz="900" spc="168" dirty="0">
                <a:latin typeface="Calibri"/>
                <a:cs typeface="Calibri"/>
              </a:rPr>
              <a:t>●</a:t>
            </a:r>
            <a:endParaRPr sz="900">
              <a:latin typeface="Calibri"/>
              <a:cs typeface="Calibri"/>
            </a:endParaRPr>
          </a:p>
        </p:txBody>
      </p:sp>
      <p:sp>
        <p:nvSpPr>
          <p:cNvPr id="8" name="object 8"/>
          <p:cNvSpPr txBox="1"/>
          <p:nvPr/>
        </p:nvSpPr>
        <p:spPr>
          <a:xfrm>
            <a:off x="708257" y="1716228"/>
            <a:ext cx="7980271" cy="4229647"/>
          </a:xfrm>
          <a:prstGeom prst="rect">
            <a:avLst/>
          </a:prstGeom>
        </p:spPr>
        <p:txBody>
          <a:bodyPr vert="horz" wrap="square" lIns="0" tIns="28221" rIns="0" bIns="0" rtlCol="0">
            <a:spAutoFit/>
          </a:bodyPr>
          <a:lstStyle/>
          <a:p>
            <a:pPr marL="11518" marR="9791" algn="just">
              <a:lnSpc>
                <a:spcPct val="94400"/>
              </a:lnSpc>
              <a:spcBef>
                <a:spcPts val="221"/>
              </a:spcBef>
            </a:pPr>
            <a:r>
              <a:rPr sz="2000" spc="95" dirty="0">
                <a:effectLst>
                  <a:outerShdw blurRad="38100" dist="38100" dir="2700000" algn="tl">
                    <a:srgbClr val="000000">
                      <a:alpha val="43137"/>
                    </a:srgbClr>
                  </a:outerShdw>
                </a:effectLst>
                <a:latin typeface="Arial Narrow"/>
                <a:cs typeface="Arial Narrow"/>
              </a:rPr>
              <a:t>Dogmatism</a:t>
            </a:r>
            <a:r>
              <a:rPr sz="2000" spc="95" dirty="0">
                <a:latin typeface="Arial Narrow"/>
                <a:cs typeface="Arial Narrow"/>
              </a:rPr>
              <a:t> </a:t>
            </a:r>
            <a:r>
              <a:rPr sz="2000" spc="-317" dirty="0">
                <a:latin typeface="Arial Narrow"/>
                <a:cs typeface="Arial Narrow"/>
              </a:rPr>
              <a:t>→ </a:t>
            </a:r>
            <a:r>
              <a:rPr sz="2000" spc="68" dirty="0">
                <a:latin typeface="Arial Narrow"/>
                <a:cs typeface="Arial Narrow"/>
              </a:rPr>
              <a:t>auditoriul </a:t>
            </a:r>
            <a:r>
              <a:rPr sz="2000" spc="-41" dirty="0">
                <a:latin typeface="Arial Narrow"/>
                <a:cs typeface="Arial Narrow"/>
              </a:rPr>
              <a:t>s-ar </a:t>
            </a:r>
            <a:r>
              <a:rPr sz="2000" spc="27" dirty="0">
                <a:latin typeface="Arial Narrow"/>
                <a:cs typeface="Arial Narrow"/>
              </a:rPr>
              <a:t>putea </a:t>
            </a:r>
            <a:r>
              <a:rPr sz="2000" spc="-91" dirty="0">
                <a:latin typeface="Arial Narrow"/>
                <a:cs typeface="Arial Narrow"/>
              </a:rPr>
              <a:t>sa </a:t>
            </a:r>
            <a:r>
              <a:rPr sz="2000" spc="50" dirty="0">
                <a:latin typeface="Arial Narrow"/>
                <a:cs typeface="Arial Narrow"/>
              </a:rPr>
              <a:t>nu </a:t>
            </a:r>
            <a:r>
              <a:rPr sz="2000" spc="-14" dirty="0">
                <a:latin typeface="Arial Narrow"/>
                <a:cs typeface="Arial Narrow"/>
              </a:rPr>
              <a:t>impartaseasca </a:t>
            </a:r>
            <a:r>
              <a:rPr sz="2000" spc="-27" dirty="0">
                <a:latin typeface="Arial Narrow"/>
                <a:cs typeface="Arial Narrow"/>
              </a:rPr>
              <a:t>aceleasi </a:t>
            </a:r>
            <a:r>
              <a:rPr sz="2000" spc="41" dirty="0">
                <a:latin typeface="Arial Narrow"/>
                <a:cs typeface="Arial Narrow"/>
              </a:rPr>
              <a:t>valori </a:t>
            </a:r>
            <a:r>
              <a:rPr sz="2000" spc="-36" dirty="0">
                <a:latin typeface="Arial Narrow"/>
                <a:cs typeface="Arial Narrow"/>
              </a:rPr>
              <a:t>cu </a:t>
            </a:r>
            <a:r>
              <a:rPr sz="2000" spc="45" dirty="0">
                <a:latin typeface="Arial Narrow"/>
                <a:cs typeface="Arial Narrow"/>
              </a:rPr>
              <a:t>noi.</a:t>
            </a:r>
            <a:r>
              <a:rPr sz="2000" spc="-277" dirty="0">
                <a:latin typeface="Arial Narrow"/>
                <a:cs typeface="Arial Narrow"/>
              </a:rPr>
              <a:t> </a:t>
            </a:r>
            <a:r>
              <a:rPr sz="2000" spc="32" dirty="0">
                <a:latin typeface="Arial Narrow"/>
                <a:cs typeface="Arial Narrow"/>
              </a:rPr>
              <a:t>Atunci,  </a:t>
            </a:r>
            <a:r>
              <a:rPr sz="2000" spc="-41" dirty="0">
                <a:latin typeface="Arial Narrow"/>
                <a:cs typeface="Arial Narrow"/>
              </a:rPr>
              <a:t>s-ar </a:t>
            </a:r>
            <a:r>
              <a:rPr sz="2000" spc="27" dirty="0">
                <a:latin typeface="Arial Narrow"/>
                <a:cs typeface="Arial Narrow"/>
              </a:rPr>
              <a:t>putea </a:t>
            </a:r>
            <a:r>
              <a:rPr sz="2000" spc="-95" dirty="0">
                <a:latin typeface="Arial Narrow"/>
                <a:cs typeface="Arial Narrow"/>
              </a:rPr>
              <a:t>sa </a:t>
            </a:r>
            <a:r>
              <a:rPr sz="2000" spc="45" dirty="0">
                <a:latin typeface="Arial Narrow"/>
                <a:cs typeface="Arial Narrow"/>
              </a:rPr>
              <a:t>nu </a:t>
            </a:r>
            <a:r>
              <a:rPr sz="2000" spc="14" dirty="0">
                <a:latin typeface="Arial Narrow"/>
                <a:cs typeface="Arial Narrow"/>
              </a:rPr>
              <a:t>reusim </a:t>
            </a:r>
            <a:r>
              <a:rPr sz="2000" spc="-36" dirty="0">
                <a:latin typeface="Arial Narrow"/>
                <a:cs typeface="Arial Narrow"/>
              </a:rPr>
              <a:t>sa-l </a:t>
            </a:r>
            <a:r>
              <a:rPr sz="2000" spc="5" dirty="0">
                <a:latin typeface="Arial Narrow"/>
                <a:cs typeface="Arial Narrow"/>
              </a:rPr>
              <a:t>convingem. </a:t>
            </a:r>
            <a:r>
              <a:rPr sz="2000" spc="18" dirty="0">
                <a:latin typeface="Arial Narrow"/>
                <a:cs typeface="Arial Narrow"/>
              </a:rPr>
              <a:t>Nu </a:t>
            </a:r>
            <a:r>
              <a:rPr sz="2000" spc="-5" dirty="0">
                <a:latin typeface="Arial Narrow"/>
                <a:cs typeface="Arial Narrow"/>
              </a:rPr>
              <a:t>are </a:t>
            </a:r>
            <a:r>
              <a:rPr sz="2000" spc="-68" dirty="0">
                <a:latin typeface="Arial Narrow"/>
                <a:cs typeface="Arial Narrow"/>
              </a:rPr>
              <a:t>sens </a:t>
            </a:r>
            <a:r>
              <a:rPr sz="2000" spc="-95" dirty="0">
                <a:latin typeface="Arial Narrow"/>
                <a:cs typeface="Arial Narrow"/>
              </a:rPr>
              <a:t>sa </a:t>
            </a:r>
            <a:r>
              <a:rPr sz="2000" spc="5" dirty="0">
                <a:latin typeface="Arial Narrow"/>
                <a:cs typeface="Arial Narrow"/>
              </a:rPr>
              <a:t>convingem </a:t>
            </a:r>
            <a:r>
              <a:rPr sz="2000" spc="45" dirty="0">
                <a:latin typeface="Arial Narrow"/>
                <a:cs typeface="Arial Narrow"/>
              </a:rPr>
              <a:t>un </a:t>
            </a:r>
            <a:r>
              <a:rPr sz="2000" spc="32" dirty="0">
                <a:latin typeface="Arial Narrow"/>
                <a:cs typeface="Arial Narrow"/>
              </a:rPr>
              <a:t>ateu </a:t>
            </a:r>
            <a:r>
              <a:rPr sz="2000" spc="-77" dirty="0">
                <a:latin typeface="Arial Narrow"/>
                <a:cs typeface="Arial Narrow"/>
              </a:rPr>
              <a:t>ca </a:t>
            </a:r>
            <a:r>
              <a:rPr sz="2000" spc="-45" dirty="0">
                <a:latin typeface="Arial Narrow"/>
                <a:cs typeface="Arial Narrow"/>
              </a:rPr>
              <a:t>a </a:t>
            </a:r>
            <a:r>
              <a:rPr sz="2000" spc="122" dirty="0">
                <a:latin typeface="Arial Narrow"/>
                <a:cs typeface="Arial Narrow"/>
              </a:rPr>
              <a:t>fi  </a:t>
            </a:r>
            <a:r>
              <a:rPr sz="2000" spc="23" dirty="0">
                <a:latin typeface="Arial Narrow"/>
                <a:cs typeface="Arial Narrow"/>
              </a:rPr>
              <a:t>carnivor</a:t>
            </a:r>
            <a:r>
              <a:rPr sz="2000" spc="-73" dirty="0">
                <a:latin typeface="Arial Narrow"/>
                <a:cs typeface="Arial Narrow"/>
              </a:rPr>
              <a:t> </a:t>
            </a:r>
            <a:r>
              <a:rPr sz="2000" spc="50" dirty="0">
                <a:latin typeface="Arial Narrow"/>
                <a:cs typeface="Arial Narrow"/>
              </a:rPr>
              <a:t>nu</a:t>
            </a:r>
            <a:r>
              <a:rPr sz="2000" spc="-68" dirty="0">
                <a:latin typeface="Arial Narrow"/>
                <a:cs typeface="Arial Narrow"/>
              </a:rPr>
              <a:t> </a:t>
            </a:r>
            <a:r>
              <a:rPr sz="2000" spc="-14" dirty="0">
                <a:latin typeface="Arial Narrow"/>
                <a:cs typeface="Arial Narrow"/>
              </a:rPr>
              <a:t>este</a:t>
            </a:r>
            <a:r>
              <a:rPr sz="2000" spc="-68" dirty="0">
                <a:latin typeface="Arial Narrow"/>
                <a:cs typeface="Arial Narrow"/>
              </a:rPr>
              <a:t> </a:t>
            </a:r>
            <a:r>
              <a:rPr sz="2000" spc="45" dirty="0">
                <a:latin typeface="Arial Narrow"/>
                <a:cs typeface="Arial Narrow"/>
              </a:rPr>
              <a:t>imoral,</a:t>
            </a:r>
            <a:r>
              <a:rPr sz="2000" spc="-68" dirty="0">
                <a:latin typeface="Arial Narrow"/>
                <a:cs typeface="Arial Narrow"/>
              </a:rPr>
              <a:t> </a:t>
            </a:r>
            <a:r>
              <a:rPr sz="2000" spc="-23" dirty="0">
                <a:latin typeface="Arial Narrow"/>
                <a:cs typeface="Arial Narrow"/>
              </a:rPr>
              <a:t>deoarece</a:t>
            </a:r>
            <a:r>
              <a:rPr sz="2000" spc="-73" dirty="0">
                <a:latin typeface="Arial Narrow"/>
                <a:cs typeface="Arial Narrow"/>
              </a:rPr>
              <a:t> </a:t>
            </a:r>
            <a:r>
              <a:rPr sz="2000" spc="50" dirty="0">
                <a:latin typeface="Arial Narrow"/>
                <a:cs typeface="Arial Narrow"/>
              </a:rPr>
              <a:t>omul</a:t>
            </a:r>
            <a:r>
              <a:rPr sz="2000" spc="-59" dirty="0">
                <a:latin typeface="Arial Narrow"/>
                <a:cs typeface="Arial Narrow"/>
              </a:rPr>
              <a:t> </a:t>
            </a:r>
            <a:r>
              <a:rPr sz="2000" spc="-14" dirty="0">
                <a:latin typeface="Arial Narrow"/>
                <a:cs typeface="Arial Narrow"/>
              </a:rPr>
              <a:t>este</a:t>
            </a:r>
            <a:r>
              <a:rPr sz="2000" spc="-68" dirty="0">
                <a:latin typeface="Arial Narrow"/>
                <a:cs typeface="Arial Narrow"/>
              </a:rPr>
              <a:t> </a:t>
            </a:r>
            <a:r>
              <a:rPr sz="2000" spc="9" dirty="0">
                <a:latin typeface="Arial Narrow"/>
                <a:cs typeface="Arial Narrow"/>
              </a:rPr>
              <a:t>“coroana</a:t>
            </a:r>
            <a:r>
              <a:rPr sz="2000" spc="-63" dirty="0">
                <a:latin typeface="Arial Narrow"/>
                <a:cs typeface="Arial Narrow"/>
              </a:rPr>
              <a:t> </a:t>
            </a:r>
            <a:r>
              <a:rPr sz="2000" spc="36" dirty="0">
                <a:latin typeface="Arial Narrow"/>
                <a:cs typeface="Arial Narrow"/>
              </a:rPr>
              <a:t>Creatiei”.</a:t>
            </a:r>
            <a:endParaRPr sz="2000" dirty="0">
              <a:latin typeface="Arial Narrow"/>
              <a:cs typeface="Arial Narrow"/>
            </a:endParaRPr>
          </a:p>
          <a:p>
            <a:pPr marL="11518" marR="4607" algn="just">
              <a:lnSpc>
                <a:spcPts val="2203"/>
              </a:lnSpc>
              <a:spcBef>
                <a:spcPts val="912"/>
              </a:spcBef>
            </a:pPr>
            <a:r>
              <a:rPr sz="2000" spc="68" dirty="0">
                <a:effectLst>
                  <a:outerShdw blurRad="38100" dist="38100" dir="2700000" algn="tl">
                    <a:srgbClr val="000000">
                      <a:alpha val="43137"/>
                    </a:srgbClr>
                  </a:outerShdw>
                </a:effectLst>
                <a:latin typeface="Arial Narrow"/>
                <a:cs typeface="Arial Narrow"/>
              </a:rPr>
              <a:t>Confuzia </a:t>
            </a:r>
            <a:r>
              <a:rPr sz="2000" spc="150" dirty="0">
                <a:effectLst>
                  <a:outerShdw blurRad="38100" dist="38100" dir="2700000" algn="tl">
                    <a:srgbClr val="000000">
                      <a:alpha val="43137"/>
                    </a:srgbClr>
                  </a:outerShdw>
                </a:effectLst>
                <a:latin typeface="Arial Narrow"/>
                <a:cs typeface="Arial Narrow"/>
              </a:rPr>
              <a:t>intre </a:t>
            </a:r>
            <a:r>
              <a:rPr sz="2000" spc="113" dirty="0">
                <a:effectLst>
                  <a:outerShdw blurRad="38100" dist="38100" dir="2700000" algn="tl">
                    <a:srgbClr val="000000">
                      <a:alpha val="43137"/>
                    </a:srgbClr>
                  </a:outerShdw>
                </a:effectLst>
                <a:latin typeface="Arial Narrow"/>
                <a:cs typeface="Arial Narrow"/>
              </a:rPr>
              <a:t>bine/rau </a:t>
            </a:r>
            <a:r>
              <a:rPr sz="2000" spc="27" dirty="0">
                <a:effectLst>
                  <a:outerShdw blurRad="38100" dist="38100" dir="2700000" algn="tl">
                    <a:srgbClr val="000000">
                      <a:alpha val="43137"/>
                    </a:srgbClr>
                  </a:outerShdw>
                </a:effectLst>
                <a:latin typeface="Arial Narrow"/>
                <a:cs typeface="Arial Narrow"/>
              </a:rPr>
              <a:t>si </a:t>
            </a:r>
            <a:r>
              <a:rPr sz="2000" spc="127" dirty="0">
                <a:effectLst>
                  <a:outerShdw blurRad="38100" dist="38100" dir="2700000" algn="tl">
                    <a:srgbClr val="000000">
                      <a:alpha val="43137"/>
                    </a:srgbClr>
                  </a:outerShdw>
                </a:effectLst>
                <a:latin typeface="Arial Narrow"/>
                <a:cs typeface="Arial Narrow"/>
              </a:rPr>
              <a:t>gusturi </a:t>
            </a:r>
            <a:r>
              <a:rPr sz="2000" spc="-317" dirty="0">
                <a:latin typeface="Arial Narrow"/>
                <a:cs typeface="Arial Narrow"/>
              </a:rPr>
              <a:t>→ </a:t>
            </a:r>
            <a:r>
              <a:rPr sz="2000" spc="45" dirty="0">
                <a:latin typeface="Arial Narrow"/>
                <a:cs typeface="Arial Narrow"/>
              </a:rPr>
              <a:t>simplul </a:t>
            </a:r>
            <a:r>
              <a:rPr sz="2000" spc="73" dirty="0">
                <a:latin typeface="Arial Narrow"/>
                <a:cs typeface="Arial Narrow"/>
              </a:rPr>
              <a:t>fapt </a:t>
            </a:r>
            <a:r>
              <a:rPr sz="2000" spc="-77" dirty="0">
                <a:latin typeface="Arial Narrow"/>
                <a:cs typeface="Arial Narrow"/>
              </a:rPr>
              <a:t>ca </a:t>
            </a:r>
            <a:r>
              <a:rPr sz="2000" spc="45" dirty="0">
                <a:latin typeface="Arial Narrow"/>
                <a:cs typeface="Arial Narrow"/>
              </a:rPr>
              <a:t>anumite </a:t>
            </a:r>
            <a:r>
              <a:rPr sz="2000" spc="-9" dirty="0">
                <a:latin typeface="Arial Narrow"/>
                <a:cs typeface="Arial Narrow"/>
              </a:rPr>
              <a:t>acte </a:t>
            </a:r>
            <a:r>
              <a:rPr sz="2000" spc="86" dirty="0">
                <a:latin typeface="Arial Narrow"/>
                <a:cs typeface="Arial Narrow"/>
              </a:rPr>
              <a:t>ni </a:t>
            </a:r>
            <a:r>
              <a:rPr sz="2000" spc="-91" dirty="0">
                <a:latin typeface="Arial Narrow"/>
                <a:cs typeface="Arial Narrow"/>
              </a:rPr>
              <a:t>se </a:t>
            </a:r>
            <a:r>
              <a:rPr sz="2000" spc="23" dirty="0">
                <a:latin typeface="Arial Narrow"/>
                <a:cs typeface="Arial Narrow"/>
              </a:rPr>
              <a:t>par  </a:t>
            </a:r>
            <a:r>
              <a:rPr sz="2000" spc="32" dirty="0">
                <a:latin typeface="Arial Narrow"/>
                <a:cs typeface="Arial Narrow"/>
              </a:rPr>
              <a:t>reprobabile</a:t>
            </a:r>
            <a:r>
              <a:rPr sz="2000" spc="-68" dirty="0">
                <a:latin typeface="Arial Narrow"/>
                <a:cs typeface="Arial Narrow"/>
              </a:rPr>
              <a:t> </a:t>
            </a:r>
            <a:r>
              <a:rPr sz="2000" spc="45" dirty="0">
                <a:latin typeface="Arial Narrow"/>
                <a:cs typeface="Arial Narrow"/>
              </a:rPr>
              <a:t>nu</a:t>
            </a:r>
            <a:r>
              <a:rPr sz="2000" spc="-59" dirty="0">
                <a:latin typeface="Arial Narrow"/>
                <a:cs typeface="Arial Narrow"/>
              </a:rPr>
              <a:t> </a:t>
            </a:r>
            <a:r>
              <a:rPr sz="2000" dirty="0">
                <a:latin typeface="Arial Narrow"/>
                <a:cs typeface="Arial Narrow"/>
              </a:rPr>
              <a:t>inseamna</a:t>
            </a:r>
            <a:r>
              <a:rPr sz="2000" spc="-68" dirty="0">
                <a:latin typeface="Arial Narrow"/>
                <a:cs typeface="Arial Narrow"/>
              </a:rPr>
              <a:t> </a:t>
            </a:r>
            <a:r>
              <a:rPr sz="2000" spc="-77" dirty="0">
                <a:latin typeface="Arial Narrow"/>
                <a:cs typeface="Arial Narrow"/>
              </a:rPr>
              <a:t>ca</a:t>
            </a:r>
            <a:r>
              <a:rPr sz="2000" spc="-63" dirty="0">
                <a:latin typeface="Arial Narrow"/>
                <a:cs typeface="Arial Narrow"/>
              </a:rPr>
              <a:t> </a:t>
            </a:r>
            <a:r>
              <a:rPr sz="2000" spc="32" dirty="0">
                <a:latin typeface="Arial Narrow"/>
                <a:cs typeface="Arial Narrow"/>
              </a:rPr>
              <a:t>sunt</a:t>
            </a:r>
            <a:r>
              <a:rPr sz="2000" spc="-63" dirty="0">
                <a:latin typeface="Arial Narrow"/>
                <a:cs typeface="Arial Narrow"/>
              </a:rPr>
              <a:t> </a:t>
            </a:r>
            <a:r>
              <a:rPr sz="2000" spc="-14" dirty="0">
                <a:latin typeface="Arial Narrow"/>
                <a:cs typeface="Arial Narrow"/>
              </a:rPr>
              <a:t>si</a:t>
            </a:r>
            <a:r>
              <a:rPr sz="2000" spc="-59" dirty="0">
                <a:latin typeface="Arial Narrow"/>
                <a:cs typeface="Arial Narrow"/>
              </a:rPr>
              <a:t> </a:t>
            </a:r>
            <a:r>
              <a:rPr sz="2000" spc="36" dirty="0">
                <a:latin typeface="Arial Narrow"/>
                <a:cs typeface="Arial Narrow"/>
              </a:rPr>
              <a:t>imorale</a:t>
            </a:r>
            <a:r>
              <a:rPr sz="2000" spc="-68" dirty="0">
                <a:latin typeface="Arial Narrow"/>
                <a:cs typeface="Arial Narrow"/>
              </a:rPr>
              <a:t> </a:t>
            </a:r>
            <a:r>
              <a:rPr sz="2000" spc="-82" dirty="0">
                <a:latin typeface="Arial Narrow"/>
                <a:cs typeface="Arial Narrow"/>
              </a:rPr>
              <a:t>(BDSM?</a:t>
            </a:r>
            <a:r>
              <a:rPr sz="2000" spc="-54" dirty="0">
                <a:latin typeface="Arial Narrow"/>
                <a:cs typeface="Arial Narrow"/>
              </a:rPr>
              <a:t> </a:t>
            </a:r>
            <a:r>
              <a:rPr sz="2000" spc="-50" dirty="0">
                <a:latin typeface="Arial Narrow"/>
                <a:cs typeface="Arial Narrow"/>
              </a:rPr>
              <a:t>Cazul</a:t>
            </a:r>
            <a:r>
              <a:rPr sz="2000" spc="-59" dirty="0">
                <a:latin typeface="Arial Narrow"/>
                <a:cs typeface="Arial Narrow"/>
              </a:rPr>
              <a:t> </a:t>
            </a:r>
            <a:r>
              <a:rPr sz="2000" spc="14" dirty="0">
                <a:latin typeface="Arial Narrow"/>
                <a:cs typeface="Arial Narrow"/>
              </a:rPr>
              <a:t>incestului?)</a:t>
            </a:r>
            <a:endParaRPr sz="2000" dirty="0">
              <a:latin typeface="Arial Narrow"/>
              <a:cs typeface="Arial Narrow"/>
            </a:endParaRPr>
          </a:p>
          <a:p>
            <a:pPr marL="11518" marR="6335" algn="just">
              <a:lnSpc>
                <a:spcPct val="94400"/>
              </a:lnSpc>
              <a:spcBef>
                <a:spcPts val="853"/>
              </a:spcBef>
            </a:pPr>
            <a:r>
              <a:rPr sz="2000" spc="63" dirty="0" err="1" smtClean="0">
                <a:effectLst>
                  <a:outerShdw blurRad="38100" dist="38100" dir="2700000" algn="tl">
                    <a:srgbClr val="000000">
                      <a:alpha val="43137"/>
                    </a:srgbClr>
                  </a:outerShdw>
                </a:effectLst>
                <a:latin typeface="Arial Narrow"/>
                <a:cs typeface="Arial Narrow"/>
              </a:rPr>
              <a:t>Pante</a:t>
            </a:r>
            <a:r>
              <a:rPr sz="2000" spc="63" dirty="0" smtClean="0">
                <a:effectLst>
                  <a:outerShdw blurRad="38100" dist="38100" dir="2700000" algn="tl">
                    <a:srgbClr val="000000">
                      <a:alpha val="43137"/>
                    </a:srgbClr>
                  </a:outerShdw>
                </a:effectLst>
                <a:latin typeface="Arial Narrow"/>
                <a:cs typeface="Arial Narrow"/>
              </a:rPr>
              <a:t> </a:t>
            </a:r>
            <a:r>
              <a:rPr sz="2000" spc="54" dirty="0">
                <a:effectLst>
                  <a:outerShdw blurRad="38100" dist="38100" dir="2700000" algn="tl">
                    <a:srgbClr val="000000">
                      <a:alpha val="43137"/>
                    </a:srgbClr>
                  </a:outerShdw>
                </a:effectLst>
                <a:latin typeface="Arial Narrow"/>
                <a:cs typeface="Arial Narrow"/>
              </a:rPr>
              <a:t>alunecoase </a:t>
            </a:r>
            <a:r>
              <a:rPr sz="2000" spc="-317" dirty="0">
                <a:latin typeface="Arial Narrow"/>
                <a:cs typeface="Arial Narrow"/>
              </a:rPr>
              <a:t>→ </a:t>
            </a:r>
            <a:r>
              <a:rPr sz="2000" spc="-45" dirty="0">
                <a:latin typeface="Arial Narrow"/>
                <a:cs typeface="Arial Narrow"/>
              </a:rPr>
              <a:t>daca </a:t>
            </a:r>
            <a:r>
              <a:rPr sz="2000" spc="54" dirty="0">
                <a:latin typeface="Arial Narrow"/>
                <a:cs typeface="Arial Narrow"/>
              </a:rPr>
              <a:t>oferim </a:t>
            </a:r>
            <a:r>
              <a:rPr sz="2000" spc="68" dirty="0">
                <a:latin typeface="Arial Narrow"/>
                <a:cs typeface="Arial Narrow"/>
              </a:rPr>
              <a:t>ajutor </a:t>
            </a:r>
            <a:r>
              <a:rPr sz="2000" spc="-9" dirty="0">
                <a:latin typeface="Arial Narrow"/>
                <a:cs typeface="Arial Narrow"/>
              </a:rPr>
              <a:t>social </a:t>
            </a:r>
            <a:r>
              <a:rPr sz="2000" spc="45" dirty="0">
                <a:latin typeface="Arial Narrow"/>
                <a:cs typeface="Arial Narrow"/>
              </a:rPr>
              <a:t>copiilor </a:t>
            </a:r>
            <a:r>
              <a:rPr sz="2000" spc="54" dirty="0">
                <a:latin typeface="Arial Narrow"/>
                <a:cs typeface="Arial Narrow"/>
              </a:rPr>
              <a:t>orfani, </a:t>
            </a:r>
            <a:r>
              <a:rPr sz="2000" spc="32" dirty="0">
                <a:latin typeface="Arial Narrow"/>
                <a:cs typeface="Arial Narrow"/>
              </a:rPr>
              <a:t>mamelor </a:t>
            </a:r>
            <a:r>
              <a:rPr sz="2000" spc="18" dirty="0">
                <a:latin typeface="Arial Narrow"/>
                <a:cs typeface="Arial Narrow"/>
              </a:rPr>
              <a:t>singure </a:t>
            </a:r>
            <a:r>
              <a:rPr sz="2000" spc="9" dirty="0">
                <a:latin typeface="Arial Narrow"/>
                <a:cs typeface="Arial Narrow"/>
              </a:rPr>
              <a:t>etc.,  </a:t>
            </a:r>
            <a:r>
              <a:rPr sz="2000" spc="-14" dirty="0">
                <a:latin typeface="Arial Narrow"/>
                <a:cs typeface="Arial Narrow"/>
              </a:rPr>
              <a:t>deschidem </a:t>
            </a:r>
            <a:r>
              <a:rPr sz="2000" spc="36" dirty="0">
                <a:latin typeface="Arial Narrow"/>
                <a:cs typeface="Arial Narrow"/>
              </a:rPr>
              <a:t>poarta </a:t>
            </a:r>
            <a:r>
              <a:rPr sz="2000" spc="14" dirty="0">
                <a:latin typeface="Arial Narrow"/>
                <a:cs typeface="Arial Narrow"/>
              </a:rPr>
              <a:t>catre </a:t>
            </a:r>
            <a:r>
              <a:rPr sz="2000" spc="54" dirty="0">
                <a:latin typeface="Arial Narrow"/>
                <a:cs typeface="Arial Narrow"/>
              </a:rPr>
              <a:t>statul </a:t>
            </a:r>
            <a:r>
              <a:rPr sz="2000" spc="63" dirty="0">
                <a:latin typeface="Arial Narrow"/>
                <a:cs typeface="Arial Narrow"/>
              </a:rPr>
              <a:t>totalitar. </a:t>
            </a:r>
            <a:r>
              <a:rPr sz="2000" spc="-68" dirty="0">
                <a:latin typeface="Arial Narrow"/>
                <a:cs typeface="Arial Narrow"/>
              </a:rPr>
              <a:t>Des </a:t>
            </a:r>
            <a:r>
              <a:rPr sz="2000" spc="82" dirty="0">
                <a:latin typeface="Arial Narrow"/>
                <a:cs typeface="Arial Narrow"/>
              </a:rPr>
              <a:t>intalnite in </a:t>
            </a:r>
            <a:r>
              <a:rPr sz="2000" spc="-23" dirty="0">
                <a:latin typeface="Arial Narrow"/>
                <a:cs typeface="Arial Narrow"/>
              </a:rPr>
              <a:t>cazul </a:t>
            </a:r>
            <a:r>
              <a:rPr sz="2000" spc="54" dirty="0">
                <a:latin typeface="Arial Narrow"/>
                <a:cs typeface="Arial Narrow"/>
              </a:rPr>
              <a:t>discutiilor </a:t>
            </a:r>
            <a:r>
              <a:rPr sz="2000" spc="-18" dirty="0">
                <a:latin typeface="Arial Narrow"/>
                <a:cs typeface="Arial Narrow"/>
              </a:rPr>
              <a:t>despre </a:t>
            </a:r>
            <a:r>
              <a:rPr sz="2000" spc="32" dirty="0">
                <a:latin typeface="Arial Narrow"/>
                <a:cs typeface="Arial Narrow"/>
              </a:rPr>
              <a:t>avort,  </a:t>
            </a:r>
            <a:r>
              <a:rPr sz="2000" spc="36" dirty="0">
                <a:latin typeface="Arial Narrow"/>
                <a:cs typeface="Arial Narrow"/>
              </a:rPr>
              <a:t>pro </a:t>
            </a:r>
            <a:r>
              <a:rPr sz="2000" spc="-45" dirty="0">
                <a:latin typeface="Arial Narrow"/>
                <a:cs typeface="Arial Narrow"/>
              </a:rPr>
              <a:t>sau </a:t>
            </a:r>
            <a:r>
              <a:rPr sz="2000" spc="23" dirty="0">
                <a:latin typeface="Arial Narrow"/>
                <a:cs typeface="Arial Narrow"/>
              </a:rPr>
              <a:t>contra. </a:t>
            </a:r>
            <a:r>
              <a:rPr sz="2000" spc="77" dirty="0">
                <a:latin typeface="Arial Narrow"/>
                <a:cs typeface="Arial Narrow"/>
              </a:rPr>
              <a:t>Contra: </a:t>
            </a:r>
            <a:r>
              <a:rPr sz="2000" spc="-45" dirty="0">
                <a:latin typeface="Arial Narrow"/>
                <a:cs typeface="Arial Narrow"/>
              </a:rPr>
              <a:t>daca </a:t>
            </a:r>
            <a:r>
              <a:rPr sz="2000" spc="50" dirty="0">
                <a:latin typeface="Arial Narrow"/>
                <a:cs typeface="Arial Narrow"/>
              </a:rPr>
              <a:t>permitem </a:t>
            </a:r>
            <a:r>
              <a:rPr sz="2000" spc="41" dirty="0">
                <a:latin typeface="Arial Narrow"/>
                <a:cs typeface="Arial Narrow"/>
              </a:rPr>
              <a:t>avortul, </a:t>
            </a:r>
            <a:r>
              <a:rPr sz="2000" spc="-9" dirty="0">
                <a:latin typeface="Arial Narrow"/>
                <a:cs typeface="Arial Narrow"/>
              </a:rPr>
              <a:t>vom </a:t>
            </a:r>
            <a:r>
              <a:rPr sz="2000" spc="23" dirty="0">
                <a:latin typeface="Arial Narrow"/>
                <a:cs typeface="Arial Narrow"/>
              </a:rPr>
              <a:t>ajunge </a:t>
            </a:r>
            <a:r>
              <a:rPr sz="2000" spc="-95" dirty="0">
                <a:latin typeface="Arial Narrow"/>
                <a:cs typeface="Arial Narrow"/>
              </a:rPr>
              <a:t>sa </a:t>
            </a:r>
            <a:r>
              <a:rPr sz="2000" spc="50" dirty="0">
                <a:latin typeface="Arial Narrow"/>
                <a:cs typeface="Arial Narrow"/>
              </a:rPr>
              <a:t>permitem </a:t>
            </a:r>
            <a:r>
              <a:rPr sz="2000" spc="-14" dirty="0">
                <a:latin typeface="Arial Narrow"/>
                <a:cs typeface="Arial Narrow"/>
              </a:rPr>
              <a:t>si  </a:t>
            </a:r>
            <a:r>
              <a:rPr sz="2000" spc="5" dirty="0">
                <a:latin typeface="Arial Narrow"/>
                <a:cs typeface="Arial Narrow"/>
              </a:rPr>
              <a:t>eutanasierea</a:t>
            </a:r>
            <a:r>
              <a:rPr sz="2000" spc="-63" dirty="0">
                <a:latin typeface="Arial Narrow"/>
                <a:cs typeface="Arial Narrow"/>
              </a:rPr>
              <a:t> </a:t>
            </a:r>
            <a:r>
              <a:rPr sz="2000" spc="27" dirty="0">
                <a:latin typeface="Arial Narrow"/>
                <a:cs typeface="Arial Narrow"/>
              </a:rPr>
              <a:t>(nevoluntara)</a:t>
            </a:r>
            <a:r>
              <a:rPr sz="2000" spc="-68" dirty="0">
                <a:latin typeface="Arial Narrow"/>
                <a:cs typeface="Arial Narrow"/>
              </a:rPr>
              <a:t> </a:t>
            </a:r>
            <a:r>
              <a:rPr sz="2000" spc="-45" dirty="0">
                <a:latin typeface="Arial Narrow"/>
                <a:cs typeface="Arial Narrow"/>
              </a:rPr>
              <a:t>a</a:t>
            </a:r>
            <a:r>
              <a:rPr sz="2000" spc="-63" dirty="0">
                <a:latin typeface="Arial Narrow"/>
                <a:cs typeface="Arial Narrow"/>
              </a:rPr>
              <a:t> </a:t>
            </a:r>
            <a:r>
              <a:rPr sz="2000" spc="14" dirty="0">
                <a:latin typeface="Arial Narrow"/>
                <a:cs typeface="Arial Narrow"/>
              </a:rPr>
              <a:t>persoanelor</a:t>
            </a:r>
            <a:r>
              <a:rPr sz="2000" spc="-63" dirty="0">
                <a:latin typeface="Arial Narrow"/>
                <a:cs typeface="Arial Narrow"/>
              </a:rPr>
              <a:t> </a:t>
            </a:r>
            <a:r>
              <a:rPr sz="2000" spc="82" dirty="0">
                <a:latin typeface="Arial Narrow"/>
                <a:cs typeface="Arial Narrow"/>
              </a:rPr>
              <a:t>in</a:t>
            </a:r>
            <a:r>
              <a:rPr sz="2000" spc="-59" dirty="0">
                <a:latin typeface="Arial Narrow"/>
                <a:cs typeface="Arial Narrow"/>
              </a:rPr>
              <a:t> </a:t>
            </a:r>
            <a:r>
              <a:rPr sz="2000" spc="-32" dirty="0">
                <a:latin typeface="Arial Narrow"/>
                <a:cs typeface="Arial Narrow"/>
              </a:rPr>
              <a:t>coma</a:t>
            </a:r>
            <a:r>
              <a:rPr sz="2000" spc="-63" dirty="0">
                <a:latin typeface="Arial Narrow"/>
                <a:cs typeface="Arial Narrow"/>
              </a:rPr>
              <a:t> </a:t>
            </a:r>
            <a:r>
              <a:rPr sz="2000" spc="9" dirty="0">
                <a:latin typeface="Arial Narrow"/>
                <a:cs typeface="Arial Narrow"/>
              </a:rPr>
              <a:t>etc.</a:t>
            </a:r>
            <a:r>
              <a:rPr sz="2000" spc="-68" dirty="0">
                <a:latin typeface="Arial Narrow"/>
                <a:cs typeface="Arial Narrow"/>
              </a:rPr>
              <a:t> </a:t>
            </a:r>
            <a:r>
              <a:rPr sz="2000" spc="73" dirty="0">
                <a:latin typeface="Arial Narrow"/>
                <a:cs typeface="Arial Narrow"/>
              </a:rPr>
              <a:t>Alt</a:t>
            </a:r>
            <a:r>
              <a:rPr sz="2000" spc="-59" dirty="0">
                <a:latin typeface="Arial Narrow"/>
                <a:cs typeface="Arial Narrow"/>
              </a:rPr>
              <a:t> </a:t>
            </a:r>
            <a:r>
              <a:rPr sz="2000" spc="9" dirty="0">
                <a:latin typeface="Arial Narrow"/>
                <a:cs typeface="Arial Narrow"/>
              </a:rPr>
              <a:t>exemplu:</a:t>
            </a:r>
            <a:endParaRPr sz="2000" dirty="0">
              <a:latin typeface="Arial Narrow"/>
              <a:cs typeface="Arial Narrow"/>
            </a:endParaRPr>
          </a:p>
          <a:p>
            <a:pPr marL="11518" marR="10367" algn="just">
              <a:lnSpc>
                <a:spcPct val="94400"/>
              </a:lnSpc>
              <a:spcBef>
                <a:spcPts val="856"/>
              </a:spcBef>
            </a:pPr>
            <a:r>
              <a:rPr sz="2000" dirty="0">
                <a:latin typeface="Arial Narrow"/>
                <a:cs typeface="Arial Narrow"/>
              </a:rPr>
              <a:t>“Daca </a:t>
            </a:r>
            <a:r>
              <a:rPr sz="2000" spc="-18" dirty="0">
                <a:latin typeface="Arial Narrow"/>
                <a:cs typeface="Arial Narrow"/>
              </a:rPr>
              <a:t>acceptam </a:t>
            </a:r>
            <a:r>
              <a:rPr sz="2000" spc="-95" dirty="0">
                <a:latin typeface="Arial Narrow"/>
                <a:cs typeface="Arial Narrow"/>
              </a:rPr>
              <a:t>sa </a:t>
            </a:r>
            <a:r>
              <a:rPr sz="2000" spc="36" dirty="0">
                <a:latin typeface="Arial Narrow"/>
                <a:cs typeface="Arial Narrow"/>
              </a:rPr>
              <a:t>luam </a:t>
            </a:r>
            <a:r>
              <a:rPr sz="2000" spc="23" dirty="0">
                <a:latin typeface="Arial Narrow"/>
                <a:cs typeface="Arial Narrow"/>
              </a:rPr>
              <a:t>aspirina </a:t>
            </a:r>
            <a:r>
              <a:rPr sz="2000" spc="59" dirty="0">
                <a:latin typeface="Arial Narrow"/>
                <a:cs typeface="Arial Narrow"/>
              </a:rPr>
              <a:t>pentru </a:t>
            </a:r>
            <a:r>
              <a:rPr sz="2000" spc="54" dirty="0">
                <a:latin typeface="Arial Narrow"/>
                <a:cs typeface="Arial Narrow"/>
              </a:rPr>
              <a:t>dureri </a:t>
            </a:r>
            <a:r>
              <a:rPr sz="2000" spc="-9" dirty="0">
                <a:latin typeface="Arial Narrow"/>
                <a:cs typeface="Arial Narrow"/>
              </a:rPr>
              <a:t>de </a:t>
            </a:r>
            <a:r>
              <a:rPr sz="2000" spc="-32" dirty="0">
                <a:latin typeface="Arial Narrow"/>
                <a:cs typeface="Arial Narrow"/>
              </a:rPr>
              <a:t>cap, </a:t>
            </a:r>
            <a:r>
              <a:rPr sz="2000" spc="-9" dirty="0">
                <a:latin typeface="Arial Narrow"/>
                <a:cs typeface="Arial Narrow"/>
              </a:rPr>
              <a:t>vom </a:t>
            </a:r>
            <a:r>
              <a:rPr sz="2000" spc="41" dirty="0">
                <a:latin typeface="Arial Narrow"/>
                <a:cs typeface="Arial Narrow"/>
              </a:rPr>
              <a:t>lua </a:t>
            </a:r>
            <a:r>
              <a:rPr sz="2000" spc="-45" dirty="0">
                <a:latin typeface="Arial Narrow"/>
                <a:cs typeface="Arial Narrow"/>
              </a:rPr>
              <a:t>Xanax </a:t>
            </a:r>
            <a:r>
              <a:rPr sz="2000" spc="59" dirty="0">
                <a:latin typeface="Arial Narrow"/>
                <a:cs typeface="Arial Narrow"/>
              </a:rPr>
              <a:t>pentru </a:t>
            </a:r>
            <a:r>
              <a:rPr sz="2000" spc="14" dirty="0">
                <a:latin typeface="Arial Narrow"/>
                <a:cs typeface="Arial Narrow"/>
              </a:rPr>
              <a:t>depresii  </a:t>
            </a:r>
            <a:r>
              <a:rPr sz="2000" spc="-5" dirty="0">
                <a:latin typeface="Arial Narrow"/>
                <a:cs typeface="Arial Narrow"/>
              </a:rPr>
              <a:t>si, </a:t>
            </a:r>
            <a:r>
              <a:rPr sz="2000" spc="-9" dirty="0">
                <a:latin typeface="Arial Narrow"/>
                <a:cs typeface="Arial Narrow"/>
              </a:rPr>
              <a:t>de </a:t>
            </a:r>
            <a:r>
              <a:rPr sz="2000" spc="-77" dirty="0">
                <a:latin typeface="Arial Narrow"/>
                <a:cs typeface="Arial Narrow"/>
              </a:rPr>
              <a:t>ce </a:t>
            </a:r>
            <a:r>
              <a:rPr sz="2000" spc="36" dirty="0">
                <a:latin typeface="Arial Narrow"/>
                <a:cs typeface="Arial Narrow"/>
              </a:rPr>
              <a:t>nu, </a:t>
            </a:r>
            <a:r>
              <a:rPr sz="2000" spc="-18" dirty="0">
                <a:latin typeface="Arial Narrow"/>
                <a:cs typeface="Arial Narrow"/>
              </a:rPr>
              <a:t>cocaina </a:t>
            </a:r>
            <a:r>
              <a:rPr sz="2000" spc="59" dirty="0">
                <a:latin typeface="Arial Narrow"/>
                <a:cs typeface="Arial Narrow"/>
              </a:rPr>
              <a:t>pentru </a:t>
            </a:r>
            <a:r>
              <a:rPr sz="2000" spc="18" dirty="0">
                <a:latin typeface="Arial Narrow"/>
                <a:cs typeface="Arial Narrow"/>
              </a:rPr>
              <a:t>lene, </a:t>
            </a:r>
            <a:r>
              <a:rPr sz="2000" spc="32" dirty="0">
                <a:latin typeface="Arial Narrow"/>
                <a:cs typeface="Arial Narrow"/>
              </a:rPr>
              <a:t>heroina </a:t>
            </a:r>
            <a:r>
              <a:rPr sz="2000" spc="59" dirty="0">
                <a:latin typeface="Arial Narrow"/>
                <a:cs typeface="Arial Narrow"/>
              </a:rPr>
              <a:t>pentru tristete, </a:t>
            </a:r>
            <a:r>
              <a:rPr sz="2000" spc="-45" dirty="0">
                <a:latin typeface="Arial Narrow"/>
                <a:cs typeface="Arial Narrow"/>
              </a:rPr>
              <a:t>ecstasy </a:t>
            </a:r>
            <a:r>
              <a:rPr sz="2000" spc="59" dirty="0">
                <a:latin typeface="Arial Narrow"/>
                <a:cs typeface="Arial Narrow"/>
              </a:rPr>
              <a:t>pentru </a:t>
            </a:r>
            <a:r>
              <a:rPr sz="2000" spc="23" dirty="0">
                <a:latin typeface="Arial Narrow"/>
                <a:cs typeface="Arial Narrow"/>
              </a:rPr>
              <a:t>plictiseala,  </a:t>
            </a:r>
            <a:r>
              <a:rPr sz="2000" spc="-127" dirty="0">
                <a:latin typeface="Arial Narrow"/>
                <a:cs typeface="Arial Narrow"/>
              </a:rPr>
              <a:t>LSD </a:t>
            </a:r>
            <a:r>
              <a:rPr sz="2000" spc="59" dirty="0">
                <a:latin typeface="Arial Narrow"/>
                <a:cs typeface="Arial Narrow"/>
              </a:rPr>
              <a:t>pentru </a:t>
            </a:r>
            <a:r>
              <a:rPr sz="2000" spc="14" dirty="0">
                <a:latin typeface="Arial Narrow"/>
                <a:cs typeface="Arial Narrow"/>
              </a:rPr>
              <a:t>lipsa </a:t>
            </a:r>
            <a:r>
              <a:rPr sz="2000" spc="-9" dirty="0">
                <a:latin typeface="Arial Narrow"/>
                <a:cs typeface="Arial Narrow"/>
              </a:rPr>
              <a:t>de </a:t>
            </a:r>
            <a:r>
              <a:rPr sz="2000" spc="45" dirty="0">
                <a:latin typeface="Arial Narrow"/>
                <a:cs typeface="Arial Narrow"/>
              </a:rPr>
              <a:t>inspiratie</a:t>
            </a:r>
            <a:r>
              <a:rPr sz="2000" spc="-281" dirty="0">
                <a:latin typeface="Arial Narrow"/>
                <a:cs typeface="Arial Narrow"/>
              </a:rPr>
              <a:t> </a:t>
            </a:r>
            <a:r>
              <a:rPr sz="2000" spc="14" dirty="0">
                <a:latin typeface="Arial Narrow"/>
                <a:cs typeface="Arial Narrow"/>
              </a:rPr>
              <a:t>s.a.m.d.”</a:t>
            </a:r>
            <a:endParaRPr sz="2000" dirty="0">
              <a:latin typeface="Arial Narrow"/>
              <a:cs typeface="Arial Narrow"/>
            </a:endParaRPr>
          </a:p>
          <a:p>
            <a:pPr marL="11518" algn="just">
              <a:spcBef>
                <a:spcPts val="735"/>
              </a:spcBef>
            </a:pPr>
            <a:r>
              <a:rPr sz="2000" spc="103" dirty="0">
                <a:effectLst>
                  <a:outerShdw blurRad="38100" dist="38100" dir="2700000" algn="tl">
                    <a:srgbClr val="000000">
                      <a:alpha val="43137"/>
                    </a:srgbClr>
                  </a:outerShdw>
                </a:effectLst>
                <a:latin typeface="Arial Narrow"/>
                <a:cs typeface="Arial Narrow"/>
              </a:rPr>
              <a:t>Dublul-standard</a:t>
            </a:r>
            <a:r>
              <a:rPr sz="2000" spc="50" dirty="0">
                <a:latin typeface="Arial Narrow"/>
                <a:cs typeface="Arial Narrow"/>
              </a:rPr>
              <a:t> </a:t>
            </a:r>
            <a:r>
              <a:rPr sz="2000" spc="-317" dirty="0">
                <a:latin typeface="Arial Narrow"/>
                <a:cs typeface="Arial Narrow"/>
              </a:rPr>
              <a:t>→ </a:t>
            </a:r>
            <a:r>
              <a:rPr sz="2000" spc="-23" dirty="0">
                <a:latin typeface="Arial Narrow"/>
                <a:cs typeface="Arial Narrow"/>
              </a:rPr>
              <a:t>cazul</a:t>
            </a:r>
            <a:r>
              <a:rPr sz="2000" spc="-63" dirty="0">
                <a:latin typeface="Arial Narrow"/>
                <a:cs typeface="Arial Narrow"/>
              </a:rPr>
              <a:t> </a:t>
            </a:r>
            <a:r>
              <a:rPr sz="2000" spc="50" dirty="0">
                <a:latin typeface="Arial Narrow"/>
                <a:cs typeface="Arial Narrow"/>
              </a:rPr>
              <a:t>prescriptiilor</a:t>
            </a:r>
            <a:r>
              <a:rPr sz="2000" spc="-63" dirty="0">
                <a:latin typeface="Arial Narrow"/>
                <a:cs typeface="Arial Narrow"/>
              </a:rPr>
              <a:t> </a:t>
            </a:r>
            <a:r>
              <a:rPr sz="2000" spc="23" dirty="0">
                <a:latin typeface="Arial Narrow"/>
                <a:cs typeface="Arial Narrow"/>
              </a:rPr>
              <a:t>morale</a:t>
            </a:r>
            <a:r>
              <a:rPr sz="2000" spc="-68" dirty="0">
                <a:latin typeface="Arial Narrow"/>
                <a:cs typeface="Arial Narrow"/>
              </a:rPr>
              <a:t> </a:t>
            </a:r>
            <a:r>
              <a:rPr sz="2000" spc="-9" dirty="0">
                <a:latin typeface="Arial Narrow"/>
                <a:cs typeface="Arial Narrow"/>
              </a:rPr>
              <a:t>pe</a:t>
            </a:r>
            <a:r>
              <a:rPr sz="2000" spc="-68" dirty="0">
                <a:latin typeface="Arial Narrow"/>
                <a:cs typeface="Arial Narrow"/>
              </a:rPr>
              <a:t> </a:t>
            </a:r>
            <a:r>
              <a:rPr sz="2000" spc="-27" dirty="0">
                <a:latin typeface="Arial Narrow"/>
                <a:cs typeface="Arial Narrow"/>
              </a:rPr>
              <a:t>care</a:t>
            </a:r>
            <a:r>
              <a:rPr sz="2000" spc="-68" dirty="0">
                <a:latin typeface="Arial Narrow"/>
                <a:cs typeface="Arial Narrow"/>
              </a:rPr>
              <a:t> </a:t>
            </a:r>
            <a:r>
              <a:rPr sz="2000" spc="45" dirty="0">
                <a:latin typeface="Arial Narrow"/>
                <a:cs typeface="Arial Narrow"/>
              </a:rPr>
              <a:t>nu</a:t>
            </a:r>
            <a:r>
              <a:rPr sz="2000" spc="-59" dirty="0">
                <a:latin typeface="Arial Narrow"/>
                <a:cs typeface="Arial Narrow"/>
              </a:rPr>
              <a:t> </a:t>
            </a:r>
            <a:r>
              <a:rPr sz="2000" spc="82" dirty="0">
                <a:latin typeface="Arial Narrow"/>
                <a:cs typeface="Arial Narrow"/>
              </a:rPr>
              <a:t>ni</a:t>
            </a:r>
            <a:r>
              <a:rPr sz="2000" spc="-54" dirty="0">
                <a:latin typeface="Arial Narrow"/>
                <a:cs typeface="Arial Narrow"/>
              </a:rPr>
              <a:t> </a:t>
            </a:r>
            <a:r>
              <a:rPr sz="2000" spc="-5" dirty="0">
                <a:latin typeface="Arial Narrow"/>
                <a:cs typeface="Arial Narrow"/>
              </a:rPr>
              <a:t>le-am</a:t>
            </a:r>
            <a:r>
              <a:rPr sz="2000" spc="-59" dirty="0">
                <a:latin typeface="Arial Narrow"/>
                <a:cs typeface="Arial Narrow"/>
              </a:rPr>
              <a:t> </a:t>
            </a:r>
            <a:r>
              <a:rPr sz="2000" spc="9" dirty="0">
                <a:latin typeface="Arial Narrow"/>
                <a:cs typeface="Arial Narrow"/>
              </a:rPr>
              <a:t>aplica</a:t>
            </a:r>
            <a:r>
              <a:rPr sz="2000" spc="-63" dirty="0">
                <a:latin typeface="Arial Narrow"/>
                <a:cs typeface="Arial Narrow"/>
              </a:rPr>
              <a:t> </a:t>
            </a:r>
            <a:r>
              <a:rPr sz="2000" spc="9" dirty="0">
                <a:latin typeface="Arial Narrow"/>
                <a:cs typeface="Arial Narrow"/>
              </a:rPr>
              <a:t>noua.</a:t>
            </a:r>
            <a:endParaRPr sz="2000" dirty="0">
              <a:latin typeface="Arial Narrow"/>
              <a:cs typeface="Arial Narrow"/>
            </a:endParaRPr>
          </a:p>
        </p:txBody>
      </p:sp>
    </p:spTree>
    <p:extLst>
      <p:ext uri="{BB962C8B-B14F-4D97-AF65-F5344CB8AC3E}">
        <p14:creationId xmlns:p14="http://schemas.microsoft.com/office/powerpoint/2010/main" val="131278394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304800"/>
            <a:ext cx="8686800" cy="6324600"/>
          </a:xfrm>
        </p:spPr>
        <p:txBody>
          <a:bodyPr>
            <a:normAutofit fontScale="62500" lnSpcReduction="20000"/>
          </a:bodyPr>
          <a:lstStyle/>
          <a:p>
            <a:r>
              <a:rPr lang="ro-RO" dirty="0"/>
              <a:t>1.</a:t>
            </a:r>
            <a:r>
              <a:rPr lang="ro-RO" b="1" u="sng" dirty="0"/>
              <a:t>De limbaj (ale ambiguităţii)</a:t>
            </a:r>
            <a:r>
              <a:rPr lang="ro-RO" dirty="0"/>
              <a:t>: se produce din cauza folosirii greşite a termenilor.</a:t>
            </a:r>
            <a:endParaRPr lang="en-US" dirty="0"/>
          </a:p>
          <a:p>
            <a:r>
              <a:rPr lang="ro-RO" u="sng" dirty="0">
                <a:solidFill>
                  <a:srgbClr val="FF0000"/>
                </a:solidFill>
              </a:rPr>
              <a:t>a. Echivocaţia</a:t>
            </a:r>
            <a:r>
              <a:rPr lang="ro-RO" dirty="0"/>
              <a:t>: folosirea într-un mod ambiguu a unui termen care îndeplineşte o funcţie importantă într-un argument, sau utilizarea cu dublu sens a unui cuvânt.</a:t>
            </a:r>
            <a:endParaRPr lang="en-US" dirty="0"/>
          </a:p>
          <a:p>
            <a:pPr marL="0" indent="0">
              <a:buNone/>
            </a:pPr>
            <a:r>
              <a:rPr lang="ro-RO" dirty="0"/>
              <a:t>Ex.: Unele triunghiuri sunt obtuze, dar cum orice este obtuz este ignorant, rezultă că unele triunghiuri sunt ignorante.</a:t>
            </a:r>
            <a:endParaRPr lang="en-US" dirty="0"/>
          </a:p>
          <a:p>
            <a:r>
              <a:rPr lang="ro-RO" u="sng" dirty="0">
                <a:solidFill>
                  <a:srgbClr val="FF0000"/>
                </a:solidFill>
              </a:rPr>
              <a:t>b. Amfibolia</a:t>
            </a:r>
            <a:r>
              <a:rPr lang="ro-RO" dirty="0"/>
              <a:t>:o expresie sau o propoziţie din cadrul unui argument este ambiguă din punct de vedere sintactic.</a:t>
            </a:r>
            <a:endParaRPr lang="en-US" dirty="0"/>
          </a:p>
          <a:p>
            <a:pPr marL="0" indent="0">
              <a:buNone/>
            </a:pPr>
            <a:r>
              <a:rPr lang="ro-RO" dirty="0"/>
              <a:t>Ex.:Steliştii spun dinamoviştii vor câştiga anul acesta Cupa.</a:t>
            </a:r>
            <a:endParaRPr lang="en-US" dirty="0"/>
          </a:p>
          <a:p>
            <a:r>
              <a:rPr lang="ro-RO" u="sng" dirty="0">
                <a:solidFill>
                  <a:srgbClr val="FF0000"/>
                </a:solidFill>
              </a:rPr>
              <a:t>c. Accentul</a:t>
            </a:r>
            <a:r>
              <a:rPr lang="ro-RO" dirty="0"/>
              <a:t>: sublinierea improprie a unui cuvânt sau expresie dintr-un argument, ajungându-se la schimbarea înţelesului expresiei.</a:t>
            </a:r>
            <a:endParaRPr lang="en-US" dirty="0"/>
          </a:p>
          <a:p>
            <a:pPr marL="0" indent="0">
              <a:buNone/>
            </a:pPr>
            <a:r>
              <a:rPr lang="ro-RO" dirty="0"/>
              <a:t>Ex.: Biblia ne spune să facem bine </a:t>
            </a:r>
            <a:r>
              <a:rPr lang="ro-RO" i="1" dirty="0"/>
              <a:t>acelora care ne fac rău</a:t>
            </a:r>
            <a:r>
              <a:rPr lang="ro-RO" dirty="0"/>
              <a:t>. Dar Andrei nu mi-a făcut niciodată vreun rău. Deci, pot să-i fac ceva rău.</a:t>
            </a:r>
            <a:endParaRPr lang="en-US" dirty="0"/>
          </a:p>
          <a:p>
            <a:r>
              <a:rPr lang="ro-RO" u="sng" dirty="0">
                <a:solidFill>
                  <a:srgbClr val="FF0000"/>
                </a:solidFill>
              </a:rPr>
              <a:t>d. Diviziunea</a:t>
            </a:r>
            <a:r>
              <a:rPr lang="ro-RO" dirty="0"/>
              <a:t>: când un termen este folosit în mod colectiv în premise şi în mod distributiv în concluzie.</a:t>
            </a:r>
            <a:endParaRPr lang="en-US" dirty="0"/>
          </a:p>
          <a:p>
            <a:pPr marL="0" indent="0">
              <a:buNone/>
            </a:pPr>
            <a:r>
              <a:rPr lang="ro-RO" dirty="0"/>
              <a:t>Ex.: Stolul acestor păsări migratoare este în formă de V, deci şi păsările sunt în formă de V.</a:t>
            </a:r>
            <a:endParaRPr lang="en-US" dirty="0"/>
          </a:p>
          <a:p>
            <a:r>
              <a:rPr lang="ro-RO" u="sng" dirty="0">
                <a:solidFill>
                  <a:srgbClr val="FF0000"/>
                </a:solidFill>
              </a:rPr>
              <a:t>e. Compoziţia</a:t>
            </a:r>
            <a:r>
              <a:rPr lang="ro-RO" dirty="0"/>
              <a:t>: este inversul diviziunii. (distributiv- colectiv)</a:t>
            </a:r>
            <a:endParaRPr lang="en-US" dirty="0"/>
          </a:p>
          <a:p>
            <a:pPr marL="0" indent="0">
              <a:buNone/>
            </a:pPr>
            <a:r>
              <a:rPr lang="ro-RO" dirty="0"/>
              <a:t>Ex.: Toate moleculele acestei bucăţi de cretă sunt invizibile, deci şi bucata de cretă este invizibilă</a:t>
            </a:r>
            <a:r>
              <a:rPr lang="ro-RO" dirty="0" smtClean="0"/>
              <a:t>.</a:t>
            </a:r>
            <a:endParaRPr lang="en-US" dirty="0"/>
          </a:p>
        </p:txBody>
      </p:sp>
    </p:spTree>
    <p:extLst>
      <p:ext uri="{BB962C8B-B14F-4D97-AF65-F5344CB8AC3E}">
        <p14:creationId xmlns:p14="http://schemas.microsoft.com/office/powerpoint/2010/main" val="183687840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324600"/>
          </a:xfrm>
        </p:spPr>
        <p:txBody>
          <a:bodyPr>
            <a:normAutofit fontScale="70000" lnSpcReduction="20000"/>
          </a:bodyPr>
          <a:lstStyle/>
          <a:p>
            <a:r>
              <a:rPr lang="ro-RO" dirty="0"/>
              <a:t>2. </a:t>
            </a:r>
            <a:r>
              <a:rPr lang="ro-RO" b="1" u="sng" dirty="0"/>
              <a:t>Circularităţii (argumente circulare):</a:t>
            </a:r>
            <a:r>
              <a:rPr lang="ro-RO" dirty="0"/>
              <a:t> presupune deja ceea ce urmează a fi argumentat.</a:t>
            </a:r>
            <a:endParaRPr lang="en-US" dirty="0"/>
          </a:p>
          <a:p>
            <a:r>
              <a:rPr lang="ro-RO" u="sng" dirty="0">
                <a:solidFill>
                  <a:srgbClr val="FF0000"/>
                </a:solidFill>
              </a:rPr>
              <a:t>a. Argumentul circular</a:t>
            </a:r>
            <a:r>
              <a:rPr lang="ro-RO" dirty="0">
                <a:solidFill>
                  <a:srgbClr val="FF0000"/>
                </a:solidFill>
              </a:rPr>
              <a:t> </a:t>
            </a:r>
            <a:r>
              <a:rPr lang="ro-RO" dirty="0"/>
              <a:t>(PETITIO PRINCIPII): se argumentează că o propoziţie este adevărată pentru că ea esteadevărată.</a:t>
            </a:r>
            <a:endParaRPr lang="en-US" dirty="0"/>
          </a:p>
          <a:p>
            <a:pPr marL="0" indent="0">
              <a:buNone/>
            </a:pPr>
            <a:r>
              <a:rPr lang="ro-RO" dirty="0"/>
              <a:t>Ex.: Această lucrare a fost socotită de critică strălucitoare şi foarte inspirată, iar dacă ai găsit puncte slabe în ea, ar trebui să-ţi dai seama că ai greşit</a:t>
            </a:r>
            <a:r>
              <a:rPr lang="ro-RO" dirty="0" smtClean="0"/>
              <a:t>.</a:t>
            </a:r>
          </a:p>
          <a:p>
            <a:pPr marL="0" indent="0">
              <a:buNone/>
            </a:pPr>
            <a:r>
              <a:rPr lang="en-US" dirty="0"/>
              <a:t>“</a:t>
            </a:r>
            <a:r>
              <a:rPr lang="en-US" dirty="0" err="1"/>
              <a:t>Dumnezeu</a:t>
            </a:r>
            <a:r>
              <a:rPr lang="en-US" dirty="0"/>
              <a:t> </a:t>
            </a:r>
            <a:r>
              <a:rPr lang="en-US" dirty="0" err="1"/>
              <a:t>este</a:t>
            </a:r>
            <a:r>
              <a:rPr lang="en-US" dirty="0"/>
              <a:t> perfect </a:t>
            </a:r>
            <a:r>
              <a:rPr lang="en-US" dirty="0" err="1"/>
              <a:t>deoarece</a:t>
            </a:r>
            <a:r>
              <a:rPr lang="en-US" dirty="0"/>
              <a:t> </a:t>
            </a:r>
            <a:r>
              <a:rPr lang="en-US" dirty="0" err="1"/>
              <a:t>asa</a:t>
            </a:r>
            <a:r>
              <a:rPr lang="en-US" dirty="0"/>
              <a:t>  ne </a:t>
            </a:r>
            <a:r>
              <a:rPr lang="en-US" dirty="0" err="1"/>
              <a:t>spune</a:t>
            </a:r>
            <a:r>
              <a:rPr lang="en-US" dirty="0"/>
              <a:t> </a:t>
            </a:r>
            <a:r>
              <a:rPr lang="en-US" dirty="0" err="1"/>
              <a:t>Biblia</a:t>
            </a:r>
            <a:r>
              <a:rPr lang="en-US" dirty="0"/>
              <a:t>. </a:t>
            </a:r>
            <a:r>
              <a:rPr lang="en-US" dirty="0" err="1"/>
              <a:t>Biblia</a:t>
            </a:r>
            <a:r>
              <a:rPr lang="en-US" dirty="0"/>
              <a:t>  nu are cum </a:t>
            </a:r>
            <a:r>
              <a:rPr lang="en-US" dirty="0" err="1"/>
              <a:t>sa</a:t>
            </a:r>
            <a:r>
              <a:rPr lang="en-US" dirty="0"/>
              <a:t> </a:t>
            </a:r>
            <a:r>
              <a:rPr lang="en-US" dirty="0" err="1"/>
              <a:t>greseasca</a:t>
            </a:r>
            <a:r>
              <a:rPr lang="en-US" dirty="0"/>
              <a:t>, </a:t>
            </a:r>
            <a:r>
              <a:rPr lang="en-US" dirty="0" err="1"/>
              <a:t>deoarece</a:t>
            </a:r>
            <a:r>
              <a:rPr lang="en-US" dirty="0"/>
              <a:t> </a:t>
            </a:r>
            <a:r>
              <a:rPr lang="en-US" dirty="0" err="1"/>
              <a:t>este</a:t>
            </a:r>
            <a:r>
              <a:rPr lang="en-US" dirty="0"/>
              <a:t> </a:t>
            </a:r>
            <a:r>
              <a:rPr lang="en-US" dirty="0" err="1"/>
              <a:t>cuvantul</a:t>
            </a:r>
            <a:r>
              <a:rPr lang="en-US" dirty="0"/>
              <a:t> </a:t>
            </a:r>
            <a:r>
              <a:rPr lang="en-US" dirty="0" err="1"/>
              <a:t>lui</a:t>
            </a:r>
            <a:r>
              <a:rPr lang="en-US" dirty="0"/>
              <a:t> </a:t>
            </a:r>
            <a:r>
              <a:rPr lang="en-US" dirty="0" err="1"/>
              <a:t>Dumnezeu</a:t>
            </a:r>
            <a:r>
              <a:rPr lang="en-US" dirty="0"/>
              <a:t>”</a:t>
            </a:r>
            <a:endParaRPr lang="en-US" dirty="0"/>
          </a:p>
          <a:p>
            <a:r>
              <a:rPr lang="ro-RO" u="sng" dirty="0">
                <a:solidFill>
                  <a:srgbClr val="FF0000"/>
                </a:solidFill>
              </a:rPr>
              <a:t>b. Expresii circulare</a:t>
            </a:r>
            <a:r>
              <a:rPr lang="ro-RO" dirty="0"/>
              <a:t>: presupun că ceea ce trebuie demonstrat a fost deja demonstrat.</a:t>
            </a:r>
            <a:endParaRPr lang="en-US" dirty="0"/>
          </a:p>
          <a:p>
            <a:r>
              <a:rPr lang="ro-RO" u="sng" dirty="0">
                <a:solidFill>
                  <a:srgbClr val="FF0000"/>
                </a:solidFill>
              </a:rPr>
              <a:t>c. Întrebarea complexă</a:t>
            </a:r>
            <a:r>
              <a:rPr lang="ro-RO" dirty="0"/>
              <a:t>: o întrebare care presupune dat un răspuns la o altă întrebare, la care nu s-a răspuns/n-a fost pusă.</a:t>
            </a:r>
            <a:endParaRPr lang="en-US" dirty="0"/>
          </a:p>
          <a:p>
            <a:pPr marL="0" indent="0">
              <a:buNone/>
            </a:pPr>
            <a:r>
              <a:rPr lang="ro-RO" dirty="0"/>
              <a:t>Ex.: Ce-ai făcut cu banii pe care i-ai furat?</a:t>
            </a:r>
            <a:endParaRPr lang="en-US" dirty="0"/>
          </a:p>
          <a:p>
            <a:r>
              <a:rPr lang="ro-RO" u="sng" dirty="0">
                <a:solidFill>
                  <a:srgbClr val="FF0000"/>
                </a:solidFill>
              </a:rPr>
              <a:t>d. Afirmarea repetată</a:t>
            </a:r>
            <a:r>
              <a:rPr lang="ro-RO" dirty="0"/>
              <a:t>: vizează impunerea ideii şi demonstrarea acesteia prin repetare.</a:t>
            </a:r>
            <a:endParaRPr lang="en-US" dirty="0"/>
          </a:p>
          <a:p>
            <a:endParaRPr lang="en-US" dirty="0"/>
          </a:p>
        </p:txBody>
      </p:sp>
    </p:spTree>
    <p:extLst>
      <p:ext uri="{BB962C8B-B14F-4D97-AF65-F5344CB8AC3E}">
        <p14:creationId xmlns:p14="http://schemas.microsoft.com/office/powerpoint/2010/main" val="36144569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6477000"/>
          </a:xfrm>
        </p:spPr>
        <p:txBody>
          <a:bodyPr numCol="1">
            <a:noAutofit/>
          </a:bodyPr>
          <a:lstStyle/>
          <a:p>
            <a:r>
              <a:rPr lang="ro-RO" sz="2800" dirty="0"/>
              <a:t>3. </a:t>
            </a:r>
            <a:r>
              <a:rPr lang="ro-RO" sz="2800" b="1" u="sng" dirty="0"/>
              <a:t>Supoziţie neîntemeiate:</a:t>
            </a:r>
            <a:endParaRPr lang="en-US" sz="2800" dirty="0"/>
          </a:p>
          <a:p>
            <a:r>
              <a:rPr lang="ro-RO" sz="2800" u="sng" dirty="0">
                <a:solidFill>
                  <a:srgbClr val="FF0000"/>
                </a:solidFill>
              </a:rPr>
              <a:t>a. Bifurcaţia</a:t>
            </a:r>
            <a:r>
              <a:rPr lang="ro-RO" sz="2800" u="sng" dirty="0"/>
              <a:t>:</a:t>
            </a:r>
            <a:r>
              <a:rPr lang="ro-RO" sz="2800" dirty="0"/>
              <a:t> se presupune că sunt posibile doar două alternative într-o situaţie în care există mai multe.</a:t>
            </a:r>
            <a:endParaRPr lang="en-US" sz="2800" dirty="0"/>
          </a:p>
          <a:p>
            <a:r>
              <a:rPr lang="ro-RO" sz="2800" dirty="0"/>
              <a:t>Ex.: Vei lua notă mare doar dacă copiezi de la colegul din stânga sau cel din dreapta.</a:t>
            </a:r>
            <a:endParaRPr lang="en-US" sz="2800" dirty="0"/>
          </a:p>
          <a:p>
            <a:r>
              <a:rPr lang="ro-RO" sz="2800" u="sng" dirty="0">
                <a:solidFill>
                  <a:srgbClr val="FF0000"/>
                </a:solidFill>
              </a:rPr>
              <a:t>b. Falsa dilemă</a:t>
            </a:r>
            <a:r>
              <a:rPr lang="ro-RO" sz="2800" u="sng" dirty="0"/>
              <a:t>:</a:t>
            </a:r>
            <a:r>
              <a:rPr lang="ro-RO" sz="2800" dirty="0"/>
              <a:t> se bazează pe eroarea bifurcaţiei</a:t>
            </a:r>
            <a:endParaRPr lang="en-US" sz="2800" dirty="0"/>
          </a:p>
          <a:p>
            <a:r>
              <a:rPr lang="ro-RO" sz="2800" dirty="0"/>
              <a:t>Ex.: Sau foloseşti pasta de dinţi X, sau vei avea carii.</a:t>
            </a:r>
            <a:endParaRPr lang="en-US" sz="2800" dirty="0"/>
          </a:p>
          <a:p>
            <a:r>
              <a:rPr lang="ro-RO" sz="2800" u="sng" dirty="0">
                <a:solidFill>
                  <a:srgbClr val="FF0000"/>
                </a:solidFill>
              </a:rPr>
              <a:t>c. Inconsistenţa</a:t>
            </a:r>
            <a:r>
              <a:rPr lang="ro-RO" sz="2800" dirty="0"/>
              <a:t>: argumente care au premise contradictorii şi care pot avea orice concluzie (falsul implică orice).</a:t>
            </a:r>
            <a:endParaRPr lang="en-US" sz="2800" dirty="0"/>
          </a:p>
          <a:p>
            <a:r>
              <a:rPr lang="ro-RO" sz="2800" dirty="0"/>
              <a:t>Ex.: Un profesor scoate de la oră un elev pentru că este prea activ şi un altul pentru că este inactiv</a:t>
            </a:r>
            <a:r>
              <a:rPr lang="ro-RO" sz="2800" dirty="0" smtClean="0"/>
              <a:t>.</a:t>
            </a:r>
            <a:endParaRPr lang="en-US" sz="2800" dirty="0"/>
          </a:p>
        </p:txBody>
      </p:sp>
    </p:spTree>
    <p:extLst>
      <p:ext uri="{BB962C8B-B14F-4D97-AF65-F5344CB8AC3E}">
        <p14:creationId xmlns:p14="http://schemas.microsoft.com/office/powerpoint/2010/main" val="8370444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99236" y="382582"/>
            <a:ext cx="4532844" cy="366737"/>
          </a:xfrm>
          <a:prstGeom prst="rect">
            <a:avLst/>
          </a:prstGeom>
        </p:spPr>
        <p:txBody>
          <a:bodyPr vert="horz" wrap="square" lIns="0" tIns="12670" rIns="0" bIns="0" rtlCol="0">
            <a:spAutoFit/>
          </a:bodyPr>
          <a:lstStyle/>
          <a:p>
            <a:pPr marL="11518">
              <a:spcBef>
                <a:spcPts val="100"/>
              </a:spcBef>
            </a:pPr>
            <a:r>
              <a:rPr sz="2300" u="heavy" spc="109" dirty="0" err="1" smtClean="0">
                <a:uFill>
                  <a:solidFill>
                    <a:srgbClr val="000000"/>
                  </a:solidFill>
                </a:uFill>
              </a:rPr>
              <a:t>Inconsistenta</a:t>
            </a:r>
            <a:endParaRPr sz="2300" dirty="0"/>
          </a:p>
        </p:txBody>
      </p:sp>
      <p:sp>
        <p:nvSpPr>
          <p:cNvPr id="3" name="object 3"/>
          <p:cNvSpPr txBox="1"/>
          <p:nvPr/>
        </p:nvSpPr>
        <p:spPr>
          <a:xfrm>
            <a:off x="799236" y="1203551"/>
            <a:ext cx="7927871" cy="4142463"/>
          </a:xfrm>
          <a:prstGeom prst="rect">
            <a:avLst/>
          </a:prstGeom>
        </p:spPr>
        <p:txBody>
          <a:bodyPr vert="horz" wrap="square" lIns="0" tIns="122677" rIns="0" bIns="0" rtlCol="0">
            <a:spAutoFit/>
          </a:bodyPr>
          <a:lstStyle/>
          <a:p>
            <a:pPr marL="11518" algn="just">
              <a:spcBef>
                <a:spcPts val="966"/>
              </a:spcBef>
            </a:pPr>
            <a:r>
              <a:rPr sz="2300" spc="23" dirty="0">
                <a:latin typeface="Arial Narrow"/>
                <a:cs typeface="Arial Narrow"/>
              </a:rPr>
              <a:t>Argumentarea </a:t>
            </a:r>
            <a:r>
              <a:rPr sz="2300" spc="-27" dirty="0">
                <a:latin typeface="Arial Narrow"/>
                <a:cs typeface="Arial Narrow"/>
              </a:rPr>
              <a:t>duce </a:t>
            </a:r>
            <a:r>
              <a:rPr sz="2300" spc="50" dirty="0">
                <a:latin typeface="Arial Narrow"/>
                <a:cs typeface="Arial Narrow"/>
              </a:rPr>
              <a:t>la </a:t>
            </a:r>
            <a:r>
              <a:rPr sz="2300" spc="18" dirty="0">
                <a:latin typeface="Arial Narrow"/>
                <a:cs typeface="Arial Narrow"/>
              </a:rPr>
              <a:t>o</a:t>
            </a:r>
            <a:r>
              <a:rPr sz="2300" spc="-336" dirty="0">
                <a:latin typeface="Arial Narrow"/>
                <a:cs typeface="Arial Narrow"/>
              </a:rPr>
              <a:t> </a:t>
            </a:r>
            <a:r>
              <a:rPr sz="2300" spc="41" dirty="0">
                <a:latin typeface="Arial Narrow"/>
                <a:cs typeface="Arial Narrow"/>
              </a:rPr>
              <a:t>contradictie:</a:t>
            </a:r>
            <a:endParaRPr sz="2300">
              <a:latin typeface="Arial Narrow"/>
              <a:cs typeface="Arial Narrow"/>
            </a:endParaRPr>
          </a:p>
          <a:p>
            <a:pPr marL="11518" marR="24190" algn="just">
              <a:lnSpc>
                <a:spcPts val="2622"/>
              </a:lnSpc>
              <a:spcBef>
                <a:spcPts val="1098"/>
              </a:spcBef>
            </a:pPr>
            <a:r>
              <a:rPr sz="2300" spc="77" dirty="0">
                <a:latin typeface="Arial Narrow"/>
                <a:cs typeface="Arial Narrow"/>
              </a:rPr>
              <a:t>“Un</a:t>
            </a:r>
            <a:r>
              <a:rPr sz="2300" spc="-73" dirty="0">
                <a:latin typeface="Arial Narrow"/>
                <a:cs typeface="Arial Narrow"/>
              </a:rPr>
              <a:t> </a:t>
            </a:r>
            <a:r>
              <a:rPr sz="2300" spc="45" dirty="0">
                <a:latin typeface="Arial Narrow"/>
                <a:cs typeface="Arial Narrow"/>
              </a:rPr>
              <a:t>singur</a:t>
            </a:r>
            <a:r>
              <a:rPr sz="2300" spc="-77" dirty="0">
                <a:latin typeface="Arial Narrow"/>
                <a:cs typeface="Arial Narrow"/>
              </a:rPr>
              <a:t> </a:t>
            </a:r>
            <a:r>
              <a:rPr sz="2300" spc="50" dirty="0">
                <a:latin typeface="Arial Narrow"/>
                <a:cs typeface="Arial Narrow"/>
              </a:rPr>
              <a:t>lucru</a:t>
            </a:r>
            <a:r>
              <a:rPr sz="2300" spc="-63" dirty="0">
                <a:latin typeface="Arial Narrow"/>
                <a:cs typeface="Arial Narrow"/>
              </a:rPr>
              <a:t> </a:t>
            </a:r>
            <a:r>
              <a:rPr sz="2300" spc="145" dirty="0">
                <a:latin typeface="Arial Narrow"/>
                <a:cs typeface="Arial Narrow"/>
              </a:rPr>
              <a:t>tot</a:t>
            </a:r>
            <a:r>
              <a:rPr sz="2300" spc="-73" dirty="0">
                <a:latin typeface="Arial Narrow"/>
                <a:cs typeface="Arial Narrow"/>
              </a:rPr>
              <a:t> </a:t>
            </a:r>
            <a:r>
              <a:rPr sz="2300" spc="50" dirty="0">
                <a:latin typeface="Arial Narrow"/>
                <a:cs typeface="Arial Narrow"/>
              </a:rPr>
              <a:t>stim:</a:t>
            </a:r>
            <a:r>
              <a:rPr sz="2300" spc="-68" dirty="0">
                <a:latin typeface="Arial Narrow"/>
                <a:cs typeface="Arial Narrow"/>
              </a:rPr>
              <a:t> </a:t>
            </a:r>
            <a:r>
              <a:rPr sz="2300" spc="-91" dirty="0">
                <a:latin typeface="Arial Narrow"/>
                <a:cs typeface="Arial Narrow"/>
              </a:rPr>
              <a:t>ca</a:t>
            </a:r>
            <a:r>
              <a:rPr sz="2300" spc="-63" dirty="0">
                <a:latin typeface="Arial Narrow"/>
                <a:cs typeface="Arial Narrow"/>
              </a:rPr>
              <a:t> </a:t>
            </a:r>
            <a:r>
              <a:rPr sz="2300" spc="50" dirty="0">
                <a:latin typeface="Arial Narrow"/>
                <a:cs typeface="Arial Narrow"/>
              </a:rPr>
              <a:t>nimic</a:t>
            </a:r>
            <a:r>
              <a:rPr sz="2300" spc="-68" dirty="0">
                <a:latin typeface="Arial Narrow"/>
                <a:cs typeface="Arial Narrow"/>
              </a:rPr>
              <a:t> </a:t>
            </a:r>
            <a:r>
              <a:rPr sz="2300" spc="54" dirty="0">
                <a:latin typeface="Arial Narrow"/>
                <a:cs typeface="Arial Narrow"/>
              </a:rPr>
              <a:t>nu</a:t>
            </a:r>
            <a:r>
              <a:rPr sz="2300" spc="-68" dirty="0">
                <a:latin typeface="Arial Narrow"/>
                <a:cs typeface="Arial Narrow"/>
              </a:rPr>
              <a:t> </a:t>
            </a:r>
            <a:r>
              <a:rPr sz="2300" spc="-14" dirty="0">
                <a:latin typeface="Arial Narrow"/>
                <a:cs typeface="Arial Narrow"/>
              </a:rPr>
              <a:t>este</a:t>
            </a:r>
            <a:r>
              <a:rPr sz="2300" spc="-68" dirty="0">
                <a:latin typeface="Arial Narrow"/>
                <a:cs typeface="Arial Narrow"/>
              </a:rPr>
              <a:t> </a:t>
            </a:r>
            <a:r>
              <a:rPr sz="2300" spc="73" dirty="0">
                <a:latin typeface="Arial Narrow"/>
                <a:cs typeface="Arial Narrow"/>
              </a:rPr>
              <a:t>pur</a:t>
            </a:r>
            <a:r>
              <a:rPr sz="2300" spc="-68" dirty="0">
                <a:latin typeface="Arial Narrow"/>
                <a:cs typeface="Arial Narrow"/>
              </a:rPr>
              <a:t> </a:t>
            </a:r>
            <a:r>
              <a:rPr sz="2300" spc="-14" dirty="0">
                <a:latin typeface="Arial Narrow"/>
                <a:cs typeface="Arial Narrow"/>
              </a:rPr>
              <a:t>si</a:t>
            </a:r>
            <a:r>
              <a:rPr sz="2300" spc="-68" dirty="0">
                <a:latin typeface="Arial Narrow"/>
                <a:cs typeface="Arial Narrow"/>
              </a:rPr>
              <a:t> </a:t>
            </a:r>
            <a:r>
              <a:rPr sz="2300" spc="41" dirty="0">
                <a:latin typeface="Arial Narrow"/>
                <a:cs typeface="Arial Narrow"/>
              </a:rPr>
              <a:t>simplu</a:t>
            </a:r>
            <a:r>
              <a:rPr sz="2300" spc="-63" dirty="0">
                <a:latin typeface="Arial Narrow"/>
                <a:cs typeface="Arial Narrow"/>
              </a:rPr>
              <a:t> </a:t>
            </a:r>
            <a:r>
              <a:rPr sz="2300" spc="9" dirty="0">
                <a:latin typeface="Arial Narrow"/>
                <a:cs typeface="Arial Narrow"/>
              </a:rPr>
              <a:t>adevarat</a:t>
            </a:r>
            <a:r>
              <a:rPr sz="2300" spc="-63" dirty="0">
                <a:latin typeface="Arial Narrow"/>
                <a:cs typeface="Arial Narrow"/>
              </a:rPr>
              <a:t> </a:t>
            </a:r>
            <a:r>
              <a:rPr sz="2300" spc="-50" dirty="0">
                <a:latin typeface="Arial Narrow"/>
                <a:cs typeface="Arial Narrow"/>
              </a:rPr>
              <a:t>sau</a:t>
            </a:r>
            <a:r>
              <a:rPr sz="2300" spc="-68" dirty="0">
                <a:latin typeface="Arial Narrow"/>
                <a:cs typeface="Arial Narrow"/>
              </a:rPr>
              <a:t> </a:t>
            </a:r>
            <a:r>
              <a:rPr sz="2300" spc="73" dirty="0">
                <a:latin typeface="Arial Narrow"/>
                <a:cs typeface="Arial Narrow"/>
              </a:rPr>
              <a:t>pur  </a:t>
            </a:r>
            <a:r>
              <a:rPr sz="2300" spc="-9" dirty="0">
                <a:latin typeface="Arial Narrow"/>
                <a:cs typeface="Arial Narrow"/>
              </a:rPr>
              <a:t>si</a:t>
            </a:r>
            <a:r>
              <a:rPr sz="2300" spc="-68" dirty="0">
                <a:latin typeface="Arial Narrow"/>
                <a:cs typeface="Arial Narrow"/>
              </a:rPr>
              <a:t> </a:t>
            </a:r>
            <a:r>
              <a:rPr sz="2300" spc="41" dirty="0">
                <a:latin typeface="Arial Narrow"/>
                <a:cs typeface="Arial Narrow"/>
              </a:rPr>
              <a:t>simplu</a:t>
            </a:r>
            <a:r>
              <a:rPr sz="2300" spc="-68" dirty="0">
                <a:latin typeface="Arial Narrow"/>
                <a:cs typeface="Arial Narrow"/>
              </a:rPr>
              <a:t> </a:t>
            </a:r>
            <a:r>
              <a:rPr sz="2300" spc="45" dirty="0">
                <a:latin typeface="Arial Narrow"/>
                <a:cs typeface="Arial Narrow"/>
              </a:rPr>
              <a:t>fals.”(...</a:t>
            </a:r>
            <a:r>
              <a:rPr sz="2300" spc="-68" dirty="0">
                <a:latin typeface="Arial Narrow"/>
                <a:cs typeface="Arial Narrow"/>
              </a:rPr>
              <a:t> </a:t>
            </a:r>
            <a:r>
              <a:rPr sz="2300" spc="59" dirty="0">
                <a:latin typeface="Arial Narrow"/>
                <a:cs typeface="Arial Narrow"/>
              </a:rPr>
              <a:t>stim</a:t>
            </a:r>
            <a:r>
              <a:rPr sz="2300" spc="-77" dirty="0">
                <a:latin typeface="Arial Narrow"/>
                <a:cs typeface="Arial Narrow"/>
              </a:rPr>
              <a:t> </a:t>
            </a:r>
            <a:r>
              <a:rPr sz="2300" spc="-91" dirty="0">
                <a:latin typeface="Arial Narrow"/>
                <a:cs typeface="Arial Narrow"/>
              </a:rPr>
              <a:t>ca</a:t>
            </a:r>
            <a:r>
              <a:rPr sz="2300" spc="-63" dirty="0">
                <a:latin typeface="Arial Narrow"/>
                <a:cs typeface="Arial Narrow"/>
              </a:rPr>
              <a:t> </a:t>
            </a:r>
            <a:r>
              <a:rPr sz="2300" spc="-14" dirty="0">
                <a:latin typeface="Arial Narrow"/>
                <a:cs typeface="Arial Narrow"/>
              </a:rPr>
              <a:t>este</a:t>
            </a:r>
            <a:r>
              <a:rPr sz="2300" spc="-82" dirty="0">
                <a:latin typeface="Arial Narrow"/>
                <a:cs typeface="Arial Narrow"/>
              </a:rPr>
              <a:t> </a:t>
            </a:r>
            <a:r>
              <a:rPr sz="2300" spc="-14" dirty="0">
                <a:latin typeface="Arial Narrow"/>
                <a:cs typeface="Arial Narrow"/>
              </a:rPr>
              <a:t>este</a:t>
            </a:r>
            <a:r>
              <a:rPr sz="2300" spc="-73" dirty="0">
                <a:latin typeface="Arial Narrow"/>
                <a:cs typeface="Arial Narrow"/>
              </a:rPr>
              <a:t> </a:t>
            </a:r>
            <a:r>
              <a:rPr sz="2300" spc="63" dirty="0">
                <a:latin typeface="Arial Narrow"/>
                <a:cs typeface="Arial Narrow"/>
              </a:rPr>
              <a:t>un</a:t>
            </a:r>
            <a:r>
              <a:rPr sz="2300" spc="-73" dirty="0">
                <a:latin typeface="Arial Narrow"/>
                <a:cs typeface="Arial Narrow"/>
              </a:rPr>
              <a:t> </a:t>
            </a:r>
            <a:r>
              <a:rPr sz="2300" spc="50" dirty="0">
                <a:latin typeface="Arial Narrow"/>
                <a:cs typeface="Arial Narrow"/>
              </a:rPr>
              <a:t>argument</a:t>
            </a:r>
            <a:r>
              <a:rPr sz="2300" spc="-73" dirty="0">
                <a:latin typeface="Arial Narrow"/>
                <a:cs typeface="Arial Narrow"/>
              </a:rPr>
              <a:t> </a:t>
            </a:r>
            <a:r>
              <a:rPr sz="2300" spc="32" dirty="0">
                <a:latin typeface="Arial Narrow"/>
                <a:cs typeface="Arial Narrow"/>
              </a:rPr>
              <a:t>inconsistent)</a:t>
            </a:r>
            <a:endParaRPr sz="2300">
              <a:latin typeface="Arial Narrow"/>
              <a:cs typeface="Arial Narrow"/>
            </a:endParaRPr>
          </a:p>
          <a:p>
            <a:pPr marL="11518" marR="4607" algn="just">
              <a:lnSpc>
                <a:spcPct val="94600"/>
              </a:lnSpc>
              <a:spcBef>
                <a:spcPts val="966"/>
              </a:spcBef>
            </a:pPr>
            <a:r>
              <a:rPr sz="2300" dirty="0">
                <a:latin typeface="Arial Narrow"/>
                <a:cs typeface="Arial Narrow"/>
              </a:rPr>
              <a:t>“Daca </a:t>
            </a:r>
            <a:r>
              <a:rPr sz="2300" spc="59" dirty="0">
                <a:latin typeface="Arial Narrow"/>
                <a:cs typeface="Arial Narrow"/>
              </a:rPr>
              <a:t>moralitatea </a:t>
            </a:r>
            <a:r>
              <a:rPr sz="2300" spc="-14" dirty="0">
                <a:latin typeface="Arial Narrow"/>
                <a:cs typeface="Arial Narrow"/>
              </a:rPr>
              <a:t>este </a:t>
            </a:r>
            <a:r>
              <a:rPr sz="2300" spc="45" dirty="0">
                <a:latin typeface="Arial Narrow"/>
                <a:cs typeface="Arial Narrow"/>
              </a:rPr>
              <a:t>relativa, </a:t>
            </a:r>
            <a:r>
              <a:rPr sz="2300" spc="-23" dirty="0">
                <a:latin typeface="Arial Narrow"/>
                <a:cs typeface="Arial Narrow"/>
              </a:rPr>
              <a:t>deoarce </a:t>
            </a:r>
            <a:r>
              <a:rPr sz="2300" spc="-14" dirty="0">
                <a:latin typeface="Arial Narrow"/>
                <a:cs typeface="Arial Narrow"/>
              </a:rPr>
              <a:t>este </a:t>
            </a:r>
            <a:r>
              <a:rPr sz="2300" spc="14" dirty="0">
                <a:latin typeface="Arial Narrow"/>
                <a:cs typeface="Arial Narrow"/>
              </a:rPr>
              <a:t>vorba </a:t>
            </a:r>
            <a:r>
              <a:rPr sz="2300" spc="32" dirty="0">
                <a:latin typeface="Arial Narrow"/>
                <a:cs typeface="Arial Narrow"/>
              </a:rPr>
              <a:t>doar </a:t>
            </a:r>
            <a:r>
              <a:rPr sz="2300" spc="-9" dirty="0">
                <a:latin typeface="Arial Narrow"/>
                <a:cs typeface="Arial Narrow"/>
              </a:rPr>
              <a:t>de </a:t>
            </a:r>
            <a:r>
              <a:rPr sz="2300" spc="77" dirty="0">
                <a:latin typeface="Arial Narrow"/>
                <a:cs typeface="Arial Narrow"/>
              </a:rPr>
              <a:t>opiniile  </a:t>
            </a:r>
            <a:r>
              <a:rPr sz="2300" spc="36" dirty="0">
                <a:latin typeface="Arial Narrow"/>
                <a:cs typeface="Arial Narrow"/>
              </a:rPr>
              <a:t>fiecaruia, </a:t>
            </a:r>
            <a:r>
              <a:rPr sz="2300" spc="50" dirty="0">
                <a:latin typeface="Arial Narrow"/>
                <a:cs typeface="Arial Narrow"/>
              </a:rPr>
              <a:t>atunci </a:t>
            </a:r>
            <a:r>
              <a:rPr sz="2300" spc="41" dirty="0">
                <a:latin typeface="Arial Narrow"/>
                <a:cs typeface="Arial Narrow"/>
              </a:rPr>
              <a:t>niciodata </a:t>
            </a:r>
            <a:r>
              <a:rPr sz="2300" spc="54" dirty="0">
                <a:latin typeface="Arial Narrow"/>
                <a:cs typeface="Arial Narrow"/>
              </a:rPr>
              <a:t>nu </a:t>
            </a:r>
            <a:r>
              <a:rPr sz="2300" spc="63" dirty="0">
                <a:latin typeface="Arial Narrow"/>
                <a:cs typeface="Arial Narrow"/>
              </a:rPr>
              <a:t>trebuie </a:t>
            </a:r>
            <a:r>
              <a:rPr sz="2300" spc="-103" dirty="0">
                <a:latin typeface="Arial Narrow"/>
                <a:cs typeface="Arial Narrow"/>
              </a:rPr>
              <a:t>sa </a:t>
            </a:r>
            <a:r>
              <a:rPr sz="2300" spc="45" dirty="0">
                <a:latin typeface="Arial Narrow"/>
                <a:cs typeface="Arial Narrow"/>
              </a:rPr>
              <a:t>impunem </a:t>
            </a:r>
            <a:r>
              <a:rPr sz="2300" spc="-5" dirty="0">
                <a:latin typeface="Arial Narrow"/>
                <a:cs typeface="Arial Narrow"/>
              </a:rPr>
              <a:t>cuiva </a:t>
            </a:r>
            <a:r>
              <a:rPr sz="2300" spc="59" dirty="0">
                <a:latin typeface="Arial Narrow"/>
                <a:cs typeface="Arial Narrow"/>
              </a:rPr>
              <a:t>anumite </a:t>
            </a:r>
            <a:r>
              <a:rPr sz="2300" spc="54" dirty="0">
                <a:latin typeface="Arial Narrow"/>
                <a:cs typeface="Arial Narrow"/>
              </a:rPr>
              <a:t>valori  </a:t>
            </a:r>
            <a:r>
              <a:rPr sz="2300" spc="-50" dirty="0">
                <a:latin typeface="Arial Narrow"/>
                <a:cs typeface="Arial Narrow"/>
              </a:rPr>
              <a:t>sau</a:t>
            </a:r>
            <a:r>
              <a:rPr sz="2300" spc="-68" dirty="0">
                <a:latin typeface="Arial Narrow"/>
                <a:cs typeface="Arial Narrow"/>
              </a:rPr>
              <a:t> </a:t>
            </a:r>
            <a:r>
              <a:rPr sz="2300" spc="73" dirty="0">
                <a:latin typeface="Arial Narrow"/>
                <a:cs typeface="Arial Narrow"/>
              </a:rPr>
              <a:t>principii</a:t>
            </a:r>
            <a:r>
              <a:rPr sz="2300" spc="-68" dirty="0">
                <a:latin typeface="Arial Narrow"/>
                <a:cs typeface="Arial Narrow"/>
              </a:rPr>
              <a:t> </a:t>
            </a:r>
            <a:r>
              <a:rPr sz="2300" spc="59" dirty="0">
                <a:latin typeface="Arial Narrow"/>
                <a:cs typeface="Arial Narrow"/>
              </a:rPr>
              <a:t>morale.”</a:t>
            </a:r>
            <a:r>
              <a:rPr sz="2300" spc="-59" dirty="0">
                <a:latin typeface="Arial Narrow"/>
                <a:cs typeface="Arial Narrow"/>
              </a:rPr>
              <a:t> </a:t>
            </a:r>
            <a:r>
              <a:rPr sz="2300" spc="5" dirty="0">
                <a:latin typeface="Arial Narrow"/>
                <a:cs typeface="Arial Narrow"/>
              </a:rPr>
              <a:t>(deci</a:t>
            </a:r>
            <a:r>
              <a:rPr sz="2300" spc="-77" dirty="0">
                <a:latin typeface="Arial Narrow"/>
                <a:cs typeface="Arial Narrow"/>
              </a:rPr>
              <a:t> </a:t>
            </a:r>
            <a:r>
              <a:rPr sz="2300" spc="36" dirty="0">
                <a:latin typeface="Arial Narrow"/>
                <a:cs typeface="Arial Narrow"/>
              </a:rPr>
              <a:t>esti</a:t>
            </a:r>
            <a:r>
              <a:rPr sz="2300" spc="-63" dirty="0">
                <a:latin typeface="Arial Narrow"/>
                <a:cs typeface="Arial Narrow"/>
              </a:rPr>
              <a:t> </a:t>
            </a:r>
            <a:r>
              <a:rPr sz="2300" spc="50" dirty="0">
                <a:latin typeface="Arial Narrow"/>
                <a:cs typeface="Arial Narrow"/>
              </a:rPr>
              <a:t>relativi-absolutist</a:t>
            </a:r>
            <a:r>
              <a:rPr sz="2300" spc="-73" dirty="0">
                <a:latin typeface="Arial Narrow"/>
                <a:cs typeface="Arial Narrow"/>
              </a:rPr>
              <a:t> </a:t>
            </a:r>
            <a:r>
              <a:rPr sz="2300" spc="9" dirty="0">
                <a:latin typeface="Arial Narrow"/>
                <a:cs typeface="Arial Narrow"/>
              </a:rPr>
              <a:t>moral?!)</a:t>
            </a:r>
            <a:endParaRPr sz="2300">
              <a:latin typeface="Arial Narrow"/>
              <a:cs typeface="Arial Narrow"/>
            </a:endParaRPr>
          </a:p>
          <a:p>
            <a:pPr marL="11518" marR="393949">
              <a:lnSpc>
                <a:spcPts val="2631"/>
              </a:lnSpc>
              <a:spcBef>
                <a:spcPts val="1079"/>
              </a:spcBef>
            </a:pPr>
            <a:r>
              <a:rPr sz="2300" spc="-5" dirty="0">
                <a:latin typeface="Arial Narrow"/>
                <a:cs typeface="Arial Narrow"/>
              </a:rPr>
              <a:t>“Aceasta</a:t>
            </a:r>
            <a:r>
              <a:rPr sz="2300" spc="-68" dirty="0">
                <a:latin typeface="Arial Narrow"/>
                <a:cs typeface="Arial Narrow"/>
              </a:rPr>
              <a:t> </a:t>
            </a:r>
            <a:r>
              <a:rPr sz="2300" spc="-14" dirty="0">
                <a:latin typeface="Arial Narrow"/>
                <a:cs typeface="Arial Narrow"/>
              </a:rPr>
              <a:t>este</a:t>
            </a:r>
            <a:r>
              <a:rPr sz="2300" spc="-73" dirty="0">
                <a:latin typeface="Arial Narrow"/>
                <a:cs typeface="Arial Narrow"/>
              </a:rPr>
              <a:t> </a:t>
            </a:r>
            <a:r>
              <a:rPr sz="2300" dirty="0">
                <a:latin typeface="Arial Narrow"/>
                <a:cs typeface="Arial Narrow"/>
              </a:rPr>
              <a:t>exceptia</a:t>
            </a:r>
            <a:r>
              <a:rPr sz="2300" spc="-63" dirty="0">
                <a:latin typeface="Arial Narrow"/>
                <a:cs typeface="Arial Narrow"/>
              </a:rPr>
              <a:t> </a:t>
            </a:r>
            <a:r>
              <a:rPr sz="2300" spc="-32" dirty="0">
                <a:latin typeface="Arial Narrow"/>
                <a:cs typeface="Arial Narrow"/>
              </a:rPr>
              <a:t>care</a:t>
            </a:r>
            <a:r>
              <a:rPr sz="2300" spc="-73" dirty="0">
                <a:latin typeface="Arial Narrow"/>
                <a:cs typeface="Arial Narrow"/>
              </a:rPr>
              <a:t> </a:t>
            </a:r>
            <a:r>
              <a:rPr sz="2300" spc="45" dirty="0">
                <a:latin typeface="Arial Narrow"/>
                <a:cs typeface="Arial Narrow"/>
              </a:rPr>
              <a:t>intareste</a:t>
            </a:r>
            <a:r>
              <a:rPr sz="2300" spc="-68" dirty="0">
                <a:latin typeface="Arial Narrow"/>
                <a:cs typeface="Arial Narrow"/>
              </a:rPr>
              <a:t> </a:t>
            </a:r>
            <a:r>
              <a:rPr sz="2300" spc="73" dirty="0">
                <a:latin typeface="Arial Narrow"/>
                <a:cs typeface="Arial Narrow"/>
              </a:rPr>
              <a:t>regula!”</a:t>
            </a:r>
            <a:r>
              <a:rPr sz="2300" spc="-68" dirty="0">
                <a:latin typeface="Arial Narrow"/>
                <a:cs typeface="Arial Narrow"/>
              </a:rPr>
              <a:t> Sau:</a:t>
            </a:r>
            <a:r>
              <a:rPr sz="2300" spc="-63" dirty="0">
                <a:latin typeface="Arial Narrow"/>
                <a:cs typeface="Arial Narrow"/>
              </a:rPr>
              <a:t> </a:t>
            </a:r>
            <a:r>
              <a:rPr sz="2300" spc="59" dirty="0">
                <a:latin typeface="Arial Narrow"/>
                <a:cs typeface="Arial Narrow"/>
              </a:rPr>
              <a:t>“confirma</a:t>
            </a:r>
            <a:r>
              <a:rPr sz="2300" spc="-68" dirty="0">
                <a:latin typeface="Arial Narrow"/>
                <a:cs typeface="Arial Narrow"/>
              </a:rPr>
              <a:t> </a:t>
            </a:r>
            <a:r>
              <a:rPr sz="2300" spc="63" dirty="0">
                <a:latin typeface="Arial Narrow"/>
                <a:cs typeface="Arial Narrow"/>
              </a:rPr>
              <a:t>regula.”  (pur </a:t>
            </a:r>
            <a:r>
              <a:rPr sz="2300" spc="-9" dirty="0">
                <a:latin typeface="Arial Narrow"/>
                <a:cs typeface="Arial Narrow"/>
              </a:rPr>
              <a:t>si </a:t>
            </a:r>
            <a:r>
              <a:rPr sz="2300" spc="41" dirty="0">
                <a:latin typeface="Arial Narrow"/>
                <a:cs typeface="Arial Narrow"/>
              </a:rPr>
              <a:t>simplu</a:t>
            </a:r>
            <a:r>
              <a:rPr sz="2300" spc="-272" dirty="0">
                <a:latin typeface="Arial Narrow"/>
                <a:cs typeface="Arial Narrow"/>
              </a:rPr>
              <a:t> </a:t>
            </a:r>
            <a:r>
              <a:rPr sz="2300" spc="-27" dirty="0">
                <a:latin typeface="Arial Narrow"/>
                <a:cs typeface="Arial Narrow"/>
              </a:rPr>
              <a:t>non-sens)</a:t>
            </a:r>
            <a:endParaRPr sz="2300">
              <a:latin typeface="Arial Narrow"/>
              <a:cs typeface="Arial Narrow"/>
            </a:endParaRPr>
          </a:p>
          <a:p>
            <a:pPr marL="11518">
              <a:spcBef>
                <a:spcPts val="815"/>
              </a:spcBef>
            </a:pPr>
            <a:r>
              <a:rPr sz="2300" spc="103" dirty="0">
                <a:latin typeface="Arial Narrow"/>
                <a:cs typeface="Arial Narrow"/>
              </a:rPr>
              <a:t>“Nu</a:t>
            </a:r>
            <a:r>
              <a:rPr sz="2300" spc="-73" dirty="0">
                <a:latin typeface="Arial Narrow"/>
                <a:cs typeface="Arial Narrow"/>
              </a:rPr>
              <a:t> </a:t>
            </a:r>
            <a:r>
              <a:rPr sz="2300" spc="63" dirty="0">
                <a:latin typeface="Arial Narrow"/>
                <a:cs typeface="Arial Narrow"/>
              </a:rPr>
              <a:t>stiu</a:t>
            </a:r>
            <a:r>
              <a:rPr sz="2300" spc="-68" dirty="0">
                <a:latin typeface="Arial Narrow"/>
                <a:cs typeface="Arial Narrow"/>
              </a:rPr>
              <a:t> </a:t>
            </a:r>
            <a:r>
              <a:rPr sz="2300" dirty="0">
                <a:latin typeface="Arial Narrow"/>
                <a:cs typeface="Arial Narrow"/>
              </a:rPr>
              <a:t>deloc</a:t>
            </a:r>
            <a:r>
              <a:rPr sz="2300" spc="-63" dirty="0">
                <a:latin typeface="Arial Narrow"/>
                <a:cs typeface="Arial Narrow"/>
              </a:rPr>
              <a:t> </a:t>
            </a:r>
            <a:r>
              <a:rPr sz="2300" spc="59" dirty="0">
                <a:latin typeface="Arial Narrow"/>
                <a:cs typeface="Arial Narrow"/>
              </a:rPr>
              <a:t>limba</a:t>
            </a:r>
            <a:r>
              <a:rPr sz="2300" spc="-68" dirty="0">
                <a:latin typeface="Arial Narrow"/>
                <a:cs typeface="Arial Narrow"/>
              </a:rPr>
              <a:t> </a:t>
            </a:r>
            <a:r>
              <a:rPr sz="2300" spc="50" dirty="0">
                <a:latin typeface="Arial Narrow"/>
                <a:cs typeface="Arial Narrow"/>
              </a:rPr>
              <a:t>romana.”</a:t>
            </a:r>
            <a:r>
              <a:rPr sz="2300" spc="-63" dirty="0">
                <a:latin typeface="Arial Narrow"/>
                <a:cs typeface="Arial Narrow"/>
              </a:rPr>
              <a:t> </a:t>
            </a:r>
            <a:r>
              <a:rPr sz="2300" dirty="0">
                <a:latin typeface="Arial Narrow"/>
                <a:cs typeface="Arial Narrow"/>
              </a:rPr>
              <a:t>(ba</a:t>
            </a:r>
            <a:r>
              <a:rPr sz="2300" spc="-68" dirty="0">
                <a:latin typeface="Arial Narrow"/>
                <a:cs typeface="Arial Narrow"/>
              </a:rPr>
              <a:t> </a:t>
            </a:r>
            <a:r>
              <a:rPr sz="2300" spc="5" dirty="0">
                <a:latin typeface="Arial Narrow"/>
                <a:cs typeface="Arial Narrow"/>
              </a:rPr>
              <a:t>da.)</a:t>
            </a:r>
            <a:endParaRPr sz="2300">
              <a:latin typeface="Arial Narrow"/>
              <a:cs typeface="Arial Narrow"/>
            </a:endParaRPr>
          </a:p>
          <a:p>
            <a:pPr marL="11518">
              <a:spcBef>
                <a:spcPts val="871"/>
              </a:spcBef>
            </a:pPr>
            <a:r>
              <a:rPr sz="2300" spc="18" dirty="0">
                <a:latin typeface="Arial Narrow"/>
                <a:cs typeface="Arial Narrow"/>
              </a:rPr>
              <a:t>“Refuz</a:t>
            </a:r>
            <a:r>
              <a:rPr sz="2300" spc="-68" dirty="0">
                <a:latin typeface="Arial Narrow"/>
                <a:cs typeface="Arial Narrow"/>
              </a:rPr>
              <a:t> </a:t>
            </a:r>
            <a:r>
              <a:rPr sz="2300" spc="-103" dirty="0">
                <a:latin typeface="Arial Narrow"/>
                <a:cs typeface="Arial Narrow"/>
              </a:rPr>
              <a:t>sa</a:t>
            </a:r>
            <a:r>
              <a:rPr sz="2300" spc="-63" dirty="0">
                <a:latin typeface="Arial Narrow"/>
                <a:cs typeface="Arial Narrow"/>
              </a:rPr>
              <a:t> </a:t>
            </a:r>
            <a:r>
              <a:rPr sz="2300" spc="-9" dirty="0">
                <a:latin typeface="Arial Narrow"/>
                <a:cs typeface="Arial Narrow"/>
              </a:rPr>
              <a:t>comentez</a:t>
            </a:r>
            <a:r>
              <a:rPr sz="2300" spc="-63" dirty="0">
                <a:latin typeface="Arial Narrow"/>
                <a:cs typeface="Arial Narrow"/>
              </a:rPr>
              <a:t> </a:t>
            </a:r>
            <a:r>
              <a:rPr sz="2300" spc="18" dirty="0">
                <a:latin typeface="Arial Narrow"/>
                <a:cs typeface="Arial Narrow"/>
              </a:rPr>
              <a:t>o</a:t>
            </a:r>
            <a:r>
              <a:rPr sz="2300" spc="-68" dirty="0">
                <a:latin typeface="Arial Narrow"/>
                <a:cs typeface="Arial Narrow"/>
              </a:rPr>
              <a:t> </a:t>
            </a:r>
            <a:r>
              <a:rPr sz="2300" spc="63" dirty="0">
                <a:latin typeface="Arial Narrow"/>
                <a:cs typeface="Arial Narrow"/>
              </a:rPr>
              <a:t>fapta</a:t>
            </a:r>
            <a:r>
              <a:rPr sz="2300" spc="-59" dirty="0">
                <a:latin typeface="Arial Narrow"/>
                <a:cs typeface="Arial Narrow"/>
              </a:rPr>
              <a:t> </a:t>
            </a:r>
            <a:r>
              <a:rPr sz="2300" spc="86" dirty="0">
                <a:latin typeface="Arial Narrow"/>
                <a:cs typeface="Arial Narrow"/>
              </a:rPr>
              <a:t>atat</a:t>
            </a:r>
            <a:r>
              <a:rPr sz="2300" spc="-68" dirty="0">
                <a:latin typeface="Arial Narrow"/>
                <a:cs typeface="Arial Narrow"/>
              </a:rPr>
              <a:t> </a:t>
            </a:r>
            <a:r>
              <a:rPr sz="2300" spc="-5" dirty="0">
                <a:latin typeface="Arial Narrow"/>
                <a:cs typeface="Arial Narrow"/>
              </a:rPr>
              <a:t>de</a:t>
            </a:r>
            <a:r>
              <a:rPr sz="2300" spc="-77" dirty="0">
                <a:latin typeface="Arial Narrow"/>
                <a:cs typeface="Arial Narrow"/>
              </a:rPr>
              <a:t> </a:t>
            </a:r>
            <a:r>
              <a:rPr sz="2300" spc="36" dirty="0">
                <a:latin typeface="Arial Narrow"/>
                <a:cs typeface="Arial Narrow"/>
              </a:rPr>
              <a:t>josnica”</a:t>
            </a:r>
            <a:r>
              <a:rPr sz="2300" spc="-59" dirty="0">
                <a:latin typeface="Arial Narrow"/>
                <a:cs typeface="Arial Narrow"/>
              </a:rPr>
              <a:t> </a:t>
            </a:r>
            <a:r>
              <a:rPr sz="2300" spc="36" dirty="0">
                <a:latin typeface="Arial Narrow"/>
                <a:cs typeface="Arial Narrow"/>
              </a:rPr>
              <a:t>(well,</a:t>
            </a:r>
            <a:r>
              <a:rPr sz="2300" spc="-63" dirty="0">
                <a:latin typeface="Arial Narrow"/>
                <a:cs typeface="Arial Narrow"/>
              </a:rPr>
              <a:t> </a:t>
            </a:r>
            <a:r>
              <a:rPr sz="2300" spc="45" dirty="0">
                <a:latin typeface="Arial Narrow"/>
                <a:cs typeface="Arial Narrow"/>
              </a:rPr>
              <a:t>ai</a:t>
            </a:r>
            <a:r>
              <a:rPr sz="2300" spc="-59" dirty="0">
                <a:latin typeface="Arial Narrow"/>
                <a:cs typeface="Arial Narrow"/>
              </a:rPr>
              <a:t> </a:t>
            </a:r>
            <a:r>
              <a:rPr sz="2300" spc="23" dirty="0">
                <a:latin typeface="Arial Narrow"/>
                <a:cs typeface="Arial Narrow"/>
              </a:rPr>
              <a:t>comentat-o</a:t>
            </a:r>
            <a:r>
              <a:rPr sz="2300" spc="-68" dirty="0">
                <a:latin typeface="Arial Narrow"/>
                <a:cs typeface="Arial Narrow"/>
              </a:rPr>
              <a:t> </a:t>
            </a:r>
            <a:r>
              <a:rPr sz="2300" spc="14" dirty="0">
                <a:latin typeface="Arial Narrow"/>
                <a:cs typeface="Arial Narrow"/>
              </a:rPr>
              <a:t>deja...)</a:t>
            </a:r>
            <a:endParaRPr sz="2300">
              <a:latin typeface="Arial Narrow"/>
              <a:cs typeface="Arial Narrow"/>
            </a:endParaRPr>
          </a:p>
        </p:txBody>
      </p:sp>
    </p:spTree>
    <p:extLst>
      <p:ext uri="{BB962C8B-B14F-4D97-AF65-F5344CB8AC3E}">
        <p14:creationId xmlns:p14="http://schemas.microsoft.com/office/powerpoint/2010/main" val="37197012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6477000"/>
          </a:xfrm>
        </p:spPr>
        <p:txBody>
          <a:bodyPr>
            <a:normAutofit fontScale="47500" lnSpcReduction="20000"/>
          </a:bodyPr>
          <a:lstStyle/>
          <a:p>
            <a:pPr marL="0" indent="0">
              <a:buNone/>
            </a:pPr>
            <a:endParaRPr lang="en-US" dirty="0" smtClean="0"/>
          </a:p>
          <a:p>
            <a:r>
              <a:rPr lang="ro-RO" dirty="0" smtClean="0"/>
              <a:t>4.</a:t>
            </a:r>
            <a:r>
              <a:rPr lang="ro-RO" b="1" u="sng" dirty="0" smtClean="0"/>
              <a:t>De relevanţă:</a:t>
            </a:r>
            <a:r>
              <a:rPr lang="ro-RO" dirty="0" smtClean="0"/>
              <a:t> chiar dacă premisele sunt adevărate, nu sunt relevante. </a:t>
            </a:r>
            <a:endParaRPr lang="en-US" dirty="0" smtClean="0"/>
          </a:p>
          <a:p>
            <a:r>
              <a:rPr lang="ro-RO" u="sng" dirty="0" smtClean="0">
                <a:solidFill>
                  <a:srgbClr val="FF0000"/>
                </a:solidFill>
              </a:rPr>
              <a:t>a.Argumentum Ad Hominem</a:t>
            </a:r>
            <a:r>
              <a:rPr lang="ro-RO" u="sng" dirty="0" smtClean="0"/>
              <a:t>:</a:t>
            </a:r>
            <a:r>
              <a:rPr lang="ro-RO" dirty="0" smtClean="0"/>
              <a:t> este atacată persoana care prezintă argumentul, nu argumentul.</a:t>
            </a:r>
            <a:endParaRPr lang="en-US" dirty="0" smtClean="0"/>
          </a:p>
          <a:p>
            <a:r>
              <a:rPr lang="ro-RO" dirty="0" smtClean="0"/>
              <a:t>- argumentum ad hominem abuziv: când se atacă caracterul persoanei care susţine argumentul: Nu puteţi crede ce spune X deoarece suferă de depresie.</a:t>
            </a:r>
            <a:endParaRPr lang="en-US" dirty="0" smtClean="0"/>
          </a:p>
          <a:p>
            <a:r>
              <a:rPr lang="ro-RO" dirty="0" smtClean="0"/>
              <a:t>- argumentum ad hominem circumstanţial: se argumentează că împrejurările în care se află persoana o împiedică să fie obiectivă sau sinceră: Deoarece Y face parte din burghezie, nu poate fi crezut.</a:t>
            </a:r>
            <a:endParaRPr lang="en-US" dirty="0" smtClean="0"/>
          </a:p>
          <a:p>
            <a:r>
              <a:rPr lang="ro-RO" dirty="0" smtClean="0"/>
              <a:t>- argumentum ad hominem de tipul tu quoque (şi tu): se foloseşte când un argument ad hominem este utilizat pentru a respinge un alt ad hominem.</a:t>
            </a:r>
            <a:endParaRPr lang="en-US" dirty="0" smtClean="0"/>
          </a:p>
          <a:p>
            <a:r>
              <a:rPr lang="ro-RO" u="sng" dirty="0" smtClean="0">
                <a:solidFill>
                  <a:srgbClr val="FF0000"/>
                </a:solidFill>
              </a:rPr>
              <a:t>b. Argumentum Ad Ignoranţiam</a:t>
            </a:r>
            <a:r>
              <a:rPr lang="ro-RO" u="sng" dirty="0" smtClean="0"/>
              <a:t>:</a:t>
            </a:r>
            <a:r>
              <a:rPr lang="ro-RO" dirty="0" smtClean="0"/>
              <a:t> relativ la ignoranţă.</a:t>
            </a:r>
            <a:endParaRPr lang="en-US" dirty="0" smtClean="0"/>
          </a:p>
          <a:p>
            <a:r>
              <a:rPr lang="ro-RO" dirty="0" smtClean="0"/>
              <a:t>- o propoziţie este adevărată pentru că nimeni nu a dovedit că e falsă</a:t>
            </a:r>
            <a:endParaRPr lang="en-US" dirty="0" smtClean="0"/>
          </a:p>
          <a:p>
            <a:r>
              <a:rPr lang="ro-RO" dirty="0" smtClean="0"/>
              <a:t>- o propoziţie e falsă pentru că nimeni nu a dovedit că e adevărată.</a:t>
            </a:r>
            <a:endParaRPr lang="en-US" dirty="0" smtClean="0"/>
          </a:p>
          <a:p>
            <a:r>
              <a:rPr lang="ro-RO" dirty="0" smtClean="0"/>
              <a:t>Ex.: Există îngeri pentru că nimeni nu a dovedit contrariul.</a:t>
            </a:r>
            <a:endParaRPr lang="en-US" dirty="0" smtClean="0"/>
          </a:p>
          <a:p>
            <a:r>
              <a:rPr lang="ro-RO" u="sng" dirty="0" smtClean="0">
                <a:solidFill>
                  <a:srgbClr val="FF0000"/>
                </a:solidFill>
              </a:rPr>
              <a:t>c. Argumentum Ad Verecundiam</a:t>
            </a:r>
            <a:r>
              <a:rPr lang="ro-RO" dirty="0" smtClean="0"/>
              <a:t>: relativ la modestie/autoritate, utilizarea opiniilor şi argumentelor acelora consideraţi îndreptăţiti să judece şi evalueze dovezile.</a:t>
            </a:r>
            <a:endParaRPr lang="en-US" dirty="0" smtClean="0"/>
          </a:p>
          <a:p>
            <a:r>
              <a:rPr lang="ro-RO" dirty="0" smtClean="0"/>
              <a:t>Ex.:Mareele sunt produse de mişcarea Lunii în jurul Pământului, deoarece aşa a spus profesorul de geografie.</a:t>
            </a:r>
            <a:endParaRPr lang="en-US" dirty="0" smtClean="0"/>
          </a:p>
          <a:p>
            <a:r>
              <a:rPr lang="ro-RO" u="sng" dirty="0" smtClean="0">
                <a:solidFill>
                  <a:srgbClr val="FF0000"/>
                </a:solidFill>
              </a:rPr>
              <a:t>d. Argumentum Ad Populum</a:t>
            </a:r>
            <a:r>
              <a:rPr lang="ro-RO" dirty="0" smtClean="0"/>
              <a:t>: relativ la popor. Apelul la opiniile mulţimii.</a:t>
            </a:r>
            <a:endParaRPr lang="en-US" dirty="0" smtClean="0"/>
          </a:p>
          <a:p>
            <a:r>
              <a:rPr lang="ro-RO" dirty="0" smtClean="0"/>
              <a:t>Este introdus prin: omul simplu din popor, unul din mulţime, om obişnuit ca tine, toti ceilalţi.</a:t>
            </a:r>
            <a:endParaRPr lang="en-US" dirty="0" smtClean="0"/>
          </a:p>
          <a:p>
            <a:r>
              <a:rPr lang="ro-RO" dirty="0" smtClean="0"/>
              <a:t>Ex.: Votaţi-mă ca toţi ceilalţi. </a:t>
            </a:r>
            <a:endParaRPr lang="en-US" dirty="0" smtClean="0"/>
          </a:p>
          <a:p>
            <a:r>
              <a:rPr lang="ro-RO" u="sng" dirty="0" smtClean="0">
                <a:solidFill>
                  <a:srgbClr val="FF0000"/>
                </a:solidFill>
              </a:rPr>
              <a:t>e. Argumentum Ad Misericordiam</a:t>
            </a:r>
            <a:r>
              <a:rPr lang="ro-RO" dirty="0" smtClean="0"/>
              <a:t>: relativ la milă.</a:t>
            </a:r>
            <a:endParaRPr lang="en-US" dirty="0" smtClean="0"/>
          </a:p>
          <a:p>
            <a:r>
              <a:rPr lang="ro-RO" dirty="0" smtClean="0"/>
              <a:t>Ex.: Clientul meu, spune un avocat, trebuie absolvit de vină, deoarece este singurul părinte a doi copii sub 7 ani.</a:t>
            </a:r>
            <a:endParaRPr lang="en-US" dirty="0" smtClean="0"/>
          </a:p>
          <a:p>
            <a:r>
              <a:rPr lang="ro-RO" u="sng" dirty="0" smtClean="0">
                <a:solidFill>
                  <a:srgbClr val="FF0000"/>
                </a:solidFill>
              </a:rPr>
              <a:t>f. Argumentum Ad Baculum</a:t>
            </a:r>
            <a:r>
              <a:rPr lang="ro-RO" dirty="0" smtClean="0"/>
              <a:t>: argumentul bastonului. Apel la forţă sau la teamă. Argumentul apelează la frică şi intimidare.</a:t>
            </a:r>
            <a:endParaRPr lang="en-US" dirty="0" smtClean="0"/>
          </a:p>
          <a:p>
            <a:r>
              <a:rPr lang="ro-RO" dirty="0" smtClean="0"/>
              <a:t>Ex.: Nu are rost să porniţi un conflict cu ţara noastră, deoarece avem deja 20 de divizii la graniţă.</a:t>
            </a:r>
            <a:endParaRPr lang="en-US" dirty="0" smtClean="0"/>
          </a:p>
          <a:p>
            <a:r>
              <a:rPr lang="ro-RO" u="sng" dirty="0" smtClean="0">
                <a:solidFill>
                  <a:srgbClr val="FF0000"/>
                </a:solidFill>
              </a:rPr>
              <a:t>g. Ignoratio Elenchi</a:t>
            </a:r>
            <a:r>
              <a:rPr lang="ro-RO" dirty="0" smtClean="0"/>
              <a:t>: ignorarea tezei. Se ocoleşte chesiunea de demonstrat. În această clasă intră toate sofismele de relevanţă.</a:t>
            </a:r>
            <a:endParaRPr lang="en-US" dirty="0" smtClean="0"/>
          </a:p>
          <a:p>
            <a:endParaRPr lang="en-US" dirty="0"/>
          </a:p>
        </p:txBody>
      </p:sp>
    </p:spTree>
    <p:extLst>
      <p:ext uri="{BB962C8B-B14F-4D97-AF65-F5344CB8AC3E}">
        <p14:creationId xmlns:p14="http://schemas.microsoft.com/office/powerpoint/2010/main" val="285249112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6248400"/>
          </a:xfrm>
        </p:spPr>
        <p:txBody>
          <a:bodyPr>
            <a:normAutofit fontScale="55000" lnSpcReduction="20000"/>
          </a:bodyPr>
          <a:lstStyle/>
          <a:p>
            <a:r>
              <a:rPr lang="ro-RO" dirty="0"/>
              <a:t>5.</a:t>
            </a:r>
            <a:r>
              <a:rPr lang="ro-RO" b="1" u="sng" dirty="0"/>
              <a:t> Dovezilor insuficiente:</a:t>
            </a:r>
            <a:r>
              <a:rPr lang="ro-RO" dirty="0"/>
              <a:t> informaţiile furnizate de premise sunt insuficiente pentru stabilirea concluziei.</a:t>
            </a:r>
            <a:endParaRPr lang="en-US" dirty="0"/>
          </a:p>
          <a:p>
            <a:r>
              <a:rPr lang="ro-RO" u="sng" dirty="0">
                <a:solidFill>
                  <a:srgbClr val="FF0000"/>
                </a:solidFill>
              </a:rPr>
              <a:t>a. Generalizarea pripită</a:t>
            </a:r>
            <a:r>
              <a:rPr lang="ro-RO" i="1" u="sng" dirty="0">
                <a:solidFill>
                  <a:srgbClr val="FF0000"/>
                </a:solidFill>
              </a:rPr>
              <a:t>: </a:t>
            </a:r>
            <a:r>
              <a:rPr lang="ro-RO" dirty="0"/>
              <a:t>generalizarea asupra unei clase pe baza unor exemple care sunt fie insuficiente, fie nereprezentative</a:t>
            </a:r>
            <a:endParaRPr lang="en-US" dirty="0"/>
          </a:p>
          <a:p>
            <a:r>
              <a:rPr lang="ro-RO" dirty="0"/>
              <a:t>Ex.: Tinerii sunt fie neascultători, nesimţiti sau nepăsători.</a:t>
            </a:r>
            <a:endParaRPr lang="en-US" dirty="0"/>
          </a:p>
          <a:p>
            <a:r>
              <a:rPr lang="ro-RO" u="sng" dirty="0">
                <a:solidFill>
                  <a:srgbClr val="FF0000"/>
                </a:solidFill>
              </a:rPr>
              <a:t>b. Cauza falsă</a:t>
            </a:r>
            <a:r>
              <a:rPr lang="ro-RO" dirty="0">
                <a:solidFill>
                  <a:srgbClr val="FF0000"/>
                </a:solidFill>
              </a:rPr>
              <a:t>:</a:t>
            </a:r>
            <a:endParaRPr lang="en-US" dirty="0">
              <a:solidFill>
                <a:srgbClr val="FF0000"/>
              </a:solidFill>
            </a:endParaRPr>
          </a:p>
          <a:p>
            <a:r>
              <a:rPr lang="ro-RO" dirty="0"/>
              <a:t>- post hoc ergo propter hoc ( după aceasta, deci, din cauza aceasta): A este cauza lui B, deoarece A apare înaintea lui B: Deoarece după ce plouă sunt trist, înseamnă că ploaia îmi provoacă tristeţea.</a:t>
            </a:r>
            <a:endParaRPr lang="en-US" dirty="0"/>
          </a:p>
          <a:p>
            <a:r>
              <a:rPr lang="ro-RO" dirty="0"/>
              <a:t>- efecte comune: două fenomene care rezultă dintr-un al treilea, sunt considerate în relaţie de cauzalitate</a:t>
            </a:r>
            <a:endParaRPr lang="en-US" dirty="0"/>
          </a:p>
          <a:p>
            <a:r>
              <a:rPr lang="ro-RO" dirty="0"/>
              <a:t>- efecte reciproce: din faptul că A este cauza lui B decurge că B nu poate fi cauza lui A.</a:t>
            </a:r>
            <a:endParaRPr lang="en-US" dirty="0"/>
          </a:p>
          <a:p>
            <a:r>
              <a:rPr lang="ro-RO" dirty="0"/>
              <a:t>- confundarea cauzei şi a condiţiei</a:t>
            </a:r>
            <a:endParaRPr lang="en-US" dirty="0"/>
          </a:p>
          <a:p>
            <a:r>
              <a:rPr lang="ro-RO" dirty="0"/>
              <a:t>- confundarea cauzei şi efectului: Cauza lipsei de interes şcolar a elevului X este dată de notele proaste obţinute.</a:t>
            </a:r>
            <a:endParaRPr lang="en-US" dirty="0"/>
          </a:p>
          <a:p>
            <a:r>
              <a:rPr lang="ro-RO" u="sng" dirty="0">
                <a:solidFill>
                  <a:srgbClr val="FF0000"/>
                </a:solidFill>
              </a:rPr>
              <a:t>c. Analogia neconcludentă</a:t>
            </a:r>
            <a:endParaRPr lang="en-US" dirty="0">
              <a:solidFill>
                <a:srgbClr val="FF0000"/>
              </a:solidFill>
            </a:endParaRPr>
          </a:p>
          <a:p>
            <a:r>
              <a:rPr lang="ro-RO" dirty="0"/>
              <a:t>Ex.: Deoarece Mihai şi George au părul lung şi Mihai are nevoie de ochelari, rezultă că George are nevoie de ochelari</a:t>
            </a:r>
            <a:r>
              <a:rPr lang="ro-RO" dirty="0" smtClean="0"/>
              <a:t>.</a:t>
            </a:r>
          </a:p>
          <a:p>
            <a:r>
              <a:rPr lang="ro-RO" dirty="0" smtClean="0">
                <a:solidFill>
                  <a:srgbClr val="FF0000"/>
                </a:solidFill>
              </a:rPr>
              <a:t>d. Panta alunecoasă:</a:t>
            </a:r>
          </a:p>
          <a:p>
            <a:r>
              <a:rPr lang="ro-RO" dirty="0" smtClean="0"/>
              <a:t>Ex. Dacă lipsesc la seminar, voi rămâne în urmă cu materia. Dacă rămân în urmă cu materia, atunci nu voi promova examenul. Dacă nu promovez examenul, atunci nu voi obține diploma. Dacă nu obțin diploma, nu voi primi un loc de muncă. Dacă nu primesc un loc de muncă, voi ajunge în stradă. Prin urmare, dacă lipsesc de la seminar, voi ajunge în stradă. </a:t>
            </a:r>
            <a:endParaRPr lang="en-US" dirty="0"/>
          </a:p>
          <a:p>
            <a:endParaRPr lang="en-US" dirty="0"/>
          </a:p>
        </p:txBody>
      </p:sp>
    </p:spTree>
    <p:extLst>
      <p:ext uri="{BB962C8B-B14F-4D97-AF65-F5344CB8AC3E}">
        <p14:creationId xmlns:p14="http://schemas.microsoft.com/office/powerpoint/2010/main" val="15534471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991600" cy="6705600"/>
          </a:xfrm>
        </p:spPr>
        <p:txBody>
          <a:bodyPr>
            <a:normAutofit fontScale="47500" lnSpcReduction="20000"/>
          </a:bodyPr>
          <a:lstStyle/>
          <a:p>
            <a:pPr lvl="0"/>
            <a:r>
              <a:rPr lang="en-US" dirty="0"/>
              <a:t>.</a:t>
            </a:r>
            <a:r>
              <a:rPr lang="en-US" sz="3500" dirty="0" err="1"/>
              <a:t>Toţi</a:t>
            </a:r>
            <a:r>
              <a:rPr lang="en-US" sz="3500" dirty="0"/>
              <a:t> </a:t>
            </a:r>
            <a:r>
              <a:rPr lang="en-US" sz="3500" dirty="0" err="1"/>
              <a:t>îţi</a:t>
            </a:r>
            <a:r>
              <a:rPr lang="en-US" sz="3500" dirty="0"/>
              <a:t> </a:t>
            </a:r>
            <a:r>
              <a:rPr lang="en-US" sz="3500" dirty="0" err="1"/>
              <a:t>vor</a:t>
            </a:r>
            <a:r>
              <a:rPr lang="en-US" sz="3500" dirty="0"/>
              <a:t> </a:t>
            </a:r>
            <a:r>
              <a:rPr lang="en-US" sz="3500" dirty="0" err="1"/>
              <a:t>binele</a:t>
            </a:r>
            <a:r>
              <a:rPr lang="en-US" sz="3500" dirty="0"/>
              <a:t>. Nu-i </a:t>
            </a:r>
            <a:r>
              <a:rPr lang="en-US" sz="3500" dirty="0" err="1"/>
              <a:t>lăsa</a:t>
            </a:r>
            <a:r>
              <a:rPr lang="en-US" sz="3500" dirty="0"/>
              <a:t> </a:t>
            </a:r>
            <a:r>
              <a:rPr lang="en-US" sz="3500" dirty="0" err="1"/>
              <a:t>să</a:t>
            </a:r>
            <a:r>
              <a:rPr lang="en-US" sz="3500" dirty="0"/>
              <a:t> </a:t>
            </a:r>
            <a:r>
              <a:rPr lang="en-US" sz="3500" dirty="0" err="1"/>
              <a:t>ţi</a:t>
            </a:r>
            <a:r>
              <a:rPr lang="en-US" sz="3500" dirty="0"/>
              <a:t>-l </a:t>
            </a:r>
            <a:r>
              <a:rPr lang="en-US" sz="3500" dirty="0" err="1"/>
              <a:t>ia</a:t>
            </a:r>
            <a:r>
              <a:rPr lang="en-US" sz="3500" dirty="0"/>
              <a:t>!</a:t>
            </a:r>
          </a:p>
          <a:p>
            <a:pPr lvl="0"/>
            <a:r>
              <a:rPr lang="en-US" sz="3500" dirty="0" err="1" smtClean="0"/>
              <a:t>Nimeni</a:t>
            </a:r>
            <a:r>
              <a:rPr lang="en-US" sz="3500" dirty="0" smtClean="0"/>
              <a:t> </a:t>
            </a:r>
            <a:r>
              <a:rPr lang="en-US" sz="3500" dirty="0"/>
              <a:t>nu a </a:t>
            </a:r>
            <a:r>
              <a:rPr lang="en-US" sz="3500" dirty="0" err="1"/>
              <a:t>dovedit</a:t>
            </a:r>
            <a:r>
              <a:rPr lang="en-US" sz="3500" dirty="0"/>
              <a:t> </a:t>
            </a:r>
            <a:r>
              <a:rPr lang="en-US" sz="3500" dirty="0" err="1"/>
              <a:t>concludent</a:t>
            </a:r>
            <a:r>
              <a:rPr lang="en-US" sz="3500" dirty="0"/>
              <a:t> </a:t>
            </a:r>
            <a:r>
              <a:rPr lang="en-US" sz="3500" dirty="0" err="1"/>
              <a:t>că</a:t>
            </a:r>
            <a:r>
              <a:rPr lang="en-US" sz="3500" dirty="0"/>
              <a:t> nu </a:t>
            </a:r>
            <a:r>
              <a:rPr lang="en-US" sz="3500" dirty="0" err="1"/>
              <a:t>există</a:t>
            </a:r>
            <a:r>
              <a:rPr lang="en-US" sz="3500" dirty="0"/>
              <a:t> </a:t>
            </a:r>
            <a:r>
              <a:rPr lang="en-US" sz="3500" dirty="0" err="1"/>
              <a:t>extratereştri</a:t>
            </a:r>
            <a:r>
              <a:rPr lang="en-US" sz="3500" dirty="0"/>
              <a:t>. </a:t>
            </a:r>
            <a:r>
              <a:rPr lang="en-US" sz="3500" dirty="0" err="1"/>
              <a:t>Deci</a:t>
            </a:r>
            <a:r>
              <a:rPr lang="en-US" sz="3500" dirty="0"/>
              <a:t>, </a:t>
            </a:r>
            <a:r>
              <a:rPr lang="en-US" sz="3500" dirty="0" err="1"/>
              <a:t>extratereştrii</a:t>
            </a:r>
            <a:r>
              <a:rPr lang="en-US" sz="3500" dirty="0"/>
              <a:t> </a:t>
            </a:r>
            <a:r>
              <a:rPr lang="en-US" sz="3500" dirty="0" err="1"/>
              <a:t>există</a:t>
            </a:r>
            <a:r>
              <a:rPr lang="en-US" sz="3500" dirty="0"/>
              <a:t>.</a:t>
            </a:r>
          </a:p>
          <a:p>
            <a:pPr lvl="0"/>
            <a:r>
              <a:rPr lang="en-US" sz="3500" dirty="0" err="1"/>
              <a:t>Dacă</a:t>
            </a:r>
            <a:r>
              <a:rPr lang="en-US" sz="3500" dirty="0"/>
              <a:t> </a:t>
            </a:r>
            <a:r>
              <a:rPr lang="en-US" sz="3500" dirty="0" err="1"/>
              <a:t>îmi</a:t>
            </a:r>
            <a:r>
              <a:rPr lang="en-US" sz="3500" dirty="0"/>
              <a:t> </a:t>
            </a:r>
            <a:r>
              <a:rPr lang="en-US" sz="3500" dirty="0" err="1"/>
              <a:t>ridicaţi</a:t>
            </a:r>
            <a:r>
              <a:rPr lang="en-US" sz="3500" dirty="0"/>
              <a:t> </a:t>
            </a:r>
            <a:r>
              <a:rPr lang="en-US" sz="3500" dirty="0" err="1"/>
              <a:t>permisul</a:t>
            </a:r>
            <a:r>
              <a:rPr lang="en-US" sz="3500" dirty="0"/>
              <a:t>, nu </a:t>
            </a:r>
            <a:r>
              <a:rPr lang="en-US" sz="3500" dirty="0" err="1"/>
              <a:t>voi</a:t>
            </a:r>
            <a:r>
              <a:rPr lang="en-US" sz="3500" dirty="0"/>
              <a:t> </a:t>
            </a:r>
            <a:r>
              <a:rPr lang="en-US" sz="3500" dirty="0" err="1"/>
              <a:t>mai</a:t>
            </a:r>
            <a:r>
              <a:rPr lang="en-US" sz="3500" dirty="0"/>
              <a:t> </a:t>
            </a:r>
            <a:r>
              <a:rPr lang="en-US" sz="3500" dirty="0" err="1"/>
              <a:t>putea</a:t>
            </a:r>
            <a:r>
              <a:rPr lang="en-US" sz="3500" dirty="0"/>
              <a:t> conduce, </a:t>
            </a:r>
            <a:r>
              <a:rPr lang="en-US" sz="3500" dirty="0" err="1"/>
              <a:t>deci</a:t>
            </a:r>
            <a:r>
              <a:rPr lang="en-US" sz="3500" dirty="0"/>
              <a:t> </a:t>
            </a:r>
            <a:r>
              <a:rPr lang="en-US" sz="3500" dirty="0" err="1"/>
              <a:t>nici</a:t>
            </a:r>
            <a:r>
              <a:rPr lang="en-US" sz="3500" dirty="0"/>
              <a:t> </a:t>
            </a:r>
            <a:r>
              <a:rPr lang="en-US" sz="3500" dirty="0" err="1"/>
              <a:t>lucra</a:t>
            </a:r>
            <a:r>
              <a:rPr lang="en-US" sz="3500" dirty="0"/>
              <a:t>. </a:t>
            </a:r>
            <a:r>
              <a:rPr lang="en-US" sz="3500" dirty="0" err="1"/>
              <a:t>În</a:t>
            </a:r>
            <a:r>
              <a:rPr lang="en-US" sz="3500" dirty="0"/>
              <a:t> </a:t>
            </a:r>
            <a:r>
              <a:rPr lang="en-US" sz="3500" dirty="0" err="1"/>
              <a:t>acest</a:t>
            </a:r>
            <a:r>
              <a:rPr lang="en-US" sz="3500" dirty="0"/>
              <a:t> </a:t>
            </a:r>
            <a:r>
              <a:rPr lang="en-US" sz="3500" dirty="0" err="1"/>
              <a:t>caz</a:t>
            </a:r>
            <a:r>
              <a:rPr lang="en-US" sz="3500" dirty="0"/>
              <a:t> </a:t>
            </a:r>
            <a:r>
              <a:rPr lang="en-US" sz="3500" dirty="0" err="1"/>
              <a:t>voi</a:t>
            </a:r>
            <a:r>
              <a:rPr lang="en-US" sz="3500" dirty="0"/>
              <a:t> </a:t>
            </a:r>
            <a:r>
              <a:rPr lang="en-US" sz="3500" dirty="0" err="1"/>
              <a:t>pierde</a:t>
            </a:r>
            <a:r>
              <a:rPr lang="en-US" sz="3500" dirty="0"/>
              <a:t> </a:t>
            </a:r>
            <a:r>
              <a:rPr lang="en-US" sz="3500" dirty="0" err="1"/>
              <a:t>locuinţa</a:t>
            </a:r>
            <a:r>
              <a:rPr lang="en-US" sz="3500" dirty="0"/>
              <a:t> </a:t>
            </a:r>
            <a:r>
              <a:rPr lang="en-US" sz="3500" dirty="0" err="1"/>
              <a:t>şi</a:t>
            </a:r>
            <a:r>
              <a:rPr lang="en-US" sz="3500" dirty="0"/>
              <a:t> </a:t>
            </a:r>
            <a:r>
              <a:rPr lang="en-US" sz="3500" dirty="0" err="1"/>
              <a:t>copiii</a:t>
            </a:r>
            <a:r>
              <a:rPr lang="en-US" sz="3500" dirty="0"/>
              <a:t> </a:t>
            </a:r>
            <a:r>
              <a:rPr lang="en-US" sz="3500" dirty="0" err="1"/>
              <a:t>mei</a:t>
            </a:r>
            <a:r>
              <a:rPr lang="en-US" sz="3500" dirty="0"/>
              <a:t> </a:t>
            </a:r>
            <a:r>
              <a:rPr lang="en-US" sz="3500" dirty="0" err="1"/>
              <a:t>vor</a:t>
            </a:r>
            <a:r>
              <a:rPr lang="en-US" sz="3500" dirty="0"/>
              <a:t> </a:t>
            </a:r>
            <a:r>
              <a:rPr lang="en-US" sz="3500" dirty="0" err="1"/>
              <a:t>ajunge</a:t>
            </a:r>
            <a:r>
              <a:rPr lang="en-US" sz="3500" dirty="0"/>
              <a:t> </a:t>
            </a:r>
            <a:r>
              <a:rPr lang="en-US" sz="3500" dirty="0" err="1"/>
              <a:t>în</a:t>
            </a:r>
            <a:r>
              <a:rPr lang="en-US" sz="3500" dirty="0"/>
              <a:t> </a:t>
            </a:r>
            <a:r>
              <a:rPr lang="en-US" sz="3500" dirty="0" err="1"/>
              <a:t>stradă</a:t>
            </a:r>
            <a:r>
              <a:rPr lang="en-US" sz="3500" dirty="0"/>
              <a:t>. </a:t>
            </a:r>
            <a:r>
              <a:rPr lang="en-US" sz="3500" dirty="0" err="1"/>
              <a:t>Deci</a:t>
            </a:r>
            <a:r>
              <a:rPr lang="en-US" sz="3500" dirty="0"/>
              <a:t>, </a:t>
            </a:r>
            <a:r>
              <a:rPr lang="en-US" sz="3500" dirty="0" err="1"/>
              <a:t>trebuie</a:t>
            </a:r>
            <a:r>
              <a:rPr lang="en-US" sz="3500" dirty="0"/>
              <a:t> </a:t>
            </a:r>
            <a:r>
              <a:rPr lang="en-US" sz="3500" dirty="0" err="1"/>
              <a:t>să</a:t>
            </a:r>
            <a:r>
              <a:rPr lang="en-US" sz="3500" dirty="0"/>
              <a:t> </a:t>
            </a:r>
            <a:r>
              <a:rPr lang="en-US" sz="3500" dirty="0" err="1"/>
              <a:t>ţineţi</a:t>
            </a:r>
            <a:r>
              <a:rPr lang="en-US" sz="3500" dirty="0"/>
              <a:t> </a:t>
            </a:r>
            <a:r>
              <a:rPr lang="en-US" sz="3500" dirty="0" err="1"/>
              <a:t>cont</a:t>
            </a:r>
            <a:r>
              <a:rPr lang="en-US" sz="3500" dirty="0"/>
              <a:t> de </a:t>
            </a:r>
            <a:r>
              <a:rPr lang="en-US" sz="3500" dirty="0" err="1"/>
              <a:t>acest</a:t>
            </a:r>
            <a:r>
              <a:rPr lang="en-US" sz="3500" dirty="0"/>
              <a:t> </a:t>
            </a:r>
            <a:r>
              <a:rPr lang="en-US" sz="3500" dirty="0" err="1"/>
              <a:t>lucru</a:t>
            </a:r>
            <a:r>
              <a:rPr lang="en-US" sz="3500" dirty="0"/>
              <a:t> </a:t>
            </a:r>
            <a:r>
              <a:rPr lang="en-US" sz="3500" dirty="0" err="1"/>
              <a:t>şi</a:t>
            </a:r>
            <a:r>
              <a:rPr lang="en-US" sz="3500" dirty="0"/>
              <a:t> </a:t>
            </a:r>
            <a:r>
              <a:rPr lang="en-US" sz="3500" dirty="0" err="1"/>
              <a:t>să</a:t>
            </a:r>
            <a:r>
              <a:rPr lang="en-US" sz="3500" dirty="0"/>
              <a:t> nu-mi </a:t>
            </a:r>
            <a:r>
              <a:rPr lang="en-US" sz="3500" dirty="0" err="1"/>
              <a:t>ridicaţi</a:t>
            </a:r>
            <a:r>
              <a:rPr lang="en-US" sz="3500" dirty="0"/>
              <a:t> </a:t>
            </a:r>
            <a:r>
              <a:rPr lang="en-US" sz="3500" dirty="0" err="1"/>
              <a:t>permisul</a:t>
            </a:r>
            <a:r>
              <a:rPr lang="en-US" sz="3500" dirty="0"/>
              <a:t>.</a:t>
            </a:r>
          </a:p>
          <a:p>
            <a:pPr lvl="0"/>
            <a:r>
              <a:rPr lang="en-US" sz="3500" dirty="0" err="1"/>
              <a:t>Echipa</a:t>
            </a:r>
            <a:r>
              <a:rPr lang="en-US" sz="3500" dirty="0"/>
              <a:t> de </a:t>
            </a:r>
            <a:r>
              <a:rPr lang="en-US" sz="3500" dirty="0" err="1"/>
              <a:t>fotbal</a:t>
            </a:r>
            <a:r>
              <a:rPr lang="en-US" sz="3500" dirty="0"/>
              <a:t> </a:t>
            </a:r>
            <a:r>
              <a:rPr lang="en-US" sz="3500" dirty="0" err="1"/>
              <a:t>este</a:t>
            </a:r>
            <a:r>
              <a:rPr lang="en-US" sz="3500" dirty="0"/>
              <a:t> </a:t>
            </a:r>
            <a:r>
              <a:rPr lang="en-US" sz="3500" dirty="0" err="1"/>
              <a:t>performantă</a:t>
            </a:r>
            <a:r>
              <a:rPr lang="en-US" sz="3500" dirty="0"/>
              <a:t>. </a:t>
            </a:r>
            <a:r>
              <a:rPr lang="en-US" sz="3500" dirty="0" err="1"/>
              <a:t>Prin</a:t>
            </a:r>
            <a:r>
              <a:rPr lang="en-US" sz="3500" dirty="0"/>
              <a:t> </a:t>
            </a:r>
            <a:r>
              <a:rPr lang="en-US" sz="3500" dirty="0" err="1"/>
              <a:t>urmare</a:t>
            </a:r>
            <a:r>
              <a:rPr lang="en-US" sz="3500" dirty="0"/>
              <a:t>, </a:t>
            </a:r>
            <a:r>
              <a:rPr lang="en-US" sz="3500" dirty="0" err="1"/>
              <a:t>portarul</a:t>
            </a:r>
            <a:r>
              <a:rPr lang="en-US" sz="3500" dirty="0"/>
              <a:t> </a:t>
            </a:r>
            <a:r>
              <a:rPr lang="en-US" sz="3500" dirty="0" err="1"/>
              <a:t>este</a:t>
            </a:r>
            <a:r>
              <a:rPr lang="en-US" sz="3500" dirty="0"/>
              <a:t> </a:t>
            </a:r>
            <a:r>
              <a:rPr lang="en-US" sz="3500" dirty="0" err="1"/>
              <a:t>performant</a:t>
            </a:r>
            <a:r>
              <a:rPr lang="en-US" sz="3500" dirty="0"/>
              <a:t>.</a:t>
            </a:r>
          </a:p>
          <a:p>
            <a:pPr lvl="0"/>
            <a:r>
              <a:rPr lang="en-US" sz="3500" dirty="0" err="1"/>
              <a:t>Tu</a:t>
            </a:r>
            <a:r>
              <a:rPr lang="en-US" sz="3500" dirty="0"/>
              <a:t> </a:t>
            </a:r>
            <a:r>
              <a:rPr lang="en-US" sz="3500" dirty="0" err="1"/>
              <a:t>îmi</a:t>
            </a:r>
            <a:r>
              <a:rPr lang="en-US" sz="3500" dirty="0"/>
              <a:t> </a:t>
            </a:r>
            <a:r>
              <a:rPr lang="en-US" sz="3500" dirty="0" err="1"/>
              <a:t>spui</a:t>
            </a:r>
            <a:r>
              <a:rPr lang="en-US" sz="3500" dirty="0"/>
              <a:t> </a:t>
            </a:r>
            <a:r>
              <a:rPr lang="en-US" sz="3500" dirty="0" err="1"/>
              <a:t>să</a:t>
            </a:r>
            <a:r>
              <a:rPr lang="en-US" sz="3500" dirty="0"/>
              <a:t> nu beau, </a:t>
            </a:r>
            <a:r>
              <a:rPr lang="en-US" sz="3500" dirty="0" err="1"/>
              <a:t>dar</a:t>
            </a:r>
            <a:r>
              <a:rPr lang="en-US" sz="3500" dirty="0"/>
              <a:t> </a:t>
            </a:r>
            <a:r>
              <a:rPr lang="en-US" sz="3500" dirty="0" err="1"/>
              <a:t>acum</a:t>
            </a:r>
            <a:r>
              <a:rPr lang="en-US" sz="3500" dirty="0"/>
              <a:t> </a:t>
            </a:r>
            <a:r>
              <a:rPr lang="en-US" sz="3500" dirty="0" err="1"/>
              <a:t>doi</a:t>
            </a:r>
            <a:r>
              <a:rPr lang="en-US" sz="3500" dirty="0"/>
              <a:t> </a:t>
            </a:r>
            <a:r>
              <a:rPr lang="en-US" sz="3500" dirty="0" err="1"/>
              <a:t>ani</a:t>
            </a:r>
            <a:r>
              <a:rPr lang="en-US" sz="3500" dirty="0"/>
              <a:t> </a:t>
            </a:r>
            <a:r>
              <a:rPr lang="en-US" sz="3500" dirty="0" err="1"/>
              <a:t>ai</a:t>
            </a:r>
            <a:r>
              <a:rPr lang="en-US" sz="3500" dirty="0"/>
              <a:t> </a:t>
            </a:r>
            <a:r>
              <a:rPr lang="en-US" sz="3500" dirty="0" err="1"/>
              <a:t>fost</a:t>
            </a:r>
            <a:r>
              <a:rPr lang="en-US" sz="3500" dirty="0"/>
              <a:t> la </a:t>
            </a:r>
            <a:r>
              <a:rPr lang="en-US" sz="3500" dirty="0" err="1"/>
              <a:t>dezalcoolizare</a:t>
            </a:r>
            <a:r>
              <a:rPr lang="en-US" sz="3500" dirty="0"/>
              <a:t>.</a:t>
            </a:r>
          </a:p>
          <a:p>
            <a:pPr lvl="0"/>
            <a:r>
              <a:rPr lang="en-US" sz="3500" dirty="0" err="1"/>
              <a:t>Hasan</a:t>
            </a:r>
            <a:r>
              <a:rPr lang="en-US" sz="3500" dirty="0"/>
              <a:t>, </a:t>
            </a:r>
            <a:r>
              <a:rPr lang="en-US" sz="3500" dirty="0" err="1"/>
              <a:t>turcul</a:t>
            </a:r>
            <a:r>
              <a:rPr lang="en-US" sz="3500" dirty="0"/>
              <a:t>, mi-a </a:t>
            </a:r>
            <a:r>
              <a:rPr lang="en-US" sz="3500" dirty="0" err="1"/>
              <a:t>furat</a:t>
            </a:r>
            <a:r>
              <a:rPr lang="en-US" sz="3500" dirty="0"/>
              <a:t> </a:t>
            </a:r>
            <a:r>
              <a:rPr lang="en-US" sz="3500" dirty="0" err="1"/>
              <a:t>portofelul</a:t>
            </a:r>
            <a:r>
              <a:rPr lang="en-US" sz="3500" dirty="0"/>
              <a:t>. </a:t>
            </a:r>
            <a:r>
              <a:rPr lang="en-US" sz="3500" dirty="0" err="1"/>
              <a:t>Aşadar</a:t>
            </a:r>
            <a:r>
              <a:rPr lang="en-US" sz="3500" dirty="0"/>
              <a:t> </a:t>
            </a:r>
            <a:r>
              <a:rPr lang="en-US" sz="3500" dirty="0" err="1"/>
              <a:t>turcii</a:t>
            </a:r>
            <a:r>
              <a:rPr lang="en-US" sz="3500" dirty="0"/>
              <a:t> </a:t>
            </a:r>
            <a:r>
              <a:rPr lang="en-US" sz="3500" dirty="0" err="1"/>
              <a:t>sunt</a:t>
            </a:r>
            <a:r>
              <a:rPr lang="en-US" sz="3500" dirty="0"/>
              <a:t> </a:t>
            </a:r>
            <a:r>
              <a:rPr lang="en-US" sz="3500" dirty="0" err="1"/>
              <a:t>hoţi</a:t>
            </a:r>
            <a:r>
              <a:rPr lang="en-US" sz="3500" dirty="0"/>
              <a:t>.</a:t>
            </a:r>
          </a:p>
          <a:p>
            <a:pPr lvl="0"/>
            <a:r>
              <a:rPr lang="en-US" sz="3500" dirty="0"/>
              <a:t>Katherine </a:t>
            </a:r>
            <a:r>
              <a:rPr lang="en-US" sz="3500" dirty="0" err="1"/>
              <a:t>îl</a:t>
            </a:r>
            <a:r>
              <a:rPr lang="en-US" sz="3500" dirty="0"/>
              <a:t> </a:t>
            </a:r>
            <a:r>
              <a:rPr lang="en-US" sz="3500" dirty="0" err="1"/>
              <a:t>iubește</a:t>
            </a:r>
            <a:r>
              <a:rPr lang="en-US" sz="3500" dirty="0"/>
              <a:t> </a:t>
            </a:r>
            <a:r>
              <a:rPr lang="en-US" sz="3500" dirty="0" err="1"/>
              <a:t>pe</a:t>
            </a:r>
            <a:r>
              <a:rPr lang="en-US" sz="3500" dirty="0"/>
              <a:t> Tom Cruise. </a:t>
            </a:r>
            <a:r>
              <a:rPr lang="en-US" sz="3500" dirty="0" err="1"/>
              <a:t>Într</a:t>
            </a:r>
            <a:r>
              <a:rPr lang="en-US" sz="3500" dirty="0"/>
              <a:t>-o </a:t>
            </a:r>
            <a:r>
              <a:rPr lang="en-US" sz="3500" dirty="0" err="1"/>
              <a:t>zi</a:t>
            </a:r>
            <a:r>
              <a:rPr lang="en-US" sz="3500" dirty="0"/>
              <a:t>, </a:t>
            </a:r>
            <a:r>
              <a:rPr lang="en-US" sz="3500" dirty="0" err="1"/>
              <a:t>aceasta</a:t>
            </a:r>
            <a:r>
              <a:rPr lang="en-US" sz="3500" dirty="0"/>
              <a:t> </a:t>
            </a:r>
            <a:r>
              <a:rPr lang="en-US" sz="3500" dirty="0" err="1"/>
              <a:t>îl</a:t>
            </a:r>
            <a:r>
              <a:rPr lang="en-US" sz="3500" dirty="0"/>
              <a:t> </a:t>
            </a:r>
            <a:r>
              <a:rPr lang="en-US" sz="3500" dirty="0" err="1"/>
              <a:t>întâlnește</a:t>
            </a:r>
            <a:r>
              <a:rPr lang="en-US" sz="3500" dirty="0"/>
              <a:t>. Tom </a:t>
            </a:r>
            <a:r>
              <a:rPr lang="en-US" sz="3500" dirty="0" err="1"/>
              <a:t>îi</a:t>
            </a:r>
            <a:r>
              <a:rPr lang="en-US" sz="3500" dirty="0"/>
              <a:t> </a:t>
            </a:r>
            <a:r>
              <a:rPr lang="en-US" sz="3500" dirty="0" err="1"/>
              <a:t>spune</a:t>
            </a:r>
            <a:r>
              <a:rPr lang="en-US" sz="3500" dirty="0"/>
              <a:t> </a:t>
            </a:r>
            <a:r>
              <a:rPr lang="en-US" sz="3500" dirty="0" err="1"/>
              <a:t>că</a:t>
            </a:r>
            <a:r>
              <a:rPr lang="en-US" sz="3500" dirty="0"/>
              <a:t> </a:t>
            </a:r>
            <a:r>
              <a:rPr lang="en-US" sz="3500" dirty="0" err="1"/>
              <a:t>unicornii</a:t>
            </a:r>
            <a:r>
              <a:rPr lang="en-US" sz="3500" dirty="0"/>
              <a:t> </a:t>
            </a:r>
            <a:r>
              <a:rPr lang="en-US" sz="3500" dirty="0" err="1"/>
              <a:t>există</a:t>
            </a:r>
            <a:r>
              <a:rPr lang="en-US" sz="3500" dirty="0"/>
              <a:t> </a:t>
            </a:r>
            <a:r>
              <a:rPr lang="en-US" sz="3500" dirty="0" err="1"/>
              <a:t>în</a:t>
            </a:r>
            <a:r>
              <a:rPr lang="en-US" sz="3500" dirty="0"/>
              <a:t> New York. </a:t>
            </a:r>
            <a:r>
              <a:rPr lang="en-US" sz="3500" dirty="0" err="1"/>
              <a:t>Fără</a:t>
            </a:r>
            <a:r>
              <a:rPr lang="en-US" sz="3500" dirty="0"/>
              <a:t> a </a:t>
            </a:r>
            <a:r>
              <a:rPr lang="en-US" sz="3500" dirty="0" err="1"/>
              <a:t>cerceta</a:t>
            </a:r>
            <a:r>
              <a:rPr lang="en-US" sz="3500" dirty="0"/>
              <a:t> </a:t>
            </a:r>
            <a:r>
              <a:rPr lang="en-US" sz="3500" dirty="0" err="1"/>
              <a:t>dacă</a:t>
            </a:r>
            <a:r>
              <a:rPr lang="en-US" sz="3500" dirty="0"/>
              <a:t> </a:t>
            </a:r>
            <a:r>
              <a:rPr lang="en-US" sz="3500" dirty="0" err="1"/>
              <a:t>basmele</a:t>
            </a:r>
            <a:r>
              <a:rPr lang="en-US" sz="3500" dirty="0"/>
              <a:t> au </a:t>
            </a:r>
            <a:r>
              <a:rPr lang="en-US" sz="3500" dirty="0" err="1"/>
              <a:t>devenit</a:t>
            </a:r>
            <a:r>
              <a:rPr lang="en-US" sz="3500" dirty="0"/>
              <a:t> </a:t>
            </a:r>
            <a:r>
              <a:rPr lang="en-US" sz="3500" dirty="0" err="1"/>
              <a:t>reale</a:t>
            </a:r>
            <a:r>
              <a:rPr lang="en-US" sz="3500" dirty="0"/>
              <a:t> </a:t>
            </a:r>
            <a:r>
              <a:rPr lang="en-US" sz="3500" dirty="0" err="1"/>
              <a:t>în</a:t>
            </a:r>
            <a:r>
              <a:rPr lang="en-US" sz="3500" dirty="0"/>
              <a:t> New York, Katherine </a:t>
            </a:r>
            <a:r>
              <a:rPr lang="en-US" sz="3500" dirty="0" err="1"/>
              <a:t>crede</a:t>
            </a:r>
            <a:r>
              <a:rPr lang="en-US" sz="3500" dirty="0"/>
              <a:t> </a:t>
            </a:r>
            <a:r>
              <a:rPr lang="en-US" sz="3500" dirty="0" err="1"/>
              <a:t>propoziția</a:t>
            </a:r>
            <a:r>
              <a:rPr lang="en-US" sz="3500" dirty="0"/>
              <a:t> </a:t>
            </a:r>
            <a:r>
              <a:rPr lang="en-US" sz="3500" dirty="0" err="1"/>
              <a:t>ca</a:t>
            </a:r>
            <a:r>
              <a:rPr lang="en-US" sz="3500" dirty="0"/>
              <a:t> </a:t>
            </a:r>
            <a:r>
              <a:rPr lang="en-US" sz="3500" dirty="0" err="1"/>
              <a:t>fiind</a:t>
            </a:r>
            <a:r>
              <a:rPr lang="en-US" sz="3500" dirty="0"/>
              <a:t> </a:t>
            </a:r>
            <a:r>
              <a:rPr lang="en-US" sz="3500" dirty="0" err="1"/>
              <a:t>adevărată</a:t>
            </a:r>
            <a:r>
              <a:rPr lang="en-US" sz="3500" dirty="0"/>
              <a:t>. </a:t>
            </a:r>
          </a:p>
          <a:p>
            <a:pPr lvl="0"/>
            <a:r>
              <a:rPr lang="en-US" sz="3500" dirty="0" err="1" smtClean="0"/>
              <a:t>Având</a:t>
            </a:r>
            <a:r>
              <a:rPr lang="en-US" sz="3500" dirty="0" smtClean="0"/>
              <a:t> </a:t>
            </a:r>
            <a:r>
              <a:rPr lang="en-US" sz="3500" dirty="0" err="1"/>
              <a:t>în</a:t>
            </a:r>
            <a:r>
              <a:rPr lang="en-US" sz="3500" dirty="0"/>
              <a:t> </a:t>
            </a:r>
            <a:r>
              <a:rPr lang="en-US" sz="3500" dirty="0" err="1"/>
              <a:t>vedere</a:t>
            </a:r>
            <a:r>
              <a:rPr lang="en-US" sz="3500" dirty="0"/>
              <a:t> </a:t>
            </a:r>
            <a:r>
              <a:rPr lang="en-US" sz="3500" dirty="0" err="1"/>
              <a:t>că</a:t>
            </a:r>
            <a:r>
              <a:rPr lang="en-US" sz="3500" dirty="0"/>
              <a:t> </a:t>
            </a:r>
            <a:r>
              <a:rPr lang="en-US" sz="3500" dirty="0" err="1"/>
              <a:t>studenții</a:t>
            </a:r>
            <a:r>
              <a:rPr lang="en-US" sz="3500" dirty="0"/>
              <a:t> nu au </a:t>
            </a:r>
            <a:r>
              <a:rPr lang="en-US" sz="3500" dirty="0" err="1"/>
              <a:t>întrebări</a:t>
            </a:r>
            <a:r>
              <a:rPr lang="en-US" sz="3500" dirty="0"/>
              <a:t> legate de </a:t>
            </a:r>
            <a:r>
              <a:rPr lang="en-US" sz="3500" dirty="0" err="1"/>
              <a:t>ce</a:t>
            </a:r>
            <a:r>
              <a:rPr lang="en-US" sz="3500" dirty="0"/>
              <a:t> s-a </a:t>
            </a:r>
            <a:r>
              <a:rPr lang="en-US" sz="3500" dirty="0" err="1"/>
              <a:t>discutat</a:t>
            </a:r>
            <a:r>
              <a:rPr lang="en-US" sz="3500" dirty="0"/>
              <a:t> la </a:t>
            </a:r>
            <a:r>
              <a:rPr lang="en-US" sz="3500" dirty="0" err="1"/>
              <a:t>ultimul</a:t>
            </a:r>
            <a:r>
              <a:rPr lang="en-US" sz="3500" dirty="0"/>
              <a:t> curs, </a:t>
            </a:r>
            <a:r>
              <a:rPr lang="en-US" sz="3500" dirty="0" err="1"/>
              <a:t>rezultă</a:t>
            </a:r>
            <a:r>
              <a:rPr lang="en-US" sz="3500" dirty="0"/>
              <a:t> </a:t>
            </a:r>
            <a:r>
              <a:rPr lang="en-US" sz="3500" dirty="0" err="1"/>
              <a:t>că</a:t>
            </a:r>
            <a:r>
              <a:rPr lang="en-US" sz="3500" dirty="0"/>
              <a:t> </a:t>
            </a:r>
            <a:r>
              <a:rPr lang="en-US" sz="3500" dirty="0" err="1"/>
              <a:t>ei</a:t>
            </a:r>
            <a:r>
              <a:rPr lang="en-US" sz="3500" dirty="0"/>
              <a:t> </a:t>
            </a:r>
            <a:r>
              <a:rPr lang="en-US" sz="3500" dirty="0" err="1"/>
              <a:t>sunt</a:t>
            </a:r>
            <a:r>
              <a:rPr lang="en-US" sz="3500" dirty="0"/>
              <a:t> </a:t>
            </a:r>
            <a:r>
              <a:rPr lang="en-US" sz="3500" dirty="0" err="1"/>
              <a:t>foarte</a:t>
            </a:r>
            <a:r>
              <a:rPr lang="en-US" sz="3500" dirty="0"/>
              <a:t> bine </a:t>
            </a:r>
            <a:r>
              <a:rPr lang="en-US" sz="3500" dirty="0" err="1"/>
              <a:t>pregătiți</a:t>
            </a:r>
            <a:r>
              <a:rPr lang="en-US" sz="3500" dirty="0"/>
              <a:t> </a:t>
            </a:r>
            <a:r>
              <a:rPr lang="en-US" sz="3500" dirty="0" err="1"/>
              <a:t>pentru</a:t>
            </a:r>
            <a:r>
              <a:rPr lang="en-US" sz="3500" dirty="0"/>
              <a:t> un </a:t>
            </a:r>
            <a:r>
              <a:rPr lang="en-US" sz="3500" dirty="0" err="1"/>
              <a:t>posibil</a:t>
            </a:r>
            <a:r>
              <a:rPr lang="en-US" sz="3500" dirty="0"/>
              <a:t> test.</a:t>
            </a:r>
          </a:p>
          <a:p>
            <a:pPr lvl="0"/>
            <a:r>
              <a:rPr lang="en-US" sz="3500" dirty="0" err="1"/>
              <a:t>Știu</a:t>
            </a:r>
            <a:r>
              <a:rPr lang="en-US" sz="3500" dirty="0"/>
              <a:t> </a:t>
            </a:r>
            <a:r>
              <a:rPr lang="en-US" sz="3500" dirty="0" err="1"/>
              <a:t>că</a:t>
            </a:r>
            <a:r>
              <a:rPr lang="en-US" sz="3500" dirty="0"/>
              <a:t> nu </a:t>
            </a:r>
            <a:r>
              <a:rPr lang="en-US" sz="3500" dirty="0" err="1"/>
              <a:t>mă</a:t>
            </a:r>
            <a:r>
              <a:rPr lang="en-US" sz="3500" dirty="0"/>
              <a:t> </a:t>
            </a:r>
            <a:r>
              <a:rPr lang="en-US" sz="3500" dirty="0" err="1"/>
              <a:t>iubești</a:t>
            </a:r>
            <a:r>
              <a:rPr lang="en-US" sz="3500" dirty="0"/>
              <a:t>. Cu </a:t>
            </a:r>
            <a:r>
              <a:rPr lang="en-US" sz="3500" dirty="0" err="1"/>
              <a:t>toate</a:t>
            </a:r>
            <a:r>
              <a:rPr lang="en-US" sz="3500" dirty="0"/>
              <a:t> </a:t>
            </a:r>
            <a:r>
              <a:rPr lang="en-US" sz="3500" dirty="0" err="1"/>
              <a:t>acestea</a:t>
            </a:r>
            <a:r>
              <a:rPr lang="en-US" sz="3500" dirty="0"/>
              <a:t>, </a:t>
            </a:r>
            <a:r>
              <a:rPr lang="en-US" sz="3500" dirty="0" err="1"/>
              <a:t>dacă</a:t>
            </a:r>
            <a:r>
              <a:rPr lang="en-US" sz="3500" dirty="0"/>
              <a:t> nu ne </a:t>
            </a:r>
            <a:r>
              <a:rPr lang="en-US" sz="3500" dirty="0" err="1"/>
              <a:t>căsătorim</a:t>
            </a:r>
            <a:r>
              <a:rPr lang="en-US" sz="3500" dirty="0"/>
              <a:t>, mama </a:t>
            </a:r>
            <a:r>
              <a:rPr lang="en-US" sz="3500" dirty="0" err="1"/>
              <a:t>va</a:t>
            </a:r>
            <a:r>
              <a:rPr lang="en-US" sz="3500" dirty="0"/>
              <a:t> fi </a:t>
            </a:r>
            <a:r>
              <a:rPr lang="en-US" sz="3500" dirty="0" err="1"/>
              <a:t>disperată</a:t>
            </a:r>
            <a:r>
              <a:rPr lang="en-US" sz="3500" dirty="0"/>
              <a:t>. </a:t>
            </a:r>
            <a:r>
              <a:rPr lang="en-US" sz="3500" dirty="0" err="1"/>
              <a:t>Știi</a:t>
            </a:r>
            <a:r>
              <a:rPr lang="en-US" sz="3500" dirty="0"/>
              <a:t> </a:t>
            </a:r>
            <a:r>
              <a:rPr lang="en-US" sz="3500" dirty="0" err="1"/>
              <a:t>că</a:t>
            </a:r>
            <a:r>
              <a:rPr lang="en-US" sz="3500" dirty="0"/>
              <a:t> are </a:t>
            </a:r>
            <a:r>
              <a:rPr lang="en-US" sz="3500" dirty="0" err="1"/>
              <a:t>probleme</a:t>
            </a:r>
            <a:r>
              <a:rPr lang="en-US" sz="3500" dirty="0"/>
              <a:t> cu </a:t>
            </a:r>
            <a:r>
              <a:rPr lang="en-US" sz="3500" dirty="0" err="1"/>
              <a:t>inima</a:t>
            </a:r>
            <a:r>
              <a:rPr lang="en-US" sz="3500" dirty="0"/>
              <a:t>, nu? </a:t>
            </a:r>
            <a:r>
              <a:rPr lang="en-US" sz="3500" dirty="0" err="1"/>
              <a:t>Chiar</a:t>
            </a:r>
            <a:r>
              <a:rPr lang="en-US" sz="3500" dirty="0"/>
              <a:t> </a:t>
            </a:r>
            <a:r>
              <a:rPr lang="en-US" sz="3500" dirty="0" err="1"/>
              <a:t>vrei</a:t>
            </a:r>
            <a:r>
              <a:rPr lang="en-US" sz="3500" dirty="0"/>
              <a:t> </a:t>
            </a:r>
            <a:r>
              <a:rPr lang="en-US" sz="3500" dirty="0" err="1"/>
              <a:t>să</a:t>
            </a:r>
            <a:r>
              <a:rPr lang="en-US" sz="3500" dirty="0"/>
              <a:t>-i </a:t>
            </a:r>
            <a:r>
              <a:rPr lang="en-US" sz="3500" dirty="0" err="1"/>
              <a:t>faci</a:t>
            </a:r>
            <a:r>
              <a:rPr lang="en-US" sz="3500" dirty="0"/>
              <a:t> </a:t>
            </a:r>
            <a:r>
              <a:rPr lang="en-US" sz="3500" dirty="0" err="1"/>
              <a:t>asta</a:t>
            </a:r>
            <a:r>
              <a:rPr lang="en-US" sz="3500" dirty="0"/>
              <a:t>?</a:t>
            </a:r>
          </a:p>
          <a:p>
            <a:pPr lvl="0"/>
            <a:r>
              <a:rPr lang="en-US" sz="3500" dirty="0"/>
              <a:t>Nu </a:t>
            </a:r>
            <a:r>
              <a:rPr lang="en-US" sz="3500" dirty="0" err="1"/>
              <a:t>doriți</a:t>
            </a:r>
            <a:r>
              <a:rPr lang="en-US" sz="3500" dirty="0"/>
              <a:t> </a:t>
            </a:r>
            <a:r>
              <a:rPr lang="en-US" sz="3500" dirty="0" err="1"/>
              <a:t>să</a:t>
            </a:r>
            <a:r>
              <a:rPr lang="en-US" sz="3500" dirty="0"/>
              <a:t> </a:t>
            </a:r>
            <a:r>
              <a:rPr lang="en-US" sz="3500" dirty="0" err="1"/>
              <a:t>adoptați</a:t>
            </a:r>
            <a:r>
              <a:rPr lang="en-US" sz="3500" dirty="0"/>
              <a:t> </a:t>
            </a:r>
            <a:r>
              <a:rPr lang="en-US" sz="3500" dirty="0" err="1"/>
              <a:t>cățelul</a:t>
            </a:r>
            <a:r>
              <a:rPr lang="en-US" sz="3500" dirty="0"/>
              <a:t>? </a:t>
            </a:r>
            <a:r>
              <a:rPr lang="en-US" sz="3500" dirty="0" err="1"/>
              <a:t>Păcat</a:t>
            </a:r>
            <a:r>
              <a:rPr lang="en-US" sz="3500" dirty="0"/>
              <a:t>. E </a:t>
            </a:r>
            <a:r>
              <a:rPr lang="en-US" sz="3500" dirty="0" err="1"/>
              <a:t>posibil</a:t>
            </a:r>
            <a:r>
              <a:rPr lang="en-US" sz="3500" dirty="0"/>
              <a:t> </a:t>
            </a:r>
            <a:r>
              <a:rPr lang="en-US" sz="3500" dirty="0" err="1"/>
              <a:t>să</a:t>
            </a:r>
            <a:r>
              <a:rPr lang="en-US" sz="3500" dirty="0"/>
              <a:t> fie </a:t>
            </a:r>
            <a:r>
              <a:rPr lang="en-US" sz="3500" dirty="0" err="1"/>
              <a:t>eutanasiat</a:t>
            </a:r>
            <a:r>
              <a:rPr lang="en-US" sz="3500" dirty="0"/>
              <a:t> </a:t>
            </a:r>
            <a:r>
              <a:rPr lang="en-US" sz="3500" dirty="0" err="1"/>
              <a:t>astăzi</a:t>
            </a:r>
            <a:r>
              <a:rPr lang="en-US" sz="3500" dirty="0"/>
              <a:t>. O </a:t>
            </a:r>
            <a:r>
              <a:rPr lang="en-US" sz="3500" dirty="0" err="1"/>
              <a:t>să</a:t>
            </a:r>
            <a:r>
              <a:rPr lang="en-US" sz="3500" dirty="0"/>
              <a:t> </a:t>
            </a:r>
            <a:r>
              <a:rPr lang="en-US" sz="3500" dirty="0" err="1"/>
              <a:t>trăiți</a:t>
            </a:r>
            <a:r>
              <a:rPr lang="en-US" sz="3500" dirty="0"/>
              <a:t> cu </a:t>
            </a:r>
            <a:r>
              <a:rPr lang="en-US" sz="3500" dirty="0" err="1"/>
              <a:t>asta</a:t>
            </a:r>
            <a:r>
              <a:rPr lang="en-US" sz="3500" dirty="0"/>
              <a:t> tot </a:t>
            </a:r>
            <a:r>
              <a:rPr lang="en-US" sz="3500" dirty="0" err="1"/>
              <a:t>restul</a:t>
            </a:r>
            <a:r>
              <a:rPr lang="en-US" sz="3500" dirty="0"/>
              <a:t> </a:t>
            </a:r>
            <a:r>
              <a:rPr lang="en-US" sz="3500" dirty="0" err="1"/>
              <a:t>vieții</a:t>
            </a:r>
            <a:r>
              <a:rPr lang="en-US" sz="3500" dirty="0"/>
              <a:t>.</a:t>
            </a:r>
          </a:p>
          <a:p>
            <a:pPr lvl="0"/>
            <a:r>
              <a:rPr lang="en-US" sz="3500" dirty="0"/>
              <a:t>Cred </a:t>
            </a:r>
            <a:r>
              <a:rPr lang="en-US" sz="3500" dirty="0" err="1"/>
              <a:t>că</a:t>
            </a:r>
            <a:r>
              <a:rPr lang="en-US" sz="3500" dirty="0"/>
              <a:t> </a:t>
            </a:r>
            <a:r>
              <a:rPr lang="en-US" sz="3500" dirty="0" err="1"/>
              <a:t>ar</a:t>
            </a:r>
            <a:r>
              <a:rPr lang="en-US" sz="3500" dirty="0"/>
              <a:t> </a:t>
            </a:r>
            <a:r>
              <a:rPr lang="en-US" sz="3500" dirty="0" err="1"/>
              <a:t>trebui</a:t>
            </a:r>
            <a:r>
              <a:rPr lang="en-US" sz="3500" dirty="0"/>
              <a:t> </a:t>
            </a:r>
            <a:r>
              <a:rPr lang="en-US" sz="3500" dirty="0" err="1"/>
              <a:t>să</a:t>
            </a:r>
            <a:r>
              <a:rPr lang="en-US" sz="3500" dirty="0"/>
              <a:t> </a:t>
            </a:r>
            <a:r>
              <a:rPr lang="en-US" sz="3500" dirty="0" err="1"/>
              <a:t>folosești</a:t>
            </a:r>
            <a:r>
              <a:rPr lang="en-US" sz="3500" dirty="0"/>
              <a:t> Colgate, </a:t>
            </a:r>
            <a:r>
              <a:rPr lang="en-US" sz="3500" dirty="0" err="1"/>
              <a:t>altfel</a:t>
            </a:r>
            <a:r>
              <a:rPr lang="en-US" sz="3500" dirty="0"/>
              <a:t> </a:t>
            </a:r>
            <a:r>
              <a:rPr lang="en-US" sz="3500" dirty="0" err="1"/>
              <a:t>vei</a:t>
            </a:r>
            <a:r>
              <a:rPr lang="en-US" sz="3500" dirty="0"/>
              <a:t> </a:t>
            </a:r>
            <a:r>
              <a:rPr lang="en-US" sz="3500" dirty="0" err="1"/>
              <a:t>avea</a:t>
            </a:r>
            <a:r>
              <a:rPr lang="en-US" sz="3500" dirty="0"/>
              <a:t> </a:t>
            </a:r>
            <a:r>
              <a:rPr lang="en-US" sz="3500" dirty="0" err="1"/>
              <a:t>nevoie</a:t>
            </a:r>
            <a:r>
              <a:rPr lang="en-US" sz="3500" dirty="0"/>
              <a:t> de o </a:t>
            </a:r>
            <a:r>
              <a:rPr lang="en-US" sz="3500" dirty="0" err="1"/>
              <a:t>vizită</a:t>
            </a:r>
            <a:r>
              <a:rPr lang="en-US" sz="3500" dirty="0"/>
              <a:t> la dentist.</a:t>
            </a:r>
          </a:p>
          <a:p>
            <a:pPr lvl="0"/>
            <a:r>
              <a:rPr lang="en-US" sz="3500" dirty="0" smtClean="0"/>
              <a:t>Nu </a:t>
            </a:r>
            <a:r>
              <a:rPr lang="en-US" sz="3500" dirty="0"/>
              <a:t>ne </a:t>
            </a:r>
            <a:r>
              <a:rPr lang="en-US" sz="3500" dirty="0" err="1"/>
              <a:t>putem</a:t>
            </a:r>
            <a:r>
              <a:rPr lang="en-US" sz="3500" dirty="0"/>
              <a:t> </a:t>
            </a:r>
            <a:r>
              <a:rPr lang="en-US" sz="3500" dirty="0" err="1"/>
              <a:t>căsători</a:t>
            </a:r>
            <a:r>
              <a:rPr lang="en-US" sz="3500" dirty="0"/>
              <a:t>. Rata de </a:t>
            </a:r>
            <a:r>
              <a:rPr lang="en-US" sz="3500" dirty="0" err="1"/>
              <a:t>divorț</a:t>
            </a:r>
            <a:r>
              <a:rPr lang="en-US" sz="3500" dirty="0"/>
              <a:t> e </a:t>
            </a:r>
            <a:r>
              <a:rPr lang="en-US" sz="3500" dirty="0" err="1"/>
              <a:t>foarte</a:t>
            </a:r>
            <a:r>
              <a:rPr lang="en-US" sz="3500" dirty="0"/>
              <a:t> mare.</a:t>
            </a:r>
          </a:p>
          <a:p>
            <a:pPr lvl="0"/>
            <a:r>
              <a:rPr lang="en-US" sz="3500" dirty="0" err="1"/>
              <a:t>Eu</a:t>
            </a:r>
            <a:r>
              <a:rPr lang="en-US" sz="3500" dirty="0"/>
              <a:t> nu </a:t>
            </a:r>
            <a:r>
              <a:rPr lang="en-US" sz="3500" dirty="0" err="1"/>
              <a:t>aș</a:t>
            </a:r>
            <a:r>
              <a:rPr lang="en-US" sz="3500" dirty="0"/>
              <a:t> </a:t>
            </a:r>
            <a:r>
              <a:rPr lang="en-US" sz="3500" dirty="0" err="1"/>
              <a:t>cumpăra</a:t>
            </a:r>
            <a:r>
              <a:rPr lang="en-US" sz="3500" dirty="0"/>
              <a:t> </a:t>
            </a:r>
            <a:r>
              <a:rPr lang="en-US" sz="3500" dirty="0" err="1"/>
              <a:t>crema</a:t>
            </a:r>
            <a:r>
              <a:rPr lang="en-US" sz="3500" dirty="0"/>
              <a:t> x, o </a:t>
            </a:r>
            <a:r>
              <a:rPr lang="en-US" sz="3500" dirty="0" err="1"/>
              <a:t>vinde</a:t>
            </a:r>
            <a:r>
              <a:rPr lang="en-US" sz="3500" dirty="0"/>
              <a:t> Kim </a:t>
            </a:r>
            <a:r>
              <a:rPr lang="en-US" sz="3500" dirty="0" err="1"/>
              <a:t>Kardashian</a:t>
            </a:r>
            <a:r>
              <a:rPr lang="en-US" sz="3500" dirty="0"/>
              <a:t>. Nu are cum </a:t>
            </a:r>
            <a:r>
              <a:rPr lang="en-US" sz="3500" dirty="0" err="1"/>
              <a:t>să</a:t>
            </a:r>
            <a:r>
              <a:rPr lang="en-US" sz="3500" dirty="0"/>
              <a:t> fie </a:t>
            </a:r>
            <a:r>
              <a:rPr lang="en-US" sz="3500" dirty="0" err="1"/>
              <a:t>bună</a:t>
            </a:r>
            <a:r>
              <a:rPr lang="en-US" sz="3500" dirty="0"/>
              <a:t>!</a:t>
            </a:r>
          </a:p>
          <a:p>
            <a:pPr lvl="0"/>
            <a:r>
              <a:rPr lang="en-US" sz="3500" dirty="0"/>
              <a:t>Nu cred </a:t>
            </a:r>
            <a:r>
              <a:rPr lang="en-US" sz="3500" dirty="0" err="1"/>
              <a:t>că</a:t>
            </a:r>
            <a:r>
              <a:rPr lang="en-US" sz="3500" dirty="0"/>
              <a:t> </a:t>
            </a:r>
            <a:r>
              <a:rPr lang="en-US" sz="3500" dirty="0" err="1"/>
              <a:t>ar</a:t>
            </a:r>
            <a:r>
              <a:rPr lang="en-US" sz="3500" dirty="0"/>
              <a:t> </a:t>
            </a:r>
            <a:r>
              <a:rPr lang="en-US" sz="3500" dirty="0" err="1"/>
              <a:t>trebui</a:t>
            </a:r>
            <a:r>
              <a:rPr lang="en-US" sz="3500" dirty="0"/>
              <a:t> </a:t>
            </a:r>
            <a:r>
              <a:rPr lang="en-US" sz="3500" dirty="0" err="1"/>
              <a:t>să</a:t>
            </a:r>
            <a:r>
              <a:rPr lang="en-US" sz="3500" dirty="0"/>
              <a:t>-i </a:t>
            </a:r>
            <a:r>
              <a:rPr lang="en-US" sz="3500" dirty="0" err="1"/>
              <a:t>asculți</a:t>
            </a:r>
            <a:r>
              <a:rPr lang="en-US" sz="3500" dirty="0"/>
              <a:t> </a:t>
            </a:r>
            <a:r>
              <a:rPr lang="en-US" sz="3500" dirty="0" err="1"/>
              <a:t>argumentul</a:t>
            </a:r>
            <a:r>
              <a:rPr lang="en-US" sz="3500" dirty="0"/>
              <a:t>. Nu e </a:t>
            </a:r>
            <a:r>
              <a:rPr lang="en-US" sz="3500" dirty="0" err="1"/>
              <a:t>cel</a:t>
            </a:r>
            <a:r>
              <a:rPr lang="en-US" sz="3500" dirty="0"/>
              <a:t> </a:t>
            </a:r>
            <a:r>
              <a:rPr lang="en-US" sz="3500" dirty="0" err="1"/>
              <a:t>mai</a:t>
            </a:r>
            <a:r>
              <a:rPr lang="en-US" sz="3500" dirty="0"/>
              <a:t> </a:t>
            </a:r>
            <a:r>
              <a:rPr lang="en-US" sz="3500" dirty="0" err="1"/>
              <a:t>deștept</a:t>
            </a:r>
            <a:r>
              <a:rPr lang="en-US" sz="3500" dirty="0"/>
              <a:t> </a:t>
            </a:r>
            <a:r>
              <a:rPr lang="en-US" sz="3500" dirty="0" err="1"/>
              <a:t>om</a:t>
            </a:r>
            <a:r>
              <a:rPr lang="en-US" sz="3500" dirty="0"/>
              <a:t> de </a:t>
            </a:r>
            <a:r>
              <a:rPr lang="en-US" sz="3500" dirty="0" err="1"/>
              <a:t>pe</a:t>
            </a:r>
            <a:r>
              <a:rPr lang="en-US" sz="3500" dirty="0"/>
              <a:t> Terra.</a:t>
            </a:r>
          </a:p>
          <a:p>
            <a:pPr lvl="0"/>
            <a:r>
              <a:rPr lang="en-US" sz="3500" dirty="0" err="1"/>
              <a:t>Oamenii</a:t>
            </a:r>
            <a:r>
              <a:rPr lang="en-US" sz="3500" dirty="0"/>
              <a:t> care </a:t>
            </a:r>
            <a:r>
              <a:rPr lang="en-US" sz="3500" dirty="0" err="1"/>
              <a:t>mănâncă</a:t>
            </a:r>
            <a:r>
              <a:rPr lang="en-US" sz="3500" dirty="0"/>
              <a:t> </a:t>
            </a:r>
            <a:r>
              <a:rPr lang="en-US" sz="3500" dirty="0" err="1"/>
              <a:t>lapte</a:t>
            </a:r>
            <a:r>
              <a:rPr lang="en-US" sz="3500" dirty="0"/>
              <a:t> au </a:t>
            </a:r>
            <a:r>
              <a:rPr lang="en-US" sz="3500" dirty="0" err="1"/>
              <a:t>inimi</a:t>
            </a:r>
            <a:r>
              <a:rPr lang="en-US" sz="3500" dirty="0"/>
              <a:t> </a:t>
            </a:r>
            <a:r>
              <a:rPr lang="en-US" sz="3500" dirty="0" err="1"/>
              <a:t>sănătoase</a:t>
            </a:r>
            <a:r>
              <a:rPr lang="en-US" sz="3500" dirty="0"/>
              <a:t>.</a:t>
            </a:r>
          </a:p>
          <a:p>
            <a:pPr lvl="0"/>
            <a:r>
              <a:rPr lang="en-US" sz="3500" dirty="0" err="1"/>
              <a:t>Cocoșii</a:t>
            </a:r>
            <a:r>
              <a:rPr lang="en-US" sz="3500" dirty="0"/>
              <a:t> </a:t>
            </a:r>
            <a:r>
              <a:rPr lang="en-US" sz="3500" dirty="0" err="1"/>
              <a:t>cântă</a:t>
            </a:r>
            <a:r>
              <a:rPr lang="en-US" sz="3500" dirty="0"/>
              <a:t> </a:t>
            </a:r>
            <a:r>
              <a:rPr lang="en-US" sz="3500" dirty="0" err="1"/>
              <a:t>înainte</a:t>
            </a:r>
            <a:r>
              <a:rPr lang="en-US" sz="3500" dirty="0"/>
              <a:t> de a </a:t>
            </a:r>
            <a:r>
              <a:rPr lang="en-US" sz="3500" dirty="0" err="1"/>
              <a:t>răsări</a:t>
            </a:r>
            <a:r>
              <a:rPr lang="en-US" sz="3500" dirty="0"/>
              <a:t> </a:t>
            </a:r>
            <a:r>
              <a:rPr lang="en-US" sz="3500" dirty="0" err="1"/>
              <a:t>soarele</a:t>
            </a:r>
            <a:r>
              <a:rPr lang="en-US" sz="3500" dirty="0"/>
              <a:t>. </a:t>
            </a:r>
            <a:r>
              <a:rPr lang="en-US" sz="3500" dirty="0" err="1"/>
              <a:t>Prin</a:t>
            </a:r>
            <a:r>
              <a:rPr lang="en-US" sz="3500" dirty="0"/>
              <a:t> </a:t>
            </a:r>
            <a:r>
              <a:rPr lang="en-US" sz="3500" dirty="0" err="1"/>
              <a:t>urmare</a:t>
            </a:r>
            <a:r>
              <a:rPr lang="en-US" sz="3500" dirty="0"/>
              <a:t>, </a:t>
            </a:r>
            <a:r>
              <a:rPr lang="en-US" sz="3500" dirty="0" err="1"/>
              <a:t>soarele</a:t>
            </a:r>
            <a:r>
              <a:rPr lang="en-US" sz="3500" dirty="0"/>
              <a:t> </a:t>
            </a:r>
            <a:r>
              <a:rPr lang="en-US" sz="3500" dirty="0" err="1"/>
              <a:t>răsare</a:t>
            </a:r>
            <a:r>
              <a:rPr lang="en-US" sz="3500" dirty="0"/>
              <a:t> din </a:t>
            </a:r>
            <a:r>
              <a:rPr lang="en-US" sz="3500" dirty="0" err="1"/>
              <a:t>cauza</a:t>
            </a:r>
            <a:r>
              <a:rPr lang="en-US" sz="3500" dirty="0"/>
              <a:t> </a:t>
            </a:r>
            <a:r>
              <a:rPr lang="en-US" sz="3500" dirty="0" err="1"/>
              <a:t>cocoșilor</a:t>
            </a:r>
            <a:r>
              <a:rPr lang="en-US" sz="3500" dirty="0"/>
              <a:t>.</a:t>
            </a:r>
          </a:p>
          <a:p>
            <a:pPr lvl="0"/>
            <a:r>
              <a:rPr lang="en-US" sz="3500" dirty="0"/>
              <a:t>Fix </a:t>
            </a:r>
            <a:r>
              <a:rPr lang="en-US" sz="3500" dirty="0" err="1"/>
              <a:t>când</a:t>
            </a:r>
            <a:r>
              <a:rPr lang="en-US" sz="3500" dirty="0"/>
              <a:t> am </a:t>
            </a:r>
            <a:r>
              <a:rPr lang="en-US" sz="3500" dirty="0" err="1"/>
              <a:t>strănutat</a:t>
            </a:r>
            <a:r>
              <a:rPr lang="en-US" sz="3500" dirty="0"/>
              <a:t> s-a </a:t>
            </a:r>
            <a:r>
              <a:rPr lang="en-US" sz="3500" dirty="0" err="1"/>
              <a:t>produs</a:t>
            </a:r>
            <a:r>
              <a:rPr lang="en-US" sz="3500" dirty="0"/>
              <a:t> </a:t>
            </a:r>
            <a:r>
              <a:rPr lang="en-US" sz="3500" dirty="0" err="1"/>
              <a:t>scurtcircuitul</a:t>
            </a:r>
            <a:r>
              <a:rPr lang="en-US" sz="3500" dirty="0"/>
              <a:t>. </a:t>
            </a:r>
            <a:r>
              <a:rPr lang="en-US" sz="3500" dirty="0" err="1"/>
              <a:t>Știu</a:t>
            </a:r>
            <a:r>
              <a:rPr lang="en-US" sz="3500" dirty="0"/>
              <a:t>, e </a:t>
            </a:r>
            <a:r>
              <a:rPr lang="en-US" sz="3500" dirty="0" err="1"/>
              <a:t>vina</a:t>
            </a:r>
            <a:r>
              <a:rPr lang="en-US" sz="3500" dirty="0"/>
              <a:t> mea. </a:t>
            </a:r>
          </a:p>
          <a:p>
            <a:pPr lvl="0"/>
            <a:r>
              <a:rPr lang="en-US" sz="3500" dirty="0"/>
              <a:t>Ana a </a:t>
            </a:r>
            <a:r>
              <a:rPr lang="en-US" sz="3500" dirty="0" err="1"/>
              <a:t>purtat</a:t>
            </a:r>
            <a:r>
              <a:rPr lang="en-US" sz="3500" dirty="0"/>
              <a:t> </a:t>
            </a:r>
            <a:r>
              <a:rPr lang="en-US" sz="3500" dirty="0" err="1"/>
              <a:t>lanțișorul</a:t>
            </a:r>
            <a:r>
              <a:rPr lang="en-US" sz="3500" dirty="0"/>
              <a:t> </a:t>
            </a:r>
            <a:r>
              <a:rPr lang="en-US" sz="3500" dirty="0" err="1"/>
              <a:t>ei</a:t>
            </a:r>
            <a:r>
              <a:rPr lang="en-US" sz="3500" dirty="0"/>
              <a:t> </a:t>
            </a:r>
            <a:r>
              <a:rPr lang="en-US" sz="3500" dirty="0" err="1"/>
              <a:t>preferat</a:t>
            </a:r>
            <a:r>
              <a:rPr lang="en-US" sz="3500" dirty="0"/>
              <a:t> </a:t>
            </a:r>
            <a:r>
              <a:rPr lang="en-US" sz="3500" dirty="0" err="1"/>
              <a:t>azi</a:t>
            </a:r>
            <a:r>
              <a:rPr lang="en-US" sz="3500" dirty="0"/>
              <a:t> la </a:t>
            </a:r>
            <a:r>
              <a:rPr lang="en-US" sz="3500" dirty="0" err="1"/>
              <a:t>examen</a:t>
            </a:r>
            <a:r>
              <a:rPr lang="en-US" sz="3500" dirty="0"/>
              <a:t>. A </a:t>
            </a:r>
            <a:r>
              <a:rPr lang="en-US" sz="3500" dirty="0" err="1"/>
              <a:t>luat</a:t>
            </a:r>
            <a:r>
              <a:rPr lang="en-US" sz="3500" dirty="0"/>
              <a:t> 10. Acela </a:t>
            </a:r>
            <a:r>
              <a:rPr lang="en-US" sz="3500" dirty="0" err="1"/>
              <a:t>trebuie</a:t>
            </a:r>
            <a:r>
              <a:rPr lang="en-US" sz="3500" dirty="0"/>
              <a:t> </a:t>
            </a:r>
            <a:r>
              <a:rPr lang="en-US" sz="3500" dirty="0" err="1"/>
              <a:t>să</a:t>
            </a:r>
            <a:r>
              <a:rPr lang="en-US" sz="3500" dirty="0"/>
              <a:t> fie un </a:t>
            </a:r>
            <a:r>
              <a:rPr lang="en-US" sz="3500" dirty="0" err="1"/>
              <a:t>lanț</a:t>
            </a:r>
            <a:r>
              <a:rPr lang="en-US" sz="3500" dirty="0"/>
              <a:t> </a:t>
            </a:r>
            <a:r>
              <a:rPr lang="en-US" sz="3500" dirty="0" err="1"/>
              <a:t>foarte</a:t>
            </a:r>
            <a:r>
              <a:rPr lang="en-US" sz="3500" dirty="0"/>
              <a:t> </a:t>
            </a:r>
            <a:r>
              <a:rPr lang="en-US" sz="3500" dirty="0" err="1"/>
              <a:t>norocos</a:t>
            </a:r>
            <a:r>
              <a:rPr lang="en-US" sz="3500" dirty="0"/>
              <a:t>.</a:t>
            </a:r>
          </a:p>
          <a:p>
            <a:endParaRPr lang="en-US" dirty="0"/>
          </a:p>
        </p:txBody>
      </p:sp>
    </p:spTree>
    <p:extLst>
      <p:ext uri="{BB962C8B-B14F-4D97-AF65-F5344CB8AC3E}">
        <p14:creationId xmlns:p14="http://schemas.microsoft.com/office/powerpoint/2010/main" val="284193198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hlinkClick r:id="rId2"/>
              </a:rPr>
              <a:t>https://www.youtube.com/watch?v=ZNWCDh1XRN0&amp;ab_channel=NoahDeMent</a:t>
            </a:r>
            <a:endParaRPr lang="ro-RO" dirty="0" smtClean="0"/>
          </a:p>
          <a:p>
            <a:endParaRPr lang="ro-RO" dirty="0"/>
          </a:p>
          <a:p>
            <a:endParaRPr lang="ro-RO" dirty="0" smtClean="0"/>
          </a:p>
          <a:p>
            <a:endParaRPr lang="en-US" dirty="0"/>
          </a:p>
        </p:txBody>
      </p:sp>
    </p:spTree>
    <p:extLst>
      <p:ext uri="{BB962C8B-B14F-4D97-AF65-F5344CB8AC3E}">
        <p14:creationId xmlns:p14="http://schemas.microsoft.com/office/powerpoint/2010/main" val="377194765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dirty="0" smtClean="0"/>
              <a:t>To do</a:t>
            </a:r>
            <a:endParaRPr lang="en-US" dirty="0"/>
          </a:p>
        </p:txBody>
      </p:sp>
      <p:sp>
        <p:nvSpPr>
          <p:cNvPr id="3" name="Content Placeholder 2"/>
          <p:cNvSpPr>
            <a:spLocks noGrp="1"/>
          </p:cNvSpPr>
          <p:nvPr>
            <p:ph idx="1"/>
          </p:nvPr>
        </p:nvSpPr>
        <p:spPr/>
        <p:txBody>
          <a:bodyPr/>
          <a:lstStyle/>
          <a:p>
            <a:r>
              <a:rPr lang="ro-RO" dirty="0" smtClean="0"/>
              <a:t>Găsiți două exemple de erori în publicitate/tv/serialul favorit/filmul favorit</a:t>
            </a:r>
            <a:endParaRPr lang="en-US" dirty="0"/>
          </a:p>
        </p:txBody>
      </p:sp>
    </p:spTree>
    <p:extLst>
      <p:ext uri="{BB962C8B-B14F-4D97-AF65-F5344CB8AC3E}">
        <p14:creationId xmlns:p14="http://schemas.microsoft.com/office/powerpoint/2010/main" val="20371793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33E6573EBEF95419FE5CDD911A166BF" ma:contentTypeVersion="2" ma:contentTypeDescription="Create a new document." ma:contentTypeScope="" ma:versionID="af8772857c8577c6f39c3966c4db86f2">
  <xsd:schema xmlns:xsd="http://www.w3.org/2001/XMLSchema" xmlns:xs="http://www.w3.org/2001/XMLSchema" xmlns:p="http://schemas.microsoft.com/office/2006/metadata/properties" xmlns:ns2="d06dbadc-5ebd-4821-b299-ce6b9eaad42b" targetNamespace="http://schemas.microsoft.com/office/2006/metadata/properties" ma:root="true" ma:fieldsID="4b8ab12f56004d35a3ac51f67fb975e2" ns2:_="">
    <xsd:import namespace="d06dbadc-5ebd-4821-b299-ce6b9eaad42b"/>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06dbadc-5ebd-4821-b299-ce6b9eaad42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203A000-F9C2-4E01-9841-4EE78E72A43C}"/>
</file>

<file path=customXml/itemProps2.xml><?xml version="1.0" encoding="utf-8"?>
<ds:datastoreItem xmlns:ds="http://schemas.openxmlformats.org/officeDocument/2006/customXml" ds:itemID="{7362F551-6081-4220-B6B9-204D5CD6E0E8}"/>
</file>

<file path=customXml/itemProps3.xml><?xml version="1.0" encoding="utf-8"?>
<ds:datastoreItem xmlns:ds="http://schemas.openxmlformats.org/officeDocument/2006/customXml" ds:itemID="{F26C6B5D-F93C-4077-98E0-F11A0D49249C}"/>
</file>

<file path=docProps/app.xml><?xml version="1.0" encoding="utf-8"?>
<Properties xmlns="http://schemas.openxmlformats.org/officeDocument/2006/extended-properties" xmlns:vt="http://schemas.openxmlformats.org/officeDocument/2006/docPropsVTypes">
  <TotalTime>930</TotalTime>
  <Words>3795</Words>
  <Application>Microsoft Office PowerPoint</Application>
  <PresentationFormat>On-screen Show (4:3)</PresentationFormat>
  <Paragraphs>412</Paragraphs>
  <Slides>49</Slides>
  <Notes>1</Notes>
  <HiddenSlides>0</HiddenSlides>
  <MMClips>0</MMClips>
  <ScaleCrop>false</ScaleCrop>
  <HeadingPairs>
    <vt:vector size="4" baseType="variant">
      <vt:variant>
        <vt:lpstr>Theme</vt:lpstr>
      </vt:variant>
      <vt:variant>
        <vt:i4>1</vt:i4>
      </vt:variant>
      <vt:variant>
        <vt:lpstr>Slide Titles</vt:lpstr>
      </vt:variant>
      <vt:variant>
        <vt:i4>49</vt:i4>
      </vt:variant>
    </vt:vector>
  </HeadingPairs>
  <TitlesOfParts>
    <vt:vector size="50" baseType="lpstr">
      <vt:lpstr>Office Theme</vt:lpstr>
      <vt:lpstr>Curs 7+8</vt:lpstr>
      <vt:lpstr>PowerPoint Presentation</vt:lpstr>
      <vt:lpstr>Testarea ipotezelor</vt:lpstr>
      <vt:lpstr>Metoda ”DEAR”</vt:lpstr>
      <vt:lpstr>Metoda ”DEAR”</vt:lpstr>
      <vt:lpstr>Metoda ”DEAR”</vt:lpstr>
      <vt:lpstr>Metoda ”DEAR”</vt:lpstr>
      <vt:lpstr>Metoda ”DEAR”</vt:lpstr>
      <vt:lpstr>Metoda ”DEAR”</vt:lpstr>
      <vt:lpstr>Metoda ”DEAR”</vt:lpstr>
      <vt:lpstr>Metoda ”DEAR”</vt:lpstr>
      <vt:lpstr>Metoda ”DEAR”</vt:lpstr>
      <vt:lpstr>Metoda ”DEAR”</vt:lpstr>
      <vt:lpstr>Metoda ”DEAR”</vt:lpstr>
      <vt:lpstr>Metoda ”DEAR”</vt:lpstr>
      <vt:lpstr>Metoda ”DEAR”</vt:lpstr>
      <vt:lpstr>Testarea ipotezelor</vt:lpstr>
      <vt:lpstr>Testarea ipotezelor</vt:lpstr>
      <vt:lpstr>Testarea ipotezelor</vt:lpstr>
      <vt:lpstr>Jon Snow vs. John Snow</vt:lpstr>
      <vt:lpstr>PowerPoint Presentation</vt:lpstr>
      <vt:lpstr>PowerPoint Presentation</vt:lpstr>
      <vt:lpstr>PowerPoint Presentation</vt:lpstr>
      <vt:lpstr>Metoda lui Mill</vt:lpstr>
      <vt:lpstr>Metoda acordului</vt:lpstr>
      <vt:lpstr>Metoda diferențelor</vt:lpstr>
      <vt:lpstr>Metoda cumulului</vt:lpstr>
      <vt:lpstr>Metoda variațiilor concomitente</vt:lpstr>
      <vt:lpstr>Metoda reziduurilor</vt:lpstr>
      <vt:lpstr>Limite ale metodelor lui Mill</vt:lpstr>
      <vt:lpstr>PowerPoint Presentation</vt:lpstr>
      <vt:lpstr>PowerPoint Presentation</vt:lpstr>
      <vt:lpstr>PowerPoint Presentation</vt:lpstr>
      <vt:lpstr>PowerPoint Presentation</vt:lpstr>
      <vt:lpstr>Argumente</vt:lpstr>
      <vt:lpstr>Sofisme - Paralogisme</vt:lpstr>
      <vt:lpstr>PowerPoint Presentation</vt:lpstr>
      <vt:lpstr>PowerPoint Presentation</vt:lpstr>
      <vt:lpstr>PowerPoint Presentation</vt:lpstr>
      <vt:lpstr>Erori in argumentare</vt:lpstr>
      <vt:lpstr>PowerPoint Presentation</vt:lpstr>
      <vt:lpstr>PowerPoint Presentation</vt:lpstr>
      <vt:lpstr>PowerPoint Presentation</vt:lpstr>
      <vt:lpstr>Inconsistenta</vt:lpstr>
      <vt:lpstr>PowerPoint Presentation</vt:lpstr>
      <vt:lpstr>PowerPoint Presentation</vt:lpstr>
      <vt:lpstr>PowerPoint Presentation</vt:lpstr>
      <vt:lpstr>PowerPoint Presentation</vt:lpstr>
      <vt:lpstr>To do</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Raționamentul științific</dc:title>
  <dc:creator>radu</dc:creator>
  <cp:lastModifiedBy>ADMINX</cp:lastModifiedBy>
  <cp:revision>96</cp:revision>
  <dcterms:created xsi:type="dcterms:W3CDTF">2017-12-10T14:59:19Z</dcterms:created>
  <dcterms:modified xsi:type="dcterms:W3CDTF">2020-12-07T16:40:12Z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0x010100F33E6573EBEF95419FE5CDD911A166BF</vt:lpwstr>
  </property>
</Properties>
</file>