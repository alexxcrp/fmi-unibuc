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s/slide15.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9.xml" ContentType="application/vnd.openxmlformats-officedocument.presentationml.slide+xml"/>
  <Override PartName="/ppt/slides/slide48.xml" ContentType="application/vnd.openxmlformats-officedocument.presentationml.slide+xml"/>
  <Override PartName="/ppt/slides/slide47.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14.xml" ContentType="application/vnd.openxmlformats-officedocument.presentationml.slide+xml"/>
  <Override PartName="/ppt/slides/slide50.xml" ContentType="application/vnd.openxmlformats-officedocument.presentationml.slide+xml"/>
  <Override PartName="/ppt/slides/slide5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51.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1.xml" ContentType="application/vnd.openxmlformats-officedocument.presentationml.slide+xml"/>
  <Override PartName="/ppt/slides/slide6.xml" ContentType="application/vnd.openxmlformats-officedocument.presentationml.slide+xml"/>
  <Override PartName="/ppt/slides/slide13.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12.xml" ContentType="application/vnd.openxmlformats-officedocument.presentationml.slide+xml"/>
  <Override PartName="/ppt/slides/slide58.xml" ContentType="application/vnd.openxmlformats-officedocument.presentationml.slide+xml"/>
  <Override PartName="/ppt/slides/slide61.xml" ContentType="application/vnd.openxmlformats-officedocument.presentationml.slide+xml"/>
  <Override PartName="/ppt/slides/slide57.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Masters/slideMaster1.xml" ContentType="application/vnd.openxmlformats-officedocument.presentationml.slideMaster+xml"/>
  <Override PartName="/ppt/slideLayouts/slideLayout8.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slideLayouts/slideLayout7.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3"/>
  </p:notesMasterIdLst>
  <p:sldIdLst>
    <p:sldId id="256" r:id="rId2"/>
    <p:sldId id="323" r:id="rId3"/>
    <p:sldId id="331" r:id="rId4"/>
    <p:sldId id="339" r:id="rId5"/>
    <p:sldId id="332" r:id="rId6"/>
    <p:sldId id="333" r:id="rId7"/>
    <p:sldId id="334" r:id="rId8"/>
    <p:sldId id="335" r:id="rId9"/>
    <p:sldId id="336" r:id="rId10"/>
    <p:sldId id="337" r:id="rId11"/>
    <p:sldId id="338" r:id="rId12"/>
    <p:sldId id="324" r:id="rId13"/>
    <p:sldId id="269" r:id="rId14"/>
    <p:sldId id="266" r:id="rId15"/>
    <p:sldId id="325" r:id="rId16"/>
    <p:sldId id="326" r:id="rId17"/>
    <p:sldId id="327" r:id="rId18"/>
    <p:sldId id="328" r:id="rId19"/>
    <p:sldId id="329" r:id="rId20"/>
    <p:sldId id="271" r:id="rId21"/>
    <p:sldId id="272" r:id="rId22"/>
    <p:sldId id="273" r:id="rId23"/>
    <p:sldId id="274" r:id="rId24"/>
    <p:sldId id="275" r:id="rId25"/>
    <p:sldId id="330" r:id="rId26"/>
    <p:sldId id="276" r:id="rId27"/>
    <p:sldId id="277" r:id="rId28"/>
    <p:sldId id="278" r:id="rId29"/>
    <p:sldId id="279" r:id="rId30"/>
    <p:sldId id="280" r:id="rId31"/>
    <p:sldId id="372" r:id="rId32"/>
    <p:sldId id="373" r:id="rId33"/>
    <p:sldId id="340" r:id="rId34"/>
    <p:sldId id="341" r:id="rId35"/>
    <p:sldId id="342" r:id="rId36"/>
    <p:sldId id="348" r:id="rId37"/>
    <p:sldId id="349" r:id="rId38"/>
    <p:sldId id="350" r:id="rId39"/>
    <p:sldId id="374" r:id="rId40"/>
    <p:sldId id="351" r:id="rId41"/>
    <p:sldId id="352" r:id="rId42"/>
    <p:sldId id="353" r:id="rId43"/>
    <p:sldId id="354" r:id="rId44"/>
    <p:sldId id="355" r:id="rId45"/>
    <p:sldId id="356" r:id="rId46"/>
    <p:sldId id="357" r:id="rId47"/>
    <p:sldId id="358" r:id="rId48"/>
    <p:sldId id="359" r:id="rId49"/>
    <p:sldId id="360" r:id="rId50"/>
    <p:sldId id="361" r:id="rId51"/>
    <p:sldId id="362" r:id="rId52"/>
    <p:sldId id="363" r:id="rId53"/>
    <p:sldId id="364" r:id="rId54"/>
    <p:sldId id="365" r:id="rId55"/>
    <p:sldId id="366" r:id="rId56"/>
    <p:sldId id="367" r:id="rId57"/>
    <p:sldId id="368" r:id="rId58"/>
    <p:sldId id="369" r:id="rId59"/>
    <p:sldId id="370" r:id="rId60"/>
    <p:sldId id="371" r:id="rId61"/>
    <p:sldId id="321" r:id="rId6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30" autoAdjust="0"/>
    <p:restoredTop sz="94660"/>
  </p:normalViewPr>
  <p:slideViewPr>
    <p:cSldViewPr>
      <p:cViewPr varScale="1">
        <p:scale>
          <a:sx n="69" d="100"/>
          <a:sy n="69" d="100"/>
        </p:scale>
        <p:origin x="-1392"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69" Type="http://schemas.openxmlformats.org/officeDocument/2006/relationships/customXml" Target="../customXml/item2.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CB5A9FC-2B2A-4E8A-927B-1A7BFCFFE944}" type="datetimeFigureOut">
              <a:rPr lang="en-US" smtClean="0"/>
              <a:t>11/17/2020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0E83890-197E-40D1-AFED-E384B11E87CD}" type="slidenum">
              <a:rPr lang="en-US" smtClean="0"/>
              <a:t>‹#›</a:t>
            </a:fld>
            <a:endParaRPr lang="en-US"/>
          </a:p>
        </p:txBody>
      </p:sp>
    </p:spTree>
    <p:extLst>
      <p:ext uri="{BB962C8B-B14F-4D97-AF65-F5344CB8AC3E}">
        <p14:creationId xmlns:p14="http://schemas.microsoft.com/office/powerpoint/2010/main" val="17191005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37C8015-59A4-4138-8EE3-2539BD4B6A29}" type="slidenum">
              <a:rPr lang="en-US" smtClean="0"/>
              <a:t>12</a:t>
            </a:fld>
            <a:endParaRPr lang="en-US"/>
          </a:p>
        </p:txBody>
      </p:sp>
    </p:spTree>
    <p:extLst>
      <p:ext uri="{BB962C8B-B14F-4D97-AF65-F5344CB8AC3E}">
        <p14:creationId xmlns:p14="http://schemas.microsoft.com/office/powerpoint/2010/main" val="36762026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smtClean="0"/>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08634FD-C019-4023-B450-70DE41ABDA11}" type="datetimeFigureOut">
              <a:rPr lang="en-US" smtClean="0"/>
              <a:pPr/>
              <a:t>11/17/2020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AEC7AC-DF43-44CD-A8C0-E1F5CFFA408A}" type="slidenum">
              <a:rPr lang="en-US" smtClean="0"/>
              <a:pPr/>
              <a:t>‹#›</a:t>
            </a:fld>
            <a:endParaRPr lang="en-US"/>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15934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08634FD-C019-4023-B450-70DE41ABDA11}" type="datetimeFigureOut">
              <a:rPr lang="en-US" smtClean="0"/>
              <a:pPr/>
              <a:t>11/17/2020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AEC7AC-DF43-44CD-A8C0-E1F5CFFA408A}" type="slidenum">
              <a:rPr lang="en-US" smtClean="0"/>
              <a:pPr/>
              <a:t>‹#›</a:t>
            </a:fld>
            <a:endParaRPr lang="en-US"/>
          </a:p>
        </p:txBody>
      </p:sp>
    </p:spTree>
    <p:extLst>
      <p:ext uri="{BB962C8B-B14F-4D97-AF65-F5344CB8AC3E}">
        <p14:creationId xmlns:p14="http://schemas.microsoft.com/office/powerpoint/2010/main" val="14760712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08634FD-C019-4023-B450-70DE41ABDA11}" type="datetimeFigureOut">
              <a:rPr lang="en-US" smtClean="0"/>
              <a:pPr/>
              <a:t>11/17/2020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AEC7AC-DF43-44CD-A8C0-E1F5CFFA408A}" type="slidenum">
              <a:rPr lang="en-US" smtClean="0"/>
              <a:pPr/>
              <a:t>‹#›</a:t>
            </a:fld>
            <a:endParaRPr lang="en-US"/>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467476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08634FD-C019-4023-B450-70DE41ABDA11}" type="datetimeFigureOut">
              <a:rPr lang="en-US" smtClean="0"/>
              <a:pPr/>
              <a:t>11/17/2020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AEC7AC-DF43-44CD-A8C0-E1F5CFFA408A}" type="slidenum">
              <a:rPr lang="en-US" smtClean="0"/>
              <a:pPr/>
              <a:t>‹#›</a:t>
            </a:fld>
            <a:endParaRPr lang="en-US"/>
          </a:p>
        </p:txBody>
      </p:sp>
    </p:spTree>
    <p:extLst>
      <p:ext uri="{BB962C8B-B14F-4D97-AF65-F5344CB8AC3E}">
        <p14:creationId xmlns:p14="http://schemas.microsoft.com/office/powerpoint/2010/main" val="25197849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08634FD-C019-4023-B450-70DE41ABDA11}" type="datetimeFigureOut">
              <a:rPr lang="en-US" smtClean="0"/>
              <a:pPr/>
              <a:t>11/17/2020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AEC7AC-DF43-44CD-A8C0-E1F5CFFA408A}" type="slidenum">
              <a:rPr lang="en-US" smtClean="0"/>
              <a:pPr/>
              <a:t>‹#›</a:t>
            </a:fld>
            <a:endParaRPr lang="en-US"/>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88557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08634FD-C019-4023-B450-70DE41ABDA11}" type="datetimeFigureOut">
              <a:rPr lang="en-US" smtClean="0"/>
              <a:pPr/>
              <a:t>11/17/2020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AEC7AC-DF43-44CD-A8C0-E1F5CFFA408A}" type="slidenum">
              <a:rPr lang="en-US" smtClean="0"/>
              <a:pPr/>
              <a:t>‹#›</a:t>
            </a:fld>
            <a:endParaRPr lang="en-US"/>
          </a:p>
        </p:txBody>
      </p:sp>
    </p:spTree>
    <p:extLst>
      <p:ext uri="{BB962C8B-B14F-4D97-AF65-F5344CB8AC3E}">
        <p14:creationId xmlns:p14="http://schemas.microsoft.com/office/powerpoint/2010/main" val="4707742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8634FD-C019-4023-B450-70DE41ABDA11}" type="datetimeFigureOut">
              <a:rPr lang="en-US" smtClean="0"/>
              <a:pPr/>
              <a:t>11/17/2020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AEC7AC-DF43-44CD-A8C0-E1F5CFFA408A}" type="slidenum">
              <a:rPr lang="en-US" smtClean="0"/>
              <a:pPr/>
              <a:t>‹#›</a:t>
            </a:fld>
            <a:endParaRPr lang="en-US"/>
          </a:p>
        </p:txBody>
      </p:sp>
    </p:spTree>
    <p:extLst>
      <p:ext uri="{BB962C8B-B14F-4D97-AF65-F5344CB8AC3E}">
        <p14:creationId xmlns:p14="http://schemas.microsoft.com/office/powerpoint/2010/main" val="1743339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08634FD-C019-4023-B450-70DE41ABDA11}" type="datetimeFigureOut">
              <a:rPr lang="en-US" smtClean="0"/>
              <a:pPr/>
              <a:t>11/17/2020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AEC7AC-DF43-44CD-A8C0-E1F5CFFA408A}" type="slidenum">
              <a:rPr lang="en-US" smtClean="0"/>
              <a:pPr/>
              <a:t>‹#›</a:t>
            </a:fld>
            <a:endParaRPr lang="en-US"/>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854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08634FD-C019-4023-B450-70DE41ABDA11}" type="datetimeFigureOut">
              <a:rPr lang="en-US" smtClean="0"/>
              <a:pPr/>
              <a:t>11/17/2020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AEC7AC-DF43-44CD-A8C0-E1F5CFFA408A}" type="slidenum">
              <a:rPr lang="en-US" smtClean="0"/>
              <a:pPr/>
              <a:t>‹#›</a:t>
            </a:fld>
            <a:endParaRPr lang="en-US"/>
          </a:p>
        </p:txBody>
      </p:sp>
    </p:spTree>
    <p:extLst>
      <p:ext uri="{BB962C8B-B14F-4D97-AF65-F5344CB8AC3E}">
        <p14:creationId xmlns:p14="http://schemas.microsoft.com/office/powerpoint/2010/main" val="8007451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08634FD-C019-4023-B450-70DE41ABDA11}" type="datetimeFigureOut">
              <a:rPr lang="en-US" smtClean="0"/>
              <a:pPr/>
              <a:t>11/17/2020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AEC7AC-DF43-44CD-A8C0-E1F5CFFA408A}" type="slidenum">
              <a:rPr lang="en-US" smtClean="0"/>
              <a:pPr/>
              <a:t>‹#›</a:t>
            </a:fld>
            <a:endParaRPr lang="en-US"/>
          </a:p>
        </p:txBody>
      </p:sp>
    </p:spTree>
    <p:extLst>
      <p:ext uri="{BB962C8B-B14F-4D97-AF65-F5344CB8AC3E}">
        <p14:creationId xmlns:p14="http://schemas.microsoft.com/office/powerpoint/2010/main" val="1554539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08634FD-C019-4023-B450-70DE41ABDA11}" type="datetimeFigureOut">
              <a:rPr lang="en-US" smtClean="0"/>
              <a:pPr/>
              <a:t>11/17/2020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AEC7AC-DF43-44CD-A8C0-E1F5CFFA408A}" type="slidenum">
              <a:rPr lang="en-US" smtClean="0"/>
              <a:pPr/>
              <a:t>‹#›</a:t>
            </a:fld>
            <a:endParaRPr lang="en-US"/>
          </a:p>
        </p:txBody>
      </p:sp>
    </p:spTree>
    <p:extLst>
      <p:ext uri="{BB962C8B-B14F-4D97-AF65-F5344CB8AC3E}">
        <p14:creationId xmlns:p14="http://schemas.microsoft.com/office/powerpoint/2010/main" val="3801515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008634FD-C019-4023-B450-70DE41ABDA11}" type="datetimeFigureOut">
              <a:rPr lang="en-US" smtClean="0"/>
              <a:pPr/>
              <a:t>11/17/2020</a:t>
            </a:fld>
            <a:endParaRPr lang="en-US"/>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en-US"/>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8CAEC7AC-DF43-44CD-A8C0-E1F5CFFA408A}" type="slidenum">
              <a:rPr lang="en-US" smtClean="0"/>
              <a:pPr/>
              <a:t>‹#›</a:t>
            </a:fld>
            <a:endParaRPr lang="en-US"/>
          </a:p>
        </p:txBody>
      </p:sp>
    </p:spTree>
    <p:extLst>
      <p:ext uri="{BB962C8B-B14F-4D97-AF65-F5344CB8AC3E}">
        <p14:creationId xmlns:p14="http://schemas.microsoft.com/office/powerpoint/2010/main" val="19871011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dirty="0" smtClean="0"/>
              <a:t>Curs 4</a:t>
            </a:r>
            <a:endParaRPr lang="en-US" dirty="0"/>
          </a:p>
        </p:txBody>
      </p:sp>
      <p:sp>
        <p:nvSpPr>
          <p:cNvPr id="3" name="Subtitle 2"/>
          <p:cNvSpPr>
            <a:spLocks noGrp="1"/>
          </p:cNvSpPr>
          <p:nvPr>
            <p:ph type="subTitle" idx="1"/>
          </p:nvPr>
        </p:nvSpPr>
        <p:spPr/>
        <p:txBody>
          <a:bodyPr/>
          <a:lstStyle/>
          <a:p>
            <a:pPr algn="ctr"/>
            <a:r>
              <a:rPr lang="ro-RO" dirty="0" smtClean="0"/>
              <a:t>Ce este un argument?</a:t>
            </a:r>
          </a:p>
          <a:p>
            <a:pPr algn="ctr"/>
            <a:r>
              <a:rPr lang="ro-RO" dirty="0" smtClean="0"/>
              <a:t>Ce este un argument bun?</a:t>
            </a:r>
            <a:endParaRPr lang="en-US" dirty="0"/>
          </a:p>
        </p:txBody>
      </p:sp>
    </p:spTree>
    <p:extLst>
      <p:ext uri="{BB962C8B-B14F-4D97-AF65-F5344CB8AC3E}">
        <p14:creationId xmlns:p14="http://schemas.microsoft.com/office/powerpoint/2010/main" val="422480319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Argument</a:t>
            </a:r>
            <a:endParaRPr lang="en-US" dirty="0"/>
          </a:p>
        </p:txBody>
      </p:sp>
      <p:sp>
        <p:nvSpPr>
          <p:cNvPr id="3" name="Content Placeholder 2"/>
          <p:cNvSpPr>
            <a:spLocks noGrp="1"/>
          </p:cNvSpPr>
          <p:nvPr>
            <p:ph idx="1"/>
          </p:nvPr>
        </p:nvSpPr>
        <p:spPr>
          <a:xfrm>
            <a:off x="228600" y="1371600"/>
            <a:ext cx="8686800" cy="5410200"/>
          </a:xfrm>
        </p:spPr>
        <p:txBody>
          <a:bodyPr>
            <a:normAutofit/>
          </a:bodyPr>
          <a:lstStyle/>
          <a:p>
            <a:r>
              <a:rPr lang="ro-RO" dirty="0" smtClean="0"/>
              <a:t>Ce este un argument?</a:t>
            </a:r>
          </a:p>
          <a:p>
            <a:endParaRPr lang="ro-RO" dirty="0"/>
          </a:p>
          <a:p>
            <a:pPr marL="0" indent="0">
              <a:buNone/>
            </a:pPr>
            <a:r>
              <a:rPr lang="ro-RO" b="1" dirty="0" smtClean="0">
                <a:solidFill>
                  <a:srgbClr val="FF0000"/>
                </a:solidFill>
                <a:effectLst>
                  <a:outerShdw blurRad="38100" dist="38100" dir="2700000" algn="tl">
                    <a:srgbClr val="000000">
                      <a:alpha val="43137"/>
                    </a:srgbClr>
                  </a:outerShdw>
                </a:effectLst>
              </a:rPr>
              <a:t>Argumentul</a:t>
            </a:r>
            <a:r>
              <a:rPr lang="ro-RO" dirty="0" smtClean="0"/>
              <a:t> = (df) un set de enunțuri, din care unul este </a:t>
            </a:r>
            <a:r>
              <a:rPr lang="ro-RO" b="1" dirty="0" smtClean="0"/>
              <a:t>concluzia</a:t>
            </a:r>
            <a:r>
              <a:rPr lang="ro-RO" b="1" i="1" dirty="0" smtClean="0"/>
              <a:t> </a:t>
            </a:r>
            <a:r>
              <a:rPr lang="ro-RO" dirty="0" smtClean="0"/>
              <a:t>și cel puțin unul este </a:t>
            </a:r>
            <a:r>
              <a:rPr lang="ro-RO" b="1" dirty="0" smtClean="0"/>
              <a:t>premisa </a:t>
            </a:r>
            <a:r>
              <a:rPr lang="ro-RO" dirty="0" smtClean="0"/>
              <a:t>care susține concluzia</a:t>
            </a:r>
            <a:endParaRPr lang="ro-RO" b="1" i="1" dirty="0" smtClean="0"/>
          </a:p>
          <a:p>
            <a:pPr>
              <a:buFontTx/>
              <a:buChar char="-"/>
            </a:pPr>
            <a:r>
              <a:rPr lang="ro-RO" dirty="0" smtClean="0"/>
              <a:t>Poate avea una sau mai multe premise</a:t>
            </a:r>
          </a:p>
          <a:p>
            <a:pPr marL="0" indent="0">
              <a:buNone/>
            </a:pPr>
            <a:endParaRPr lang="ro-RO" dirty="0" smtClean="0"/>
          </a:p>
          <a:p>
            <a:pPr marL="0" indent="0">
              <a:buNone/>
            </a:pPr>
            <a:r>
              <a:rPr lang="ro-RO" i="1" dirty="0" smtClean="0">
                <a:effectLst>
                  <a:outerShdw blurRad="38100" dist="38100" dir="2700000" algn="tl">
                    <a:srgbClr val="000000">
                      <a:alpha val="43137"/>
                    </a:srgbClr>
                  </a:outerShdw>
                </a:effectLst>
              </a:rPr>
              <a:t>Reprezintă următoarele exemple argumente?</a:t>
            </a:r>
          </a:p>
          <a:p>
            <a:pPr marL="457200" indent="-457200">
              <a:buAutoNum type="alphaLcPeriod"/>
            </a:pPr>
            <a:r>
              <a:rPr lang="ro-RO" dirty="0" smtClean="0"/>
              <a:t>Trebuie să luptăm și să mergem până la capăt. </a:t>
            </a:r>
          </a:p>
          <a:p>
            <a:pPr marL="457200" indent="-457200">
              <a:buAutoNum type="alphaLcPeriod"/>
            </a:pPr>
            <a:r>
              <a:rPr lang="ro-RO" dirty="0" smtClean="0"/>
              <a:t>Toți oamenii sunt muritori și Socrate e om. În concluzie, Socrate e muritor</a:t>
            </a:r>
          </a:p>
          <a:p>
            <a:pPr marL="0" indent="0">
              <a:buNone/>
            </a:pPr>
            <a:endParaRPr lang="ro-RO" dirty="0" smtClean="0"/>
          </a:p>
        </p:txBody>
      </p:sp>
    </p:spTree>
    <p:extLst>
      <p:ext uri="{BB962C8B-B14F-4D97-AF65-F5344CB8AC3E}">
        <p14:creationId xmlns:p14="http://schemas.microsoft.com/office/powerpoint/2010/main" val="570041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 calcmode="lin" valueType="num">
                                      <p:cBhvr additive="base">
                                        <p:cTn id="1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 calcmode="lin" valueType="num">
                                      <p:cBhvr additive="base">
                                        <p:cTn id="2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Shape 1"/>
          <p:cNvSpPr txBox="1"/>
          <p:nvPr/>
        </p:nvSpPr>
        <p:spPr>
          <a:xfrm>
            <a:off x="457200" y="0"/>
            <a:ext cx="8229240" cy="1142640"/>
          </a:xfrm>
          <a:prstGeom prst="rect">
            <a:avLst/>
          </a:prstGeom>
        </p:spPr>
        <p:txBody>
          <a:bodyPr anchor="ctr"/>
          <a:lstStyle/>
          <a:p>
            <a:pPr algn="ctr">
              <a:lnSpc>
                <a:spcPct val="100000"/>
              </a:lnSpc>
            </a:pPr>
            <a:r>
              <a:rPr lang="en-US" sz="4400" dirty="0" err="1" smtClean="0">
                <a:solidFill>
                  <a:srgbClr val="000000"/>
                </a:solidFill>
                <a:latin typeface="Calibri"/>
              </a:rPr>
              <a:t>Argumente</a:t>
            </a:r>
            <a:endParaRPr dirty="0"/>
          </a:p>
        </p:txBody>
      </p:sp>
      <p:sp>
        <p:nvSpPr>
          <p:cNvPr id="7" name="TextShape 2"/>
          <p:cNvSpPr txBox="1"/>
          <p:nvPr/>
        </p:nvSpPr>
        <p:spPr>
          <a:xfrm>
            <a:off x="457200" y="990600"/>
            <a:ext cx="8229240" cy="5486400"/>
          </a:xfrm>
          <a:prstGeom prst="rect">
            <a:avLst/>
          </a:prstGeom>
        </p:spPr>
        <p:txBody>
          <a:bodyPr/>
          <a:lstStyle/>
          <a:p>
            <a:pPr>
              <a:lnSpc>
                <a:spcPct val="100000"/>
              </a:lnSpc>
            </a:pPr>
            <a:r>
              <a:rPr lang="en-US" sz="3200" dirty="0" smtClean="0">
                <a:solidFill>
                  <a:srgbClr val="000000"/>
                </a:solidFill>
                <a:latin typeface="Calibri"/>
              </a:rPr>
              <a:t>Forma </a:t>
            </a:r>
            <a:r>
              <a:rPr lang="en-US" sz="3200" dirty="0" err="1" smtClean="0">
                <a:solidFill>
                  <a:srgbClr val="000000"/>
                </a:solidFill>
                <a:latin typeface="Calibri"/>
              </a:rPr>
              <a:t>unui</a:t>
            </a:r>
            <a:r>
              <a:rPr lang="en-US" sz="3200" dirty="0" smtClean="0">
                <a:solidFill>
                  <a:srgbClr val="000000"/>
                </a:solidFill>
                <a:latin typeface="Calibri"/>
              </a:rPr>
              <a:t> argument:</a:t>
            </a:r>
          </a:p>
          <a:p>
            <a:pPr>
              <a:lnSpc>
                <a:spcPct val="100000"/>
              </a:lnSpc>
            </a:pPr>
            <a:r>
              <a:rPr lang="en-US" sz="3200" dirty="0" smtClean="0">
                <a:solidFill>
                  <a:srgbClr val="000000"/>
                </a:solidFill>
                <a:latin typeface="Calibri"/>
              </a:rPr>
              <a:t>		</a:t>
            </a:r>
            <a:r>
              <a:rPr lang="en-US" sz="3200" dirty="0" err="1" smtClean="0">
                <a:solidFill>
                  <a:srgbClr val="000000"/>
                </a:solidFill>
                <a:latin typeface="Calibri"/>
              </a:rPr>
              <a:t>Premisa</a:t>
            </a:r>
            <a:r>
              <a:rPr lang="en-US" sz="3200" dirty="0" smtClean="0">
                <a:solidFill>
                  <a:srgbClr val="000000"/>
                </a:solidFill>
                <a:latin typeface="Calibri"/>
              </a:rPr>
              <a:t> 1</a:t>
            </a:r>
          </a:p>
          <a:p>
            <a:pPr>
              <a:lnSpc>
                <a:spcPct val="100000"/>
              </a:lnSpc>
            </a:pPr>
            <a:r>
              <a:rPr lang="en-US" sz="3200" dirty="0" smtClean="0">
                <a:solidFill>
                  <a:srgbClr val="000000"/>
                </a:solidFill>
                <a:latin typeface="Calibri"/>
              </a:rPr>
              <a:t>		</a:t>
            </a:r>
            <a:r>
              <a:rPr lang="en-US" sz="3200" dirty="0" err="1" smtClean="0">
                <a:solidFill>
                  <a:srgbClr val="000000"/>
                </a:solidFill>
                <a:latin typeface="Calibri"/>
              </a:rPr>
              <a:t>Premisa</a:t>
            </a:r>
            <a:r>
              <a:rPr lang="en-US" sz="3200" dirty="0" smtClean="0">
                <a:solidFill>
                  <a:srgbClr val="000000"/>
                </a:solidFill>
                <a:latin typeface="Calibri"/>
              </a:rPr>
              <a:t> 2</a:t>
            </a:r>
          </a:p>
          <a:p>
            <a:pPr>
              <a:lnSpc>
                <a:spcPct val="100000"/>
              </a:lnSpc>
            </a:pPr>
            <a:r>
              <a:rPr lang="en-US" sz="3200" dirty="0" smtClean="0">
                <a:solidFill>
                  <a:srgbClr val="000000"/>
                </a:solidFill>
                <a:latin typeface="Calibri"/>
              </a:rPr>
              <a:t>		…</a:t>
            </a:r>
          </a:p>
          <a:p>
            <a:pPr>
              <a:lnSpc>
                <a:spcPct val="100000"/>
              </a:lnSpc>
            </a:pPr>
            <a:r>
              <a:rPr lang="en-US" sz="3200" dirty="0" smtClean="0">
                <a:solidFill>
                  <a:srgbClr val="000000"/>
                </a:solidFill>
                <a:latin typeface="Calibri"/>
              </a:rPr>
              <a:t>		</a:t>
            </a:r>
            <a:r>
              <a:rPr lang="en-US" sz="3200" dirty="0" err="1" smtClean="0">
                <a:solidFill>
                  <a:srgbClr val="000000"/>
                </a:solidFill>
                <a:latin typeface="Calibri"/>
              </a:rPr>
              <a:t>Concluzie</a:t>
            </a:r>
            <a:endParaRPr lang="en-US" sz="3200" dirty="0" smtClean="0">
              <a:solidFill>
                <a:srgbClr val="000000"/>
              </a:solidFill>
              <a:latin typeface="Calibri"/>
            </a:endParaRPr>
          </a:p>
          <a:p>
            <a:pPr>
              <a:lnSpc>
                <a:spcPct val="100000"/>
              </a:lnSpc>
            </a:pPr>
            <a:endParaRPr lang="en-US" sz="3200" dirty="0">
              <a:solidFill>
                <a:srgbClr val="000000"/>
              </a:solidFill>
              <a:latin typeface="Calibri"/>
            </a:endParaRPr>
          </a:p>
          <a:p>
            <a:pPr>
              <a:lnSpc>
                <a:spcPct val="100000"/>
              </a:lnSpc>
            </a:pPr>
            <a:r>
              <a:rPr lang="en-US" sz="2800" b="1" dirty="0" smtClean="0">
                <a:solidFill>
                  <a:srgbClr val="000000"/>
                </a:solidFill>
                <a:latin typeface="Calibri"/>
              </a:rPr>
              <a:t>Argument valid</a:t>
            </a:r>
          </a:p>
          <a:p>
            <a:pPr>
              <a:lnSpc>
                <a:spcPct val="100000"/>
              </a:lnSpc>
            </a:pPr>
            <a:r>
              <a:rPr lang="ro-RO" sz="2800" dirty="0" smtClean="0">
                <a:solidFill>
                  <a:srgbClr val="000000"/>
                </a:solidFill>
                <a:latin typeface="Calibri"/>
              </a:rPr>
              <a:t>= </a:t>
            </a:r>
            <a:r>
              <a:rPr lang="en-US" sz="2800" dirty="0" smtClean="0">
                <a:solidFill>
                  <a:srgbClr val="000000"/>
                </a:solidFill>
                <a:latin typeface="Calibri"/>
              </a:rPr>
              <a:t>Este </a:t>
            </a:r>
            <a:r>
              <a:rPr lang="en-US" sz="2800" dirty="0" err="1" smtClean="0">
                <a:solidFill>
                  <a:srgbClr val="000000"/>
                </a:solidFill>
                <a:latin typeface="Calibri"/>
              </a:rPr>
              <a:t>imposibil</a:t>
            </a:r>
            <a:r>
              <a:rPr lang="ro-RO" sz="2800" dirty="0" smtClean="0">
                <a:solidFill>
                  <a:srgbClr val="000000"/>
                </a:solidFill>
                <a:latin typeface="Calibri"/>
              </a:rPr>
              <a:t> ca premisele să fie adevărate și concluzia falsă</a:t>
            </a:r>
          </a:p>
          <a:p>
            <a:pPr>
              <a:lnSpc>
                <a:spcPct val="100000"/>
              </a:lnSpc>
            </a:pPr>
            <a:r>
              <a:rPr lang="ro-RO" sz="2800" dirty="0" smtClean="0">
                <a:solidFill>
                  <a:srgbClr val="000000"/>
                </a:solidFill>
                <a:latin typeface="Calibri"/>
              </a:rPr>
              <a:t>= Cu necesitate, adevărul premiselor implică adevărul concluziei.</a:t>
            </a:r>
            <a:endParaRPr sz="1600" dirty="0"/>
          </a:p>
          <a:p>
            <a:pPr>
              <a:lnSpc>
                <a:spcPct val="100000"/>
              </a:lnSpc>
            </a:pPr>
            <a:endParaRPr dirty="0"/>
          </a:p>
          <a:p>
            <a:pPr>
              <a:lnSpc>
                <a:spcPct val="100000"/>
              </a:lnSpc>
            </a:pPr>
            <a:endParaRPr dirty="0"/>
          </a:p>
          <a:p>
            <a:pPr>
              <a:lnSpc>
                <a:spcPct val="100000"/>
              </a:lnSpc>
            </a:pPr>
            <a:endParaRPr dirty="0"/>
          </a:p>
          <a:p>
            <a:pPr>
              <a:lnSpc>
                <a:spcPct val="100000"/>
              </a:lnSpc>
            </a:pPr>
            <a:endParaRPr dirty="0"/>
          </a:p>
        </p:txBody>
      </p:sp>
    </p:spTree>
    <p:extLst>
      <p:ext uri="{BB962C8B-B14F-4D97-AF65-F5344CB8AC3E}">
        <p14:creationId xmlns:p14="http://schemas.microsoft.com/office/powerpoint/2010/main" val="231874367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But why?</a:t>
            </a:r>
            <a:endParaRPr lang="en-US" dirty="0"/>
          </a:p>
        </p:txBody>
      </p:sp>
      <p:sp>
        <p:nvSpPr>
          <p:cNvPr id="3" name="Content Placeholder 2"/>
          <p:cNvSpPr>
            <a:spLocks noGrp="1"/>
          </p:cNvSpPr>
          <p:nvPr>
            <p:ph idx="1"/>
          </p:nvPr>
        </p:nvSpPr>
        <p:spPr/>
        <p:txBody>
          <a:bodyPr/>
          <a:lstStyle/>
          <a:p>
            <a:pPr marL="0" indent="0">
              <a:buNone/>
            </a:pPr>
            <a:r>
              <a:rPr lang="ro-RO" dirty="0" smtClean="0"/>
              <a:t>(P1&amp;P2&amp;..Pn)</a:t>
            </a:r>
            <a:r>
              <a:rPr lang="ro-RO" dirty="0" smtClean="0">
                <a:latin typeface="Arial"/>
                <a:cs typeface="Arial"/>
              </a:rPr>
              <a:t>→C</a:t>
            </a:r>
          </a:p>
          <a:p>
            <a:pPr mar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209808287"/>
              </p:ext>
            </p:extLst>
          </p:nvPr>
        </p:nvGraphicFramePr>
        <p:xfrm>
          <a:off x="1676400" y="2895600"/>
          <a:ext cx="6096000" cy="1854200"/>
        </p:xfrm>
        <a:graphic>
          <a:graphicData uri="http://schemas.openxmlformats.org/drawingml/2006/table">
            <a:tbl>
              <a:tblPr firstRow="1" bandRow="1">
                <a:tableStyleId>{5C22544A-7EE6-4342-B048-85BDC9FD1C3A}</a:tableStyleId>
              </a:tblPr>
              <a:tblGrid>
                <a:gridCol w="2032000"/>
                <a:gridCol w="2032000"/>
                <a:gridCol w="2032000"/>
              </a:tblGrid>
              <a:tr h="370840">
                <a:tc>
                  <a:txBody>
                    <a:bodyPr/>
                    <a:lstStyle/>
                    <a:p>
                      <a:pPr algn="ctr"/>
                      <a:r>
                        <a:rPr lang="ro-RO" dirty="0" smtClean="0"/>
                        <a:t>Premise</a:t>
                      </a:r>
                      <a:endParaRPr lang="en-US" dirty="0"/>
                    </a:p>
                  </a:txBody>
                  <a:tcPr/>
                </a:tc>
                <a:tc>
                  <a:txBody>
                    <a:bodyPr/>
                    <a:lstStyle/>
                    <a:p>
                      <a:pPr algn="ctr"/>
                      <a:r>
                        <a:rPr lang="ro-RO" dirty="0" smtClean="0"/>
                        <a:t>Concluzie</a:t>
                      </a:r>
                      <a:endParaRPr lang="en-US" dirty="0"/>
                    </a:p>
                  </a:txBody>
                  <a:tcPr/>
                </a:tc>
                <a:tc>
                  <a:txBody>
                    <a:bodyPr/>
                    <a:lstStyle/>
                    <a:p>
                      <a:pPr algn="ctr"/>
                      <a:r>
                        <a:rPr lang="ro-RO" dirty="0" smtClean="0"/>
                        <a:t>Argument</a:t>
                      </a:r>
                      <a:endParaRPr lang="en-US" dirty="0"/>
                    </a:p>
                  </a:txBody>
                  <a:tcPr/>
                </a:tc>
              </a:tr>
              <a:tr h="370840">
                <a:tc>
                  <a:txBody>
                    <a:bodyPr/>
                    <a:lstStyle/>
                    <a:p>
                      <a:pPr algn="ctr"/>
                      <a:r>
                        <a:rPr lang="ro-RO" dirty="0" smtClean="0"/>
                        <a:t>1</a:t>
                      </a:r>
                      <a:endParaRPr lang="en-US" dirty="0"/>
                    </a:p>
                  </a:txBody>
                  <a:tcPr/>
                </a:tc>
                <a:tc>
                  <a:txBody>
                    <a:bodyPr/>
                    <a:lstStyle/>
                    <a:p>
                      <a:pPr algn="ctr"/>
                      <a:r>
                        <a:rPr lang="ro-RO" dirty="0" smtClean="0"/>
                        <a:t>1</a:t>
                      </a:r>
                      <a:endParaRPr lang="en-US" dirty="0"/>
                    </a:p>
                  </a:txBody>
                  <a:tcPr/>
                </a:tc>
                <a:tc>
                  <a:txBody>
                    <a:bodyPr/>
                    <a:lstStyle/>
                    <a:p>
                      <a:pPr algn="ctr"/>
                      <a:r>
                        <a:rPr lang="ro-RO" dirty="0" smtClean="0"/>
                        <a:t>1</a:t>
                      </a:r>
                      <a:endParaRPr lang="en-US" dirty="0"/>
                    </a:p>
                  </a:txBody>
                  <a:tcPr/>
                </a:tc>
              </a:tr>
              <a:tr h="370840">
                <a:tc>
                  <a:txBody>
                    <a:bodyPr/>
                    <a:lstStyle/>
                    <a:p>
                      <a:pPr algn="ctr"/>
                      <a:r>
                        <a:rPr lang="ro-RO" dirty="0" smtClean="0"/>
                        <a:t>1</a:t>
                      </a:r>
                      <a:endParaRPr lang="en-US" dirty="0"/>
                    </a:p>
                  </a:txBody>
                  <a:tcPr/>
                </a:tc>
                <a:tc>
                  <a:txBody>
                    <a:bodyPr/>
                    <a:lstStyle/>
                    <a:p>
                      <a:pPr algn="ctr"/>
                      <a:r>
                        <a:rPr lang="ro-RO" dirty="0" smtClean="0"/>
                        <a:t>0</a:t>
                      </a:r>
                      <a:endParaRPr lang="en-US" dirty="0"/>
                    </a:p>
                  </a:txBody>
                  <a:tcPr/>
                </a:tc>
                <a:tc>
                  <a:txBody>
                    <a:bodyPr/>
                    <a:lstStyle/>
                    <a:p>
                      <a:pPr algn="ctr"/>
                      <a:r>
                        <a:rPr lang="ro-RO" dirty="0" smtClean="0"/>
                        <a:t>0</a:t>
                      </a:r>
                      <a:endParaRPr lang="en-US" dirty="0"/>
                    </a:p>
                  </a:txBody>
                  <a:tcPr/>
                </a:tc>
              </a:tr>
              <a:tr h="370840">
                <a:tc>
                  <a:txBody>
                    <a:bodyPr/>
                    <a:lstStyle/>
                    <a:p>
                      <a:pPr algn="ctr"/>
                      <a:r>
                        <a:rPr lang="ro-RO" dirty="0" smtClean="0"/>
                        <a:t>0</a:t>
                      </a:r>
                      <a:endParaRPr lang="en-US" dirty="0"/>
                    </a:p>
                  </a:txBody>
                  <a:tcPr/>
                </a:tc>
                <a:tc>
                  <a:txBody>
                    <a:bodyPr/>
                    <a:lstStyle/>
                    <a:p>
                      <a:pPr algn="ctr"/>
                      <a:r>
                        <a:rPr lang="ro-RO" dirty="0" smtClean="0"/>
                        <a:t>1</a:t>
                      </a:r>
                      <a:endParaRPr lang="en-US" dirty="0"/>
                    </a:p>
                  </a:txBody>
                  <a:tcPr/>
                </a:tc>
                <a:tc>
                  <a:txBody>
                    <a:bodyPr/>
                    <a:lstStyle/>
                    <a:p>
                      <a:pPr algn="ctr"/>
                      <a:r>
                        <a:rPr lang="ro-RO" dirty="0" smtClean="0"/>
                        <a:t>1</a:t>
                      </a:r>
                      <a:endParaRPr lang="en-US" dirty="0"/>
                    </a:p>
                  </a:txBody>
                  <a:tcPr/>
                </a:tc>
              </a:tr>
              <a:tr h="370840">
                <a:tc>
                  <a:txBody>
                    <a:bodyPr/>
                    <a:lstStyle/>
                    <a:p>
                      <a:pPr algn="ctr"/>
                      <a:r>
                        <a:rPr lang="ro-RO" dirty="0" smtClean="0"/>
                        <a:t>0</a:t>
                      </a:r>
                      <a:endParaRPr lang="en-US" dirty="0"/>
                    </a:p>
                  </a:txBody>
                  <a:tcPr/>
                </a:tc>
                <a:tc>
                  <a:txBody>
                    <a:bodyPr/>
                    <a:lstStyle/>
                    <a:p>
                      <a:pPr algn="ctr"/>
                      <a:r>
                        <a:rPr lang="ro-RO" dirty="0" smtClean="0"/>
                        <a:t>0</a:t>
                      </a:r>
                      <a:endParaRPr lang="en-US" dirty="0"/>
                    </a:p>
                  </a:txBody>
                  <a:tcPr/>
                </a:tc>
                <a:tc>
                  <a:txBody>
                    <a:bodyPr/>
                    <a:lstStyle/>
                    <a:p>
                      <a:pPr algn="ctr"/>
                      <a:r>
                        <a:rPr lang="ro-RO" dirty="0" smtClean="0"/>
                        <a:t>1</a:t>
                      </a:r>
                      <a:endParaRPr lang="en-US" dirty="0"/>
                    </a:p>
                  </a:txBody>
                  <a:tcPr/>
                </a:tc>
              </a:tr>
            </a:tbl>
          </a:graphicData>
        </a:graphic>
      </p:graphicFrame>
    </p:spTree>
    <p:extLst>
      <p:ext uri="{BB962C8B-B14F-4D97-AF65-F5344CB8AC3E}">
        <p14:creationId xmlns:p14="http://schemas.microsoft.com/office/powerpoint/2010/main" val="137668103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Shape 1"/>
          <p:cNvSpPr txBox="1"/>
          <p:nvPr/>
        </p:nvSpPr>
        <p:spPr>
          <a:xfrm>
            <a:off x="457200" y="0"/>
            <a:ext cx="8229240" cy="1142640"/>
          </a:xfrm>
          <a:prstGeom prst="rect">
            <a:avLst/>
          </a:prstGeom>
        </p:spPr>
        <p:txBody>
          <a:bodyPr anchor="ctr"/>
          <a:lstStyle/>
          <a:p>
            <a:pPr algn="ctr">
              <a:lnSpc>
                <a:spcPct val="100000"/>
              </a:lnSpc>
            </a:pPr>
            <a:r>
              <a:rPr lang="en-US" sz="4400" dirty="0" err="1" smtClean="0">
                <a:solidFill>
                  <a:srgbClr val="000000"/>
                </a:solidFill>
                <a:latin typeface="Calibri"/>
              </a:rPr>
              <a:t>Argumente</a:t>
            </a:r>
            <a:endParaRPr dirty="0"/>
          </a:p>
        </p:txBody>
      </p:sp>
      <p:sp>
        <p:nvSpPr>
          <p:cNvPr id="7" name="TextShape 2"/>
          <p:cNvSpPr txBox="1"/>
          <p:nvPr/>
        </p:nvSpPr>
        <p:spPr>
          <a:xfrm>
            <a:off x="457200" y="1066800"/>
            <a:ext cx="8229240" cy="5791200"/>
          </a:xfrm>
          <a:prstGeom prst="rect">
            <a:avLst/>
          </a:prstGeom>
        </p:spPr>
        <p:txBody>
          <a:bodyPr/>
          <a:lstStyle/>
          <a:p>
            <a:pPr>
              <a:lnSpc>
                <a:spcPct val="100000"/>
              </a:lnSpc>
            </a:pPr>
            <a:r>
              <a:rPr lang="vi-VN" sz="3200" b="1" dirty="0" smtClean="0">
                <a:solidFill>
                  <a:srgbClr val="000000"/>
                </a:solidFill>
                <a:latin typeface="Calibri"/>
              </a:rPr>
              <a:t>Premisă 1</a:t>
            </a:r>
            <a:r>
              <a:rPr lang="vi-VN" sz="3200" dirty="0" smtClean="0">
                <a:solidFill>
                  <a:srgbClr val="000000"/>
                </a:solidFill>
                <a:latin typeface="Calibri"/>
              </a:rPr>
              <a:t>: Dacă pe Marte există viață inteligentă, atunci există extratereștri.</a:t>
            </a:r>
          </a:p>
          <a:p>
            <a:pPr>
              <a:lnSpc>
                <a:spcPct val="100000"/>
              </a:lnSpc>
            </a:pPr>
            <a:r>
              <a:rPr lang="vi-VN" sz="3200" b="1" dirty="0" smtClean="0">
                <a:solidFill>
                  <a:srgbClr val="000000"/>
                </a:solidFill>
                <a:latin typeface="Calibri"/>
              </a:rPr>
              <a:t>Premisă 2</a:t>
            </a:r>
            <a:r>
              <a:rPr lang="vi-VN" sz="3200" dirty="0" smtClean="0">
                <a:solidFill>
                  <a:srgbClr val="000000"/>
                </a:solidFill>
                <a:latin typeface="Calibri"/>
              </a:rPr>
              <a:t>: Pe Marte există viață inteligentă</a:t>
            </a:r>
          </a:p>
          <a:p>
            <a:pPr>
              <a:lnSpc>
                <a:spcPct val="100000"/>
              </a:lnSpc>
            </a:pPr>
            <a:r>
              <a:rPr lang="vi-VN" sz="3200" b="1" dirty="0" smtClean="0">
                <a:solidFill>
                  <a:srgbClr val="000000"/>
                </a:solidFill>
                <a:latin typeface="Calibri"/>
              </a:rPr>
              <a:t>Concluzie</a:t>
            </a:r>
            <a:r>
              <a:rPr lang="vi-VN" sz="3200" dirty="0" smtClean="0">
                <a:solidFill>
                  <a:srgbClr val="000000"/>
                </a:solidFill>
                <a:latin typeface="Calibri"/>
              </a:rPr>
              <a:t>: Există extratereștri.</a:t>
            </a:r>
            <a:endParaRPr lang="vi-VN" sz="1400" dirty="0" smtClean="0"/>
          </a:p>
          <a:p>
            <a:pPr>
              <a:lnSpc>
                <a:spcPct val="100000"/>
              </a:lnSpc>
            </a:pPr>
            <a:endParaRPr lang="ro-RO" sz="3200" dirty="0">
              <a:solidFill>
                <a:srgbClr val="000000"/>
              </a:solidFill>
              <a:latin typeface="Calibri"/>
            </a:endParaRPr>
          </a:p>
          <a:p>
            <a:pPr>
              <a:lnSpc>
                <a:spcPct val="100000"/>
              </a:lnSpc>
            </a:pPr>
            <a:r>
              <a:rPr lang="ro-RO" sz="3200" dirty="0" smtClean="0">
                <a:solidFill>
                  <a:srgbClr val="000000"/>
                </a:solidFill>
                <a:latin typeface="Calibri"/>
              </a:rPr>
              <a:t>Argumentul este </a:t>
            </a:r>
            <a:r>
              <a:rPr lang="ro-RO" sz="3200" b="1" dirty="0" smtClean="0">
                <a:solidFill>
                  <a:srgbClr val="000000"/>
                </a:solidFill>
                <a:latin typeface="Calibri"/>
              </a:rPr>
              <a:t>valid</a:t>
            </a:r>
            <a:r>
              <a:rPr lang="ro-RO" sz="3200" dirty="0" smtClean="0">
                <a:solidFill>
                  <a:srgbClr val="000000"/>
                </a:solidFill>
                <a:latin typeface="Calibri"/>
              </a:rPr>
              <a:t>, dar nu este </a:t>
            </a:r>
            <a:r>
              <a:rPr lang="ro-RO" sz="3200" b="1" dirty="0" smtClean="0">
                <a:solidFill>
                  <a:srgbClr val="000000"/>
                </a:solidFill>
                <a:latin typeface="Calibri"/>
              </a:rPr>
              <a:t>tare valid</a:t>
            </a:r>
            <a:r>
              <a:rPr lang="ro-RO" sz="3200" dirty="0" smtClean="0">
                <a:solidFill>
                  <a:srgbClr val="000000"/>
                </a:solidFill>
                <a:latin typeface="Calibri"/>
              </a:rPr>
              <a:t> (</a:t>
            </a:r>
            <a:r>
              <a:rPr lang="ro-RO" sz="3200" i="1" dirty="0" smtClean="0">
                <a:solidFill>
                  <a:srgbClr val="000000"/>
                </a:solidFill>
                <a:latin typeface="Calibri"/>
              </a:rPr>
              <a:t>sound</a:t>
            </a:r>
            <a:r>
              <a:rPr lang="ro-RO" sz="3200" dirty="0" smtClean="0">
                <a:solidFill>
                  <a:srgbClr val="000000"/>
                </a:solidFill>
                <a:latin typeface="Calibri"/>
              </a:rPr>
              <a:t>), deoarece premisa 2 nu este adevărată.</a:t>
            </a:r>
            <a:endParaRPr lang="en-US" sz="3200" dirty="0" smtClean="0">
              <a:solidFill>
                <a:srgbClr val="000000"/>
              </a:solidFill>
              <a:latin typeface="Calibri"/>
            </a:endParaRPr>
          </a:p>
          <a:p>
            <a:pPr>
              <a:lnSpc>
                <a:spcPct val="100000"/>
              </a:lnSpc>
            </a:pPr>
            <a:endParaRPr lang="en-US" sz="3200" dirty="0" smtClean="0">
              <a:solidFill>
                <a:srgbClr val="000000"/>
              </a:solidFill>
              <a:latin typeface="Calibri"/>
            </a:endParaRPr>
          </a:p>
          <a:p>
            <a:pPr>
              <a:lnSpc>
                <a:spcPct val="100000"/>
              </a:lnSpc>
            </a:pPr>
            <a:r>
              <a:rPr lang="vi-VN" sz="3200" dirty="0" smtClean="0">
                <a:solidFill>
                  <a:srgbClr val="000000"/>
                </a:solidFill>
                <a:latin typeface="Calibri"/>
              </a:rPr>
              <a:t>Argument </a:t>
            </a:r>
            <a:r>
              <a:rPr lang="vi-VN" sz="3200" b="1" dirty="0" smtClean="0">
                <a:solidFill>
                  <a:srgbClr val="000000"/>
                </a:solidFill>
                <a:latin typeface="Calibri"/>
              </a:rPr>
              <a:t>tare valid </a:t>
            </a:r>
            <a:r>
              <a:rPr lang="vi-VN" sz="3200" dirty="0" smtClean="0">
                <a:solidFill>
                  <a:srgbClr val="000000"/>
                </a:solidFill>
                <a:latin typeface="Calibri"/>
              </a:rPr>
              <a:t>(</a:t>
            </a:r>
            <a:r>
              <a:rPr lang="vi-VN" sz="3200" i="1" dirty="0" smtClean="0">
                <a:solidFill>
                  <a:srgbClr val="000000"/>
                </a:solidFill>
                <a:latin typeface="Calibri"/>
              </a:rPr>
              <a:t>sound</a:t>
            </a:r>
            <a:r>
              <a:rPr lang="vi-VN" sz="3200" dirty="0" smtClean="0">
                <a:solidFill>
                  <a:srgbClr val="000000"/>
                </a:solidFill>
                <a:latin typeface="Calibri"/>
              </a:rPr>
              <a:t>)</a:t>
            </a:r>
          </a:p>
          <a:p>
            <a:pPr>
              <a:lnSpc>
                <a:spcPct val="100000"/>
              </a:lnSpc>
            </a:pPr>
            <a:r>
              <a:rPr lang="vi-VN" sz="3200" dirty="0" smtClean="0">
                <a:solidFill>
                  <a:srgbClr val="000000"/>
                </a:solidFill>
                <a:latin typeface="Calibri"/>
              </a:rPr>
              <a:t>= Argument valid + Toate premisele sunt adevărate.</a:t>
            </a:r>
            <a:endParaRPr lang="vi-VN" sz="2400" dirty="0" smtClean="0"/>
          </a:p>
          <a:p>
            <a:pPr>
              <a:lnSpc>
                <a:spcPct val="100000"/>
              </a:lnSpc>
            </a:pPr>
            <a:endParaRPr lang="ro-RO" sz="3200" dirty="0" smtClean="0">
              <a:solidFill>
                <a:srgbClr val="000000"/>
              </a:solidFill>
              <a:latin typeface="Calibri"/>
            </a:endParaRPr>
          </a:p>
          <a:p>
            <a:pPr>
              <a:lnSpc>
                <a:spcPct val="100000"/>
              </a:lnSpc>
            </a:pPr>
            <a:endParaRPr lang="ro-RO" sz="3200" dirty="0">
              <a:solidFill>
                <a:srgbClr val="000000"/>
              </a:solidFill>
              <a:latin typeface="Calibri"/>
            </a:endParaRPr>
          </a:p>
          <a:p>
            <a:pPr>
              <a:lnSpc>
                <a:spcPct val="100000"/>
              </a:lnSpc>
            </a:pPr>
            <a:endParaRPr dirty="0"/>
          </a:p>
          <a:p>
            <a:pPr>
              <a:lnSpc>
                <a:spcPct val="100000"/>
              </a:lnSpc>
            </a:pPr>
            <a:endParaRPr dirty="0"/>
          </a:p>
          <a:p>
            <a:pPr>
              <a:lnSpc>
                <a:spcPct val="100000"/>
              </a:lnSpc>
            </a:pPr>
            <a:endParaRPr dirty="0"/>
          </a:p>
          <a:p>
            <a:pPr>
              <a:lnSpc>
                <a:spcPct val="100000"/>
              </a:lnSpc>
            </a:pPr>
            <a:endParaRPr dirty="0"/>
          </a:p>
        </p:txBody>
      </p:sp>
    </p:spTree>
    <p:extLst>
      <p:ext uri="{BB962C8B-B14F-4D97-AF65-F5344CB8AC3E}">
        <p14:creationId xmlns:p14="http://schemas.microsoft.com/office/powerpoint/2010/main" val="134277201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457201"/>
            <a:ext cx="7772400" cy="914400"/>
          </a:xfrm>
        </p:spPr>
        <p:txBody>
          <a:bodyPr/>
          <a:lstStyle/>
          <a:p>
            <a:r>
              <a:rPr lang="ro-RO" sz="2800" dirty="0" smtClean="0"/>
              <a:t>Consistență - Completitudine</a:t>
            </a:r>
            <a:endParaRPr lang="en-US" sz="2800" dirty="0"/>
          </a:p>
        </p:txBody>
      </p:sp>
      <p:sp>
        <p:nvSpPr>
          <p:cNvPr id="3" name="Subtitle 2"/>
          <p:cNvSpPr>
            <a:spLocks noGrp="1"/>
          </p:cNvSpPr>
          <p:nvPr>
            <p:ph type="subTitle" idx="1"/>
          </p:nvPr>
        </p:nvSpPr>
        <p:spPr>
          <a:xfrm>
            <a:off x="685800" y="1828800"/>
            <a:ext cx="7620000" cy="4648200"/>
          </a:xfrm>
        </p:spPr>
        <p:txBody>
          <a:bodyPr>
            <a:normAutofit lnSpcReduction="10000"/>
          </a:bodyPr>
          <a:lstStyle/>
          <a:p>
            <a:r>
              <a:rPr lang="ro-RO" dirty="0" smtClean="0">
                <a:solidFill>
                  <a:schemeClr val="tx1"/>
                </a:solidFill>
              </a:rPr>
              <a:t>Ne dorim ca sistemele noastre formale să demonstreze DOAR formule adevărate. Sperăm să avem sisteme atât de complexe încât să putem demonstra TOATE formulele adevărate. </a:t>
            </a:r>
            <a:endParaRPr lang="ro-RO" dirty="0">
              <a:solidFill>
                <a:schemeClr val="tx1"/>
              </a:solidFill>
            </a:endParaRPr>
          </a:p>
          <a:p>
            <a:endParaRPr lang="ro-RO" dirty="0">
              <a:solidFill>
                <a:schemeClr val="tx1"/>
              </a:solidFill>
            </a:endParaRPr>
          </a:p>
          <a:p>
            <a:r>
              <a:rPr lang="ro-RO" dirty="0" smtClean="0">
                <a:solidFill>
                  <a:srgbClr val="FF0000"/>
                </a:solidFill>
                <a:effectLst>
                  <a:outerShdw blurRad="38100" dist="38100" dir="2700000" algn="tl">
                    <a:srgbClr val="000000">
                      <a:alpha val="43137"/>
                    </a:srgbClr>
                  </a:outerShdw>
                </a:effectLst>
              </a:rPr>
              <a:t>Consistență</a:t>
            </a:r>
            <a:r>
              <a:rPr lang="ro-RO" dirty="0" smtClean="0">
                <a:solidFill>
                  <a:schemeClr val="tx1"/>
                </a:solidFill>
              </a:rPr>
              <a:t>:</a:t>
            </a:r>
            <a:r>
              <a:rPr lang="en-US" dirty="0" smtClean="0">
                <a:solidFill>
                  <a:schemeClr val="tx1"/>
                </a:solidFill>
              </a:rPr>
              <a:t> </a:t>
            </a:r>
            <a:r>
              <a:rPr lang="ro-RO" dirty="0" smtClean="0">
                <a:solidFill>
                  <a:schemeClr val="tx1"/>
                </a:solidFill>
              </a:rPr>
              <a:t>Un sistem S este consistent ddacă demonstrează DOAR formule adevărate</a:t>
            </a:r>
          </a:p>
          <a:p>
            <a:r>
              <a:rPr lang="ro-RO" dirty="0" smtClean="0">
                <a:solidFill>
                  <a:srgbClr val="FF0000"/>
                </a:solidFill>
                <a:effectLst>
                  <a:outerShdw blurRad="38100" dist="38100" dir="2700000" algn="tl">
                    <a:srgbClr val="000000">
                      <a:alpha val="43137"/>
                    </a:srgbClr>
                  </a:outerShdw>
                </a:effectLst>
              </a:rPr>
              <a:t>Completitudine</a:t>
            </a:r>
            <a:r>
              <a:rPr lang="ro-RO" dirty="0" smtClean="0">
                <a:solidFill>
                  <a:schemeClr val="tx1"/>
                </a:solidFill>
              </a:rPr>
              <a:t>: Un sistem S este complet ddacă demonstrează TOATE formulele adevărate</a:t>
            </a:r>
          </a:p>
          <a:p>
            <a:endParaRPr lang="ro-RO" dirty="0"/>
          </a:p>
          <a:p>
            <a:r>
              <a:rPr lang="ro-RO" dirty="0" smtClean="0"/>
              <a:t>Ddacă = dacă și numai dacă</a:t>
            </a:r>
          </a:p>
          <a:p>
            <a:r>
              <a:rPr lang="ro-RO" dirty="0" smtClean="0"/>
              <a:t>Ce tip de condiție introduce operatorul ”ddacă”?</a:t>
            </a:r>
            <a:endParaRPr lang="en-US" dirty="0"/>
          </a:p>
        </p:txBody>
      </p:sp>
    </p:spTree>
    <p:extLst>
      <p:ext uri="{BB962C8B-B14F-4D97-AF65-F5344CB8AC3E}">
        <p14:creationId xmlns:p14="http://schemas.microsoft.com/office/powerpoint/2010/main" val="343959929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Dar în viața de zi cu zi?</a:t>
            </a:r>
            <a:endParaRPr lang="en-US" dirty="0"/>
          </a:p>
        </p:txBody>
      </p:sp>
      <p:sp>
        <p:nvSpPr>
          <p:cNvPr id="3" name="Content Placeholder 2"/>
          <p:cNvSpPr>
            <a:spLocks noGrp="1"/>
          </p:cNvSpPr>
          <p:nvPr>
            <p:ph idx="1"/>
          </p:nvPr>
        </p:nvSpPr>
        <p:spPr/>
        <p:txBody>
          <a:bodyPr>
            <a:normAutofit/>
          </a:bodyPr>
          <a:lstStyle/>
          <a:p>
            <a:r>
              <a:rPr lang="ro-RO" dirty="0" smtClean="0"/>
              <a:t>Două propoziții sunt </a:t>
            </a:r>
            <a:r>
              <a:rPr lang="ro-RO" dirty="0" smtClean="0">
                <a:solidFill>
                  <a:srgbClr val="FF0000"/>
                </a:solidFill>
              </a:rPr>
              <a:t>INCONSISTENTE</a:t>
            </a:r>
            <a:r>
              <a:rPr lang="ro-RO" dirty="0" smtClean="0"/>
              <a:t> dacă sunt în raport de </a:t>
            </a:r>
            <a:r>
              <a:rPr lang="ro-RO" dirty="0" smtClean="0">
                <a:effectLst>
                  <a:outerShdw blurRad="38100" dist="38100" dir="2700000" algn="tl">
                    <a:srgbClr val="000000">
                      <a:alpha val="43137"/>
                    </a:srgbClr>
                  </a:outerShdw>
                </a:effectLst>
              </a:rPr>
              <a:t>opoziție</a:t>
            </a:r>
            <a:r>
              <a:rPr lang="ro-RO" dirty="0" smtClean="0"/>
              <a:t>.</a:t>
            </a:r>
          </a:p>
          <a:p>
            <a:r>
              <a:rPr lang="ro-RO" b="1" dirty="0" smtClean="0"/>
              <a:t>Raportul de contradicție</a:t>
            </a:r>
            <a:r>
              <a:rPr lang="ro-RO" dirty="0" smtClean="0"/>
              <a:t>: Cele două propoziții nu pot avea aceeași valoare de adevăr.</a:t>
            </a:r>
          </a:p>
          <a:p>
            <a:r>
              <a:rPr lang="ro-RO" b="1" dirty="0" smtClean="0"/>
              <a:t>Raportul de contrarietate</a:t>
            </a:r>
            <a:r>
              <a:rPr lang="ro-RO" dirty="0" smtClean="0"/>
              <a:t>: Cele două propoziții nu pot fi simultan adevărate, dar pot fi simultan false.</a:t>
            </a:r>
          </a:p>
          <a:p>
            <a:pPr marL="0" indent="0">
              <a:buNone/>
            </a:pPr>
            <a:r>
              <a:rPr lang="ro-RO" dirty="0" smtClean="0"/>
              <a:t>Puteți da exemple?</a:t>
            </a:r>
          </a:p>
          <a:p>
            <a:pPr marL="0" indent="0">
              <a:buNone/>
            </a:pPr>
            <a:r>
              <a:rPr lang="ro-RO" dirty="0" smtClean="0"/>
              <a:t>Care dintre cele două raporturi este mai puternic?</a:t>
            </a:r>
            <a:endParaRPr lang="ro-RO" dirty="0"/>
          </a:p>
        </p:txBody>
      </p:sp>
    </p:spTree>
    <p:extLst>
      <p:ext uri="{BB962C8B-B14F-4D97-AF65-F5344CB8AC3E}">
        <p14:creationId xmlns:p14="http://schemas.microsoft.com/office/powerpoint/2010/main" val="397322143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Consistență – Inconsistență</a:t>
            </a:r>
            <a:endParaRPr lang="en-US" dirty="0"/>
          </a:p>
        </p:txBody>
      </p:sp>
      <p:sp>
        <p:nvSpPr>
          <p:cNvPr id="3" name="Content Placeholder 2"/>
          <p:cNvSpPr>
            <a:spLocks noGrp="1"/>
          </p:cNvSpPr>
          <p:nvPr>
            <p:ph idx="1"/>
          </p:nvPr>
        </p:nvSpPr>
        <p:spPr/>
        <p:txBody>
          <a:bodyPr/>
          <a:lstStyle/>
          <a:p>
            <a:r>
              <a:rPr lang="ro-RO" dirty="0" smtClean="0"/>
              <a:t>Două propoziții sunt consistente dacă </a:t>
            </a:r>
            <a:r>
              <a:rPr lang="ro-RO" dirty="0" smtClean="0">
                <a:effectLst>
                  <a:outerShdw blurRad="38100" dist="38100" dir="2700000" algn="tl">
                    <a:srgbClr val="000000">
                      <a:alpha val="43137"/>
                    </a:srgbClr>
                  </a:outerShdw>
                </a:effectLst>
              </a:rPr>
              <a:t>pot</a:t>
            </a:r>
            <a:r>
              <a:rPr lang="ro-RO" dirty="0" smtClean="0"/>
              <a:t> fi simultan adevărate. </a:t>
            </a:r>
          </a:p>
          <a:p>
            <a:endParaRPr lang="ro-RO" dirty="0"/>
          </a:p>
          <a:p>
            <a:r>
              <a:rPr lang="ro-RO" dirty="0" smtClean="0"/>
              <a:t>Posibil din ce punct de vedere?</a:t>
            </a:r>
          </a:p>
          <a:p>
            <a:endParaRPr lang="ro-RO" dirty="0"/>
          </a:p>
          <a:p>
            <a:r>
              <a:rPr lang="ro-RO" dirty="0" smtClean="0">
                <a:effectLst>
                  <a:outerShdw blurRad="38100" dist="38100" dir="2700000" algn="tl">
                    <a:srgbClr val="000000">
                      <a:alpha val="43137"/>
                    </a:srgbClr>
                  </a:outerShdw>
                </a:effectLst>
              </a:rPr>
              <a:t>Două propoziții sunt consistente dacă este logic posibil să fie simultan adevărate.</a:t>
            </a:r>
            <a:endParaRPr lang="en-US"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252136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normAutofit/>
          </a:bodyPr>
          <a:lstStyle/>
          <a:p>
            <a:r>
              <a:rPr lang="ro-RO" dirty="0" smtClean="0"/>
              <a:t>Eduard este în Paris.</a:t>
            </a:r>
          </a:p>
          <a:p>
            <a:r>
              <a:rPr lang="ro-RO" dirty="0" smtClean="0"/>
              <a:t>Eduard este în Londra.</a:t>
            </a:r>
            <a:endParaRPr lang="ro-RO" dirty="0"/>
          </a:p>
          <a:p>
            <a:endParaRPr lang="ro-RO" dirty="0" smtClean="0"/>
          </a:p>
          <a:p>
            <a:r>
              <a:rPr lang="ro-RO" dirty="0" smtClean="0"/>
              <a:t>Ana este brunetă.</a:t>
            </a:r>
          </a:p>
          <a:p>
            <a:r>
              <a:rPr lang="ro-RO" dirty="0" smtClean="0"/>
              <a:t>Ana asistă la cursul de </a:t>
            </a:r>
            <a:r>
              <a:rPr lang="ro-RO" i="1" dirty="0" smtClean="0"/>
              <a:t>Gândire Critică</a:t>
            </a:r>
            <a:r>
              <a:rPr lang="ro-RO" dirty="0" smtClean="0"/>
              <a:t>.</a:t>
            </a:r>
          </a:p>
          <a:p>
            <a:endParaRPr lang="ro-RO" dirty="0"/>
          </a:p>
          <a:p>
            <a:r>
              <a:rPr lang="ro-RO" dirty="0" smtClean="0"/>
              <a:t>Londra este capitala României.</a:t>
            </a:r>
          </a:p>
          <a:p>
            <a:r>
              <a:rPr lang="ro-RO" dirty="0" smtClean="0"/>
              <a:t>Maria este în Londra.</a:t>
            </a:r>
          </a:p>
          <a:p>
            <a:endParaRPr lang="ro-RO" dirty="0"/>
          </a:p>
          <a:p>
            <a:r>
              <a:rPr lang="ro-RO" dirty="0" smtClean="0"/>
              <a:t>Există cercuri pătrate.</a:t>
            </a:r>
          </a:p>
        </p:txBody>
      </p:sp>
    </p:spTree>
    <p:extLst>
      <p:ext uri="{BB962C8B-B14F-4D97-AF65-F5344CB8AC3E}">
        <p14:creationId xmlns:p14="http://schemas.microsoft.com/office/powerpoint/2010/main" val="212043755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ro-RO" dirty="0" smtClean="0"/>
              <a:t>Consistența și inconsistența pot fi decise și pentru fiecare propoziție în parte (nu trebuie în mod necesar să le analizăm în perechi).</a:t>
            </a:r>
          </a:p>
          <a:p>
            <a:pPr marL="0" indent="0">
              <a:buNone/>
            </a:pPr>
            <a:endParaRPr lang="ro-RO" dirty="0"/>
          </a:p>
          <a:p>
            <a:pPr marL="0" indent="0">
              <a:buNone/>
            </a:pPr>
            <a:r>
              <a:rPr lang="ro-RO" dirty="0" smtClean="0"/>
              <a:t>În satul X nu locuiește nimeni.</a:t>
            </a:r>
          </a:p>
          <a:p>
            <a:pPr marL="0" indent="0">
              <a:buNone/>
            </a:pPr>
            <a:endParaRPr lang="ro-RO" dirty="0"/>
          </a:p>
          <a:p>
            <a:pPr marL="0" indent="0">
              <a:buNone/>
            </a:pPr>
            <a:r>
              <a:rPr lang="ro-RO" dirty="0" smtClean="0"/>
              <a:t>Poți desena un cerc roșu fără a desena un cerc.</a:t>
            </a:r>
            <a:endParaRPr lang="en-US" dirty="0"/>
          </a:p>
        </p:txBody>
      </p:sp>
    </p:spTree>
    <p:extLst>
      <p:ext uri="{BB962C8B-B14F-4D97-AF65-F5344CB8AC3E}">
        <p14:creationId xmlns:p14="http://schemas.microsoft.com/office/powerpoint/2010/main" val="337056811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66801" y="762000"/>
            <a:ext cx="6858000" cy="5363369"/>
          </a:xfrm>
        </p:spPr>
      </p:pic>
    </p:spTree>
    <p:extLst>
      <p:ext uri="{BB962C8B-B14F-4D97-AF65-F5344CB8AC3E}">
        <p14:creationId xmlns:p14="http://schemas.microsoft.com/office/powerpoint/2010/main" val="271631250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Enunțuri (declarative)</a:t>
            </a:r>
            <a:endParaRPr lang="en-US" dirty="0"/>
          </a:p>
        </p:txBody>
      </p:sp>
      <p:sp>
        <p:nvSpPr>
          <p:cNvPr id="3" name="Content Placeholder 2"/>
          <p:cNvSpPr>
            <a:spLocks noGrp="1"/>
          </p:cNvSpPr>
          <p:nvPr>
            <p:ph idx="1"/>
          </p:nvPr>
        </p:nvSpPr>
        <p:spPr>
          <a:xfrm>
            <a:off x="228600" y="1371600"/>
            <a:ext cx="8686800" cy="5334000"/>
          </a:xfrm>
        </p:spPr>
        <p:txBody>
          <a:bodyPr>
            <a:normAutofit fontScale="92500" lnSpcReduction="20000"/>
          </a:bodyPr>
          <a:lstStyle/>
          <a:p>
            <a:pPr marL="0" indent="0">
              <a:buNone/>
            </a:pPr>
            <a:r>
              <a:rPr lang="ro-RO" dirty="0" smtClean="0"/>
              <a:t>Enunțul (statement) = (df) este o propoziție (sentence) care are valoare de adevăr</a:t>
            </a:r>
          </a:p>
          <a:p>
            <a:pPr marL="0" indent="0">
              <a:buNone/>
            </a:pPr>
            <a:endParaRPr lang="ro-RO" dirty="0" smtClean="0"/>
          </a:p>
          <a:p>
            <a:pPr marL="0" indent="0">
              <a:buNone/>
            </a:pPr>
            <a:r>
              <a:rPr lang="ro-RO" dirty="0" smtClean="0">
                <a:effectLst>
                  <a:outerShdw blurRad="38100" dist="38100" dir="2700000" algn="tl">
                    <a:srgbClr val="000000">
                      <a:alpha val="43137"/>
                    </a:srgbClr>
                  </a:outerShdw>
                </a:effectLst>
              </a:rPr>
              <a:t>De ce avem nevoie de enunțuri declarative în cadrul unui argument?</a:t>
            </a:r>
          </a:p>
          <a:p>
            <a:pPr marL="0" indent="0">
              <a:buNone/>
            </a:pPr>
            <a:r>
              <a:rPr lang="ro-RO" dirty="0" smtClean="0"/>
              <a:t>- Scopul unui argument este de a susține adevărul concluziei </a:t>
            </a:r>
            <a:r>
              <a:rPr lang="ro-RO" dirty="0" smtClean="0">
                <a:latin typeface="Arial"/>
                <a:cs typeface="Arial"/>
              </a:rPr>
              <a:t>→ adevărul premiselor + susținerea concluziei în mod adecvat de către premise</a:t>
            </a:r>
            <a:endParaRPr lang="ro-RO" dirty="0" smtClean="0"/>
          </a:p>
          <a:p>
            <a:r>
              <a:rPr lang="ro-RO" i="1" dirty="0" smtClean="0">
                <a:effectLst>
                  <a:outerShdw blurRad="38100" dist="38100" dir="2700000" algn="tl">
                    <a:srgbClr val="000000">
                      <a:alpha val="43137"/>
                    </a:srgbClr>
                  </a:outerShdw>
                </a:effectLst>
              </a:rPr>
              <a:t>Reprezintă următorul exemplu un argument?</a:t>
            </a:r>
          </a:p>
          <a:p>
            <a:endParaRPr lang="ro-RO" dirty="0"/>
          </a:p>
          <a:p>
            <a:pPr marL="457200" indent="-457200">
              <a:buAutoNum type="alphaLcPeriod"/>
            </a:pPr>
            <a:r>
              <a:rPr lang="ro-RO" dirty="0" smtClean="0"/>
              <a:t>Ascultă-mă! Tu nu vezi că nu ar trebui să conduci? Abia îți poți ține ochii deschiși!</a:t>
            </a:r>
          </a:p>
          <a:p>
            <a:pPr marL="0" indent="0">
              <a:buNone/>
            </a:pPr>
            <a:endParaRPr lang="ro-RO" dirty="0"/>
          </a:p>
          <a:p>
            <a:pPr>
              <a:buFontTx/>
              <a:buChar char="-"/>
            </a:pPr>
            <a:r>
              <a:rPr lang="ro-RO" dirty="0" smtClean="0"/>
              <a:t>Uneori enunțurile declarative se pot ascunde în spatele unor întrebări (retorice) sau comenzi</a:t>
            </a:r>
          </a:p>
          <a:p>
            <a:pPr>
              <a:buFontTx/>
              <a:buChar char="-"/>
            </a:pPr>
            <a:r>
              <a:rPr lang="ro-RO" dirty="0" smtClean="0"/>
              <a:t>Întrebările, comenzile, interjecțiile, etc. </a:t>
            </a:r>
            <a:r>
              <a:rPr lang="ro-RO" b="1" dirty="0" smtClean="0"/>
              <a:t>nu </a:t>
            </a:r>
            <a:r>
              <a:rPr lang="ro-RO" dirty="0" smtClean="0"/>
              <a:t> pot fi premise sau concluzii ale argumentelor. </a:t>
            </a:r>
            <a:r>
              <a:rPr lang="ro-RO" dirty="0" smtClean="0">
                <a:latin typeface="Arial"/>
                <a:cs typeface="Arial"/>
              </a:rPr>
              <a:t>→ </a:t>
            </a:r>
            <a:r>
              <a:rPr lang="ro-RO" dirty="0" smtClean="0">
                <a:effectLst>
                  <a:outerShdw blurRad="38100" dist="38100" dir="2700000" algn="tl">
                    <a:srgbClr val="000000">
                      <a:alpha val="43137"/>
                    </a:srgbClr>
                  </a:outerShdw>
                </a:effectLst>
                <a:latin typeface="Arial"/>
                <a:cs typeface="Arial"/>
              </a:rPr>
              <a:t>Forma standard</a:t>
            </a:r>
            <a:endParaRPr lang="ro-RO" dirty="0" smtClean="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095319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 calcmode="lin" valueType="num">
                                      <p:cBhvr additive="base">
                                        <p:cTn id="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8" end="8"/>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anim calcmode="lin" valueType="num">
                                      <p:cBhvr additive="base">
                                        <p:cTn id="1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o-RO" dirty="0" smtClean="0"/>
              <a:t>Indicatori pentru premise și concluzii</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230701487"/>
              </p:ext>
            </p:extLst>
          </p:nvPr>
        </p:nvGraphicFramePr>
        <p:xfrm>
          <a:off x="1219200" y="1981200"/>
          <a:ext cx="6461760" cy="1783842"/>
        </p:xfrm>
        <a:graphic>
          <a:graphicData uri="http://schemas.openxmlformats.org/drawingml/2006/table">
            <a:tbl>
              <a:tblPr firstRow="1" firstCol="1" bandRow="1"/>
              <a:tblGrid>
                <a:gridCol w="1615440"/>
                <a:gridCol w="1615440"/>
                <a:gridCol w="1615440"/>
                <a:gridCol w="1615440"/>
              </a:tblGrid>
              <a:tr h="0">
                <a:tc gridSpan="4">
                  <a:txBody>
                    <a:bodyPr/>
                    <a:lstStyle/>
                    <a:p>
                      <a:pPr marL="0" marR="0" algn="ctr">
                        <a:lnSpc>
                          <a:spcPct val="115000"/>
                        </a:lnSpc>
                        <a:spcBef>
                          <a:spcPts val="0"/>
                        </a:spcBef>
                        <a:spcAft>
                          <a:spcPts val="0"/>
                        </a:spcAft>
                      </a:pPr>
                      <a:r>
                        <a:rPr lang="ro-RO" sz="1200" b="1" dirty="0" smtClean="0">
                          <a:solidFill>
                            <a:srgbClr val="FF0000"/>
                          </a:solidFill>
                          <a:effectLst>
                            <a:outerShdw blurRad="38100" dist="38100" dir="2700000" algn="tl">
                              <a:srgbClr val="000000">
                                <a:alpha val="43137"/>
                              </a:srgbClr>
                            </a:outerShdw>
                          </a:effectLst>
                          <a:latin typeface="+mj-lt"/>
                          <a:ea typeface="Calibri"/>
                          <a:cs typeface="Times New Roman"/>
                        </a:rPr>
                        <a:t>Premise</a:t>
                      </a:r>
                      <a:endParaRPr lang="en-US" sz="1200" b="1" dirty="0">
                        <a:solidFill>
                          <a:srgbClr val="FF0000"/>
                        </a:solidFill>
                        <a:effectLst>
                          <a:outerShdw blurRad="38100" dist="38100" dir="2700000" algn="tl">
                            <a:srgbClr val="000000">
                              <a:alpha val="43137"/>
                            </a:srgbClr>
                          </a:outerShdw>
                        </a:effectLst>
                        <a:latin typeface="+mj-lt"/>
                        <a:ea typeface="Calibri"/>
                        <a:cs typeface="Times New Roman"/>
                      </a:endParaRPr>
                    </a:p>
                  </a:txBody>
                  <a:tcPr marL="76200" marR="76200" marT="76200" marB="76200">
                    <a:lnL w="12700" cap="flat" cmpd="sng" algn="ctr">
                      <a:solidFill>
                        <a:srgbClr val="1371B2"/>
                      </a:solidFill>
                      <a:prstDash val="solid"/>
                      <a:round/>
                      <a:headEnd type="none" w="med" len="med"/>
                      <a:tailEnd type="none" w="med" len="med"/>
                    </a:lnL>
                    <a:lnR w="12700" cap="flat" cmpd="sng" algn="ctr">
                      <a:solidFill>
                        <a:srgbClr val="1371B2"/>
                      </a:solidFill>
                      <a:prstDash val="solid"/>
                      <a:round/>
                      <a:headEnd type="none" w="med" len="med"/>
                      <a:tailEnd type="none" w="med" len="med"/>
                    </a:lnR>
                    <a:lnT w="12700" cap="flat" cmpd="sng" algn="ctr">
                      <a:solidFill>
                        <a:srgbClr val="1371B2"/>
                      </a:solidFill>
                      <a:prstDash val="solid"/>
                      <a:round/>
                      <a:headEnd type="none" w="med" len="med"/>
                      <a:tailEnd type="none" w="med" len="med"/>
                    </a:lnT>
                    <a:lnB w="12700" cap="flat" cmpd="sng" algn="ctr">
                      <a:solidFill>
                        <a:srgbClr val="1371B2"/>
                      </a:solidFill>
                      <a:prstDash val="solid"/>
                      <a:round/>
                      <a:headEnd type="none" w="med" len="med"/>
                      <a:tailEnd type="none" w="med" len="med"/>
                    </a:lnB>
                  </a:tcPr>
                </a:tc>
                <a:tc hMerge="1">
                  <a:txBody>
                    <a:bodyPr/>
                    <a:lstStyle/>
                    <a:p>
                      <a:pPr marL="0" marR="0">
                        <a:lnSpc>
                          <a:spcPct val="115000"/>
                        </a:lnSpc>
                        <a:spcBef>
                          <a:spcPts val="0"/>
                        </a:spcBef>
                        <a:spcAft>
                          <a:spcPts val="0"/>
                        </a:spcAft>
                      </a:pPr>
                      <a:endParaRPr lang="en-US" sz="1100" b="1" dirty="0">
                        <a:effectLst/>
                        <a:latin typeface="+mj-lt"/>
                        <a:ea typeface="Calibri"/>
                        <a:cs typeface="Times New Roman"/>
                      </a:endParaRPr>
                    </a:p>
                  </a:txBody>
                  <a:tcPr marL="76200" marR="76200" marT="76200" marB="76200">
                    <a:lnL w="12700" cap="flat" cmpd="sng" algn="ctr">
                      <a:solidFill>
                        <a:srgbClr val="1371B2"/>
                      </a:solidFill>
                      <a:prstDash val="solid"/>
                      <a:round/>
                      <a:headEnd type="none" w="med" len="med"/>
                      <a:tailEnd type="none" w="med" len="med"/>
                    </a:lnL>
                    <a:lnR w="12700" cap="flat" cmpd="sng" algn="ctr">
                      <a:solidFill>
                        <a:srgbClr val="1371B2"/>
                      </a:solidFill>
                      <a:prstDash val="solid"/>
                      <a:round/>
                      <a:headEnd type="none" w="med" len="med"/>
                      <a:tailEnd type="none" w="med" len="med"/>
                    </a:lnR>
                    <a:lnT w="12700" cap="flat" cmpd="sng" algn="ctr">
                      <a:solidFill>
                        <a:srgbClr val="1371B2"/>
                      </a:solidFill>
                      <a:prstDash val="solid"/>
                      <a:round/>
                      <a:headEnd type="none" w="med" len="med"/>
                      <a:tailEnd type="none" w="med" len="med"/>
                    </a:lnT>
                    <a:lnB w="12700" cap="flat" cmpd="sng" algn="ctr">
                      <a:solidFill>
                        <a:srgbClr val="1371B2"/>
                      </a:solidFill>
                      <a:prstDash val="solid"/>
                      <a:round/>
                      <a:headEnd type="none" w="med" len="med"/>
                      <a:tailEnd type="none" w="med" len="med"/>
                    </a:lnB>
                  </a:tcPr>
                </a:tc>
                <a:tc hMerge="1">
                  <a:txBody>
                    <a:bodyPr/>
                    <a:lstStyle/>
                    <a:p>
                      <a:pPr marL="0" marR="0">
                        <a:lnSpc>
                          <a:spcPct val="115000"/>
                        </a:lnSpc>
                        <a:spcBef>
                          <a:spcPts val="0"/>
                        </a:spcBef>
                        <a:spcAft>
                          <a:spcPts val="0"/>
                        </a:spcAft>
                      </a:pPr>
                      <a:endParaRPr lang="en-US" sz="1100" b="1" dirty="0">
                        <a:effectLst/>
                        <a:latin typeface="+mj-lt"/>
                        <a:ea typeface="Calibri"/>
                        <a:cs typeface="Times New Roman"/>
                      </a:endParaRPr>
                    </a:p>
                  </a:txBody>
                  <a:tcPr marL="76200" marR="76200" marT="76200" marB="76200">
                    <a:lnL w="12700" cap="flat" cmpd="sng" algn="ctr">
                      <a:solidFill>
                        <a:srgbClr val="1371B2"/>
                      </a:solidFill>
                      <a:prstDash val="solid"/>
                      <a:round/>
                      <a:headEnd type="none" w="med" len="med"/>
                      <a:tailEnd type="none" w="med" len="med"/>
                    </a:lnL>
                    <a:lnR w="12700" cap="flat" cmpd="sng" algn="ctr">
                      <a:solidFill>
                        <a:srgbClr val="1371B2"/>
                      </a:solidFill>
                      <a:prstDash val="solid"/>
                      <a:round/>
                      <a:headEnd type="none" w="med" len="med"/>
                      <a:tailEnd type="none" w="med" len="med"/>
                    </a:lnR>
                    <a:lnT w="12700" cap="flat" cmpd="sng" algn="ctr">
                      <a:solidFill>
                        <a:srgbClr val="1371B2"/>
                      </a:solidFill>
                      <a:prstDash val="solid"/>
                      <a:round/>
                      <a:headEnd type="none" w="med" len="med"/>
                      <a:tailEnd type="none" w="med" len="med"/>
                    </a:lnT>
                    <a:lnB w="12700" cap="flat" cmpd="sng" algn="ctr">
                      <a:solidFill>
                        <a:srgbClr val="1371B2"/>
                      </a:solidFill>
                      <a:prstDash val="solid"/>
                      <a:round/>
                      <a:headEnd type="none" w="med" len="med"/>
                      <a:tailEnd type="none" w="med" len="med"/>
                    </a:lnB>
                  </a:tcPr>
                </a:tc>
                <a:tc hMerge="1">
                  <a:txBody>
                    <a:bodyPr/>
                    <a:lstStyle/>
                    <a:p>
                      <a:pPr marL="0" marR="0">
                        <a:lnSpc>
                          <a:spcPct val="115000"/>
                        </a:lnSpc>
                        <a:spcBef>
                          <a:spcPts val="0"/>
                        </a:spcBef>
                        <a:spcAft>
                          <a:spcPts val="0"/>
                        </a:spcAft>
                      </a:pPr>
                      <a:endParaRPr lang="en-US" sz="1100" b="1" dirty="0">
                        <a:effectLst/>
                        <a:latin typeface="+mj-lt"/>
                        <a:ea typeface="Calibri"/>
                        <a:cs typeface="Times New Roman"/>
                      </a:endParaRPr>
                    </a:p>
                  </a:txBody>
                  <a:tcPr marL="76200" marR="76200" marT="76200" marB="76200">
                    <a:lnL w="12700" cap="flat" cmpd="sng" algn="ctr">
                      <a:solidFill>
                        <a:srgbClr val="1371B2"/>
                      </a:solidFill>
                      <a:prstDash val="solid"/>
                      <a:round/>
                      <a:headEnd type="none" w="med" len="med"/>
                      <a:tailEnd type="none" w="med" len="med"/>
                    </a:lnL>
                    <a:lnR w="12700" cap="flat" cmpd="sng" algn="ctr">
                      <a:solidFill>
                        <a:srgbClr val="1371B2"/>
                      </a:solidFill>
                      <a:prstDash val="solid"/>
                      <a:round/>
                      <a:headEnd type="none" w="med" len="med"/>
                      <a:tailEnd type="none" w="med" len="med"/>
                    </a:lnR>
                    <a:lnT w="12700" cap="flat" cmpd="sng" algn="ctr">
                      <a:solidFill>
                        <a:srgbClr val="1371B2"/>
                      </a:solidFill>
                      <a:prstDash val="solid"/>
                      <a:round/>
                      <a:headEnd type="none" w="med" len="med"/>
                      <a:tailEnd type="none" w="med" len="med"/>
                    </a:lnT>
                    <a:lnB w="12700" cap="flat" cmpd="sng" algn="ctr">
                      <a:solidFill>
                        <a:srgbClr val="1371B2"/>
                      </a:solidFill>
                      <a:prstDash val="solid"/>
                      <a:round/>
                      <a:headEnd type="none" w="med" len="med"/>
                      <a:tailEnd type="none" w="med" len="med"/>
                    </a:lnB>
                  </a:tcPr>
                </a:tc>
              </a:tr>
              <a:tr h="0">
                <a:tc>
                  <a:txBody>
                    <a:bodyPr/>
                    <a:lstStyle/>
                    <a:p>
                      <a:pPr marL="0" marR="0">
                        <a:lnSpc>
                          <a:spcPct val="115000"/>
                        </a:lnSpc>
                        <a:spcBef>
                          <a:spcPts val="0"/>
                        </a:spcBef>
                        <a:spcAft>
                          <a:spcPts val="0"/>
                        </a:spcAft>
                      </a:pPr>
                      <a:r>
                        <a:rPr lang="ro-RO" sz="1100" b="1" dirty="0" smtClean="0">
                          <a:solidFill>
                            <a:srgbClr val="000000"/>
                          </a:solidFill>
                          <a:effectLst/>
                          <a:latin typeface="+mj-lt"/>
                          <a:ea typeface="Times New Roman"/>
                          <a:cs typeface="Times New Roman"/>
                        </a:rPr>
                        <a:t>Deoarece </a:t>
                      </a:r>
                      <a:endParaRPr lang="en-US" sz="1100" b="1" dirty="0">
                        <a:effectLst/>
                        <a:latin typeface="+mj-lt"/>
                        <a:ea typeface="Calibri"/>
                        <a:cs typeface="Times New Roman"/>
                      </a:endParaRPr>
                    </a:p>
                  </a:txBody>
                  <a:tcPr marL="76200" marR="76200" marT="76200" marB="76200">
                    <a:lnL w="12700" cap="flat" cmpd="sng" algn="ctr">
                      <a:solidFill>
                        <a:srgbClr val="1371B2"/>
                      </a:solidFill>
                      <a:prstDash val="solid"/>
                      <a:round/>
                      <a:headEnd type="none" w="med" len="med"/>
                      <a:tailEnd type="none" w="med" len="med"/>
                    </a:lnL>
                    <a:lnR w="12700" cap="flat" cmpd="sng" algn="ctr">
                      <a:solidFill>
                        <a:srgbClr val="1371B2"/>
                      </a:solidFill>
                      <a:prstDash val="solid"/>
                      <a:round/>
                      <a:headEnd type="none" w="med" len="med"/>
                      <a:tailEnd type="none" w="med" len="med"/>
                    </a:lnR>
                    <a:lnT w="12700" cap="flat" cmpd="sng" algn="ctr">
                      <a:solidFill>
                        <a:srgbClr val="1371B2"/>
                      </a:solidFill>
                      <a:prstDash val="solid"/>
                      <a:round/>
                      <a:headEnd type="none" w="med" len="med"/>
                      <a:tailEnd type="none" w="med" len="med"/>
                    </a:lnT>
                    <a:lnB w="12700" cap="flat" cmpd="sng" algn="ctr">
                      <a:solidFill>
                        <a:srgbClr val="1371B2"/>
                      </a:solidFill>
                      <a:prstDash val="solid"/>
                      <a:round/>
                      <a:headEnd type="none" w="med" len="med"/>
                      <a:tailEnd type="none" w="med" len="med"/>
                    </a:lnB>
                  </a:tcPr>
                </a:tc>
                <a:tc>
                  <a:txBody>
                    <a:bodyPr/>
                    <a:lstStyle/>
                    <a:p>
                      <a:pPr marL="0" marR="0">
                        <a:lnSpc>
                          <a:spcPct val="115000"/>
                        </a:lnSpc>
                        <a:spcBef>
                          <a:spcPts val="0"/>
                        </a:spcBef>
                        <a:spcAft>
                          <a:spcPts val="0"/>
                        </a:spcAft>
                      </a:pPr>
                      <a:r>
                        <a:rPr lang="ro-RO" sz="1100" b="1" dirty="0" smtClean="0">
                          <a:solidFill>
                            <a:srgbClr val="000000"/>
                          </a:solidFill>
                          <a:effectLst/>
                          <a:latin typeface="+mj-lt"/>
                          <a:ea typeface="Times New Roman"/>
                          <a:cs typeface="Times New Roman"/>
                        </a:rPr>
                        <a:t>Pentru că</a:t>
                      </a:r>
                      <a:endParaRPr lang="en-US" sz="1100" b="1" dirty="0">
                        <a:effectLst/>
                        <a:latin typeface="+mj-lt"/>
                        <a:ea typeface="Calibri"/>
                        <a:cs typeface="Times New Roman"/>
                      </a:endParaRPr>
                    </a:p>
                  </a:txBody>
                  <a:tcPr marL="76200" marR="76200" marT="76200" marB="76200">
                    <a:lnL w="12700" cap="flat" cmpd="sng" algn="ctr">
                      <a:solidFill>
                        <a:srgbClr val="1371B2"/>
                      </a:solidFill>
                      <a:prstDash val="solid"/>
                      <a:round/>
                      <a:headEnd type="none" w="med" len="med"/>
                      <a:tailEnd type="none" w="med" len="med"/>
                    </a:lnL>
                    <a:lnR w="12700" cap="flat" cmpd="sng" algn="ctr">
                      <a:solidFill>
                        <a:srgbClr val="1371B2"/>
                      </a:solidFill>
                      <a:prstDash val="solid"/>
                      <a:round/>
                      <a:headEnd type="none" w="med" len="med"/>
                      <a:tailEnd type="none" w="med" len="med"/>
                    </a:lnR>
                    <a:lnT w="12700" cap="flat" cmpd="sng" algn="ctr">
                      <a:solidFill>
                        <a:srgbClr val="1371B2"/>
                      </a:solidFill>
                      <a:prstDash val="solid"/>
                      <a:round/>
                      <a:headEnd type="none" w="med" len="med"/>
                      <a:tailEnd type="none" w="med" len="med"/>
                    </a:lnT>
                    <a:lnB w="12700" cap="flat" cmpd="sng" algn="ctr">
                      <a:solidFill>
                        <a:srgbClr val="1371B2"/>
                      </a:solidFill>
                      <a:prstDash val="solid"/>
                      <a:round/>
                      <a:headEnd type="none" w="med" len="med"/>
                      <a:tailEnd type="none" w="med" len="med"/>
                    </a:lnB>
                  </a:tcPr>
                </a:tc>
                <a:tc>
                  <a:txBody>
                    <a:bodyPr/>
                    <a:lstStyle/>
                    <a:p>
                      <a:pPr marL="0" marR="0">
                        <a:lnSpc>
                          <a:spcPct val="115000"/>
                        </a:lnSpc>
                        <a:spcBef>
                          <a:spcPts val="0"/>
                        </a:spcBef>
                        <a:spcAft>
                          <a:spcPts val="0"/>
                        </a:spcAft>
                      </a:pPr>
                      <a:r>
                        <a:rPr lang="ro-RO" sz="1100" b="1" dirty="0" smtClean="0">
                          <a:solidFill>
                            <a:srgbClr val="000000"/>
                          </a:solidFill>
                          <a:effectLst/>
                          <a:latin typeface="+mj-lt"/>
                          <a:ea typeface="Times New Roman"/>
                          <a:cs typeface="Times New Roman"/>
                        </a:rPr>
                        <a:t>Asumând că</a:t>
                      </a:r>
                      <a:endParaRPr lang="en-US" sz="1100" b="1" dirty="0">
                        <a:effectLst/>
                        <a:latin typeface="+mj-lt"/>
                        <a:ea typeface="Calibri"/>
                        <a:cs typeface="Times New Roman"/>
                      </a:endParaRPr>
                    </a:p>
                  </a:txBody>
                  <a:tcPr marL="76200" marR="76200" marT="76200" marB="76200">
                    <a:lnL w="12700" cap="flat" cmpd="sng" algn="ctr">
                      <a:solidFill>
                        <a:srgbClr val="1371B2"/>
                      </a:solidFill>
                      <a:prstDash val="solid"/>
                      <a:round/>
                      <a:headEnd type="none" w="med" len="med"/>
                      <a:tailEnd type="none" w="med" len="med"/>
                    </a:lnL>
                    <a:lnR w="12700" cap="flat" cmpd="sng" algn="ctr">
                      <a:solidFill>
                        <a:srgbClr val="1371B2"/>
                      </a:solidFill>
                      <a:prstDash val="solid"/>
                      <a:round/>
                      <a:headEnd type="none" w="med" len="med"/>
                      <a:tailEnd type="none" w="med" len="med"/>
                    </a:lnR>
                    <a:lnT w="12700" cap="flat" cmpd="sng" algn="ctr">
                      <a:solidFill>
                        <a:srgbClr val="1371B2"/>
                      </a:solidFill>
                      <a:prstDash val="solid"/>
                      <a:round/>
                      <a:headEnd type="none" w="med" len="med"/>
                      <a:tailEnd type="none" w="med" len="med"/>
                    </a:lnT>
                    <a:lnB w="12700" cap="flat" cmpd="sng" algn="ctr">
                      <a:solidFill>
                        <a:srgbClr val="1371B2"/>
                      </a:solidFill>
                      <a:prstDash val="solid"/>
                      <a:round/>
                      <a:headEnd type="none" w="med" len="med"/>
                      <a:tailEnd type="none" w="med" len="med"/>
                    </a:lnB>
                  </a:tcPr>
                </a:tc>
                <a:tc>
                  <a:txBody>
                    <a:bodyPr/>
                    <a:lstStyle/>
                    <a:p>
                      <a:pPr marL="0" marR="0">
                        <a:lnSpc>
                          <a:spcPct val="115000"/>
                        </a:lnSpc>
                        <a:spcBef>
                          <a:spcPts val="0"/>
                        </a:spcBef>
                        <a:spcAft>
                          <a:spcPts val="0"/>
                        </a:spcAft>
                      </a:pPr>
                      <a:r>
                        <a:rPr lang="ro-RO" sz="1100" b="1" dirty="0" smtClean="0">
                          <a:effectLst/>
                          <a:latin typeface="+mj-lt"/>
                          <a:ea typeface="Calibri"/>
                          <a:cs typeface="Times New Roman"/>
                        </a:rPr>
                        <a:t>Pornind de la ideea că</a:t>
                      </a:r>
                      <a:endParaRPr lang="en-US" sz="1100" b="1" dirty="0">
                        <a:effectLst/>
                        <a:latin typeface="+mj-lt"/>
                        <a:ea typeface="Calibri"/>
                        <a:cs typeface="Times New Roman"/>
                      </a:endParaRPr>
                    </a:p>
                  </a:txBody>
                  <a:tcPr marL="76200" marR="76200" marT="76200" marB="76200">
                    <a:lnL w="12700" cap="flat" cmpd="sng" algn="ctr">
                      <a:solidFill>
                        <a:srgbClr val="1371B2"/>
                      </a:solidFill>
                      <a:prstDash val="solid"/>
                      <a:round/>
                      <a:headEnd type="none" w="med" len="med"/>
                      <a:tailEnd type="none" w="med" len="med"/>
                    </a:lnL>
                    <a:lnR w="12700" cap="flat" cmpd="sng" algn="ctr">
                      <a:solidFill>
                        <a:srgbClr val="1371B2"/>
                      </a:solidFill>
                      <a:prstDash val="solid"/>
                      <a:round/>
                      <a:headEnd type="none" w="med" len="med"/>
                      <a:tailEnd type="none" w="med" len="med"/>
                    </a:lnR>
                    <a:lnT w="12700" cap="flat" cmpd="sng" algn="ctr">
                      <a:solidFill>
                        <a:srgbClr val="1371B2"/>
                      </a:solidFill>
                      <a:prstDash val="solid"/>
                      <a:round/>
                      <a:headEnd type="none" w="med" len="med"/>
                      <a:tailEnd type="none" w="med" len="med"/>
                    </a:lnT>
                    <a:lnB w="12700" cap="flat" cmpd="sng" algn="ctr">
                      <a:solidFill>
                        <a:srgbClr val="1371B2"/>
                      </a:solidFill>
                      <a:prstDash val="solid"/>
                      <a:round/>
                      <a:headEnd type="none" w="med" len="med"/>
                      <a:tailEnd type="none" w="med" len="med"/>
                    </a:lnB>
                  </a:tcPr>
                </a:tc>
              </a:tr>
              <a:tr h="0">
                <a:tc>
                  <a:txBody>
                    <a:bodyPr/>
                    <a:lstStyle/>
                    <a:p>
                      <a:pPr marL="0" marR="0">
                        <a:lnSpc>
                          <a:spcPct val="115000"/>
                        </a:lnSpc>
                        <a:spcBef>
                          <a:spcPts val="0"/>
                        </a:spcBef>
                        <a:spcAft>
                          <a:spcPts val="0"/>
                        </a:spcAft>
                      </a:pPr>
                      <a:r>
                        <a:rPr lang="ro-RO" sz="1100" b="1" dirty="0" smtClean="0">
                          <a:solidFill>
                            <a:srgbClr val="000000"/>
                          </a:solidFill>
                          <a:effectLst/>
                          <a:latin typeface="+mj-lt"/>
                          <a:ea typeface="Times New Roman"/>
                          <a:cs typeface="Times New Roman"/>
                        </a:rPr>
                        <a:t>Având în vedere</a:t>
                      </a:r>
                      <a:r>
                        <a:rPr lang="ro-RO" sz="1100" b="1" baseline="0" dirty="0" smtClean="0">
                          <a:solidFill>
                            <a:srgbClr val="000000"/>
                          </a:solidFill>
                          <a:effectLst/>
                          <a:latin typeface="+mj-lt"/>
                          <a:ea typeface="Times New Roman"/>
                          <a:cs typeface="Times New Roman"/>
                        </a:rPr>
                        <a:t> </a:t>
                      </a:r>
                      <a:endParaRPr lang="en-US" sz="1100" b="1" dirty="0">
                        <a:effectLst/>
                        <a:latin typeface="+mj-lt"/>
                        <a:ea typeface="Calibri"/>
                        <a:cs typeface="Times New Roman"/>
                      </a:endParaRPr>
                    </a:p>
                  </a:txBody>
                  <a:tcPr marL="76200" marR="76200" marT="76200" marB="76200">
                    <a:lnL w="12700" cap="flat" cmpd="sng" algn="ctr">
                      <a:solidFill>
                        <a:srgbClr val="1371B2"/>
                      </a:solidFill>
                      <a:prstDash val="solid"/>
                      <a:round/>
                      <a:headEnd type="none" w="med" len="med"/>
                      <a:tailEnd type="none" w="med" len="med"/>
                    </a:lnL>
                    <a:lnR w="12700" cap="flat" cmpd="sng" algn="ctr">
                      <a:solidFill>
                        <a:srgbClr val="1371B2"/>
                      </a:solidFill>
                      <a:prstDash val="solid"/>
                      <a:round/>
                      <a:headEnd type="none" w="med" len="med"/>
                      <a:tailEnd type="none" w="med" len="med"/>
                    </a:lnR>
                    <a:lnT w="12700" cap="flat" cmpd="sng" algn="ctr">
                      <a:solidFill>
                        <a:srgbClr val="1371B2"/>
                      </a:solidFill>
                      <a:prstDash val="solid"/>
                      <a:round/>
                      <a:headEnd type="none" w="med" len="med"/>
                      <a:tailEnd type="none" w="med" len="med"/>
                    </a:lnT>
                    <a:lnB w="12700" cap="flat" cmpd="sng" algn="ctr">
                      <a:solidFill>
                        <a:srgbClr val="1371B2"/>
                      </a:solidFill>
                      <a:prstDash val="solid"/>
                      <a:round/>
                      <a:headEnd type="none" w="med" len="med"/>
                      <a:tailEnd type="none" w="med" len="med"/>
                    </a:lnB>
                  </a:tcPr>
                </a:tc>
                <a:tc>
                  <a:txBody>
                    <a:bodyPr/>
                    <a:lstStyle/>
                    <a:p>
                      <a:pPr marL="0" marR="0">
                        <a:lnSpc>
                          <a:spcPct val="115000"/>
                        </a:lnSpc>
                        <a:spcBef>
                          <a:spcPts val="0"/>
                        </a:spcBef>
                        <a:spcAft>
                          <a:spcPts val="0"/>
                        </a:spcAft>
                      </a:pPr>
                      <a:r>
                        <a:rPr lang="ro-RO" sz="1100" b="1" dirty="0" smtClean="0">
                          <a:solidFill>
                            <a:srgbClr val="000000"/>
                          </a:solidFill>
                          <a:effectLst/>
                          <a:latin typeface="+mj-lt"/>
                          <a:ea typeface="Calibri"/>
                          <a:cs typeface="Times New Roman"/>
                        </a:rPr>
                        <a:t>Luând</a:t>
                      </a:r>
                      <a:r>
                        <a:rPr lang="ro-RO" sz="1100" b="1" baseline="0" dirty="0" smtClean="0">
                          <a:solidFill>
                            <a:srgbClr val="000000"/>
                          </a:solidFill>
                          <a:effectLst/>
                          <a:latin typeface="+mj-lt"/>
                          <a:ea typeface="Calibri"/>
                          <a:cs typeface="Times New Roman"/>
                        </a:rPr>
                        <a:t> în considerare că</a:t>
                      </a:r>
                      <a:endParaRPr lang="en-US" sz="1100" b="1" dirty="0">
                        <a:effectLst/>
                        <a:latin typeface="+mj-lt"/>
                        <a:ea typeface="Calibri"/>
                        <a:cs typeface="Times New Roman"/>
                      </a:endParaRPr>
                    </a:p>
                  </a:txBody>
                  <a:tcPr marL="76200" marR="76200" marT="76200" marB="76200">
                    <a:lnL w="12700" cap="flat" cmpd="sng" algn="ctr">
                      <a:solidFill>
                        <a:srgbClr val="1371B2"/>
                      </a:solidFill>
                      <a:prstDash val="solid"/>
                      <a:round/>
                      <a:headEnd type="none" w="med" len="med"/>
                      <a:tailEnd type="none" w="med" len="med"/>
                    </a:lnL>
                    <a:lnR w="12700" cap="flat" cmpd="sng" algn="ctr">
                      <a:solidFill>
                        <a:srgbClr val="1371B2"/>
                      </a:solidFill>
                      <a:prstDash val="solid"/>
                      <a:round/>
                      <a:headEnd type="none" w="med" len="med"/>
                      <a:tailEnd type="none" w="med" len="med"/>
                    </a:lnR>
                    <a:lnT w="12700" cap="flat" cmpd="sng" algn="ctr">
                      <a:solidFill>
                        <a:srgbClr val="1371B2"/>
                      </a:solidFill>
                      <a:prstDash val="solid"/>
                      <a:round/>
                      <a:headEnd type="none" w="med" len="med"/>
                      <a:tailEnd type="none" w="med" len="med"/>
                    </a:lnT>
                    <a:lnB w="12700" cap="flat" cmpd="sng" algn="ctr">
                      <a:solidFill>
                        <a:srgbClr val="1371B2"/>
                      </a:solidFill>
                      <a:prstDash val="solid"/>
                      <a:round/>
                      <a:headEnd type="none" w="med" len="med"/>
                      <a:tailEnd type="none" w="med" len="med"/>
                    </a:lnB>
                  </a:tcPr>
                </a:tc>
                <a:tc>
                  <a:txBody>
                    <a:bodyPr/>
                    <a:lstStyle/>
                    <a:p>
                      <a:pPr marL="0" marR="0">
                        <a:lnSpc>
                          <a:spcPct val="115000"/>
                        </a:lnSpc>
                        <a:spcBef>
                          <a:spcPts val="0"/>
                        </a:spcBef>
                        <a:spcAft>
                          <a:spcPts val="0"/>
                        </a:spcAft>
                      </a:pPr>
                      <a:r>
                        <a:rPr lang="ro-RO" sz="1100" b="1" dirty="0" smtClean="0">
                          <a:effectLst/>
                          <a:latin typeface="+mj-lt"/>
                          <a:ea typeface="Calibri"/>
                          <a:cs typeface="Times New Roman"/>
                        </a:rPr>
                        <a:t>Presupunând</a:t>
                      </a:r>
                      <a:r>
                        <a:rPr lang="ro-RO" sz="1100" b="1" baseline="0" dirty="0" smtClean="0">
                          <a:effectLst/>
                          <a:latin typeface="+mj-lt"/>
                          <a:ea typeface="Calibri"/>
                          <a:cs typeface="Times New Roman"/>
                        </a:rPr>
                        <a:t> că</a:t>
                      </a:r>
                      <a:endParaRPr lang="en-US" sz="1100" b="1" dirty="0">
                        <a:effectLst/>
                        <a:latin typeface="+mj-lt"/>
                        <a:ea typeface="Calibri"/>
                        <a:cs typeface="Times New Roman"/>
                      </a:endParaRPr>
                    </a:p>
                  </a:txBody>
                  <a:tcPr marL="76200" marR="76200" marT="76200" marB="76200">
                    <a:lnL w="12700" cap="flat" cmpd="sng" algn="ctr">
                      <a:solidFill>
                        <a:srgbClr val="1371B2"/>
                      </a:solidFill>
                      <a:prstDash val="solid"/>
                      <a:round/>
                      <a:headEnd type="none" w="med" len="med"/>
                      <a:tailEnd type="none" w="med" len="med"/>
                    </a:lnL>
                    <a:lnR w="12700" cap="flat" cmpd="sng" algn="ctr">
                      <a:solidFill>
                        <a:srgbClr val="1371B2"/>
                      </a:solidFill>
                      <a:prstDash val="solid"/>
                      <a:round/>
                      <a:headEnd type="none" w="med" len="med"/>
                      <a:tailEnd type="none" w="med" len="med"/>
                    </a:lnR>
                    <a:lnT w="12700" cap="flat" cmpd="sng" algn="ctr">
                      <a:solidFill>
                        <a:srgbClr val="1371B2"/>
                      </a:solidFill>
                      <a:prstDash val="solid"/>
                      <a:round/>
                      <a:headEnd type="none" w="med" len="med"/>
                      <a:tailEnd type="none" w="med" len="med"/>
                    </a:lnT>
                    <a:lnB w="12700" cap="flat" cmpd="sng" algn="ctr">
                      <a:solidFill>
                        <a:srgbClr val="1371B2"/>
                      </a:solidFill>
                      <a:prstDash val="solid"/>
                      <a:round/>
                      <a:headEnd type="none" w="med" len="med"/>
                      <a:tailEnd type="none" w="med" len="med"/>
                    </a:lnB>
                  </a:tcPr>
                </a:tc>
                <a:tc>
                  <a:txBody>
                    <a:bodyPr/>
                    <a:lstStyle/>
                    <a:p>
                      <a:pPr marL="0" marR="0">
                        <a:lnSpc>
                          <a:spcPct val="115000"/>
                        </a:lnSpc>
                        <a:spcBef>
                          <a:spcPts val="0"/>
                        </a:spcBef>
                        <a:spcAft>
                          <a:spcPts val="0"/>
                        </a:spcAft>
                      </a:pPr>
                      <a:r>
                        <a:rPr lang="ro-RO" sz="1100" b="1" dirty="0" smtClean="0">
                          <a:effectLst/>
                          <a:latin typeface="+mj-lt"/>
                          <a:ea typeface="Calibri"/>
                          <a:cs typeface="Times New Roman"/>
                        </a:rPr>
                        <a:t>Datorită (faptului că)</a:t>
                      </a:r>
                      <a:endParaRPr lang="en-US" sz="1100" b="1" dirty="0">
                        <a:effectLst/>
                        <a:latin typeface="+mj-lt"/>
                        <a:ea typeface="Calibri"/>
                        <a:cs typeface="Times New Roman"/>
                      </a:endParaRPr>
                    </a:p>
                  </a:txBody>
                  <a:tcPr marL="76200" marR="76200" marT="76200" marB="76200">
                    <a:lnL w="12700" cap="flat" cmpd="sng" algn="ctr">
                      <a:solidFill>
                        <a:srgbClr val="1371B2"/>
                      </a:solidFill>
                      <a:prstDash val="solid"/>
                      <a:round/>
                      <a:headEnd type="none" w="med" len="med"/>
                      <a:tailEnd type="none" w="med" len="med"/>
                    </a:lnL>
                    <a:lnR w="12700" cap="flat" cmpd="sng" algn="ctr">
                      <a:solidFill>
                        <a:srgbClr val="1371B2"/>
                      </a:solidFill>
                      <a:prstDash val="solid"/>
                      <a:round/>
                      <a:headEnd type="none" w="med" len="med"/>
                      <a:tailEnd type="none" w="med" len="med"/>
                    </a:lnR>
                    <a:lnT w="12700" cap="flat" cmpd="sng" algn="ctr">
                      <a:solidFill>
                        <a:srgbClr val="1371B2"/>
                      </a:solidFill>
                      <a:prstDash val="solid"/>
                      <a:round/>
                      <a:headEnd type="none" w="med" len="med"/>
                      <a:tailEnd type="none" w="med" len="med"/>
                    </a:lnT>
                    <a:lnB w="12700" cap="flat" cmpd="sng" algn="ctr">
                      <a:solidFill>
                        <a:srgbClr val="1371B2"/>
                      </a:solidFill>
                      <a:prstDash val="solid"/>
                      <a:round/>
                      <a:headEnd type="none" w="med" len="med"/>
                      <a:tailEnd type="none" w="med" len="med"/>
                    </a:lnB>
                  </a:tcPr>
                </a:tc>
              </a:tr>
              <a:tr h="0">
                <a:tc>
                  <a:txBody>
                    <a:bodyPr/>
                    <a:lstStyle/>
                    <a:p>
                      <a:pPr marL="0" marR="0">
                        <a:lnSpc>
                          <a:spcPct val="115000"/>
                        </a:lnSpc>
                        <a:spcBef>
                          <a:spcPts val="0"/>
                        </a:spcBef>
                        <a:spcAft>
                          <a:spcPts val="0"/>
                        </a:spcAft>
                      </a:pPr>
                      <a:r>
                        <a:rPr lang="ro-RO" sz="1100" b="1" dirty="0" smtClean="0">
                          <a:solidFill>
                            <a:srgbClr val="000000"/>
                          </a:solidFill>
                          <a:effectLst/>
                          <a:latin typeface="+mj-lt"/>
                          <a:ea typeface="Times New Roman"/>
                          <a:cs typeface="Times New Roman"/>
                        </a:rPr>
                        <a:t>Considerând că</a:t>
                      </a:r>
                      <a:endParaRPr lang="en-US" sz="1100" b="1" dirty="0">
                        <a:effectLst/>
                        <a:latin typeface="+mj-lt"/>
                        <a:ea typeface="Calibri"/>
                        <a:cs typeface="Times New Roman"/>
                      </a:endParaRPr>
                    </a:p>
                  </a:txBody>
                  <a:tcPr marL="76200" marR="76200" marT="76200" marB="76200">
                    <a:lnL w="12700" cap="flat" cmpd="sng" algn="ctr">
                      <a:solidFill>
                        <a:srgbClr val="1371B2"/>
                      </a:solidFill>
                      <a:prstDash val="solid"/>
                      <a:round/>
                      <a:headEnd type="none" w="med" len="med"/>
                      <a:tailEnd type="none" w="med" len="med"/>
                    </a:lnL>
                    <a:lnR w="12700" cap="flat" cmpd="sng" algn="ctr">
                      <a:solidFill>
                        <a:srgbClr val="1371B2"/>
                      </a:solidFill>
                      <a:prstDash val="solid"/>
                      <a:round/>
                      <a:headEnd type="none" w="med" len="med"/>
                      <a:tailEnd type="none" w="med" len="med"/>
                    </a:lnR>
                    <a:lnT w="12700" cap="flat" cmpd="sng" algn="ctr">
                      <a:solidFill>
                        <a:srgbClr val="1371B2"/>
                      </a:solidFill>
                      <a:prstDash val="solid"/>
                      <a:round/>
                      <a:headEnd type="none" w="med" len="med"/>
                      <a:tailEnd type="none" w="med" len="med"/>
                    </a:lnT>
                    <a:lnB w="12700" cap="flat" cmpd="sng" algn="ctr">
                      <a:solidFill>
                        <a:srgbClr val="1371B2"/>
                      </a:solidFill>
                      <a:prstDash val="solid"/>
                      <a:round/>
                      <a:headEnd type="none" w="med" len="med"/>
                      <a:tailEnd type="none" w="med" len="med"/>
                    </a:lnB>
                  </a:tcPr>
                </a:tc>
                <a:tc>
                  <a:txBody>
                    <a:bodyPr/>
                    <a:lstStyle/>
                    <a:p>
                      <a:pPr marL="0" marR="0">
                        <a:lnSpc>
                          <a:spcPct val="115000"/>
                        </a:lnSpc>
                        <a:spcBef>
                          <a:spcPts val="0"/>
                        </a:spcBef>
                        <a:spcAft>
                          <a:spcPts val="0"/>
                        </a:spcAft>
                      </a:pPr>
                      <a:r>
                        <a:rPr lang="ro-RO" sz="1100" b="1" dirty="0" smtClean="0">
                          <a:solidFill>
                            <a:srgbClr val="000000"/>
                          </a:solidFill>
                          <a:effectLst/>
                          <a:latin typeface="+mj-lt"/>
                          <a:ea typeface="Times New Roman"/>
                          <a:cs typeface="Times New Roman"/>
                        </a:rPr>
                        <a:t>Motivul e ...</a:t>
                      </a:r>
                      <a:endParaRPr lang="en-US" sz="1100" b="1" dirty="0">
                        <a:effectLst/>
                        <a:latin typeface="+mj-lt"/>
                        <a:ea typeface="Calibri"/>
                        <a:cs typeface="Times New Roman"/>
                      </a:endParaRPr>
                    </a:p>
                  </a:txBody>
                  <a:tcPr marL="76200" marR="76200" marT="76200" marB="76200">
                    <a:lnL w="12700" cap="flat" cmpd="sng" algn="ctr">
                      <a:solidFill>
                        <a:srgbClr val="1371B2"/>
                      </a:solidFill>
                      <a:prstDash val="solid"/>
                      <a:round/>
                      <a:headEnd type="none" w="med" len="med"/>
                      <a:tailEnd type="none" w="med" len="med"/>
                    </a:lnL>
                    <a:lnR w="12700" cap="flat" cmpd="sng" algn="ctr">
                      <a:solidFill>
                        <a:srgbClr val="1371B2"/>
                      </a:solidFill>
                      <a:prstDash val="solid"/>
                      <a:round/>
                      <a:headEnd type="none" w="med" len="med"/>
                      <a:tailEnd type="none" w="med" len="med"/>
                    </a:lnR>
                    <a:lnT w="12700" cap="flat" cmpd="sng" algn="ctr">
                      <a:solidFill>
                        <a:srgbClr val="1371B2"/>
                      </a:solidFill>
                      <a:prstDash val="solid"/>
                      <a:round/>
                      <a:headEnd type="none" w="med" len="med"/>
                      <a:tailEnd type="none" w="med" len="med"/>
                    </a:lnT>
                    <a:lnB w="12700" cap="flat" cmpd="sng" algn="ctr">
                      <a:solidFill>
                        <a:srgbClr val="1371B2"/>
                      </a:solidFill>
                      <a:prstDash val="solid"/>
                      <a:round/>
                      <a:headEnd type="none" w="med" len="med"/>
                      <a:tailEnd type="none" w="med" len="med"/>
                    </a:lnB>
                  </a:tcPr>
                </a:tc>
                <a:tc>
                  <a:txBody>
                    <a:bodyPr/>
                    <a:lstStyle/>
                    <a:p>
                      <a:pPr marL="0" marR="0">
                        <a:lnSpc>
                          <a:spcPct val="115000"/>
                        </a:lnSpc>
                        <a:spcBef>
                          <a:spcPts val="0"/>
                        </a:spcBef>
                        <a:spcAft>
                          <a:spcPts val="0"/>
                        </a:spcAft>
                      </a:pPr>
                      <a:r>
                        <a:rPr lang="ro-RO" sz="1100" b="1" dirty="0" smtClean="0">
                          <a:solidFill>
                            <a:srgbClr val="000000"/>
                          </a:solidFill>
                          <a:effectLst/>
                          <a:latin typeface="+mj-lt"/>
                          <a:ea typeface="Times New Roman"/>
                          <a:cs typeface="Times New Roman"/>
                        </a:rPr>
                        <a:t>Fiindcă</a:t>
                      </a:r>
                      <a:endParaRPr lang="en-US" sz="1100" b="1" dirty="0">
                        <a:effectLst/>
                        <a:latin typeface="+mj-lt"/>
                        <a:ea typeface="Calibri"/>
                        <a:cs typeface="Times New Roman"/>
                      </a:endParaRPr>
                    </a:p>
                  </a:txBody>
                  <a:tcPr marL="76200" marR="76200" marT="76200" marB="76200">
                    <a:lnL w="12700" cap="flat" cmpd="sng" algn="ctr">
                      <a:solidFill>
                        <a:srgbClr val="1371B2"/>
                      </a:solidFill>
                      <a:prstDash val="solid"/>
                      <a:round/>
                      <a:headEnd type="none" w="med" len="med"/>
                      <a:tailEnd type="none" w="med" len="med"/>
                    </a:lnL>
                    <a:lnR w="12700" cap="flat" cmpd="sng" algn="ctr">
                      <a:solidFill>
                        <a:srgbClr val="1371B2"/>
                      </a:solidFill>
                      <a:prstDash val="solid"/>
                      <a:round/>
                      <a:headEnd type="none" w="med" len="med"/>
                      <a:tailEnd type="none" w="med" len="med"/>
                    </a:lnR>
                    <a:lnT w="12700" cap="flat" cmpd="sng" algn="ctr">
                      <a:solidFill>
                        <a:srgbClr val="1371B2"/>
                      </a:solidFill>
                      <a:prstDash val="solid"/>
                      <a:round/>
                      <a:headEnd type="none" w="med" len="med"/>
                      <a:tailEnd type="none" w="med" len="med"/>
                    </a:lnT>
                    <a:lnB w="12700" cap="flat" cmpd="sng" algn="ctr">
                      <a:solidFill>
                        <a:srgbClr val="1371B2"/>
                      </a:solidFill>
                      <a:prstDash val="solid"/>
                      <a:round/>
                      <a:headEnd type="none" w="med" len="med"/>
                      <a:tailEnd type="none" w="med" len="med"/>
                    </a:lnB>
                  </a:tcPr>
                </a:tc>
                <a:tc>
                  <a:txBody>
                    <a:bodyPr/>
                    <a:lstStyle/>
                    <a:p>
                      <a:pPr marL="0" marR="0">
                        <a:lnSpc>
                          <a:spcPct val="115000"/>
                        </a:lnSpc>
                        <a:spcBef>
                          <a:spcPts val="0"/>
                        </a:spcBef>
                        <a:spcAft>
                          <a:spcPts val="0"/>
                        </a:spcAft>
                      </a:pPr>
                      <a:r>
                        <a:rPr lang="ro-RO" sz="1100" b="1" dirty="0" smtClean="0">
                          <a:effectLst/>
                          <a:latin typeface="+mj-lt"/>
                          <a:ea typeface="Calibri"/>
                          <a:cs typeface="Times New Roman"/>
                        </a:rPr>
                        <a:t>Pe baza</a:t>
                      </a:r>
                      <a:r>
                        <a:rPr lang="ro-RO" sz="1100" b="1" baseline="0" dirty="0" smtClean="0">
                          <a:effectLst/>
                          <a:latin typeface="+mj-lt"/>
                          <a:ea typeface="Calibri"/>
                          <a:cs typeface="Times New Roman"/>
                        </a:rPr>
                        <a:t> faptului că</a:t>
                      </a:r>
                      <a:endParaRPr lang="en-US" sz="1100" b="1" dirty="0">
                        <a:effectLst/>
                        <a:latin typeface="+mj-lt"/>
                        <a:ea typeface="Calibri"/>
                        <a:cs typeface="Times New Roman"/>
                      </a:endParaRPr>
                    </a:p>
                  </a:txBody>
                  <a:tcPr marL="76200" marR="76200" marT="76200" marB="76200">
                    <a:lnL w="12700" cap="flat" cmpd="sng" algn="ctr">
                      <a:solidFill>
                        <a:srgbClr val="1371B2"/>
                      </a:solidFill>
                      <a:prstDash val="solid"/>
                      <a:round/>
                      <a:headEnd type="none" w="med" len="med"/>
                      <a:tailEnd type="none" w="med" len="med"/>
                    </a:lnL>
                    <a:lnR w="12700" cap="flat" cmpd="sng" algn="ctr">
                      <a:solidFill>
                        <a:srgbClr val="1371B2"/>
                      </a:solidFill>
                      <a:prstDash val="solid"/>
                      <a:round/>
                      <a:headEnd type="none" w="med" len="med"/>
                      <a:tailEnd type="none" w="med" len="med"/>
                    </a:lnR>
                    <a:lnT w="12700" cap="flat" cmpd="sng" algn="ctr">
                      <a:solidFill>
                        <a:srgbClr val="1371B2"/>
                      </a:solidFill>
                      <a:prstDash val="solid"/>
                      <a:round/>
                      <a:headEnd type="none" w="med" len="med"/>
                      <a:tailEnd type="none" w="med" len="med"/>
                    </a:lnT>
                    <a:lnB w="12700" cap="flat" cmpd="sng" algn="ctr">
                      <a:solidFill>
                        <a:srgbClr val="1371B2"/>
                      </a:solidFill>
                      <a:prstDash val="solid"/>
                      <a:round/>
                      <a:headEnd type="none" w="med" len="med"/>
                      <a:tailEnd type="none" w="med" len="med"/>
                    </a:lnB>
                  </a:tcPr>
                </a:tc>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1849450930"/>
              </p:ext>
            </p:extLst>
          </p:nvPr>
        </p:nvGraphicFramePr>
        <p:xfrm>
          <a:off x="914400" y="4648200"/>
          <a:ext cx="7391400" cy="1398270"/>
        </p:xfrm>
        <a:graphic>
          <a:graphicData uri="http://schemas.openxmlformats.org/drawingml/2006/table">
            <a:tbl>
              <a:tblPr firstRow="1" firstCol="1" bandRow="1"/>
              <a:tblGrid>
                <a:gridCol w="1847850"/>
                <a:gridCol w="1847850"/>
                <a:gridCol w="1847850"/>
                <a:gridCol w="1847850"/>
              </a:tblGrid>
              <a:tr h="330200">
                <a:tc gridSpan="4">
                  <a:txBody>
                    <a:bodyPr/>
                    <a:lstStyle/>
                    <a:p>
                      <a:pPr marL="0" marR="0" algn="ctr">
                        <a:lnSpc>
                          <a:spcPct val="115000"/>
                        </a:lnSpc>
                        <a:spcBef>
                          <a:spcPts val="0"/>
                        </a:spcBef>
                        <a:spcAft>
                          <a:spcPts val="0"/>
                        </a:spcAft>
                      </a:pPr>
                      <a:r>
                        <a:rPr lang="ro-RO" sz="1200" b="1" dirty="0" smtClean="0">
                          <a:solidFill>
                            <a:srgbClr val="FF0000"/>
                          </a:solidFill>
                          <a:effectLst>
                            <a:outerShdw blurRad="38100" dist="38100" dir="2700000" algn="tl">
                              <a:srgbClr val="000000">
                                <a:alpha val="43137"/>
                              </a:srgbClr>
                            </a:outerShdw>
                          </a:effectLst>
                          <a:latin typeface="+mj-lt"/>
                          <a:ea typeface="Calibri"/>
                          <a:cs typeface="Times New Roman"/>
                        </a:rPr>
                        <a:t>Concluzii</a:t>
                      </a:r>
                      <a:endParaRPr lang="en-US" sz="1200" b="1" dirty="0">
                        <a:solidFill>
                          <a:srgbClr val="FF0000"/>
                        </a:solidFill>
                        <a:effectLst>
                          <a:outerShdw blurRad="38100" dist="38100" dir="2700000" algn="tl">
                            <a:srgbClr val="000000">
                              <a:alpha val="43137"/>
                            </a:srgbClr>
                          </a:outerShdw>
                        </a:effectLst>
                        <a:latin typeface="+mj-lt"/>
                        <a:ea typeface="Calibri"/>
                        <a:cs typeface="Times New Roman"/>
                      </a:endParaRPr>
                    </a:p>
                  </a:txBody>
                  <a:tcPr marL="76200" marR="76200" marT="76200" marB="76200">
                    <a:lnL w="12700" cap="flat" cmpd="sng" algn="ctr">
                      <a:solidFill>
                        <a:srgbClr val="1371B2"/>
                      </a:solidFill>
                      <a:prstDash val="solid"/>
                      <a:round/>
                      <a:headEnd type="none" w="med" len="med"/>
                      <a:tailEnd type="none" w="med" len="med"/>
                    </a:lnL>
                    <a:lnR w="12700" cap="flat" cmpd="sng" algn="ctr">
                      <a:solidFill>
                        <a:srgbClr val="1371B2"/>
                      </a:solidFill>
                      <a:prstDash val="solid"/>
                      <a:round/>
                      <a:headEnd type="none" w="med" len="med"/>
                      <a:tailEnd type="none" w="med" len="med"/>
                    </a:lnR>
                    <a:lnT w="12700" cap="flat" cmpd="sng" algn="ctr">
                      <a:solidFill>
                        <a:srgbClr val="1371B2"/>
                      </a:solidFill>
                      <a:prstDash val="solid"/>
                      <a:round/>
                      <a:headEnd type="none" w="med" len="med"/>
                      <a:tailEnd type="none" w="med" len="med"/>
                    </a:lnT>
                    <a:lnB w="12700" cap="flat" cmpd="sng" algn="ctr">
                      <a:solidFill>
                        <a:srgbClr val="1371B2"/>
                      </a:solidFill>
                      <a:prstDash val="solid"/>
                      <a:round/>
                      <a:headEnd type="none" w="med" len="med"/>
                      <a:tailEnd type="none" w="med" len="med"/>
                    </a:lnB>
                  </a:tcPr>
                </a:tc>
                <a:tc hMerge="1">
                  <a:txBody>
                    <a:bodyPr/>
                    <a:lstStyle/>
                    <a:p>
                      <a:pPr marL="0" marR="0">
                        <a:lnSpc>
                          <a:spcPct val="115000"/>
                        </a:lnSpc>
                        <a:spcBef>
                          <a:spcPts val="0"/>
                        </a:spcBef>
                        <a:spcAft>
                          <a:spcPts val="0"/>
                        </a:spcAft>
                      </a:pPr>
                      <a:endParaRPr lang="en-US" sz="1100" b="1" dirty="0">
                        <a:effectLst/>
                        <a:latin typeface="+mj-lt"/>
                        <a:ea typeface="Calibri"/>
                        <a:cs typeface="Times New Roman"/>
                      </a:endParaRPr>
                    </a:p>
                  </a:txBody>
                  <a:tcPr marL="76200" marR="76200" marT="76200" marB="76200">
                    <a:lnL w="12700" cap="flat" cmpd="sng" algn="ctr">
                      <a:solidFill>
                        <a:srgbClr val="1371B2"/>
                      </a:solidFill>
                      <a:prstDash val="solid"/>
                      <a:round/>
                      <a:headEnd type="none" w="med" len="med"/>
                      <a:tailEnd type="none" w="med" len="med"/>
                    </a:lnL>
                    <a:lnR w="12700" cap="flat" cmpd="sng" algn="ctr">
                      <a:solidFill>
                        <a:srgbClr val="1371B2"/>
                      </a:solidFill>
                      <a:prstDash val="solid"/>
                      <a:round/>
                      <a:headEnd type="none" w="med" len="med"/>
                      <a:tailEnd type="none" w="med" len="med"/>
                    </a:lnR>
                    <a:lnT w="12700" cap="flat" cmpd="sng" algn="ctr">
                      <a:solidFill>
                        <a:srgbClr val="1371B2"/>
                      </a:solidFill>
                      <a:prstDash val="solid"/>
                      <a:round/>
                      <a:headEnd type="none" w="med" len="med"/>
                      <a:tailEnd type="none" w="med" len="med"/>
                    </a:lnT>
                    <a:lnB w="12700" cap="flat" cmpd="sng" algn="ctr">
                      <a:solidFill>
                        <a:srgbClr val="1371B2"/>
                      </a:solidFill>
                      <a:prstDash val="solid"/>
                      <a:round/>
                      <a:headEnd type="none" w="med" len="med"/>
                      <a:tailEnd type="none" w="med" len="med"/>
                    </a:lnB>
                  </a:tcPr>
                </a:tc>
                <a:tc hMerge="1">
                  <a:txBody>
                    <a:bodyPr/>
                    <a:lstStyle/>
                    <a:p>
                      <a:pPr marL="0" marR="0">
                        <a:lnSpc>
                          <a:spcPct val="115000"/>
                        </a:lnSpc>
                        <a:spcBef>
                          <a:spcPts val="0"/>
                        </a:spcBef>
                        <a:spcAft>
                          <a:spcPts val="0"/>
                        </a:spcAft>
                      </a:pPr>
                      <a:endParaRPr lang="en-US" sz="1100" b="1" dirty="0">
                        <a:effectLst/>
                        <a:latin typeface="+mj-lt"/>
                        <a:ea typeface="Calibri"/>
                        <a:cs typeface="Times New Roman"/>
                      </a:endParaRPr>
                    </a:p>
                  </a:txBody>
                  <a:tcPr marL="76200" marR="76200" marT="76200" marB="76200">
                    <a:lnL w="12700" cap="flat" cmpd="sng" algn="ctr">
                      <a:solidFill>
                        <a:srgbClr val="1371B2"/>
                      </a:solidFill>
                      <a:prstDash val="solid"/>
                      <a:round/>
                      <a:headEnd type="none" w="med" len="med"/>
                      <a:tailEnd type="none" w="med" len="med"/>
                    </a:lnL>
                    <a:lnR w="12700" cap="flat" cmpd="sng" algn="ctr">
                      <a:solidFill>
                        <a:srgbClr val="1371B2"/>
                      </a:solidFill>
                      <a:prstDash val="solid"/>
                      <a:round/>
                      <a:headEnd type="none" w="med" len="med"/>
                      <a:tailEnd type="none" w="med" len="med"/>
                    </a:lnR>
                    <a:lnT w="12700" cap="flat" cmpd="sng" algn="ctr">
                      <a:solidFill>
                        <a:srgbClr val="1371B2"/>
                      </a:solidFill>
                      <a:prstDash val="solid"/>
                      <a:round/>
                      <a:headEnd type="none" w="med" len="med"/>
                      <a:tailEnd type="none" w="med" len="med"/>
                    </a:lnT>
                    <a:lnB w="12700" cap="flat" cmpd="sng" algn="ctr">
                      <a:solidFill>
                        <a:srgbClr val="1371B2"/>
                      </a:solidFill>
                      <a:prstDash val="solid"/>
                      <a:round/>
                      <a:headEnd type="none" w="med" len="med"/>
                      <a:tailEnd type="none" w="med" len="med"/>
                    </a:lnB>
                  </a:tcPr>
                </a:tc>
                <a:tc hMerge="1">
                  <a:txBody>
                    <a:bodyPr/>
                    <a:lstStyle/>
                    <a:p>
                      <a:pPr marL="0" marR="0">
                        <a:lnSpc>
                          <a:spcPct val="115000"/>
                        </a:lnSpc>
                        <a:spcBef>
                          <a:spcPts val="0"/>
                        </a:spcBef>
                        <a:spcAft>
                          <a:spcPts val="0"/>
                        </a:spcAft>
                      </a:pPr>
                      <a:endParaRPr lang="en-US" sz="1100" b="1" dirty="0">
                        <a:effectLst/>
                        <a:latin typeface="+mj-lt"/>
                        <a:ea typeface="Calibri"/>
                        <a:cs typeface="Times New Roman"/>
                      </a:endParaRPr>
                    </a:p>
                  </a:txBody>
                  <a:tcPr marL="76200" marR="76200" marT="76200" marB="76200">
                    <a:lnL w="12700" cap="flat" cmpd="sng" algn="ctr">
                      <a:solidFill>
                        <a:srgbClr val="1371B2"/>
                      </a:solidFill>
                      <a:prstDash val="solid"/>
                      <a:round/>
                      <a:headEnd type="none" w="med" len="med"/>
                      <a:tailEnd type="none" w="med" len="med"/>
                    </a:lnL>
                    <a:lnR w="12700" cap="flat" cmpd="sng" algn="ctr">
                      <a:solidFill>
                        <a:srgbClr val="1371B2"/>
                      </a:solidFill>
                      <a:prstDash val="solid"/>
                      <a:round/>
                      <a:headEnd type="none" w="med" len="med"/>
                      <a:tailEnd type="none" w="med" len="med"/>
                    </a:lnR>
                    <a:lnT w="12700" cap="flat" cmpd="sng" algn="ctr">
                      <a:solidFill>
                        <a:srgbClr val="1371B2"/>
                      </a:solidFill>
                      <a:prstDash val="solid"/>
                      <a:round/>
                      <a:headEnd type="none" w="med" len="med"/>
                      <a:tailEnd type="none" w="med" len="med"/>
                    </a:lnT>
                    <a:lnB w="12700" cap="flat" cmpd="sng" algn="ctr">
                      <a:solidFill>
                        <a:srgbClr val="1371B2"/>
                      </a:solidFill>
                      <a:prstDash val="solid"/>
                      <a:round/>
                      <a:headEnd type="none" w="med" len="med"/>
                      <a:tailEnd type="none" w="med" len="med"/>
                    </a:lnB>
                  </a:tcPr>
                </a:tc>
              </a:tr>
              <a:tr h="330200">
                <a:tc>
                  <a:txBody>
                    <a:bodyPr/>
                    <a:lstStyle/>
                    <a:p>
                      <a:pPr marL="0" marR="0">
                        <a:lnSpc>
                          <a:spcPct val="115000"/>
                        </a:lnSpc>
                        <a:spcBef>
                          <a:spcPts val="0"/>
                        </a:spcBef>
                        <a:spcAft>
                          <a:spcPts val="0"/>
                        </a:spcAft>
                      </a:pPr>
                      <a:r>
                        <a:rPr lang="ro-RO" sz="1100" b="1" dirty="0" smtClean="0">
                          <a:solidFill>
                            <a:srgbClr val="000000"/>
                          </a:solidFill>
                          <a:effectLst/>
                          <a:latin typeface="+mj-lt"/>
                          <a:ea typeface="Times New Roman"/>
                          <a:cs typeface="Times New Roman"/>
                        </a:rPr>
                        <a:t>Deci</a:t>
                      </a:r>
                      <a:endParaRPr lang="en-US" sz="1100" b="1" dirty="0">
                        <a:effectLst/>
                        <a:latin typeface="+mj-lt"/>
                        <a:ea typeface="Calibri"/>
                        <a:cs typeface="Times New Roman"/>
                      </a:endParaRPr>
                    </a:p>
                  </a:txBody>
                  <a:tcPr marL="76200" marR="76200" marT="76200" marB="76200">
                    <a:lnL w="12700" cap="flat" cmpd="sng" algn="ctr">
                      <a:solidFill>
                        <a:srgbClr val="1371B2"/>
                      </a:solidFill>
                      <a:prstDash val="solid"/>
                      <a:round/>
                      <a:headEnd type="none" w="med" len="med"/>
                      <a:tailEnd type="none" w="med" len="med"/>
                    </a:lnL>
                    <a:lnR w="12700" cap="flat" cmpd="sng" algn="ctr">
                      <a:solidFill>
                        <a:srgbClr val="1371B2"/>
                      </a:solidFill>
                      <a:prstDash val="solid"/>
                      <a:round/>
                      <a:headEnd type="none" w="med" len="med"/>
                      <a:tailEnd type="none" w="med" len="med"/>
                    </a:lnR>
                    <a:lnT w="12700" cap="flat" cmpd="sng" algn="ctr">
                      <a:solidFill>
                        <a:srgbClr val="1371B2"/>
                      </a:solidFill>
                      <a:prstDash val="solid"/>
                      <a:round/>
                      <a:headEnd type="none" w="med" len="med"/>
                      <a:tailEnd type="none" w="med" len="med"/>
                    </a:lnT>
                    <a:lnB w="12700" cap="flat" cmpd="sng" algn="ctr">
                      <a:solidFill>
                        <a:srgbClr val="1371B2"/>
                      </a:solidFill>
                      <a:prstDash val="solid"/>
                      <a:round/>
                      <a:headEnd type="none" w="med" len="med"/>
                      <a:tailEnd type="none" w="med" len="med"/>
                    </a:lnB>
                  </a:tcPr>
                </a:tc>
                <a:tc>
                  <a:txBody>
                    <a:bodyPr/>
                    <a:lstStyle/>
                    <a:p>
                      <a:pPr marL="0" marR="0">
                        <a:lnSpc>
                          <a:spcPct val="115000"/>
                        </a:lnSpc>
                        <a:spcBef>
                          <a:spcPts val="0"/>
                        </a:spcBef>
                        <a:spcAft>
                          <a:spcPts val="0"/>
                        </a:spcAft>
                      </a:pPr>
                      <a:r>
                        <a:rPr lang="ro-RO" sz="1100" b="1" dirty="0" smtClean="0">
                          <a:solidFill>
                            <a:srgbClr val="000000"/>
                          </a:solidFill>
                          <a:effectLst/>
                          <a:latin typeface="+mj-lt"/>
                          <a:ea typeface="Times New Roman"/>
                          <a:cs typeface="Times New Roman"/>
                        </a:rPr>
                        <a:t>Așadar</a:t>
                      </a:r>
                      <a:endParaRPr lang="en-US" sz="1100" b="1" dirty="0">
                        <a:effectLst/>
                        <a:latin typeface="+mj-lt"/>
                        <a:ea typeface="Calibri"/>
                        <a:cs typeface="Times New Roman"/>
                      </a:endParaRPr>
                    </a:p>
                  </a:txBody>
                  <a:tcPr marL="76200" marR="76200" marT="76200" marB="76200">
                    <a:lnL w="12700" cap="flat" cmpd="sng" algn="ctr">
                      <a:solidFill>
                        <a:srgbClr val="1371B2"/>
                      </a:solidFill>
                      <a:prstDash val="solid"/>
                      <a:round/>
                      <a:headEnd type="none" w="med" len="med"/>
                      <a:tailEnd type="none" w="med" len="med"/>
                    </a:lnL>
                    <a:lnR w="12700" cap="flat" cmpd="sng" algn="ctr">
                      <a:solidFill>
                        <a:srgbClr val="1371B2"/>
                      </a:solidFill>
                      <a:prstDash val="solid"/>
                      <a:round/>
                      <a:headEnd type="none" w="med" len="med"/>
                      <a:tailEnd type="none" w="med" len="med"/>
                    </a:lnR>
                    <a:lnT w="12700" cap="flat" cmpd="sng" algn="ctr">
                      <a:solidFill>
                        <a:srgbClr val="1371B2"/>
                      </a:solidFill>
                      <a:prstDash val="solid"/>
                      <a:round/>
                      <a:headEnd type="none" w="med" len="med"/>
                      <a:tailEnd type="none" w="med" len="med"/>
                    </a:lnT>
                    <a:lnB w="12700" cap="flat" cmpd="sng" algn="ctr">
                      <a:solidFill>
                        <a:srgbClr val="1371B2"/>
                      </a:solidFill>
                      <a:prstDash val="solid"/>
                      <a:round/>
                      <a:headEnd type="none" w="med" len="med"/>
                      <a:tailEnd type="none" w="med" len="med"/>
                    </a:lnB>
                  </a:tcPr>
                </a:tc>
                <a:tc>
                  <a:txBody>
                    <a:bodyPr/>
                    <a:lstStyle/>
                    <a:p>
                      <a:pPr marL="0" marR="0">
                        <a:lnSpc>
                          <a:spcPct val="115000"/>
                        </a:lnSpc>
                        <a:spcBef>
                          <a:spcPts val="0"/>
                        </a:spcBef>
                        <a:spcAft>
                          <a:spcPts val="0"/>
                        </a:spcAft>
                      </a:pPr>
                      <a:r>
                        <a:rPr lang="ro-RO" sz="1100" b="1" dirty="0" smtClean="0">
                          <a:solidFill>
                            <a:srgbClr val="000000"/>
                          </a:solidFill>
                          <a:effectLst/>
                          <a:latin typeface="+mj-lt"/>
                          <a:ea typeface="Calibri"/>
                          <a:cs typeface="Times New Roman"/>
                        </a:rPr>
                        <a:t>(Acestea)</a:t>
                      </a:r>
                      <a:r>
                        <a:rPr lang="ro-RO" sz="1100" b="1" baseline="0" dirty="0" smtClean="0">
                          <a:solidFill>
                            <a:srgbClr val="000000"/>
                          </a:solidFill>
                          <a:effectLst/>
                          <a:latin typeface="+mj-lt"/>
                          <a:ea typeface="Calibri"/>
                          <a:cs typeface="Times New Roman"/>
                        </a:rPr>
                        <a:t> arată că</a:t>
                      </a:r>
                      <a:endParaRPr lang="en-US" sz="1100" b="1" dirty="0">
                        <a:effectLst/>
                        <a:latin typeface="+mj-lt"/>
                        <a:ea typeface="Calibri"/>
                        <a:cs typeface="Times New Roman"/>
                      </a:endParaRPr>
                    </a:p>
                  </a:txBody>
                  <a:tcPr marL="76200" marR="76200" marT="76200" marB="76200">
                    <a:lnL w="12700" cap="flat" cmpd="sng" algn="ctr">
                      <a:solidFill>
                        <a:srgbClr val="1371B2"/>
                      </a:solidFill>
                      <a:prstDash val="solid"/>
                      <a:round/>
                      <a:headEnd type="none" w="med" len="med"/>
                      <a:tailEnd type="none" w="med" len="med"/>
                    </a:lnL>
                    <a:lnR w="12700" cap="flat" cmpd="sng" algn="ctr">
                      <a:solidFill>
                        <a:srgbClr val="1371B2"/>
                      </a:solidFill>
                      <a:prstDash val="solid"/>
                      <a:round/>
                      <a:headEnd type="none" w="med" len="med"/>
                      <a:tailEnd type="none" w="med" len="med"/>
                    </a:lnR>
                    <a:lnT w="12700" cap="flat" cmpd="sng" algn="ctr">
                      <a:solidFill>
                        <a:srgbClr val="1371B2"/>
                      </a:solidFill>
                      <a:prstDash val="solid"/>
                      <a:round/>
                      <a:headEnd type="none" w="med" len="med"/>
                      <a:tailEnd type="none" w="med" len="med"/>
                    </a:lnT>
                    <a:lnB w="12700" cap="flat" cmpd="sng" algn="ctr">
                      <a:solidFill>
                        <a:srgbClr val="1371B2"/>
                      </a:solidFill>
                      <a:prstDash val="solid"/>
                      <a:round/>
                      <a:headEnd type="none" w="med" len="med"/>
                      <a:tailEnd type="none" w="med" len="med"/>
                    </a:lnB>
                  </a:tcPr>
                </a:tc>
                <a:tc>
                  <a:txBody>
                    <a:bodyPr/>
                    <a:lstStyle/>
                    <a:p>
                      <a:pPr marL="0" marR="0">
                        <a:lnSpc>
                          <a:spcPct val="115000"/>
                        </a:lnSpc>
                        <a:spcBef>
                          <a:spcPts val="0"/>
                        </a:spcBef>
                        <a:spcAft>
                          <a:spcPts val="0"/>
                        </a:spcAft>
                      </a:pPr>
                      <a:r>
                        <a:rPr lang="ro-RO" sz="1100" b="1" dirty="0" smtClean="0">
                          <a:solidFill>
                            <a:srgbClr val="000000"/>
                          </a:solidFill>
                          <a:effectLst/>
                          <a:latin typeface="+mj-lt"/>
                          <a:ea typeface="Times New Roman"/>
                          <a:cs typeface="Times New Roman"/>
                        </a:rPr>
                        <a:t>Rezultă că</a:t>
                      </a:r>
                      <a:endParaRPr lang="en-US" sz="1100" b="1" dirty="0">
                        <a:effectLst/>
                        <a:latin typeface="+mj-lt"/>
                        <a:ea typeface="Calibri"/>
                        <a:cs typeface="Times New Roman"/>
                      </a:endParaRPr>
                    </a:p>
                  </a:txBody>
                  <a:tcPr marL="76200" marR="76200" marT="76200" marB="76200">
                    <a:lnL w="12700" cap="flat" cmpd="sng" algn="ctr">
                      <a:solidFill>
                        <a:srgbClr val="1371B2"/>
                      </a:solidFill>
                      <a:prstDash val="solid"/>
                      <a:round/>
                      <a:headEnd type="none" w="med" len="med"/>
                      <a:tailEnd type="none" w="med" len="med"/>
                    </a:lnL>
                    <a:lnR w="12700" cap="flat" cmpd="sng" algn="ctr">
                      <a:solidFill>
                        <a:srgbClr val="1371B2"/>
                      </a:solidFill>
                      <a:prstDash val="solid"/>
                      <a:round/>
                      <a:headEnd type="none" w="med" len="med"/>
                      <a:tailEnd type="none" w="med" len="med"/>
                    </a:lnR>
                    <a:lnT w="12700" cap="flat" cmpd="sng" algn="ctr">
                      <a:solidFill>
                        <a:srgbClr val="1371B2"/>
                      </a:solidFill>
                      <a:prstDash val="solid"/>
                      <a:round/>
                      <a:headEnd type="none" w="med" len="med"/>
                      <a:tailEnd type="none" w="med" len="med"/>
                    </a:lnT>
                    <a:lnB w="12700" cap="flat" cmpd="sng" algn="ctr">
                      <a:solidFill>
                        <a:srgbClr val="1371B2"/>
                      </a:solidFill>
                      <a:prstDash val="solid"/>
                      <a:round/>
                      <a:headEnd type="none" w="med" len="med"/>
                      <a:tailEnd type="none" w="med" len="med"/>
                    </a:lnB>
                  </a:tcPr>
                </a:tc>
              </a:tr>
              <a:tr h="330200">
                <a:tc>
                  <a:txBody>
                    <a:bodyPr/>
                    <a:lstStyle/>
                    <a:p>
                      <a:pPr marL="0" marR="0">
                        <a:lnSpc>
                          <a:spcPct val="115000"/>
                        </a:lnSpc>
                        <a:spcBef>
                          <a:spcPts val="0"/>
                        </a:spcBef>
                        <a:spcAft>
                          <a:spcPts val="0"/>
                        </a:spcAft>
                      </a:pPr>
                      <a:r>
                        <a:rPr lang="ro-RO" sz="1100" b="1" dirty="0" smtClean="0">
                          <a:solidFill>
                            <a:srgbClr val="000000"/>
                          </a:solidFill>
                          <a:effectLst/>
                          <a:latin typeface="+mj-lt"/>
                          <a:ea typeface="Times New Roman"/>
                          <a:cs typeface="Times New Roman"/>
                        </a:rPr>
                        <a:t>Astfel că</a:t>
                      </a:r>
                      <a:endParaRPr lang="en-US" sz="1100" b="1" dirty="0">
                        <a:effectLst/>
                        <a:latin typeface="+mj-lt"/>
                        <a:ea typeface="Calibri"/>
                        <a:cs typeface="Times New Roman"/>
                      </a:endParaRPr>
                    </a:p>
                  </a:txBody>
                  <a:tcPr marL="76200" marR="76200" marT="76200" marB="76200">
                    <a:lnL w="12700" cap="flat" cmpd="sng" algn="ctr">
                      <a:solidFill>
                        <a:srgbClr val="1371B2"/>
                      </a:solidFill>
                      <a:prstDash val="solid"/>
                      <a:round/>
                      <a:headEnd type="none" w="med" len="med"/>
                      <a:tailEnd type="none" w="med" len="med"/>
                    </a:lnL>
                    <a:lnR w="12700" cap="flat" cmpd="sng" algn="ctr">
                      <a:solidFill>
                        <a:srgbClr val="1371B2"/>
                      </a:solidFill>
                      <a:prstDash val="solid"/>
                      <a:round/>
                      <a:headEnd type="none" w="med" len="med"/>
                      <a:tailEnd type="none" w="med" len="med"/>
                    </a:lnR>
                    <a:lnT w="12700" cap="flat" cmpd="sng" algn="ctr">
                      <a:solidFill>
                        <a:srgbClr val="1371B2"/>
                      </a:solidFill>
                      <a:prstDash val="solid"/>
                      <a:round/>
                      <a:headEnd type="none" w="med" len="med"/>
                      <a:tailEnd type="none" w="med" len="med"/>
                    </a:lnT>
                    <a:lnB w="12700" cap="flat" cmpd="sng" algn="ctr">
                      <a:solidFill>
                        <a:srgbClr val="1371B2"/>
                      </a:solidFill>
                      <a:prstDash val="solid"/>
                      <a:round/>
                      <a:headEnd type="none" w="med" len="med"/>
                      <a:tailEnd type="none" w="med" len="med"/>
                    </a:lnB>
                  </a:tcPr>
                </a:tc>
                <a:tc>
                  <a:txBody>
                    <a:bodyPr/>
                    <a:lstStyle/>
                    <a:p>
                      <a:pPr marL="0" marR="0">
                        <a:lnSpc>
                          <a:spcPct val="115000"/>
                        </a:lnSpc>
                        <a:spcBef>
                          <a:spcPts val="0"/>
                        </a:spcBef>
                        <a:spcAft>
                          <a:spcPts val="0"/>
                        </a:spcAft>
                      </a:pPr>
                      <a:r>
                        <a:rPr lang="ro-RO" sz="1100" b="1" dirty="0" smtClean="0">
                          <a:solidFill>
                            <a:srgbClr val="000000"/>
                          </a:solidFill>
                          <a:effectLst/>
                          <a:latin typeface="+mj-lt"/>
                          <a:ea typeface="Times New Roman"/>
                          <a:cs typeface="Times New Roman"/>
                        </a:rPr>
                        <a:t>În concluzie</a:t>
                      </a:r>
                      <a:endParaRPr lang="en-US" sz="1100" b="1" dirty="0">
                        <a:effectLst/>
                        <a:latin typeface="+mj-lt"/>
                        <a:ea typeface="Calibri"/>
                        <a:cs typeface="Times New Roman"/>
                      </a:endParaRPr>
                    </a:p>
                  </a:txBody>
                  <a:tcPr marL="76200" marR="76200" marT="76200" marB="76200">
                    <a:lnL w="12700" cap="flat" cmpd="sng" algn="ctr">
                      <a:solidFill>
                        <a:srgbClr val="1371B2"/>
                      </a:solidFill>
                      <a:prstDash val="solid"/>
                      <a:round/>
                      <a:headEnd type="none" w="med" len="med"/>
                      <a:tailEnd type="none" w="med" len="med"/>
                    </a:lnL>
                    <a:lnR w="12700" cap="flat" cmpd="sng" algn="ctr">
                      <a:solidFill>
                        <a:srgbClr val="1371B2"/>
                      </a:solidFill>
                      <a:prstDash val="solid"/>
                      <a:round/>
                      <a:headEnd type="none" w="med" len="med"/>
                      <a:tailEnd type="none" w="med" len="med"/>
                    </a:lnR>
                    <a:lnT w="12700" cap="flat" cmpd="sng" algn="ctr">
                      <a:solidFill>
                        <a:srgbClr val="1371B2"/>
                      </a:solidFill>
                      <a:prstDash val="solid"/>
                      <a:round/>
                      <a:headEnd type="none" w="med" len="med"/>
                      <a:tailEnd type="none" w="med" len="med"/>
                    </a:lnT>
                    <a:lnB w="12700" cap="flat" cmpd="sng" algn="ctr">
                      <a:solidFill>
                        <a:srgbClr val="1371B2"/>
                      </a:solidFill>
                      <a:prstDash val="solid"/>
                      <a:round/>
                      <a:headEnd type="none" w="med" len="med"/>
                      <a:tailEnd type="none" w="med" len="med"/>
                    </a:lnB>
                  </a:tcPr>
                </a:tc>
                <a:tc>
                  <a:txBody>
                    <a:bodyPr/>
                    <a:lstStyle/>
                    <a:p>
                      <a:pPr marL="0" marR="0">
                        <a:lnSpc>
                          <a:spcPct val="115000"/>
                        </a:lnSpc>
                        <a:spcBef>
                          <a:spcPts val="0"/>
                        </a:spcBef>
                        <a:spcAft>
                          <a:spcPts val="0"/>
                        </a:spcAft>
                      </a:pPr>
                      <a:r>
                        <a:rPr lang="ro-RO" sz="1100" b="1" dirty="0" smtClean="0">
                          <a:solidFill>
                            <a:srgbClr val="000000"/>
                          </a:solidFill>
                          <a:effectLst/>
                          <a:latin typeface="+mj-lt"/>
                          <a:ea typeface="Times New Roman"/>
                          <a:cs typeface="Times New Roman"/>
                        </a:rPr>
                        <a:t>Ceea</a:t>
                      </a:r>
                      <a:r>
                        <a:rPr lang="ro-RO" sz="1100" b="1" baseline="0" dirty="0" smtClean="0">
                          <a:solidFill>
                            <a:srgbClr val="000000"/>
                          </a:solidFill>
                          <a:effectLst/>
                          <a:latin typeface="+mj-lt"/>
                          <a:ea typeface="Times New Roman"/>
                          <a:cs typeface="Times New Roman"/>
                        </a:rPr>
                        <a:t> ce dovedește că</a:t>
                      </a:r>
                      <a:endParaRPr lang="en-US" sz="1100" b="1" dirty="0">
                        <a:effectLst/>
                        <a:latin typeface="+mj-lt"/>
                        <a:ea typeface="Calibri"/>
                        <a:cs typeface="Times New Roman"/>
                      </a:endParaRPr>
                    </a:p>
                  </a:txBody>
                  <a:tcPr marL="76200" marR="76200" marT="76200" marB="76200">
                    <a:lnL w="12700" cap="flat" cmpd="sng" algn="ctr">
                      <a:solidFill>
                        <a:srgbClr val="1371B2"/>
                      </a:solidFill>
                      <a:prstDash val="solid"/>
                      <a:round/>
                      <a:headEnd type="none" w="med" len="med"/>
                      <a:tailEnd type="none" w="med" len="med"/>
                    </a:lnL>
                    <a:lnR w="12700" cap="flat" cmpd="sng" algn="ctr">
                      <a:solidFill>
                        <a:srgbClr val="1371B2"/>
                      </a:solidFill>
                      <a:prstDash val="solid"/>
                      <a:round/>
                      <a:headEnd type="none" w="med" len="med"/>
                      <a:tailEnd type="none" w="med" len="med"/>
                    </a:lnR>
                    <a:lnT w="12700" cap="flat" cmpd="sng" algn="ctr">
                      <a:solidFill>
                        <a:srgbClr val="1371B2"/>
                      </a:solidFill>
                      <a:prstDash val="solid"/>
                      <a:round/>
                      <a:headEnd type="none" w="med" len="med"/>
                      <a:tailEnd type="none" w="med" len="med"/>
                    </a:lnT>
                    <a:lnB w="12700" cap="flat" cmpd="sng" algn="ctr">
                      <a:solidFill>
                        <a:srgbClr val="1371B2"/>
                      </a:solidFill>
                      <a:prstDash val="solid"/>
                      <a:round/>
                      <a:headEnd type="none" w="med" len="med"/>
                      <a:tailEnd type="none" w="med" len="med"/>
                    </a:lnB>
                  </a:tcPr>
                </a:tc>
                <a:tc>
                  <a:txBody>
                    <a:bodyPr/>
                    <a:lstStyle/>
                    <a:p>
                      <a:pPr marL="0" marR="0">
                        <a:lnSpc>
                          <a:spcPct val="115000"/>
                        </a:lnSpc>
                        <a:spcBef>
                          <a:spcPts val="0"/>
                        </a:spcBef>
                        <a:spcAft>
                          <a:spcPts val="0"/>
                        </a:spcAft>
                      </a:pPr>
                      <a:r>
                        <a:rPr lang="ro-RO" sz="1100" b="1" dirty="0" smtClean="0">
                          <a:solidFill>
                            <a:srgbClr val="000000"/>
                          </a:solidFill>
                          <a:effectLst/>
                          <a:latin typeface="+mj-lt"/>
                          <a:ea typeface="Times New Roman"/>
                          <a:cs typeface="Times New Roman"/>
                        </a:rPr>
                        <a:t>În consecință</a:t>
                      </a:r>
                      <a:endParaRPr lang="en-US" sz="1100" b="1" dirty="0">
                        <a:effectLst/>
                        <a:latin typeface="+mj-lt"/>
                        <a:ea typeface="Calibri"/>
                        <a:cs typeface="Times New Roman"/>
                      </a:endParaRPr>
                    </a:p>
                  </a:txBody>
                  <a:tcPr marL="76200" marR="76200" marT="76200" marB="76200">
                    <a:lnL w="12700" cap="flat" cmpd="sng" algn="ctr">
                      <a:solidFill>
                        <a:srgbClr val="1371B2"/>
                      </a:solidFill>
                      <a:prstDash val="solid"/>
                      <a:round/>
                      <a:headEnd type="none" w="med" len="med"/>
                      <a:tailEnd type="none" w="med" len="med"/>
                    </a:lnL>
                    <a:lnR w="12700" cap="flat" cmpd="sng" algn="ctr">
                      <a:solidFill>
                        <a:srgbClr val="1371B2"/>
                      </a:solidFill>
                      <a:prstDash val="solid"/>
                      <a:round/>
                      <a:headEnd type="none" w="med" len="med"/>
                      <a:tailEnd type="none" w="med" len="med"/>
                    </a:lnR>
                    <a:lnT w="12700" cap="flat" cmpd="sng" algn="ctr">
                      <a:solidFill>
                        <a:srgbClr val="1371B2"/>
                      </a:solidFill>
                      <a:prstDash val="solid"/>
                      <a:round/>
                      <a:headEnd type="none" w="med" len="med"/>
                      <a:tailEnd type="none" w="med" len="med"/>
                    </a:lnT>
                    <a:lnB w="12700" cap="flat" cmpd="sng" algn="ctr">
                      <a:solidFill>
                        <a:srgbClr val="1371B2"/>
                      </a:solidFill>
                      <a:prstDash val="solid"/>
                      <a:round/>
                      <a:headEnd type="none" w="med" len="med"/>
                      <a:tailEnd type="none" w="med" len="med"/>
                    </a:lnB>
                  </a:tcPr>
                </a:tc>
              </a:tr>
              <a:tr h="330200">
                <a:tc>
                  <a:txBody>
                    <a:bodyPr/>
                    <a:lstStyle/>
                    <a:p>
                      <a:pPr marL="0" marR="0">
                        <a:lnSpc>
                          <a:spcPct val="115000"/>
                        </a:lnSpc>
                        <a:spcBef>
                          <a:spcPts val="0"/>
                        </a:spcBef>
                        <a:spcAft>
                          <a:spcPts val="0"/>
                        </a:spcAft>
                      </a:pPr>
                      <a:r>
                        <a:rPr lang="ro-RO" sz="1100" b="1" dirty="0" smtClean="0">
                          <a:solidFill>
                            <a:srgbClr val="000000"/>
                          </a:solidFill>
                          <a:effectLst/>
                          <a:latin typeface="+mj-lt"/>
                          <a:ea typeface="Times New Roman"/>
                          <a:cs typeface="Times New Roman"/>
                        </a:rPr>
                        <a:t>Prin urmare</a:t>
                      </a:r>
                      <a:endParaRPr lang="en-US" sz="1100" b="1" dirty="0">
                        <a:effectLst/>
                        <a:latin typeface="+mj-lt"/>
                        <a:ea typeface="Calibri"/>
                        <a:cs typeface="Times New Roman"/>
                      </a:endParaRPr>
                    </a:p>
                  </a:txBody>
                  <a:tcPr marL="76200" marR="76200" marT="76200" marB="76200">
                    <a:lnL w="12700" cap="flat" cmpd="sng" algn="ctr">
                      <a:solidFill>
                        <a:srgbClr val="1371B2"/>
                      </a:solidFill>
                      <a:prstDash val="solid"/>
                      <a:round/>
                      <a:headEnd type="none" w="med" len="med"/>
                      <a:tailEnd type="none" w="med" len="med"/>
                    </a:lnL>
                    <a:lnR w="12700" cap="flat" cmpd="sng" algn="ctr">
                      <a:solidFill>
                        <a:srgbClr val="1371B2"/>
                      </a:solidFill>
                      <a:prstDash val="solid"/>
                      <a:round/>
                      <a:headEnd type="none" w="med" len="med"/>
                      <a:tailEnd type="none" w="med" len="med"/>
                    </a:lnR>
                    <a:lnT w="12700" cap="flat" cmpd="sng" algn="ctr">
                      <a:solidFill>
                        <a:srgbClr val="1371B2"/>
                      </a:solidFill>
                      <a:prstDash val="solid"/>
                      <a:round/>
                      <a:headEnd type="none" w="med" len="med"/>
                      <a:tailEnd type="none" w="med" len="med"/>
                    </a:lnT>
                    <a:lnB w="12700" cap="flat" cmpd="sng" algn="ctr">
                      <a:solidFill>
                        <a:srgbClr val="1371B2"/>
                      </a:solidFill>
                      <a:prstDash val="solid"/>
                      <a:round/>
                      <a:headEnd type="none" w="med" len="med"/>
                      <a:tailEnd type="none" w="med" len="med"/>
                    </a:lnB>
                  </a:tcPr>
                </a:tc>
                <a:tc>
                  <a:txBody>
                    <a:bodyPr/>
                    <a:lstStyle/>
                    <a:p>
                      <a:pPr marL="0" marR="0">
                        <a:lnSpc>
                          <a:spcPct val="115000"/>
                        </a:lnSpc>
                        <a:spcBef>
                          <a:spcPts val="0"/>
                        </a:spcBef>
                        <a:spcAft>
                          <a:spcPts val="0"/>
                        </a:spcAft>
                      </a:pPr>
                      <a:r>
                        <a:rPr lang="ro-RO" sz="1100" b="1" dirty="0" smtClean="0">
                          <a:solidFill>
                            <a:srgbClr val="000000"/>
                          </a:solidFill>
                          <a:effectLst/>
                          <a:latin typeface="+mj-lt"/>
                          <a:ea typeface="Times New Roman"/>
                          <a:cs typeface="Times New Roman"/>
                        </a:rPr>
                        <a:t>Putem deduce că</a:t>
                      </a:r>
                      <a:endParaRPr lang="en-US" sz="1100" b="1" dirty="0">
                        <a:effectLst/>
                        <a:latin typeface="+mj-lt"/>
                        <a:ea typeface="Calibri"/>
                        <a:cs typeface="Times New Roman"/>
                      </a:endParaRPr>
                    </a:p>
                  </a:txBody>
                  <a:tcPr marL="76200" marR="76200" marT="76200" marB="76200">
                    <a:lnL w="12700" cap="flat" cmpd="sng" algn="ctr">
                      <a:solidFill>
                        <a:srgbClr val="1371B2"/>
                      </a:solidFill>
                      <a:prstDash val="solid"/>
                      <a:round/>
                      <a:headEnd type="none" w="med" len="med"/>
                      <a:tailEnd type="none" w="med" len="med"/>
                    </a:lnL>
                    <a:lnR w="12700" cap="flat" cmpd="sng" algn="ctr">
                      <a:solidFill>
                        <a:srgbClr val="1371B2"/>
                      </a:solidFill>
                      <a:prstDash val="solid"/>
                      <a:round/>
                      <a:headEnd type="none" w="med" len="med"/>
                      <a:tailEnd type="none" w="med" len="med"/>
                    </a:lnR>
                    <a:lnT w="12700" cap="flat" cmpd="sng" algn="ctr">
                      <a:solidFill>
                        <a:srgbClr val="1371B2"/>
                      </a:solidFill>
                      <a:prstDash val="solid"/>
                      <a:round/>
                      <a:headEnd type="none" w="med" len="med"/>
                      <a:tailEnd type="none" w="med" len="med"/>
                    </a:lnT>
                    <a:lnB w="12700" cap="flat" cmpd="sng" algn="ctr">
                      <a:solidFill>
                        <a:srgbClr val="1371B2"/>
                      </a:solidFill>
                      <a:prstDash val="solid"/>
                      <a:round/>
                      <a:headEnd type="none" w="med" len="med"/>
                      <a:tailEnd type="none" w="med" len="med"/>
                    </a:lnB>
                  </a:tcPr>
                </a:tc>
                <a:tc>
                  <a:txBody>
                    <a:bodyPr/>
                    <a:lstStyle/>
                    <a:p>
                      <a:pPr marL="0" marR="0">
                        <a:lnSpc>
                          <a:spcPct val="115000"/>
                        </a:lnSpc>
                        <a:spcBef>
                          <a:spcPts val="0"/>
                        </a:spcBef>
                        <a:spcAft>
                          <a:spcPts val="0"/>
                        </a:spcAft>
                      </a:pPr>
                      <a:r>
                        <a:rPr lang="ro-RO" sz="1100" b="1" dirty="0" smtClean="0">
                          <a:solidFill>
                            <a:srgbClr val="000000"/>
                          </a:solidFill>
                          <a:effectLst/>
                          <a:latin typeface="+mj-lt"/>
                          <a:ea typeface="Times New Roman"/>
                          <a:cs typeface="Times New Roman"/>
                        </a:rPr>
                        <a:t>Urmează că</a:t>
                      </a:r>
                      <a:endParaRPr lang="en-US" sz="1100" b="1" dirty="0">
                        <a:effectLst/>
                        <a:latin typeface="+mj-lt"/>
                        <a:ea typeface="Calibri"/>
                        <a:cs typeface="Times New Roman"/>
                      </a:endParaRPr>
                    </a:p>
                  </a:txBody>
                  <a:tcPr marL="76200" marR="76200" marT="76200" marB="76200">
                    <a:lnL w="12700" cap="flat" cmpd="sng" algn="ctr">
                      <a:solidFill>
                        <a:srgbClr val="1371B2"/>
                      </a:solidFill>
                      <a:prstDash val="solid"/>
                      <a:round/>
                      <a:headEnd type="none" w="med" len="med"/>
                      <a:tailEnd type="none" w="med" len="med"/>
                    </a:lnL>
                    <a:lnR w="12700" cap="flat" cmpd="sng" algn="ctr">
                      <a:solidFill>
                        <a:srgbClr val="1371B2"/>
                      </a:solidFill>
                      <a:prstDash val="solid"/>
                      <a:round/>
                      <a:headEnd type="none" w="med" len="med"/>
                      <a:tailEnd type="none" w="med" len="med"/>
                    </a:lnR>
                    <a:lnT w="12700" cap="flat" cmpd="sng" algn="ctr">
                      <a:solidFill>
                        <a:srgbClr val="1371B2"/>
                      </a:solidFill>
                      <a:prstDash val="solid"/>
                      <a:round/>
                      <a:headEnd type="none" w="med" len="med"/>
                      <a:tailEnd type="none" w="med" len="med"/>
                    </a:lnT>
                    <a:lnB w="12700" cap="flat" cmpd="sng" algn="ctr">
                      <a:solidFill>
                        <a:srgbClr val="1371B2"/>
                      </a:solidFill>
                      <a:prstDash val="solid"/>
                      <a:round/>
                      <a:headEnd type="none" w="med" len="med"/>
                      <a:tailEnd type="none" w="med" len="med"/>
                    </a:lnB>
                  </a:tcPr>
                </a:tc>
                <a:tc>
                  <a:txBody>
                    <a:bodyPr/>
                    <a:lstStyle/>
                    <a:p>
                      <a:pPr marL="0" marR="0">
                        <a:lnSpc>
                          <a:spcPct val="115000"/>
                        </a:lnSpc>
                        <a:spcBef>
                          <a:spcPts val="0"/>
                        </a:spcBef>
                        <a:spcAft>
                          <a:spcPts val="0"/>
                        </a:spcAft>
                      </a:pPr>
                      <a:r>
                        <a:rPr lang="ro-RO" sz="1100" b="1" dirty="0" smtClean="0">
                          <a:solidFill>
                            <a:srgbClr val="000000"/>
                          </a:solidFill>
                          <a:effectLst/>
                          <a:latin typeface="+mj-lt"/>
                          <a:ea typeface="Times New Roman"/>
                          <a:cs typeface="Times New Roman"/>
                        </a:rPr>
                        <a:t>Decurge </a:t>
                      </a:r>
                      <a:endParaRPr lang="en-US" sz="1100" b="1" dirty="0">
                        <a:effectLst/>
                        <a:latin typeface="+mj-lt"/>
                        <a:ea typeface="Calibri"/>
                        <a:cs typeface="Times New Roman"/>
                      </a:endParaRPr>
                    </a:p>
                  </a:txBody>
                  <a:tcPr marL="76200" marR="76200" marT="76200" marB="76200">
                    <a:lnL w="12700" cap="flat" cmpd="sng" algn="ctr">
                      <a:solidFill>
                        <a:srgbClr val="1371B2"/>
                      </a:solidFill>
                      <a:prstDash val="solid"/>
                      <a:round/>
                      <a:headEnd type="none" w="med" len="med"/>
                      <a:tailEnd type="none" w="med" len="med"/>
                    </a:lnL>
                    <a:lnR w="12700" cap="flat" cmpd="sng" algn="ctr">
                      <a:solidFill>
                        <a:srgbClr val="1371B2"/>
                      </a:solidFill>
                      <a:prstDash val="solid"/>
                      <a:round/>
                      <a:headEnd type="none" w="med" len="med"/>
                      <a:tailEnd type="none" w="med" len="med"/>
                    </a:lnR>
                    <a:lnT w="12700" cap="flat" cmpd="sng" algn="ctr">
                      <a:solidFill>
                        <a:srgbClr val="1371B2"/>
                      </a:solidFill>
                      <a:prstDash val="solid"/>
                      <a:round/>
                      <a:headEnd type="none" w="med" len="med"/>
                      <a:tailEnd type="none" w="med" len="med"/>
                    </a:lnT>
                    <a:lnB w="12700" cap="flat" cmpd="sng" algn="ctr">
                      <a:solidFill>
                        <a:srgbClr val="1371B2"/>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22222447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ro-RO" dirty="0" smtClean="0"/>
              <a:t>Reprezintă următoarele exemple argumente?</a:t>
            </a:r>
            <a:endParaRPr lang="en-US" dirty="0"/>
          </a:p>
        </p:txBody>
      </p:sp>
      <p:sp>
        <p:nvSpPr>
          <p:cNvPr id="3" name="Content Placeholder 2"/>
          <p:cNvSpPr>
            <a:spLocks noGrp="1"/>
          </p:cNvSpPr>
          <p:nvPr>
            <p:ph idx="1"/>
          </p:nvPr>
        </p:nvSpPr>
        <p:spPr>
          <a:xfrm>
            <a:off x="381000" y="2311255"/>
            <a:ext cx="8229600" cy="4525963"/>
          </a:xfrm>
        </p:spPr>
        <p:txBody>
          <a:bodyPr>
            <a:normAutofit fontScale="85000" lnSpcReduction="20000"/>
          </a:bodyPr>
          <a:lstStyle/>
          <a:p>
            <a:pPr marL="514350" indent="-514350">
              <a:buAutoNum type="arabicPeriod"/>
            </a:pPr>
            <a:r>
              <a:rPr lang="ro-RO" dirty="0" smtClean="0">
                <a:latin typeface="+mj-lt"/>
              </a:rPr>
              <a:t>Pe bune, chiar nu crezi că ar trebui să stai acasă? Nu ai aflat că e pandemie?</a:t>
            </a:r>
          </a:p>
          <a:p>
            <a:pPr marL="514350" indent="-514350">
              <a:buAutoNum type="arabicPeriod"/>
            </a:pPr>
            <a:r>
              <a:rPr lang="ro-RO" dirty="0" smtClean="0">
                <a:latin typeface="+mj-lt"/>
              </a:rPr>
              <a:t>El nu a sunat. Dacă dorea să iasă cu mine, atunci ar fi sunat. Prin urmare, nu dorește să iasă cu mine.</a:t>
            </a:r>
          </a:p>
          <a:p>
            <a:pPr marL="514350" indent="-514350">
              <a:buAutoNum type="arabicPeriod"/>
            </a:pPr>
            <a:r>
              <a:rPr lang="ro-RO" dirty="0" smtClean="0">
                <a:latin typeface="+mj-lt"/>
              </a:rPr>
              <a:t>Trebuie să mergem până la capăt. Trebuie să luptăm în Franța. Trebuie să luptăm pe mare și pe uscat. Trebuie să luptăm cu încredere și putere în aer. Trebuie să ne apărăm insula, indiferent de costuri. (W. Churchill)</a:t>
            </a:r>
          </a:p>
          <a:p>
            <a:pPr marL="514350" indent="-514350">
              <a:buFont typeface="Arial" pitchFamily="34" charset="0"/>
              <a:buAutoNum type="arabicPeriod"/>
            </a:pPr>
            <a:r>
              <a:rPr lang="ro-RO" dirty="0" smtClean="0">
                <a:latin typeface="+mj-lt"/>
              </a:rPr>
              <a:t>Toți oamenii sunt muritori și Socrate e om. În concluzie, Socrate e muritor</a:t>
            </a:r>
          </a:p>
          <a:p>
            <a:pPr marL="514350" indent="-514350">
              <a:buFont typeface="Arial" pitchFamily="34" charset="0"/>
              <a:buAutoNum type="arabicPeriod"/>
            </a:pPr>
            <a:r>
              <a:rPr lang="vi-VN" dirty="0" smtClean="0">
                <a:latin typeface="+mj-lt"/>
              </a:rPr>
              <a:t>În primul rând, mașina ta nu e deloc sigură. În al doilea rând, Bucureștiul e un oraș aglomerat și șoferii neexperimentați sunt vulnerabili. Tu ești un șofer neexperimentat. În concluzie, nu ar trebui să conduci. </a:t>
            </a:r>
          </a:p>
          <a:p>
            <a:pPr marL="514350" indent="-514350">
              <a:buFont typeface="Arial" pitchFamily="34" charset="0"/>
              <a:buAutoNum type="arabicPeriod"/>
            </a:pPr>
            <a:r>
              <a:rPr lang="vi-VN" dirty="0" smtClean="0">
                <a:latin typeface="+mj-lt"/>
              </a:rPr>
              <a:t>Toate lebedele pe care le-am văzut în parc sunt albe. În concluzie, toate lebedele sunt albe. </a:t>
            </a:r>
          </a:p>
          <a:p>
            <a:pPr marL="514350" indent="-514350">
              <a:buFont typeface="Arial" pitchFamily="34" charset="0"/>
              <a:buAutoNum type="arabicPeriod"/>
            </a:pPr>
            <a:endParaRPr lang="ro-RO" dirty="0" smtClean="0"/>
          </a:p>
          <a:p>
            <a:pPr marL="514350" indent="-514350">
              <a:buAutoNum type="arabicPeriod"/>
            </a:pPr>
            <a:endParaRPr lang="en-US" dirty="0"/>
          </a:p>
        </p:txBody>
      </p:sp>
    </p:spTree>
    <p:extLst>
      <p:ext uri="{BB962C8B-B14F-4D97-AF65-F5344CB8AC3E}">
        <p14:creationId xmlns:p14="http://schemas.microsoft.com/office/powerpoint/2010/main" val="411082251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ro-RO" dirty="0" smtClean="0"/>
              <a:t>Astăzi este 12 septembrie. Ieri a fost 11 septembrie.</a:t>
            </a:r>
            <a:endParaRPr lang="en-US" dirty="0"/>
          </a:p>
        </p:txBody>
      </p:sp>
      <p:sp>
        <p:nvSpPr>
          <p:cNvPr id="3" name="Content Placeholder 2"/>
          <p:cNvSpPr>
            <a:spLocks noGrp="1"/>
          </p:cNvSpPr>
          <p:nvPr>
            <p:ph idx="1"/>
          </p:nvPr>
        </p:nvSpPr>
        <p:spPr>
          <a:xfrm>
            <a:off x="457200" y="1752600"/>
            <a:ext cx="8229600" cy="4724400"/>
          </a:xfrm>
        </p:spPr>
        <p:txBody>
          <a:bodyPr>
            <a:normAutofit fontScale="92500" lnSpcReduction="20000"/>
          </a:bodyPr>
          <a:lstStyle/>
          <a:p>
            <a:r>
              <a:rPr lang="ro-RO" dirty="0" smtClean="0"/>
              <a:t>Este acesta un argument?</a:t>
            </a:r>
          </a:p>
          <a:p>
            <a:endParaRPr lang="ro-RO" dirty="0"/>
          </a:p>
          <a:p>
            <a:pPr marL="0" indent="0">
              <a:buNone/>
            </a:pPr>
            <a:r>
              <a:rPr lang="ro-RO" dirty="0" smtClean="0">
                <a:effectLst>
                  <a:outerShdw blurRad="38100" dist="38100" dir="2700000" algn="tl">
                    <a:srgbClr val="000000">
                      <a:alpha val="43137"/>
                    </a:srgbClr>
                  </a:outerShdw>
                </a:effectLst>
              </a:rPr>
              <a:t>Presupunem că da.</a:t>
            </a:r>
          </a:p>
          <a:p>
            <a:pPr>
              <a:buFontTx/>
              <a:buChar char="-"/>
            </a:pPr>
            <a:r>
              <a:rPr lang="ro-RO" dirty="0" smtClean="0"/>
              <a:t>Care este premisa și care este concluzia?</a:t>
            </a:r>
          </a:p>
          <a:p>
            <a:pPr marL="457200" indent="-457200">
              <a:buAutoNum type="alphaLcPeriod"/>
            </a:pPr>
            <a:r>
              <a:rPr lang="ro-RO" dirty="0" smtClean="0"/>
              <a:t>Premisa: Astăzi este 12 septembrie.</a:t>
            </a:r>
          </a:p>
          <a:p>
            <a:pPr marL="0" indent="0">
              <a:buNone/>
            </a:pPr>
            <a:r>
              <a:rPr lang="ro-RO" dirty="0"/>
              <a:t> </a:t>
            </a:r>
            <a:r>
              <a:rPr lang="ro-RO" dirty="0" smtClean="0"/>
              <a:t>    Concluzia: Ieri a fost 11 septembrie.</a:t>
            </a:r>
          </a:p>
          <a:p>
            <a:pPr marL="457200" indent="-457200">
              <a:buFont typeface="+mj-lt"/>
              <a:buAutoNum type="alphaLcPeriod" startAt="2"/>
            </a:pPr>
            <a:r>
              <a:rPr lang="ro-RO" dirty="0" smtClean="0"/>
              <a:t>Premisa: Ieri a fost 11 septembrie.</a:t>
            </a:r>
          </a:p>
          <a:p>
            <a:pPr marL="0" indent="0">
              <a:buNone/>
            </a:pPr>
            <a:r>
              <a:rPr lang="ro-RO" dirty="0"/>
              <a:t> </a:t>
            </a:r>
            <a:r>
              <a:rPr lang="ro-RO" dirty="0" smtClean="0"/>
              <a:t>     Concluzia: Astăzi este 12 septembrie.</a:t>
            </a:r>
          </a:p>
          <a:p>
            <a:pPr marL="0" indent="0">
              <a:buNone/>
            </a:pPr>
            <a:endParaRPr lang="ro-RO" dirty="0"/>
          </a:p>
          <a:p>
            <a:pPr marL="0" indent="0">
              <a:buNone/>
            </a:pPr>
            <a:r>
              <a:rPr lang="ro-RO" dirty="0" smtClean="0">
                <a:effectLst>
                  <a:outerShdw blurRad="38100" dist="38100" dir="2700000" algn="tl">
                    <a:srgbClr val="000000">
                      <a:alpha val="43137"/>
                    </a:srgbClr>
                  </a:outerShdw>
                </a:effectLst>
              </a:rPr>
              <a:t>Presupunem că nu.</a:t>
            </a:r>
          </a:p>
          <a:p>
            <a:pPr>
              <a:buFontTx/>
              <a:buChar char="-"/>
            </a:pPr>
            <a:r>
              <a:rPr lang="ro-RO" dirty="0" smtClean="0"/>
              <a:t>Atunci avem două enunțuri legate, fără o inferență: Astăzi este 12 septembrie și ieri a fost 11 septembrie. </a:t>
            </a:r>
          </a:p>
          <a:p>
            <a:pPr>
              <a:buFontTx/>
              <a:buChar char="-"/>
            </a:pPr>
            <a:endParaRPr lang="ro-RO" dirty="0"/>
          </a:p>
          <a:p>
            <a:pPr marL="0" indent="0">
              <a:buNone/>
            </a:pPr>
            <a:r>
              <a:rPr lang="ro-RO" b="1" dirty="0" smtClean="0">
                <a:solidFill>
                  <a:srgbClr val="FF0000"/>
                </a:solidFill>
                <a:effectLst>
                  <a:outerShdw blurRad="38100" dist="38100" dir="2700000" algn="tl">
                    <a:srgbClr val="000000">
                      <a:alpha val="43137"/>
                    </a:srgbClr>
                  </a:outerShdw>
                </a:effectLst>
              </a:rPr>
              <a:t>Ambiguitate!</a:t>
            </a:r>
          </a:p>
        </p:txBody>
      </p:sp>
    </p:spTree>
    <p:extLst>
      <p:ext uri="{BB962C8B-B14F-4D97-AF65-F5344CB8AC3E}">
        <p14:creationId xmlns:p14="http://schemas.microsoft.com/office/powerpoint/2010/main" val="1451196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 calcmode="lin" valueType="num">
                                      <p:cBhvr additive="base">
                                        <p:cTn id="2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 calcmode="lin" valueType="num">
                                      <p:cBhvr additive="base">
                                        <p:cTn id="2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anim calcmode="lin" valueType="num">
                                      <p:cBhvr additive="base">
                                        <p:cTn id="3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9" end="9"/>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anim calcmode="lin" valueType="num">
                                      <p:cBhvr additive="base">
                                        <p:cTn id="3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
                                            <p:txEl>
                                              <p:pRg st="12" end="12"/>
                                            </p:txEl>
                                          </p:spTgt>
                                        </p:tgtEl>
                                        <p:attrNameLst>
                                          <p:attrName>style.visibility</p:attrName>
                                        </p:attrNameLst>
                                      </p:cBhvr>
                                      <p:to>
                                        <p:strVal val="visible"/>
                                      </p:to>
                                    </p:set>
                                    <p:anim calcmode="lin" valueType="num">
                                      <p:cBhvr additive="base">
                                        <p:cTn id="4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Argument vs. Explicație</a:t>
            </a:r>
            <a:endParaRPr lang="en-US" dirty="0"/>
          </a:p>
        </p:txBody>
      </p:sp>
      <p:sp>
        <p:nvSpPr>
          <p:cNvPr id="3" name="Content Placeholder 2"/>
          <p:cNvSpPr>
            <a:spLocks noGrp="1"/>
          </p:cNvSpPr>
          <p:nvPr>
            <p:ph idx="1"/>
          </p:nvPr>
        </p:nvSpPr>
        <p:spPr>
          <a:xfrm>
            <a:off x="304800" y="1600200"/>
            <a:ext cx="8534400" cy="5105400"/>
          </a:xfrm>
        </p:spPr>
        <p:txBody>
          <a:bodyPr>
            <a:normAutofit/>
          </a:bodyPr>
          <a:lstStyle/>
          <a:p>
            <a:r>
              <a:rPr lang="ro-RO" dirty="0" smtClean="0"/>
              <a:t>Explicația vizează un fenomen (de cele mai multe ori) acceptat și răspunde la întrebarea „de ce”</a:t>
            </a:r>
          </a:p>
          <a:p>
            <a:pPr marL="0" indent="0">
              <a:buNone/>
            </a:pPr>
            <a:r>
              <a:rPr lang="ro-RO" dirty="0" smtClean="0"/>
              <a:t>Explanandum: ceea ce trebuie explicat</a:t>
            </a:r>
          </a:p>
          <a:p>
            <a:pPr marL="0" indent="0">
              <a:buNone/>
            </a:pPr>
            <a:r>
              <a:rPr lang="ro-RO" dirty="0" smtClean="0"/>
              <a:t>Explanans: enunțul/enunțurile prin care se oferă explicația</a:t>
            </a:r>
          </a:p>
          <a:p>
            <a:pPr marL="0" indent="0">
              <a:buNone/>
            </a:pPr>
            <a:endParaRPr lang="ro-RO" dirty="0"/>
          </a:p>
          <a:p>
            <a:pPr>
              <a:buFontTx/>
              <a:buChar char="-"/>
            </a:pPr>
            <a:r>
              <a:rPr lang="ro-RO" dirty="0" smtClean="0"/>
              <a:t>Descrie producerea unui fenomen </a:t>
            </a:r>
            <a:r>
              <a:rPr lang="ro-RO" dirty="0" smtClean="0">
                <a:latin typeface="Arial"/>
                <a:cs typeface="Arial"/>
              </a:rPr>
              <a:t>→ Explicație</a:t>
            </a:r>
          </a:p>
          <a:p>
            <a:pPr>
              <a:buFontTx/>
              <a:buChar char="-"/>
            </a:pPr>
            <a:r>
              <a:rPr lang="ro-RO" dirty="0" smtClean="0"/>
              <a:t>Demonstrează că lucrurile sunt așa </a:t>
            </a:r>
            <a:r>
              <a:rPr lang="ro-RO" dirty="0" smtClean="0">
                <a:latin typeface="Arial"/>
                <a:cs typeface="Arial"/>
              </a:rPr>
              <a:t>→ Argument</a:t>
            </a:r>
          </a:p>
          <a:p>
            <a:pPr marL="0" indent="0">
              <a:buNone/>
            </a:pPr>
            <a:endParaRPr lang="ro-RO" dirty="0">
              <a:latin typeface="Arial"/>
              <a:cs typeface="Arial"/>
            </a:endParaRPr>
          </a:p>
          <a:p>
            <a:pPr>
              <a:buFont typeface="Wingdings" pitchFamily="2" charset="2"/>
              <a:buChar char="§"/>
            </a:pPr>
            <a:r>
              <a:rPr lang="ro-RO" dirty="0" smtClean="0">
                <a:latin typeface="Arial"/>
                <a:cs typeface="Arial"/>
              </a:rPr>
              <a:t>O să îmi iau umbrela pentru că plouă.</a:t>
            </a:r>
          </a:p>
          <a:p>
            <a:pPr>
              <a:buFont typeface="Wingdings" pitchFamily="2" charset="2"/>
              <a:buChar char="§"/>
            </a:pPr>
            <a:r>
              <a:rPr lang="ro-RO" dirty="0" smtClean="0">
                <a:latin typeface="Arial"/>
                <a:cs typeface="Arial"/>
              </a:rPr>
              <a:t>Dacă soluția ar fi fost acidă atunci hârtia de turnesol ar fi devenit roșie. Hârtia de turnesol nu a devenit roșie, deci soluția nu e acidă.</a:t>
            </a:r>
            <a:endParaRPr lang="en-US" dirty="0"/>
          </a:p>
        </p:txBody>
      </p:sp>
    </p:spTree>
    <p:extLst>
      <p:ext uri="{BB962C8B-B14F-4D97-AF65-F5344CB8AC3E}">
        <p14:creationId xmlns:p14="http://schemas.microsoft.com/office/powerpoint/2010/main" val="166562752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Argument? Explicație?</a:t>
            </a:r>
            <a:endParaRPr lang="en-US" dirty="0"/>
          </a:p>
        </p:txBody>
      </p:sp>
      <p:sp>
        <p:nvSpPr>
          <p:cNvPr id="3" name="Content Placeholder 2"/>
          <p:cNvSpPr>
            <a:spLocks noGrp="1"/>
          </p:cNvSpPr>
          <p:nvPr>
            <p:ph idx="1"/>
          </p:nvPr>
        </p:nvSpPr>
        <p:spPr>
          <a:xfrm>
            <a:off x="457200" y="2362200"/>
            <a:ext cx="8229600" cy="3505200"/>
          </a:xfrm>
        </p:spPr>
        <p:txBody>
          <a:bodyPr>
            <a:normAutofit/>
          </a:bodyPr>
          <a:lstStyle/>
          <a:p>
            <a:pPr marL="0" indent="0" algn="just">
              <a:buNone/>
            </a:pPr>
            <a:r>
              <a:rPr lang="ro-RO" dirty="0" smtClean="0"/>
              <a:t>Femeile se îmbată de la o cantitate de alcool mai mică decât bărbații deoarece bărbații metabolizează o parte din alcool înainte să ajungă în sânge și femeile nu fac asta. </a:t>
            </a:r>
          </a:p>
          <a:p>
            <a:pPr marL="0" indent="0" algn="just">
              <a:buNone/>
            </a:pPr>
            <a:endParaRPr lang="ro-RO" dirty="0"/>
          </a:p>
          <a:p>
            <a:pPr algn="just">
              <a:buFontTx/>
              <a:buChar char="-"/>
            </a:pPr>
            <a:r>
              <a:rPr lang="ro-RO" dirty="0" smtClean="0"/>
              <a:t>Partea cea mai complicată în diferențierea explicației de argument este determinarea unei „chestiuni acceptate” (accepted matter of fact)</a:t>
            </a:r>
          </a:p>
          <a:p>
            <a:pPr marL="0" indent="0" algn="just">
              <a:buNone/>
            </a:pPr>
            <a:endParaRPr lang="en-US" dirty="0"/>
          </a:p>
        </p:txBody>
      </p:sp>
    </p:spTree>
    <p:extLst>
      <p:ext uri="{BB962C8B-B14F-4D97-AF65-F5344CB8AC3E}">
        <p14:creationId xmlns:p14="http://schemas.microsoft.com/office/powerpoint/2010/main" val="2840339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Dacă - Atunci</a:t>
            </a:r>
            <a:endParaRPr lang="en-US" dirty="0"/>
          </a:p>
        </p:txBody>
      </p:sp>
      <p:sp>
        <p:nvSpPr>
          <p:cNvPr id="3" name="Content Placeholder 2"/>
          <p:cNvSpPr>
            <a:spLocks noGrp="1"/>
          </p:cNvSpPr>
          <p:nvPr>
            <p:ph idx="1"/>
          </p:nvPr>
        </p:nvSpPr>
        <p:spPr>
          <a:xfrm>
            <a:off x="304800" y="1600200"/>
            <a:ext cx="8686800" cy="5029200"/>
          </a:xfrm>
        </p:spPr>
        <p:txBody>
          <a:bodyPr>
            <a:normAutofit fontScale="92500" lnSpcReduction="10000"/>
          </a:bodyPr>
          <a:lstStyle/>
          <a:p>
            <a:pPr marL="0" indent="0">
              <a:buNone/>
            </a:pPr>
            <a:r>
              <a:rPr lang="ro-RO" dirty="0" smtClean="0"/>
              <a:t>Dacă e frig, atunci nu va ninge.</a:t>
            </a:r>
          </a:p>
          <a:p>
            <a:pPr marL="0" indent="0">
              <a:buNone/>
            </a:pPr>
            <a:endParaRPr lang="ro-RO" dirty="0"/>
          </a:p>
          <a:p>
            <a:pPr marL="0" indent="0">
              <a:buNone/>
            </a:pPr>
            <a:r>
              <a:rPr lang="ro-RO" dirty="0" smtClean="0"/>
              <a:t>Dacă e foarte frig, atunci nu va ninge. Ninge. În concluzie, nu e foarte frig. </a:t>
            </a:r>
          </a:p>
          <a:p>
            <a:pPr marL="0" indent="0">
              <a:buNone/>
            </a:pPr>
            <a:endParaRPr lang="ro-RO" dirty="0"/>
          </a:p>
          <a:p>
            <a:pPr>
              <a:buFont typeface="Courier New" pitchFamily="49" charset="0"/>
              <a:buChar char="o"/>
            </a:pPr>
            <a:r>
              <a:rPr lang="ro-RO" dirty="0" smtClean="0"/>
              <a:t>Mijloace de legare a unor enunțuri într-un enunț compus (condițional)</a:t>
            </a:r>
          </a:p>
          <a:p>
            <a:pPr>
              <a:buFont typeface="Courier New" pitchFamily="49" charset="0"/>
              <a:buChar char="o"/>
            </a:pPr>
            <a:r>
              <a:rPr lang="ro-RO" dirty="0" smtClean="0"/>
              <a:t>Nu reprezintă argumente (de sine stătătoare), dar pot fi părți de argument (premise sau concluzii).</a:t>
            </a:r>
          </a:p>
          <a:p>
            <a:pPr marL="0" indent="0">
              <a:buNone/>
            </a:pPr>
            <a:r>
              <a:rPr lang="ro-RO" dirty="0" smtClean="0">
                <a:solidFill>
                  <a:srgbClr val="0070C0"/>
                </a:solidFill>
                <a:effectLst>
                  <a:outerShdw blurRad="38100" dist="38100" dir="2700000" algn="tl">
                    <a:srgbClr val="000000">
                      <a:alpha val="43137"/>
                    </a:srgbClr>
                  </a:outerShdw>
                </a:effectLst>
              </a:rPr>
              <a:t>Puteți da un exemplu în care un condițional e o concluzie a unui argument?</a:t>
            </a:r>
          </a:p>
          <a:p>
            <a:pPr marL="0" indent="0">
              <a:buNone/>
            </a:pPr>
            <a:r>
              <a:rPr lang="ro-RO" dirty="0" smtClean="0"/>
              <a:t>Dacă e foarte frig, atunci nu va ninge. Dacă nu va ninge, atunci nu vom putea merge la ski. În concluzie, dacă e foarte frig, atunci nu vom putea merge la ski. </a:t>
            </a:r>
          </a:p>
        </p:txBody>
      </p:sp>
    </p:spTree>
    <p:extLst>
      <p:ext uri="{BB962C8B-B14F-4D97-AF65-F5344CB8AC3E}">
        <p14:creationId xmlns:p14="http://schemas.microsoft.com/office/powerpoint/2010/main" val="1850784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 calcmode="lin" valueType="num">
                                      <p:cBhvr additive="base">
                                        <p:cTn id="2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Spot the difference(s)</a:t>
            </a:r>
            <a:endParaRPr lang="en-US" dirty="0"/>
          </a:p>
        </p:txBody>
      </p:sp>
      <p:sp>
        <p:nvSpPr>
          <p:cNvPr id="3" name="Content Placeholder 2"/>
          <p:cNvSpPr>
            <a:spLocks noGrp="1"/>
          </p:cNvSpPr>
          <p:nvPr>
            <p:ph idx="1"/>
          </p:nvPr>
        </p:nvSpPr>
        <p:spPr>
          <a:xfrm>
            <a:off x="152400" y="2057400"/>
            <a:ext cx="8839200" cy="4724400"/>
          </a:xfrm>
        </p:spPr>
        <p:txBody>
          <a:bodyPr/>
          <a:lstStyle/>
          <a:p>
            <a:pPr marL="457200" indent="-457200">
              <a:buAutoNum type="alphaLcPeriod"/>
            </a:pPr>
            <a:r>
              <a:rPr lang="ro-RO" dirty="0" smtClean="0"/>
              <a:t>Unele animale acvatice sunt balene și toate balenele sunt mamifere. Prin urmare, unele animale acvatice sunt mamifere. </a:t>
            </a:r>
          </a:p>
          <a:p>
            <a:pPr marL="457200" indent="-457200">
              <a:buAutoNum type="alphaLcPeriod"/>
            </a:pPr>
            <a:r>
              <a:rPr lang="ro-RO" dirty="0" smtClean="0"/>
              <a:t>Niciun om nu este zeu și niciun zeu nu este muritor. Prin urmare, niciun om nu este muritor.</a:t>
            </a:r>
          </a:p>
          <a:p>
            <a:pPr marL="457200" indent="-457200">
              <a:buAutoNum type="alphaLcPeriod"/>
            </a:pPr>
            <a:r>
              <a:rPr lang="ro-RO" dirty="0" smtClean="0"/>
              <a:t>Oamenii stângaci pe care îi cunosc eu (Tom, Jones, Smith) folosesc foarfeci pentru stângaci. Prin urmare, toți oamenii stângaci folosesc astfel de foarfeci.</a:t>
            </a:r>
          </a:p>
          <a:p>
            <a:pPr marL="457200" indent="-457200">
              <a:buAutoNum type="alphaLcPeriod"/>
            </a:pPr>
            <a:r>
              <a:rPr lang="ro-RO" dirty="0" smtClean="0"/>
              <a:t>În fiecare zi până acum soarele a răsărit. Prin urmare, soarele va răsări și mâine. </a:t>
            </a:r>
            <a:endParaRPr lang="en-US" dirty="0"/>
          </a:p>
        </p:txBody>
      </p:sp>
    </p:spTree>
    <p:extLst>
      <p:ext uri="{BB962C8B-B14F-4D97-AF65-F5344CB8AC3E}">
        <p14:creationId xmlns:p14="http://schemas.microsoft.com/office/powerpoint/2010/main" val="295278867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Raționament deductiv</a:t>
            </a:r>
            <a:endParaRPr lang="en-US" dirty="0"/>
          </a:p>
        </p:txBody>
      </p:sp>
      <p:sp>
        <p:nvSpPr>
          <p:cNvPr id="3" name="Content Placeholder 2"/>
          <p:cNvSpPr>
            <a:spLocks noGrp="1"/>
          </p:cNvSpPr>
          <p:nvPr>
            <p:ph idx="1"/>
          </p:nvPr>
        </p:nvSpPr>
        <p:spPr/>
        <p:txBody>
          <a:bodyPr>
            <a:normAutofit/>
          </a:bodyPr>
          <a:lstStyle/>
          <a:p>
            <a:pPr marL="0" indent="0">
              <a:buNone/>
            </a:pPr>
            <a:r>
              <a:rPr lang="ro-RO" dirty="0"/>
              <a:t>Toți oamenii sunt muritori.</a:t>
            </a:r>
          </a:p>
          <a:p>
            <a:pPr marL="0" indent="0">
              <a:buNone/>
            </a:pPr>
            <a:r>
              <a:rPr lang="ro-RO" dirty="0"/>
              <a:t>Socrate este om.</a:t>
            </a:r>
          </a:p>
          <a:p>
            <a:pPr marL="0" indent="0">
              <a:buNone/>
            </a:pPr>
            <a:r>
              <a:rPr lang="ro-RO" dirty="0"/>
              <a:t>________</a:t>
            </a:r>
          </a:p>
          <a:p>
            <a:pPr marL="0" indent="0">
              <a:buNone/>
            </a:pPr>
            <a:r>
              <a:rPr lang="ro-RO" dirty="0"/>
              <a:t>Socrate este muritor.</a:t>
            </a:r>
          </a:p>
          <a:p>
            <a:pPr marL="0" indent="0">
              <a:buNone/>
            </a:pPr>
            <a:endParaRPr lang="ro-RO" dirty="0" smtClean="0"/>
          </a:p>
          <a:p>
            <a:pPr>
              <a:buFont typeface="Wingdings" pitchFamily="2" charset="2"/>
              <a:buChar char="§"/>
            </a:pPr>
            <a:r>
              <a:rPr lang="ro-RO" dirty="0" smtClean="0">
                <a:effectLst>
                  <a:outerShdw blurRad="38100" dist="38100" dir="2700000" algn="tl">
                    <a:srgbClr val="000000">
                      <a:alpha val="43137"/>
                    </a:srgbClr>
                  </a:outerShdw>
                </a:effectLst>
              </a:rPr>
              <a:t>Gradul de generalitate al concluziei nu depășește gradul de generalitate al premiselor.</a:t>
            </a:r>
          </a:p>
          <a:p>
            <a:pPr>
              <a:buFont typeface="Wingdings" pitchFamily="2" charset="2"/>
              <a:buChar char="§"/>
            </a:pPr>
            <a:r>
              <a:rPr lang="ro-RO" dirty="0" smtClean="0">
                <a:effectLst>
                  <a:outerShdw blurRad="38100" dist="38100" dir="2700000" algn="tl">
                    <a:srgbClr val="000000">
                      <a:alpha val="43137"/>
                    </a:srgbClr>
                  </a:outerShdw>
                </a:effectLst>
              </a:rPr>
              <a:t>Concluzia poate fi cert adevărată.</a:t>
            </a:r>
            <a:endParaRPr lang="en-US"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22130069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Raționament inductiv</a:t>
            </a:r>
            <a:endParaRPr lang="en-US" dirty="0"/>
          </a:p>
        </p:txBody>
      </p:sp>
      <p:sp>
        <p:nvSpPr>
          <p:cNvPr id="3" name="Content Placeholder 2"/>
          <p:cNvSpPr>
            <a:spLocks noGrp="1"/>
          </p:cNvSpPr>
          <p:nvPr>
            <p:ph idx="1"/>
          </p:nvPr>
        </p:nvSpPr>
        <p:spPr>
          <a:xfrm>
            <a:off x="228600" y="1295400"/>
            <a:ext cx="8763000" cy="5334000"/>
          </a:xfrm>
        </p:spPr>
        <p:txBody>
          <a:bodyPr numCol="1">
            <a:normAutofit/>
          </a:bodyPr>
          <a:lstStyle/>
          <a:p>
            <a:pPr marL="0" indent="0">
              <a:buNone/>
            </a:pPr>
            <a:r>
              <a:rPr lang="ro-RO" dirty="0"/>
              <a:t>Lebăda x1 este albă.</a:t>
            </a:r>
          </a:p>
          <a:p>
            <a:pPr marL="0" indent="0">
              <a:buNone/>
            </a:pPr>
            <a:r>
              <a:rPr lang="ro-RO" dirty="0"/>
              <a:t>Lebăda x2 este albă.</a:t>
            </a:r>
          </a:p>
          <a:p>
            <a:pPr marL="0" indent="0">
              <a:buNone/>
            </a:pPr>
            <a:r>
              <a:rPr lang="ro-RO" dirty="0"/>
              <a:t>.</a:t>
            </a:r>
          </a:p>
          <a:p>
            <a:pPr marL="0" indent="0">
              <a:buNone/>
            </a:pPr>
            <a:r>
              <a:rPr lang="ro-RO" dirty="0"/>
              <a:t>.</a:t>
            </a:r>
          </a:p>
          <a:p>
            <a:pPr marL="0" indent="0">
              <a:buNone/>
            </a:pPr>
            <a:r>
              <a:rPr lang="ro-RO" dirty="0"/>
              <a:t>.</a:t>
            </a:r>
          </a:p>
          <a:p>
            <a:pPr marL="0" indent="0">
              <a:buNone/>
            </a:pPr>
            <a:r>
              <a:rPr lang="ro-RO" dirty="0"/>
              <a:t>Lebăda x1536 este albă.</a:t>
            </a:r>
          </a:p>
          <a:p>
            <a:pPr marL="0" indent="0">
              <a:buNone/>
            </a:pPr>
            <a:r>
              <a:rPr lang="ro-RO" dirty="0"/>
              <a:t>_______</a:t>
            </a:r>
          </a:p>
          <a:p>
            <a:pPr marL="0" indent="0">
              <a:buNone/>
            </a:pPr>
            <a:r>
              <a:rPr lang="ro-RO" dirty="0"/>
              <a:t>Toate lebedele sunt albe.</a:t>
            </a:r>
          </a:p>
          <a:p>
            <a:pPr marL="0" indent="0">
              <a:buNone/>
            </a:pPr>
            <a:endParaRPr lang="ro-RO" dirty="0" smtClean="0"/>
          </a:p>
          <a:p>
            <a:r>
              <a:rPr lang="ro-RO" dirty="0" smtClean="0">
                <a:effectLst>
                  <a:outerShdw blurRad="38100" dist="38100" dir="2700000" algn="tl">
                    <a:srgbClr val="000000">
                      <a:alpha val="43137"/>
                    </a:srgbClr>
                  </a:outerShdw>
                </a:effectLst>
              </a:rPr>
              <a:t>Gradul de generalitate al concluziei depășește gradul de generalitate al premiselor.</a:t>
            </a:r>
          </a:p>
          <a:p>
            <a:r>
              <a:rPr lang="ro-RO" dirty="0" smtClean="0">
                <a:effectLst>
                  <a:outerShdw blurRad="38100" dist="38100" dir="2700000" algn="tl">
                    <a:srgbClr val="000000">
                      <a:alpha val="43137"/>
                    </a:srgbClr>
                  </a:outerShdw>
                </a:effectLst>
              </a:rPr>
              <a:t>Concluzia nu poate fi cert adevărată, este doar probabilă. </a:t>
            </a:r>
            <a:endParaRPr lang="en-US"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49883505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o-RO" dirty="0" smtClean="0"/>
              <a:t>Identificați tipurile de raționamente</a:t>
            </a:r>
            <a:endParaRPr lang="en-US" dirty="0"/>
          </a:p>
        </p:txBody>
      </p:sp>
      <p:sp>
        <p:nvSpPr>
          <p:cNvPr id="3" name="Content Placeholder 2"/>
          <p:cNvSpPr>
            <a:spLocks noGrp="1"/>
          </p:cNvSpPr>
          <p:nvPr>
            <p:ph idx="1"/>
          </p:nvPr>
        </p:nvSpPr>
        <p:spPr>
          <a:xfrm>
            <a:off x="228600" y="1295400"/>
            <a:ext cx="8686800" cy="5257800"/>
          </a:xfrm>
        </p:spPr>
        <p:txBody>
          <a:bodyPr/>
          <a:lstStyle/>
          <a:p>
            <a:pPr marL="514350" indent="-514350">
              <a:buFont typeface="+mj-lt"/>
              <a:buAutoNum type="arabicPeriod"/>
            </a:pPr>
            <a:r>
              <a:rPr lang="ro-RO" dirty="0" smtClean="0"/>
              <a:t>Deoarece balenele sunt animale acvatice și există animale acvatice care sunt mamifere, putem concluziona că unele balene sunt mamifere.</a:t>
            </a:r>
          </a:p>
          <a:p>
            <a:pPr marL="514350" indent="-514350">
              <a:buFont typeface="+mj-lt"/>
              <a:buAutoNum type="arabicPeriod"/>
            </a:pPr>
            <a:r>
              <a:rPr lang="ro-RO" dirty="0" smtClean="0"/>
              <a:t>Suntem 26 intr-o grupă. Am verificat și fiecare coleg este român, prin urmare, toți din grupa mea suntem români.</a:t>
            </a:r>
          </a:p>
          <a:p>
            <a:pPr marL="514350" indent="-514350">
              <a:buFont typeface="+mj-lt"/>
              <a:buAutoNum type="arabicPeriod"/>
            </a:pPr>
            <a:r>
              <a:rPr lang="ro-RO" dirty="0" smtClean="0"/>
              <a:t>Inducția matematică</a:t>
            </a:r>
            <a:endParaRPr lang="en-US" dirty="0"/>
          </a:p>
        </p:txBody>
      </p:sp>
    </p:spTree>
    <p:extLst>
      <p:ext uri="{BB962C8B-B14F-4D97-AF65-F5344CB8AC3E}">
        <p14:creationId xmlns:p14="http://schemas.microsoft.com/office/powerpoint/2010/main" val="191475507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Raționament deductiv imediat</a:t>
            </a:r>
            <a:endParaRPr lang="en-US" dirty="0"/>
          </a:p>
        </p:txBody>
      </p:sp>
      <p:sp>
        <p:nvSpPr>
          <p:cNvPr id="3" name="Content Placeholder 2"/>
          <p:cNvSpPr>
            <a:spLocks noGrp="1"/>
          </p:cNvSpPr>
          <p:nvPr>
            <p:ph idx="1"/>
          </p:nvPr>
        </p:nvSpPr>
        <p:spPr/>
        <p:txBody>
          <a:bodyPr/>
          <a:lstStyle/>
          <a:p>
            <a:r>
              <a:rPr lang="ro-RO" dirty="0" smtClean="0">
                <a:solidFill>
                  <a:srgbClr val="FF0000"/>
                </a:solidFill>
                <a:latin typeface="+mj-lt"/>
              </a:rPr>
              <a:t>O premisă – O concluzie</a:t>
            </a:r>
          </a:p>
          <a:p>
            <a:endParaRPr lang="ro-RO" dirty="0">
              <a:latin typeface="+mj-lt"/>
            </a:endParaRPr>
          </a:p>
          <a:p>
            <a:pPr marL="0" indent="0">
              <a:buNone/>
            </a:pPr>
            <a:r>
              <a:rPr lang="ro-RO" dirty="0" smtClean="0">
                <a:latin typeface="+mj-lt"/>
              </a:rPr>
              <a:t>Toți oamenii sunt muritori </a:t>
            </a:r>
            <a:r>
              <a:rPr lang="ro-RO" dirty="0" smtClean="0">
                <a:latin typeface="+mj-lt"/>
                <a:cs typeface="Arial"/>
              </a:rPr>
              <a:t>→ Unii muritori sunt oameni</a:t>
            </a:r>
          </a:p>
          <a:p>
            <a:pPr marL="0" indent="0">
              <a:buNone/>
            </a:pPr>
            <a:endParaRPr lang="ro-RO" dirty="0">
              <a:latin typeface="+mj-lt"/>
              <a:cs typeface="Arial"/>
            </a:endParaRPr>
          </a:p>
          <a:p>
            <a:pPr marL="0" indent="0">
              <a:buNone/>
            </a:pPr>
            <a:r>
              <a:rPr lang="ro-RO" dirty="0" smtClean="0">
                <a:latin typeface="+mj-lt"/>
                <a:cs typeface="Arial"/>
              </a:rPr>
              <a:t>Toți oamenii sunt muritori → Unii oameni sunt muritori</a:t>
            </a:r>
            <a:endParaRPr lang="en-US" dirty="0">
              <a:latin typeface="+mj-lt"/>
            </a:endParaRPr>
          </a:p>
        </p:txBody>
      </p:sp>
    </p:spTree>
    <p:extLst>
      <p:ext uri="{BB962C8B-B14F-4D97-AF65-F5344CB8AC3E}">
        <p14:creationId xmlns:p14="http://schemas.microsoft.com/office/powerpoint/2010/main" val="188405022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Raționament deductiv mediat</a:t>
            </a:r>
            <a:endParaRPr lang="en-US" dirty="0"/>
          </a:p>
        </p:txBody>
      </p:sp>
      <p:sp>
        <p:nvSpPr>
          <p:cNvPr id="3" name="Content Placeholder 2"/>
          <p:cNvSpPr>
            <a:spLocks noGrp="1"/>
          </p:cNvSpPr>
          <p:nvPr>
            <p:ph idx="1"/>
          </p:nvPr>
        </p:nvSpPr>
        <p:spPr/>
        <p:txBody>
          <a:bodyPr/>
          <a:lstStyle/>
          <a:p>
            <a:r>
              <a:rPr lang="ro-RO" dirty="0" smtClean="0"/>
              <a:t>Minim două premise – O concluzie</a:t>
            </a:r>
          </a:p>
          <a:p>
            <a:endParaRPr lang="ro-RO" dirty="0"/>
          </a:p>
          <a:p>
            <a:pPr marL="0" indent="0">
              <a:buNone/>
            </a:pPr>
            <a:r>
              <a:rPr lang="ro-RO" dirty="0" smtClean="0"/>
              <a:t>Oamenii sunt muritori.</a:t>
            </a:r>
          </a:p>
          <a:p>
            <a:pPr marL="0" indent="0">
              <a:buNone/>
            </a:pPr>
            <a:r>
              <a:rPr lang="ro-RO" dirty="0" smtClean="0"/>
              <a:t>Socrate este om.</a:t>
            </a:r>
          </a:p>
          <a:p>
            <a:pPr marL="0" indent="0">
              <a:buNone/>
            </a:pPr>
            <a:r>
              <a:rPr lang="ro-RO" dirty="0" smtClean="0"/>
              <a:t>___________</a:t>
            </a:r>
          </a:p>
          <a:p>
            <a:pPr marL="0" indent="0">
              <a:buNone/>
            </a:pPr>
            <a:r>
              <a:rPr lang="ro-RO" dirty="0" smtClean="0"/>
              <a:t>Socrate este muritor</a:t>
            </a:r>
            <a:endParaRPr lang="en-US" dirty="0"/>
          </a:p>
        </p:txBody>
      </p:sp>
    </p:spTree>
    <p:extLst>
      <p:ext uri="{BB962C8B-B14F-4D97-AF65-F5344CB8AC3E}">
        <p14:creationId xmlns:p14="http://schemas.microsoft.com/office/powerpoint/2010/main" val="226069889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Argumente</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997222078"/>
              </p:ext>
            </p:extLst>
          </p:nvPr>
        </p:nvGraphicFramePr>
        <p:xfrm>
          <a:off x="381000" y="1676400"/>
          <a:ext cx="3124200" cy="1219200"/>
        </p:xfrm>
        <a:graphic>
          <a:graphicData uri="http://schemas.openxmlformats.org/drawingml/2006/table">
            <a:tbl>
              <a:tblPr firstRow="1" bandRow="1">
                <a:tableStyleId>{5C22544A-7EE6-4342-B048-85BDC9FD1C3A}</a:tableStyleId>
              </a:tblPr>
              <a:tblGrid>
                <a:gridCol w="1562100"/>
                <a:gridCol w="1562100"/>
              </a:tblGrid>
              <a:tr h="533400">
                <a:tc gridSpan="2">
                  <a:txBody>
                    <a:bodyPr/>
                    <a:lstStyle/>
                    <a:p>
                      <a:pPr algn="ctr"/>
                      <a:r>
                        <a:rPr lang="ro-RO" dirty="0" smtClean="0"/>
                        <a:t>Enunțuri</a:t>
                      </a:r>
                      <a:endParaRPr lang="en-US" dirty="0"/>
                    </a:p>
                  </a:txBody>
                  <a:tcPr/>
                </a:tc>
                <a:tc hMerge="1">
                  <a:txBody>
                    <a:bodyPr/>
                    <a:lstStyle/>
                    <a:p>
                      <a:endParaRPr lang="en-US" dirty="0"/>
                    </a:p>
                  </a:txBody>
                  <a:tcPr/>
                </a:tc>
              </a:tr>
              <a:tr h="685800">
                <a:tc>
                  <a:txBody>
                    <a:bodyPr/>
                    <a:lstStyle/>
                    <a:p>
                      <a:pPr algn="ctr"/>
                      <a:r>
                        <a:rPr lang="ro-RO" dirty="0" smtClean="0"/>
                        <a:t>Adevărate</a:t>
                      </a:r>
                      <a:endParaRPr lang="en-US" dirty="0"/>
                    </a:p>
                  </a:txBody>
                  <a:tcPr/>
                </a:tc>
                <a:tc>
                  <a:txBody>
                    <a:bodyPr/>
                    <a:lstStyle/>
                    <a:p>
                      <a:pPr algn="ctr"/>
                      <a:r>
                        <a:rPr lang="ro-RO" dirty="0" smtClean="0"/>
                        <a:t>False</a:t>
                      </a:r>
                      <a:endParaRPr lang="en-US" dirty="0"/>
                    </a:p>
                  </a:txBody>
                  <a:tcPr/>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616434243"/>
              </p:ext>
            </p:extLst>
          </p:nvPr>
        </p:nvGraphicFramePr>
        <p:xfrm>
          <a:off x="4876800" y="1676400"/>
          <a:ext cx="3352800" cy="1219200"/>
        </p:xfrm>
        <a:graphic>
          <a:graphicData uri="http://schemas.openxmlformats.org/drawingml/2006/table">
            <a:tbl>
              <a:tblPr firstRow="1" bandRow="1">
                <a:tableStyleId>{5C22544A-7EE6-4342-B048-85BDC9FD1C3A}</a:tableStyleId>
              </a:tblPr>
              <a:tblGrid>
                <a:gridCol w="1676400"/>
                <a:gridCol w="1676400"/>
              </a:tblGrid>
              <a:tr h="609600">
                <a:tc gridSpan="2">
                  <a:txBody>
                    <a:bodyPr/>
                    <a:lstStyle/>
                    <a:p>
                      <a:pPr algn="ctr"/>
                      <a:r>
                        <a:rPr lang="ro-RO" dirty="0" smtClean="0"/>
                        <a:t>Grup de enunțuri</a:t>
                      </a:r>
                      <a:endParaRPr lang="en-US" dirty="0"/>
                    </a:p>
                  </a:txBody>
                  <a:tcPr/>
                </a:tc>
                <a:tc hMerge="1">
                  <a:txBody>
                    <a:bodyPr/>
                    <a:lstStyle/>
                    <a:p>
                      <a:endParaRPr lang="en-US" dirty="0"/>
                    </a:p>
                  </a:txBody>
                  <a:tcPr/>
                </a:tc>
              </a:tr>
              <a:tr h="609600">
                <a:tc>
                  <a:txBody>
                    <a:bodyPr/>
                    <a:lstStyle/>
                    <a:p>
                      <a:pPr algn="ctr"/>
                      <a:r>
                        <a:rPr lang="ro-RO" dirty="0" smtClean="0">
                          <a:solidFill>
                            <a:srgbClr val="FF0000"/>
                          </a:solidFill>
                        </a:rPr>
                        <a:t>Argument</a:t>
                      </a:r>
                      <a:endParaRPr lang="en-US" dirty="0">
                        <a:solidFill>
                          <a:srgbClr val="FF0000"/>
                        </a:solidFill>
                      </a:endParaRPr>
                    </a:p>
                  </a:txBody>
                  <a:tcPr/>
                </a:tc>
                <a:tc>
                  <a:txBody>
                    <a:bodyPr/>
                    <a:lstStyle/>
                    <a:p>
                      <a:pPr algn="ctr"/>
                      <a:r>
                        <a:rPr lang="ro-RO" dirty="0" smtClean="0"/>
                        <a:t>Non-argument</a:t>
                      </a:r>
                      <a:endParaRPr lang="en-US" dirty="0"/>
                    </a:p>
                  </a:txBody>
                  <a:tcPr/>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404452132"/>
              </p:ext>
            </p:extLst>
          </p:nvPr>
        </p:nvGraphicFramePr>
        <p:xfrm>
          <a:off x="1676400" y="3124200"/>
          <a:ext cx="6096000" cy="741680"/>
        </p:xfrm>
        <a:graphic>
          <a:graphicData uri="http://schemas.openxmlformats.org/drawingml/2006/table">
            <a:tbl>
              <a:tblPr firstRow="1" bandRow="1">
                <a:tableStyleId>{5C22544A-7EE6-4342-B048-85BDC9FD1C3A}</a:tableStyleId>
              </a:tblPr>
              <a:tblGrid>
                <a:gridCol w="3048000"/>
                <a:gridCol w="3048000"/>
              </a:tblGrid>
              <a:tr h="370840">
                <a:tc gridSpan="2">
                  <a:txBody>
                    <a:bodyPr/>
                    <a:lstStyle/>
                    <a:p>
                      <a:pPr algn="ctr"/>
                      <a:r>
                        <a:rPr lang="ro-RO" dirty="0" smtClean="0">
                          <a:solidFill>
                            <a:srgbClr val="FF0000"/>
                          </a:solidFill>
                        </a:rPr>
                        <a:t>Argumente</a:t>
                      </a:r>
                      <a:endParaRPr lang="en-US" dirty="0">
                        <a:solidFill>
                          <a:srgbClr val="FF0000"/>
                        </a:solidFill>
                      </a:endParaRPr>
                    </a:p>
                  </a:txBody>
                  <a:tcPr/>
                </a:tc>
                <a:tc hMerge="1">
                  <a:txBody>
                    <a:bodyPr/>
                    <a:lstStyle/>
                    <a:p>
                      <a:endParaRPr lang="en-US" dirty="0"/>
                    </a:p>
                  </a:txBody>
                  <a:tcPr/>
                </a:tc>
              </a:tr>
              <a:tr h="370840">
                <a:tc>
                  <a:txBody>
                    <a:bodyPr/>
                    <a:lstStyle/>
                    <a:p>
                      <a:pPr algn="ctr"/>
                      <a:r>
                        <a:rPr lang="ro-RO" dirty="0" smtClean="0">
                          <a:solidFill>
                            <a:srgbClr val="0070C0"/>
                          </a:solidFill>
                        </a:rPr>
                        <a:t>Deductive</a:t>
                      </a:r>
                      <a:endParaRPr lang="en-US" dirty="0">
                        <a:solidFill>
                          <a:srgbClr val="0070C0"/>
                        </a:solidFill>
                      </a:endParaRPr>
                    </a:p>
                  </a:txBody>
                  <a:tcPr/>
                </a:tc>
                <a:tc>
                  <a:txBody>
                    <a:bodyPr/>
                    <a:lstStyle/>
                    <a:p>
                      <a:pPr algn="ctr"/>
                      <a:r>
                        <a:rPr lang="ro-RO" dirty="0" smtClean="0">
                          <a:solidFill>
                            <a:srgbClr val="003E1C"/>
                          </a:solidFill>
                        </a:rPr>
                        <a:t>Inductive</a:t>
                      </a:r>
                      <a:endParaRPr lang="en-US" dirty="0">
                        <a:solidFill>
                          <a:srgbClr val="003E1C"/>
                        </a:solidFill>
                      </a:endParaRPr>
                    </a:p>
                  </a:txBody>
                  <a:tcPr/>
                </a:tc>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181358898"/>
              </p:ext>
            </p:extLst>
          </p:nvPr>
        </p:nvGraphicFramePr>
        <p:xfrm>
          <a:off x="0" y="4267200"/>
          <a:ext cx="4495800" cy="1097280"/>
        </p:xfrm>
        <a:graphic>
          <a:graphicData uri="http://schemas.openxmlformats.org/drawingml/2006/table">
            <a:tbl>
              <a:tblPr firstRow="1" bandRow="1">
                <a:tableStyleId>{5C22544A-7EE6-4342-B048-85BDC9FD1C3A}</a:tableStyleId>
              </a:tblPr>
              <a:tblGrid>
                <a:gridCol w="1123950"/>
                <a:gridCol w="1123950"/>
                <a:gridCol w="1123950"/>
                <a:gridCol w="1123950"/>
              </a:tblGrid>
              <a:tr h="345440">
                <a:tc gridSpan="4">
                  <a:txBody>
                    <a:bodyPr/>
                    <a:lstStyle/>
                    <a:p>
                      <a:pPr algn="ctr"/>
                      <a:r>
                        <a:rPr lang="ro-RO" dirty="0" smtClean="0">
                          <a:solidFill>
                            <a:srgbClr val="0070C0"/>
                          </a:solidFill>
                        </a:rPr>
                        <a:t>Argumente deductive</a:t>
                      </a:r>
                      <a:endParaRPr lang="en-US" dirty="0">
                        <a:solidFill>
                          <a:srgbClr val="0070C0"/>
                        </a:solidFill>
                      </a:endParaRPr>
                    </a:p>
                  </a:txBody>
                  <a:tcPr/>
                </a:tc>
                <a:tc hMerge="1">
                  <a:txBody>
                    <a:bodyPr/>
                    <a:lstStyle/>
                    <a:p>
                      <a:endParaRPr lang="en-US"/>
                    </a:p>
                  </a:txBody>
                  <a:tcPr/>
                </a:tc>
                <a:tc hMerge="1">
                  <a:txBody>
                    <a:bodyPr/>
                    <a:lstStyle/>
                    <a:p>
                      <a:endParaRPr lang="en-US" dirty="0"/>
                    </a:p>
                  </a:txBody>
                  <a:tcPr/>
                </a:tc>
                <a:tc hMerge="1">
                  <a:txBody>
                    <a:bodyPr/>
                    <a:lstStyle/>
                    <a:p>
                      <a:endParaRPr lang="en-US"/>
                    </a:p>
                  </a:txBody>
                  <a:tcPr/>
                </a:tc>
              </a:tr>
              <a:tr h="345440">
                <a:tc gridSpan="2">
                  <a:txBody>
                    <a:bodyPr/>
                    <a:lstStyle/>
                    <a:p>
                      <a:pPr algn="ctr"/>
                      <a:r>
                        <a:rPr lang="ro-RO" dirty="0" smtClean="0"/>
                        <a:t>Mediate</a:t>
                      </a:r>
                      <a:endParaRPr lang="en-US" dirty="0"/>
                    </a:p>
                  </a:txBody>
                  <a:tcPr/>
                </a:tc>
                <a:tc hMerge="1">
                  <a:txBody>
                    <a:bodyPr/>
                    <a:lstStyle/>
                    <a:p>
                      <a:endParaRPr lang="en-US"/>
                    </a:p>
                  </a:txBody>
                  <a:tcPr/>
                </a:tc>
                <a:tc gridSpan="2">
                  <a:txBody>
                    <a:bodyPr/>
                    <a:lstStyle/>
                    <a:p>
                      <a:pPr algn="ctr"/>
                      <a:r>
                        <a:rPr lang="ro-RO" dirty="0" smtClean="0"/>
                        <a:t>Imediate</a:t>
                      </a:r>
                      <a:endParaRPr lang="en-US" dirty="0"/>
                    </a:p>
                  </a:txBody>
                  <a:tcPr/>
                </a:tc>
                <a:tc hMerge="1">
                  <a:txBody>
                    <a:bodyPr/>
                    <a:lstStyle/>
                    <a:p>
                      <a:endParaRPr lang="en-US"/>
                    </a:p>
                  </a:txBody>
                  <a:tcPr/>
                </a:tc>
              </a:tr>
              <a:tr h="345440">
                <a:tc>
                  <a:txBody>
                    <a:bodyPr/>
                    <a:lstStyle/>
                    <a:p>
                      <a:pPr algn="ctr"/>
                      <a:r>
                        <a:rPr lang="ro-RO" dirty="0" smtClean="0">
                          <a:solidFill>
                            <a:srgbClr val="7030A0"/>
                          </a:solidFill>
                        </a:rPr>
                        <a:t>Valide</a:t>
                      </a:r>
                      <a:endParaRPr lang="en-US" dirty="0">
                        <a:solidFill>
                          <a:srgbClr val="7030A0"/>
                        </a:solidFill>
                      </a:endParaRPr>
                    </a:p>
                  </a:txBody>
                  <a:tcPr/>
                </a:tc>
                <a:tc>
                  <a:txBody>
                    <a:bodyPr/>
                    <a:lstStyle/>
                    <a:p>
                      <a:pPr algn="ctr"/>
                      <a:r>
                        <a:rPr lang="ro-RO" dirty="0" smtClean="0"/>
                        <a:t>Nevalide</a:t>
                      </a:r>
                      <a:endParaRPr lang="en-US" dirty="0"/>
                    </a:p>
                  </a:txBody>
                  <a:tcPr/>
                </a:tc>
                <a:tc>
                  <a:txBody>
                    <a:bodyPr/>
                    <a:lstStyle/>
                    <a:p>
                      <a:pPr algn="ctr"/>
                      <a:r>
                        <a:rPr lang="ro-RO" dirty="0" smtClean="0">
                          <a:solidFill>
                            <a:srgbClr val="7030A0"/>
                          </a:solidFill>
                        </a:rPr>
                        <a:t>Valide</a:t>
                      </a:r>
                      <a:endParaRPr lang="en-US" dirty="0">
                        <a:solidFill>
                          <a:srgbClr val="7030A0"/>
                        </a:solidFill>
                      </a:endParaRPr>
                    </a:p>
                  </a:txBody>
                  <a:tcPr/>
                </a:tc>
                <a:tc>
                  <a:txBody>
                    <a:bodyPr/>
                    <a:lstStyle/>
                    <a:p>
                      <a:pPr algn="ctr"/>
                      <a:r>
                        <a:rPr lang="ro-RO" dirty="0" smtClean="0"/>
                        <a:t>Nevalide</a:t>
                      </a:r>
                      <a:endParaRPr lang="en-US" dirty="0"/>
                    </a:p>
                  </a:txBody>
                  <a:tcPr/>
                </a:tc>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3500613602"/>
              </p:ext>
            </p:extLst>
          </p:nvPr>
        </p:nvGraphicFramePr>
        <p:xfrm>
          <a:off x="4724400" y="4267200"/>
          <a:ext cx="4419600" cy="983974"/>
        </p:xfrm>
        <a:graphic>
          <a:graphicData uri="http://schemas.openxmlformats.org/drawingml/2006/table">
            <a:tbl>
              <a:tblPr firstRow="1" bandRow="1">
                <a:tableStyleId>{5C22544A-7EE6-4342-B048-85BDC9FD1C3A}</a:tableStyleId>
              </a:tblPr>
              <a:tblGrid>
                <a:gridCol w="2209800"/>
                <a:gridCol w="2209800"/>
              </a:tblGrid>
              <a:tr h="381000">
                <a:tc gridSpan="2">
                  <a:txBody>
                    <a:bodyPr/>
                    <a:lstStyle/>
                    <a:p>
                      <a:pPr algn="ctr"/>
                      <a:r>
                        <a:rPr lang="ro-RO" dirty="0" smtClean="0">
                          <a:solidFill>
                            <a:srgbClr val="003E1C"/>
                          </a:solidFill>
                        </a:rPr>
                        <a:t>Argumente inductive</a:t>
                      </a:r>
                      <a:endParaRPr lang="en-US" dirty="0">
                        <a:solidFill>
                          <a:srgbClr val="003E1C"/>
                        </a:solidFill>
                      </a:endParaRPr>
                    </a:p>
                  </a:txBody>
                  <a:tcPr/>
                </a:tc>
                <a:tc hMerge="1">
                  <a:txBody>
                    <a:bodyPr/>
                    <a:lstStyle/>
                    <a:p>
                      <a:endParaRPr lang="en-US" dirty="0"/>
                    </a:p>
                  </a:txBody>
                  <a:tcPr/>
                </a:tc>
              </a:tr>
              <a:tr h="602974">
                <a:tc>
                  <a:txBody>
                    <a:bodyPr/>
                    <a:lstStyle/>
                    <a:p>
                      <a:pPr algn="ctr"/>
                      <a:r>
                        <a:rPr lang="ro-RO" dirty="0" smtClean="0"/>
                        <a:t>Puternice</a:t>
                      </a:r>
                      <a:endParaRPr lang="en-US" dirty="0"/>
                    </a:p>
                  </a:txBody>
                  <a:tcPr/>
                </a:tc>
                <a:tc>
                  <a:txBody>
                    <a:bodyPr/>
                    <a:lstStyle/>
                    <a:p>
                      <a:pPr algn="ctr"/>
                      <a:r>
                        <a:rPr lang="ro-RO" dirty="0" smtClean="0"/>
                        <a:t>Slabe</a:t>
                      </a:r>
                      <a:endParaRPr lang="en-US" dirty="0"/>
                    </a:p>
                  </a:txBody>
                  <a:tcPr/>
                </a:tc>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769154084"/>
              </p:ext>
            </p:extLst>
          </p:nvPr>
        </p:nvGraphicFramePr>
        <p:xfrm>
          <a:off x="1371600" y="5638800"/>
          <a:ext cx="2286000" cy="741680"/>
        </p:xfrm>
        <a:graphic>
          <a:graphicData uri="http://schemas.openxmlformats.org/drawingml/2006/table">
            <a:tbl>
              <a:tblPr firstRow="1" bandRow="1">
                <a:tableStyleId>{5C22544A-7EE6-4342-B048-85BDC9FD1C3A}</a:tableStyleId>
              </a:tblPr>
              <a:tblGrid>
                <a:gridCol w="1143000"/>
                <a:gridCol w="1143000"/>
              </a:tblGrid>
              <a:tr h="370840">
                <a:tc gridSpan="2">
                  <a:txBody>
                    <a:bodyPr/>
                    <a:lstStyle/>
                    <a:p>
                      <a:pPr algn="ctr"/>
                      <a:r>
                        <a:rPr lang="ro-RO" dirty="0" smtClean="0">
                          <a:solidFill>
                            <a:srgbClr val="7030A0"/>
                          </a:solidFill>
                        </a:rPr>
                        <a:t>Argumente valide</a:t>
                      </a:r>
                      <a:endParaRPr lang="en-US" dirty="0">
                        <a:solidFill>
                          <a:srgbClr val="7030A0"/>
                        </a:solidFill>
                      </a:endParaRPr>
                    </a:p>
                  </a:txBody>
                  <a:tcPr/>
                </a:tc>
                <a:tc hMerge="1">
                  <a:txBody>
                    <a:bodyPr/>
                    <a:lstStyle/>
                    <a:p>
                      <a:endParaRPr lang="en-US" dirty="0"/>
                    </a:p>
                  </a:txBody>
                  <a:tcPr/>
                </a:tc>
              </a:tr>
              <a:tr h="370840">
                <a:tc>
                  <a:txBody>
                    <a:bodyPr/>
                    <a:lstStyle/>
                    <a:p>
                      <a:pPr algn="ctr"/>
                      <a:r>
                        <a:rPr lang="ro-RO" dirty="0" smtClean="0"/>
                        <a:t>Sound</a:t>
                      </a:r>
                    </a:p>
                  </a:txBody>
                  <a:tcPr/>
                </a:tc>
                <a:tc>
                  <a:txBody>
                    <a:bodyPr/>
                    <a:lstStyle/>
                    <a:p>
                      <a:pPr algn="ctr"/>
                      <a:r>
                        <a:rPr lang="ro-RO" dirty="0" smtClean="0"/>
                        <a:t>Unsound</a:t>
                      </a:r>
                      <a:endParaRPr lang="en-US" dirty="0"/>
                    </a:p>
                  </a:txBody>
                  <a:tcPr/>
                </a:tc>
              </a:tr>
            </a:tbl>
          </a:graphicData>
        </a:graphic>
      </p:graphicFrame>
    </p:spTree>
    <p:extLst>
      <p:ext uri="{BB962C8B-B14F-4D97-AF65-F5344CB8AC3E}">
        <p14:creationId xmlns:p14="http://schemas.microsoft.com/office/powerpoint/2010/main" val="187870056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76400"/>
            <a:ext cx="8229600" cy="4876800"/>
          </a:xfrm>
        </p:spPr>
        <p:txBody>
          <a:bodyPr/>
          <a:lstStyle/>
          <a:p>
            <a:r>
              <a:rPr lang="ro-RO" dirty="0" smtClean="0"/>
              <a:t>Oamenii sunt raționali.</a:t>
            </a:r>
          </a:p>
          <a:p>
            <a:pPr marL="0" indent="0">
              <a:buNone/>
            </a:pPr>
            <a:r>
              <a:rPr lang="ro-RO" dirty="0" smtClean="0"/>
              <a:t>Socrate este om. </a:t>
            </a:r>
          </a:p>
          <a:p>
            <a:pPr marL="0" indent="0">
              <a:buNone/>
            </a:pPr>
            <a:r>
              <a:rPr lang="ro-RO" dirty="0" smtClean="0"/>
              <a:t>Prin urmare, Socrate este rațional.</a:t>
            </a:r>
          </a:p>
          <a:p>
            <a:pPr marL="0" indent="0">
              <a:buNone/>
            </a:pPr>
            <a:endParaRPr lang="ro-RO" dirty="0"/>
          </a:p>
          <a:p>
            <a:pPr marL="0" indent="0">
              <a:buNone/>
            </a:pPr>
            <a:endParaRPr lang="ro-RO" dirty="0" smtClean="0"/>
          </a:p>
          <a:p>
            <a:r>
              <a:rPr lang="ro-RO" dirty="0" smtClean="0"/>
              <a:t>Toți oamenii au ochi.</a:t>
            </a:r>
          </a:p>
          <a:p>
            <a:pPr marL="0" indent="0">
              <a:buNone/>
            </a:pPr>
            <a:r>
              <a:rPr lang="ro-RO" dirty="0" smtClean="0"/>
              <a:t>Socrate este om.</a:t>
            </a:r>
          </a:p>
          <a:p>
            <a:pPr marL="0" indent="0">
              <a:buNone/>
            </a:pPr>
            <a:r>
              <a:rPr lang="ro-RO" dirty="0" smtClean="0"/>
              <a:t>Prin urmare, Socrate are ochi.</a:t>
            </a:r>
          </a:p>
        </p:txBody>
      </p:sp>
    </p:spTree>
    <p:extLst>
      <p:ext uri="{BB962C8B-B14F-4D97-AF65-F5344CB8AC3E}">
        <p14:creationId xmlns:p14="http://schemas.microsoft.com/office/powerpoint/2010/main" val="96938714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133601"/>
            <a:ext cx="8229600" cy="3429000"/>
          </a:xfrm>
        </p:spPr>
        <p:txBody>
          <a:bodyPr/>
          <a:lstStyle/>
          <a:p>
            <a:r>
              <a:rPr lang="ro-RO" dirty="0" smtClean="0"/>
              <a:t>Ambele au premise adevărate și concluzie adevărată.</a:t>
            </a:r>
          </a:p>
          <a:p>
            <a:endParaRPr lang="ro-RO" dirty="0"/>
          </a:p>
          <a:p>
            <a:r>
              <a:rPr lang="ro-RO" dirty="0" smtClean="0"/>
              <a:t>Există diferențe între ele?</a:t>
            </a:r>
          </a:p>
          <a:p>
            <a:endParaRPr lang="ro-RO" dirty="0"/>
          </a:p>
          <a:p>
            <a:r>
              <a:rPr lang="ro-RO" dirty="0" smtClean="0"/>
              <a:t>Le putem ordona din punctul de vedere al relevanței?</a:t>
            </a:r>
            <a:endParaRPr lang="en-US" dirty="0"/>
          </a:p>
        </p:txBody>
      </p:sp>
    </p:spTree>
    <p:extLst>
      <p:ext uri="{BB962C8B-B14F-4D97-AF65-F5344CB8AC3E}">
        <p14:creationId xmlns:p14="http://schemas.microsoft.com/office/powerpoint/2010/main" val="106940854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09801"/>
            <a:ext cx="8229600" cy="2895600"/>
          </a:xfrm>
        </p:spPr>
        <p:txBody>
          <a:bodyPr>
            <a:normAutofit/>
          </a:bodyPr>
          <a:lstStyle/>
          <a:p>
            <a:r>
              <a:rPr lang="ro-RO" dirty="0" smtClean="0"/>
              <a:t>Premisele trebuie să fie relevante pentru concluzie.</a:t>
            </a:r>
          </a:p>
          <a:p>
            <a:endParaRPr lang="ro-RO" dirty="0"/>
          </a:p>
          <a:p>
            <a:pPr marL="0" indent="0">
              <a:buNone/>
            </a:pPr>
            <a:endParaRPr lang="ro-RO" dirty="0"/>
          </a:p>
        </p:txBody>
      </p:sp>
    </p:spTree>
    <p:extLst>
      <p:ext uri="{BB962C8B-B14F-4D97-AF65-F5344CB8AC3E}">
        <p14:creationId xmlns:p14="http://schemas.microsoft.com/office/powerpoint/2010/main" val="234290041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Necesar/ Suficient</a:t>
            </a:r>
            <a:endParaRPr lang="en-US" dirty="0"/>
          </a:p>
        </p:txBody>
      </p:sp>
      <p:sp>
        <p:nvSpPr>
          <p:cNvPr id="3" name="Content Placeholder 2"/>
          <p:cNvSpPr>
            <a:spLocks noGrp="1"/>
          </p:cNvSpPr>
          <p:nvPr>
            <p:ph idx="1"/>
          </p:nvPr>
        </p:nvSpPr>
        <p:spPr>
          <a:xfrm>
            <a:off x="457200" y="1600200"/>
            <a:ext cx="8229600" cy="4953000"/>
          </a:xfrm>
        </p:spPr>
        <p:txBody>
          <a:bodyPr>
            <a:normAutofit lnSpcReduction="10000"/>
          </a:bodyPr>
          <a:lstStyle/>
          <a:p>
            <a:r>
              <a:rPr lang="ro-RO" dirty="0" smtClean="0"/>
              <a:t>X este o condiție </a:t>
            </a:r>
            <a:r>
              <a:rPr lang="ro-RO" b="1" dirty="0" smtClean="0">
                <a:solidFill>
                  <a:srgbClr val="FF0000"/>
                </a:solidFill>
                <a:effectLst>
                  <a:outerShdw blurRad="38100" dist="38100" dir="2700000" algn="tl">
                    <a:srgbClr val="000000">
                      <a:alpha val="43137"/>
                    </a:srgbClr>
                  </a:outerShdw>
                </a:effectLst>
              </a:rPr>
              <a:t>NECESARĂ</a:t>
            </a:r>
            <a:r>
              <a:rPr lang="ro-RO" dirty="0" smtClean="0"/>
              <a:t> pentru Y dacă ocurența lui X se cere pentru ocurența lui Y (dacă nu ar fi X, nu ar fi nici Y)</a:t>
            </a:r>
          </a:p>
          <a:p>
            <a:pPr marL="0" indent="0">
              <a:buNone/>
            </a:pPr>
            <a:r>
              <a:rPr lang="ro-RO" dirty="0" smtClean="0"/>
              <a:t>Ex. Mihai Eminescu și Ion Creangă au fost contemporani.</a:t>
            </a:r>
          </a:p>
          <a:p>
            <a:pPr marL="0" indent="0">
              <a:buNone/>
            </a:pPr>
            <a:r>
              <a:rPr lang="ro-RO" dirty="0" smtClean="0"/>
              <a:t>Deci, Mihai Eminescu și Ion Creangă au fost prieteni. </a:t>
            </a:r>
          </a:p>
          <a:p>
            <a:pPr marL="0" indent="0">
              <a:buNone/>
            </a:pPr>
            <a:endParaRPr lang="ro-RO" dirty="0" smtClean="0"/>
          </a:p>
          <a:p>
            <a:pPr marL="0" indent="0">
              <a:buNone/>
            </a:pPr>
            <a:endParaRPr lang="ro-RO" dirty="0"/>
          </a:p>
          <a:p>
            <a:r>
              <a:rPr lang="ro-RO" dirty="0" smtClean="0"/>
              <a:t>X este o condiție </a:t>
            </a:r>
            <a:r>
              <a:rPr lang="ro-RO" b="1" dirty="0" smtClean="0">
                <a:solidFill>
                  <a:srgbClr val="FF0000"/>
                </a:solidFill>
                <a:effectLst>
                  <a:outerShdw blurRad="38100" dist="38100" dir="2700000" algn="tl">
                    <a:srgbClr val="000000">
                      <a:alpha val="43137"/>
                    </a:srgbClr>
                  </a:outerShdw>
                </a:effectLst>
              </a:rPr>
              <a:t>SUFICIENTĂ</a:t>
            </a:r>
            <a:r>
              <a:rPr lang="ro-RO" dirty="0" smtClean="0"/>
              <a:t> pentru Y dacă ocurența lui X garantează ocurența lui Y (dacă avem X, este imposibil să nu avem Y)</a:t>
            </a:r>
          </a:p>
          <a:p>
            <a:pPr marL="0" indent="0">
              <a:buNone/>
            </a:pPr>
            <a:r>
              <a:rPr lang="ro-RO" dirty="0" smtClean="0"/>
              <a:t>Ex. Mihai Eminescu și Ion Creangă au fost prieteni.</a:t>
            </a:r>
          </a:p>
          <a:p>
            <a:pPr marL="0" indent="0">
              <a:buNone/>
            </a:pPr>
            <a:r>
              <a:rPr lang="ro-RO" dirty="0" smtClean="0"/>
              <a:t>Deci, Mihai Eminescu și Ion Creangă au fost contemporani.</a:t>
            </a:r>
          </a:p>
          <a:p>
            <a:pPr marL="0" indent="0">
              <a:buNone/>
            </a:pPr>
            <a:endParaRPr lang="ro-RO" b="1" dirty="0" smtClean="0"/>
          </a:p>
        </p:txBody>
      </p:sp>
    </p:spTree>
    <p:extLst>
      <p:ext uri="{BB962C8B-B14F-4D97-AF65-F5344CB8AC3E}">
        <p14:creationId xmlns:p14="http://schemas.microsoft.com/office/powerpoint/2010/main" val="137411549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lstStyle/>
          <a:p>
            <a:r>
              <a:rPr lang="ro-RO" dirty="0" smtClean="0"/>
              <a:t>Dorim ca premisele să fie ÎN PRIMUL RÂND temeiuri suficiente (</a:t>
            </a:r>
            <a:r>
              <a:rPr lang="ro-RO" dirty="0" smtClean="0">
                <a:solidFill>
                  <a:srgbClr val="FF0000"/>
                </a:solidFill>
              </a:rPr>
              <a:t>RELEVANTE</a:t>
            </a:r>
            <a:r>
              <a:rPr lang="ro-RO" dirty="0" smtClean="0"/>
              <a:t>) pentru concluzie.</a:t>
            </a:r>
          </a:p>
          <a:p>
            <a:pPr marL="0" indent="0">
              <a:buNone/>
            </a:pPr>
            <a:r>
              <a:rPr lang="ro-RO" dirty="0" smtClean="0"/>
              <a:t>A fi om este suficient pentru a fi rațional? Este și necesar?</a:t>
            </a:r>
          </a:p>
          <a:p>
            <a:pPr marL="0" indent="0">
              <a:buNone/>
            </a:pPr>
            <a:endParaRPr lang="ro-RO" dirty="0" smtClean="0"/>
          </a:p>
          <a:p>
            <a:pPr marL="0" indent="0">
              <a:buNone/>
            </a:pPr>
            <a:r>
              <a:rPr lang="ro-RO" dirty="0" smtClean="0"/>
              <a:t>A fi om este suficient pentru a avea unghii? Este și necesar?</a:t>
            </a:r>
          </a:p>
          <a:p>
            <a:endParaRPr lang="en-US" dirty="0"/>
          </a:p>
        </p:txBody>
      </p:sp>
    </p:spTree>
    <p:extLst>
      <p:ext uri="{BB962C8B-B14F-4D97-AF65-F5344CB8AC3E}">
        <p14:creationId xmlns:p14="http://schemas.microsoft.com/office/powerpoint/2010/main" val="203720720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TextShape 1"/>
          <p:cNvSpPr txBox="1"/>
          <p:nvPr/>
        </p:nvSpPr>
        <p:spPr>
          <a:xfrm>
            <a:off x="457200" y="274680"/>
            <a:ext cx="8229240" cy="1142640"/>
          </a:xfrm>
          <a:prstGeom prst="rect">
            <a:avLst/>
          </a:prstGeom>
        </p:spPr>
        <p:txBody>
          <a:bodyPr anchor="ctr"/>
          <a:lstStyle/>
          <a:p>
            <a:endParaRPr/>
          </a:p>
        </p:txBody>
      </p:sp>
      <p:sp>
        <p:nvSpPr>
          <p:cNvPr id="110" name="TextShape 2"/>
          <p:cNvSpPr txBox="1"/>
          <p:nvPr/>
        </p:nvSpPr>
        <p:spPr>
          <a:xfrm>
            <a:off x="457200" y="304800"/>
            <a:ext cx="8229240" cy="4525560"/>
          </a:xfrm>
          <a:prstGeom prst="rect">
            <a:avLst/>
          </a:prstGeom>
        </p:spPr>
        <p:txBody>
          <a:bodyPr/>
          <a:lstStyle/>
          <a:p>
            <a:pPr>
              <a:lnSpc>
                <a:spcPct val="100000"/>
              </a:lnSpc>
              <a:buFont typeface="Arial"/>
              <a:buChar char="•"/>
            </a:pPr>
            <a:r>
              <a:rPr lang="en-US" sz="2400" dirty="0" err="1">
                <a:solidFill>
                  <a:srgbClr val="000000"/>
                </a:solidFill>
                <a:latin typeface="Calibri"/>
              </a:rPr>
              <a:t>Distinctie</a:t>
            </a:r>
            <a:r>
              <a:rPr lang="en-US" sz="2400" dirty="0">
                <a:solidFill>
                  <a:srgbClr val="000000"/>
                </a:solidFill>
                <a:latin typeface="Calibri"/>
              </a:rPr>
              <a:t>:</a:t>
            </a:r>
            <a:endParaRPr sz="1400" dirty="0"/>
          </a:p>
          <a:p>
            <a:pPr>
              <a:lnSpc>
                <a:spcPct val="100000"/>
              </a:lnSpc>
            </a:pPr>
            <a:r>
              <a:rPr lang="en-US" sz="2400" dirty="0">
                <a:solidFill>
                  <a:srgbClr val="000000"/>
                </a:solidFill>
                <a:latin typeface="Calibri"/>
              </a:rPr>
              <a:t> </a:t>
            </a:r>
            <a:r>
              <a:rPr lang="en-US" sz="2400" b="1" dirty="0">
                <a:solidFill>
                  <a:srgbClr val="000000"/>
                </a:solidFill>
                <a:latin typeface="Calibri"/>
              </a:rPr>
              <a:t>premise </a:t>
            </a:r>
            <a:r>
              <a:rPr lang="en-US" sz="2400" b="1" dirty="0" err="1">
                <a:solidFill>
                  <a:srgbClr val="000000"/>
                </a:solidFill>
                <a:latin typeface="Calibri"/>
              </a:rPr>
              <a:t>independente</a:t>
            </a:r>
            <a:r>
              <a:rPr lang="en-US" sz="2400" dirty="0">
                <a:solidFill>
                  <a:srgbClr val="000000"/>
                </a:solidFill>
                <a:latin typeface="Calibri"/>
              </a:rPr>
              <a:t> vs. </a:t>
            </a:r>
            <a:r>
              <a:rPr lang="en-US" sz="2400" b="1" dirty="0">
                <a:solidFill>
                  <a:srgbClr val="000000"/>
                </a:solidFill>
                <a:latin typeface="Calibri"/>
              </a:rPr>
              <a:t>co-premise</a:t>
            </a:r>
            <a:endParaRPr sz="1400" dirty="0"/>
          </a:p>
          <a:p>
            <a:pPr>
              <a:lnSpc>
                <a:spcPct val="100000"/>
              </a:lnSpc>
            </a:pPr>
            <a:endParaRPr sz="1400" dirty="0"/>
          </a:p>
          <a:p>
            <a:pPr>
              <a:lnSpc>
                <a:spcPct val="100000"/>
              </a:lnSpc>
            </a:pPr>
            <a:r>
              <a:rPr lang="en-US" sz="2400" b="1" dirty="0">
                <a:solidFill>
                  <a:srgbClr val="000000"/>
                </a:solidFill>
                <a:latin typeface="Calibri"/>
              </a:rPr>
              <a:t>	</a:t>
            </a:r>
            <a:r>
              <a:rPr lang="en-US" sz="2400" dirty="0">
                <a:solidFill>
                  <a:srgbClr val="000000"/>
                </a:solidFill>
                <a:latin typeface="Calibri"/>
              </a:rPr>
              <a:t>- </a:t>
            </a:r>
            <a:r>
              <a:rPr lang="en-US" sz="2400" dirty="0" err="1">
                <a:solidFill>
                  <a:srgbClr val="000000"/>
                </a:solidFill>
                <a:latin typeface="Calibri"/>
              </a:rPr>
              <a:t>premisele</a:t>
            </a:r>
            <a:r>
              <a:rPr lang="en-US" sz="2400" dirty="0">
                <a:solidFill>
                  <a:srgbClr val="000000"/>
                </a:solidFill>
                <a:latin typeface="Calibri"/>
              </a:rPr>
              <a:t> </a:t>
            </a:r>
            <a:r>
              <a:rPr lang="ro-RO" sz="2400" dirty="0" smtClean="0">
                <a:solidFill>
                  <a:srgbClr val="000000"/>
                </a:solidFill>
                <a:latin typeface="Calibri"/>
              </a:rPr>
              <a:t>î</a:t>
            </a:r>
            <a:r>
              <a:rPr lang="en-US" sz="2400" dirty="0" err="1" smtClean="0">
                <a:solidFill>
                  <a:srgbClr val="000000"/>
                </a:solidFill>
                <a:latin typeface="Calibri"/>
              </a:rPr>
              <a:t>ntemeiaz</a:t>
            </a:r>
            <a:r>
              <a:rPr lang="ro-RO" sz="2400" dirty="0" smtClean="0">
                <a:solidFill>
                  <a:srgbClr val="000000"/>
                </a:solidFill>
                <a:latin typeface="Calibri"/>
              </a:rPr>
              <a:t>ă</a:t>
            </a:r>
            <a:r>
              <a:rPr lang="en-US" sz="2400" dirty="0" smtClean="0">
                <a:solidFill>
                  <a:srgbClr val="000000"/>
                </a:solidFill>
                <a:latin typeface="Calibri"/>
              </a:rPr>
              <a:t> </a:t>
            </a:r>
            <a:r>
              <a:rPr lang="en-US" sz="2400" dirty="0">
                <a:solidFill>
                  <a:srgbClr val="000000"/>
                </a:solidFill>
                <a:latin typeface="Calibri"/>
              </a:rPr>
              <a:t>(</a:t>
            </a:r>
            <a:r>
              <a:rPr lang="en-US" sz="2400" dirty="0" err="1" smtClean="0">
                <a:solidFill>
                  <a:srgbClr val="000000"/>
                </a:solidFill>
                <a:latin typeface="Calibri"/>
              </a:rPr>
              <a:t>justific</a:t>
            </a:r>
            <a:r>
              <a:rPr lang="ro-RO" sz="2400" dirty="0" smtClean="0">
                <a:solidFill>
                  <a:srgbClr val="000000"/>
                </a:solidFill>
                <a:latin typeface="Calibri"/>
              </a:rPr>
              <a:t>ă</a:t>
            </a:r>
            <a:r>
              <a:rPr lang="en-US" sz="2400" dirty="0" smtClean="0">
                <a:solidFill>
                  <a:srgbClr val="000000"/>
                </a:solidFill>
                <a:latin typeface="Calibri"/>
              </a:rPr>
              <a:t>) </a:t>
            </a:r>
            <a:r>
              <a:rPr lang="en-US" sz="2400" dirty="0">
                <a:solidFill>
                  <a:srgbClr val="000000"/>
                </a:solidFill>
                <a:latin typeface="Calibri"/>
              </a:rPr>
              <a:t>o </a:t>
            </a:r>
            <a:r>
              <a:rPr lang="en-US" sz="2400" dirty="0" err="1">
                <a:solidFill>
                  <a:srgbClr val="000000"/>
                </a:solidFill>
                <a:latin typeface="Calibri"/>
              </a:rPr>
              <a:t>concluzie</a:t>
            </a:r>
            <a:r>
              <a:rPr lang="en-US" sz="2400" dirty="0">
                <a:solidFill>
                  <a:srgbClr val="000000"/>
                </a:solidFill>
                <a:latin typeface="Calibri"/>
              </a:rPr>
              <a:t>.</a:t>
            </a:r>
            <a:endParaRPr sz="1400" dirty="0"/>
          </a:p>
          <a:p>
            <a:pPr>
              <a:lnSpc>
                <a:spcPct val="100000"/>
              </a:lnSpc>
            </a:pPr>
            <a:r>
              <a:rPr lang="en-US" sz="2400" b="1" dirty="0">
                <a:solidFill>
                  <a:srgbClr val="000000"/>
                </a:solidFill>
                <a:latin typeface="Calibri"/>
              </a:rPr>
              <a:t>	</a:t>
            </a:r>
            <a:r>
              <a:rPr lang="en-US" sz="2400" dirty="0">
                <a:solidFill>
                  <a:srgbClr val="000000"/>
                </a:solidFill>
                <a:latin typeface="Calibri"/>
              </a:rPr>
              <a:t>- </a:t>
            </a:r>
            <a:r>
              <a:rPr lang="en-US" sz="2400" dirty="0" err="1">
                <a:solidFill>
                  <a:srgbClr val="000000"/>
                </a:solidFill>
                <a:latin typeface="Calibri"/>
              </a:rPr>
              <a:t>unele</a:t>
            </a:r>
            <a:r>
              <a:rPr lang="en-US" sz="2400" dirty="0">
                <a:solidFill>
                  <a:srgbClr val="000000"/>
                </a:solidFill>
                <a:latin typeface="Calibri"/>
              </a:rPr>
              <a:t> premise nu </a:t>
            </a:r>
            <a:r>
              <a:rPr lang="ro-RO" sz="2400" dirty="0" smtClean="0">
                <a:solidFill>
                  <a:srgbClr val="000000"/>
                </a:solidFill>
                <a:latin typeface="Calibri"/>
              </a:rPr>
              <a:t>î</a:t>
            </a:r>
            <a:r>
              <a:rPr lang="en-US" sz="2400" dirty="0" err="1" smtClean="0">
                <a:solidFill>
                  <a:srgbClr val="000000"/>
                </a:solidFill>
                <a:latin typeface="Calibri"/>
              </a:rPr>
              <a:t>ntemeiaz</a:t>
            </a:r>
            <a:r>
              <a:rPr lang="ro-RO" sz="2400" dirty="0" smtClean="0">
                <a:solidFill>
                  <a:srgbClr val="000000"/>
                </a:solidFill>
                <a:latin typeface="Calibri"/>
              </a:rPr>
              <a:t>ă</a:t>
            </a:r>
            <a:r>
              <a:rPr lang="en-US" sz="2400" dirty="0" smtClean="0">
                <a:solidFill>
                  <a:srgbClr val="000000"/>
                </a:solidFill>
                <a:latin typeface="Calibri"/>
              </a:rPr>
              <a:t> </a:t>
            </a:r>
            <a:r>
              <a:rPr lang="en-US" sz="2400" dirty="0" err="1">
                <a:solidFill>
                  <a:srgbClr val="000000"/>
                </a:solidFill>
                <a:latin typeface="Calibri"/>
              </a:rPr>
              <a:t>concluzia</a:t>
            </a:r>
            <a:r>
              <a:rPr lang="en-US" sz="2400" dirty="0">
                <a:solidFill>
                  <a:srgbClr val="000000"/>
                </a:solidFill>
                <a:latin typeface="Calibri"/>
              </a:rPr>
              <a:t> </a:t>
            </a:r>
            <a:r>
              <a:rPr lang="en-US" sz="2400" dirty="0" smtClean="0">
                <a:solidFill>
                  <a:srgbClr val="000000"/>
                </a:solidFill>
                <a:latin typeface="Calibri"/>
              </a:rPr>
              <a:t>f</a:t>
            </a:r>
            <a:r>
              <a:rPr lang="ro-RO" sz="2400" dirty="0" smtClean="0">
                <a:solidFill>
                  <a:srgbClr val="000000"/>
                </a:solidFill>
                <a:latin typeface="Calibri"/>
              </a:rPr>
              <a:t>ă</a:t>
            </a:r>
            <a:r>
              <a:rPr lang="en-US" sz="2400" dirty="0" smtClean="0">
                <a:solidFill>
                  <a:srgbClr val="000000"/>
                </a:solidFill>
                <a:latin typeface="Calibri"/>
              </a:rPr>
              <a:t>r</a:t>
            </a:r>
            <a:r>
              <a:rPr lang="ro-RO" sz="2400" dirty="0" smtClean="0">
                <a:solidFill>
                  <a:srgbClr val="000000"/>
                </a:solidFill>
                <a:latin typeface="Calibri"/>
              </a:rPr>
              <a:t>ă</a:t>
            </a:r>
            <a:r>
              <a:rPr lang="en-US" sz="2400" dirty="0" smtClean="0">
                <a:solidFill>
                  <a:srgbClr val="000000"/>
                </a:solidFill>
                <a:latin typeface="Calibri"/>
              </a:rPr>
              <a:t> </a:t>
            </a:r>
            <a:r>
              <a:rPr lang="en-US" sz="2400" dirty="0">
                <a:solidFill>
                  <a:srgbClr val="000000"/>
                </a:solidFill>
                <a:latin typeface="Calibri"/>
              </a:rPr>
              <a:t>“</a:t>
            </a:r>
            <a:r>
              <a:rPr lang="en-US" sz="2400" dirty="0" err="1">
                <a:solidFill>
                  <a:srgbClr val="000000"/>
                </a:solidFill>
                <a:latin typeface="Calibri"/>
              </a:rPr>
              <a:t>ajutorul</a:t>
            </a:r>
            <a:r>
              <a:rPr lang="en-US" sz="2400" dirty="0">
                <a:solidFill>
                  <a:srgbClr val="000000"/>
                </a:solidFill>
                <a:latin typeface="Calibri"/>
              </a:rPr>
              <a:t>” </a:t>
            </a:r>
            <a:r>
              <a:rPr lang="en-US" sz="2400" dirty="0" err="1">
                <a:solidFill>
                  <a:srgbClr val="000000"/>
                </a:solidFill>
                <a:latin typeface="Calibri"/>
              </a:rPr>
              <a:t>altor</a:t>
            </a:r>
            <a:r>
              <a:rPr lang="en-US" sz="2400" dirty="0">
                <a:solidFill>
                  <a:srgbClr val="000000"/>
                </a:solidFill>
                <a:latin typeface="Calibri"/>
              </a:rPr>
              <a:t> premise.</a:t>
            </a:r>
            <a:endParaRPr sz="1400" dirty="0"/>
          </a:p>
          <a:p>
            <a:pPr>
              <a:lnSpc>
                <a:spcPct val="100000"/>
              </a:lnSpc>
            </a:pPr>
            <a:endParaRPr sz="1400" dirty="0"/>
          </a:p>
          <a:p>
            <a:pPr>
              <a:lnSpc>
                <a:spcPct val="100000"/>
              </a:lnSpc>
            </a:pPr>
            <a:r>
              <a:rPr lang="en-US" sz="2400" b="1" dirty="0" err="1">
                <a:solidFill>
                  <a:srgbClr val="000000"/>
                </a:solidFill>
                <a:latin typeface="Calibri"/>
              </a:rPr>
              <a:t>Exemplu</a:t>
            </a:r>
            <a:r>
              <a:rPr lang="en-US" sz="2400" dirty="0">
                <a:solidFill>
                  <a:srgbClr val="000000"/>
                </a:solidFill>
                <a:latin typeface="Calibri"/>
              </a:rPr>
              <a:t>: Ion </a:t>
            </a:r>
            <a:r>
              <a:rPr lang="en-US" sz="2400" dirty="0" err="1">
                <a:solidFill>
                  <a:srgbClr val="000000"/>
                </a:solidFill>
                <a:latin typeface="Calibri"/>
              </a:rPr>
              <a:t>este</a:t>
            </a:r>
            <a:r>
              <a:rPr lang="en-US" sz="2400" dirty="0">
                <a:solidFill>
                  <a:srgbClr val="000000"/>
                </a:solidFill>
                <a:latin typeface="Calibri"/>
              </a:rPr>
              <a:t> un terrier, </a:t>
            </a:r>
            <a:r>
              <a:rPr lang="en-US" sz="2400" dirty="0" err="1">
                <a:solidFill>
                  <a:srgbClr val="000000"/>
                </a:solidFill>
                <a:latin typeface="Calibri"/>
              </a:rPr>
              <a:t>deci</a:t>
            </a:r>
            <a:r>
              <a:rPr lang="en-US" sz="2400" dirty="0">
                <a:solidFill>
                  <a:srgbClr val="000000"/>
                </a:solidFill>
                <a:latin typeface="Calibri"/>
              </a:rPr>
              <a:t> Ion </a:t>
            </a:r>
            <a:r>
              <a:rPr lang="en-US" sz="2400" dirty="0" err="1">
                <a:solidFill>
                  <a:srgbClr val="000000"/>
                </a:solidFill>
                <a:latin typeface="Calibri"/>
              </a:rPr>
              <a:t>este</a:t>
            </a:r>
            <a:r>
              <a:rPr lang="en-US" sz="2400" dirty="0">
                <a:solidFill>
                  <a:srgbClr val="000000"/>
                </a:solidFill>
                <a:latin typeface="Calibri"/>
              </a:rPr>
              <a:t> </a:t>
            </a:r>
            <a:r>
              <a:rPr lang="en-US" sz="2400" dirty="0" smtClean="0">
                <a:solidFill>
                  <a:srgbClr val="000000"/>
                </a:solidFill>
                <a:latin typeface="Calibri"/>
              </a:rPr>
              <a:t>c</a:t>
            </a:r>
            <a:r>
              <a:rPr lang="ro-RO" sz="2400" dirty="0" smtClean="0">
                <a:solidFill>
                  <a:srgbClr val="000000"/>
                </a:solidFill>
                <a:latin typeface="Calibri"/>
              </a:rPr>
              <a:t>â</a:t>
            </a:r>
            <a:r>
              <a:rPr lang="en-US" sz="2400" dirty="0" err="1" smtClean="0">
                <a:solidFill>
                  <a:srgbClr val="000000"/>
                </a:solidFill>
                <a:latin typeface="Calibri"/>
              </a:rPr>
              <a:t>ine</a:t>
            </a:r>
            <a:r>
              <a:rPr lang="en-US" sz="2400" dirty="0">
                <a:solidFill>
                  <a:srgbClr val="000000"/>
                </a:solidFill>
                <a:latin typeface="Calibri"/>
              </a:rPr>
              <a:t>.</a:t>
            </a:r>
            <a:endParaRPr sz="1400" dirty="0"/>
          </a:p>
          <a:p>
            <a:pPr>
              <a:lnSpc>
                <a:spcPct val="100000"/>
              </a:lnSpc>
            </a:pPr>
            <a:endParaRPr sz="1400" dirty="0"/>
          </a:p>
          <a:p>
            <a:pPr>
              <a:lnSpc>
                <a:spcPct val="100000"/>
              </a:lnSpc>
            </a:pPr>
            <a:r>
              <a:rPr lang="en-US" sz="2400" dirty="0" err="1">
                <a:solidFill>
                  <a:srgbClr val="000000"/>
                </a:solidFill>
                <a:latin typeface="Calibri"/>
              </a:rPr>
              <a:t>Daca</a:t>
            </a:r>
            <a:r>
              <a:rPr lang="en-US" sz="2400" dirty="0">
                <a:solidFill>
                  <a:srgbClr val="000000"/>
                </a:solidFill>
                <a:latin typeface="Calibri"/>
              </a:rPr>
              <a:t> nu </a:t>
            </a:r>
            <a:r>
              <a:rPr lang="ro-RO" sz="2400" dirty="0" smtClean="0">
                <a:solidFill>
                  <a:srgbClr val="000000"/>
                </a:solidFill>
                <a:latin typeface="Calibri"/>
              </a:rPr>
              <a:t>ș</a:t>
            </a:r>
            <a:r>
              <a:rPr lang="en-US" sz="2400" dirty="0" err="1" smtClean="0">
                <a:solidFill>
                  <a:srgbClr val="000000"/>
                </a:solidFill>
                <a:latin typeface="Calibri"/>
              </a:rPr>
              <a:t>tiu</a:t>
            </a:r>
            <a:r>
              <a:rPr lang="en-US" sz="2400" dirty="0" smtClean="0">
                <a:solidFill>
                  <a:srgbClr val="000000"/>
                </a:solidFill>
                <a:latin typeface="Calibri"/>
              </a:rPr>
              <a:t> </a:t>
            </a:r>
            <a:r>
              <a:rPr lang="en-US" sz="2400" dirty="0" err="1">
                <a:solidFill>
                  <a:srgbClr val="000000"/>
                </a:solidFill>
                <a:latin typeface="Calibri"/>
              </a:rPr>
              <a:t>ce</a:t>
            </a:r>
            <a:r>
              <a:rPr lang="en-US" sz="2400" dirty="0">
                <a:solidFill>
                  <a:srgbClr val="000000"/>
                </a:solidFill>
                <a:latin typeface="Calibri"/>
              </a:rPr>
              <a:t> </a:t>
            </a:r>
            <a:r>
              <a:rPr lang="en-US" sz="2400" dirty="0" err="1">
                <a:solidFill>
                  <a:srgbClr val="000000"/>
                </a:solidFill>
                <a:latin typeface="Calibri"/>
              </a:rPr>
              <a:t>este</a:t>
            </a:r>
            <a:r>
              <a:rPr lang="en-US" sz="2400" dirty="0">
                <a:solidFill>
                  <a:srgbClr val="000000"/>
                </a:solidFill>
                <a:latin typeface="Calibri"/>
              </a:rPr>
              <a:t> un terrier, nu </a:t>
            </a:r>
            <a:r>
              <a:rPr lang="en-US" sz="2400" dirty="0" err="1">
                <a:solidFill>
                  <a:srgbClr val="000000"/>
                </a:solidFill>
                <a:latin typeface="Calibri"/>
              </a:rPr>
              <a:t>voi</a:t>
            </a:r>
            <a:r>
              <a:rPr lang="en-US" sz="2400" dirty="0">
                <a:solidFill>
                  <a:srgbClr val="000000"/>
                </a:solidFill>
                <a:latin typeface="Calibri"/>
              </a:rPr>
              <a:t> </a:t>
            </a:r>
            <a:r>
              <a:rPr lang="en-US" sz="2400" dirty="0" err="1">
                <a:solidFill>
                  <a:srgbClr val="000000"/>
                </a:solidFill>
                <a:latin typeface="Calibri"/>
              </a:rPr>
              <a:t>fi</a:t>
            </a:r>
            <a:r>
              <a:rPr lang="en-US" sz="2400" dirty="0">
                <a:solidFill>
                  <a:srgbClr val="000000"/>
                </a:solidFill>
                <a:latin typeface="Calibri"/>
              </a:rPr>
              <a:t> </a:t>
            </a:r>
            <a:r>
              <a:rPr lang="en-US" sz="2400" dirty="0" err="1">
                <a:solidFill>
                  <a:srgbClr val="000000"/>
                </a:solidFill>
                <a:latin typeface="Calibri"/>
              </a:rPr>
              <a:t>convins</a:t>
            </a:r>
            <a:r>
              <a:rPr lang="en-US" sz="2400" dirty="0">
                <a:solidFill>
                  <a:srgbClr val="000000"/>
                </a:solidFill>
                <a:latin typeface="Calibri"/>
              </a:rPr>
              <a:t> de </a:t>
            </a:r>
            <a:r>
              <a:rPr lang="en-US" sz="2400" dirty="0" err="1" smtClean="0">
                <a:solidFill>
                  <a:srgbClr val="000000"/>
                </a:solidFill>
                <a:latin typeface="Calibri"/>
              </a:rPr>
              <a:t>adev</a:t>
            </a:r>
            <a:r>
              <a:rPr lang="ro-RO" sz="2400" dirty="0" smtClean="0">
                <a:solidFill>
                  <a:srgbClr val="000000"/>
                </a:solidFill>
                <a:latin typeface="Calibri"/>
              </a:rPr>
              <a:t>ă</a:t>
            </a:r>
            <a:r>
              <a:rPr lang="en-US" sz="2400" dirty="0" err="1" smtClean="0">
                <a:solidFill>
                  <a:srgbClr val="000000"/>
                </a:solidFill>
                <a:latin typeface="Calibri"/>
              </a:rPr>
              <a:t>rul</a:t>
            </a:r>
            <a:r>
              <a:rPr lang="en-US" sz="2400" dirty="0" smtClean="0">
                <a:solidFill>
                  <a:srgbClr val="000000"/>
                </a:solidFill>
                <a:latin typeface="Calibri"/>
              </a:rPr>
              <a:t> </a:t>
            </a:r>
            <a:r>
              <a:rPr lang="en-US" sz="2400" dirty="0" err="1">
                <a:solidFill>
                  <a:srgbClr val="000000"/>
                </a:solidFill>
                <a:latin typeface="Calibri"/>
              </a:rPr>
              <a:t>concluziei</a:t>
            </a:r>
            <a:r>
              <a:rPr lang="en-US" sz="2400" dirty="0">
                <a:solidFill>
                  <a:srgbClr val="000000"/>
                </a:solidFill>
                <a:latin typeface="Calibri"/>
              </a:rPr>
              <a:t>.</a:t>
            </a:r>
            <a:endParaRPr sz="1400" dirty="0"/>
          </a:p>
          <a:p>
            <a:pPr>
              <a:lnSpc>
                <a:spcPct val="100000"/>
              </a:lnSpc>
            </a:pPr>
            <a:endParaRPr sz="1400" dirty="0"/>
          </a:p>
          <a:p>
            <a:pPr>
              <a:lnSpc>
                <a:spcPct val="100000"/>
              </a:lnSpc>
            </a:pPr>
            <a:r>
              <a:rPr lang="en-US" sz="2400" b="1" dirty="0" err="1">
                <a:solidFill>
                  <a:srgbClr val="000000"/>
                </a:solidFill>
                <a:latin typeface="Calibri"/>
              </a:rPr>
              <a:t>Exemplu</a:t>
            </a:r>
            <a:r>
              <a:rPr lang="en-US" sz="2400" dirty="0">
                <a:solidFill>
                  <a:srgbClr val="000000"/>
                </a:solidFill>
                <a:latin typeface="Calibri"/>
              </a:rPr>
              <a:t>: Ion </a:t>
            </a:r>
            <a:r>
              <a:rPr lang="en-US" sz="2400" dirty="0" err="1">
                <a:solidFill>
                  <a:srgbClr val="000000"/>
                </a:solidFill>
                <a:latin typeface="Calibri"/>
              </a:rPr>
              <a:t>este</a:t>
            </a:r>
            <a:r>
              <a:rPr lang="en-US" sz="2400" dirty="0">
                <a:solidFill>
                  <a:srgbClr val="000000"/>
                </a:solidFill>
                <a:latin typeface="Calibri"/>
              </a:rPr>
              <a:t> un terrier </a:t>
            </a:r>
            <a:r>
              <a:rPr lang="ro-RO" sz="2400" dirty="0" err="1" smtClean="0">
                <a:solidFill>
                  <a:srgbClr val="000000"/>
                </a:solidFill>
                <a:latin typeface="Calibri"/>
              </a:rPr>
              <a:t>ș</a:t>
            </a:r>
            <a:r>
              <a:rPr lang="en-US" sz="2400" dirty="0" err="1" smtClean="0">
                <a:solidFill>
                  <a:srgbClr val="000000"/>
                </a:solidFill>
                <a:latin typeface="Calibri"/>
              </a:rPr>
              <a:t>i</a:t>
            </a:r>
            <a:r>
              <a:rPr lang="en-US" sz="2400" dirty="0" smtClean="0">
                <a:solidFill>
                  <a:srgbClr val="000000"/>
                </a:solidFill>
                <a:latin typeface="Calibri"/>
              </a:rPr>
              <a:t> to</a:t>
            </a:r>
            <a:r>
              <a:rPr lang="ro-RO" sz="2400" dirty="0" smtClean="0">
                <a:solidFill>
                  <a:srgbClr val="000000"/>
                </a:solidFill>
                <a:latin typeface="Calibri"/>
              </a:rPr>
              <a:t>ț</a:t>
            </a:r>
            <a:r>
              <a:rPr lang="en-US" sz="2400" dirty="0" err="1" smtClean="0">
                <a:solidFill>
                  <a:srgbClr val="000000"/>
                </a:solidFill>
                <a:latin typeface="Calibri"/>
              </a:rPr>
              <a:t>i</a:t>
            </a:r>
            <a:r>
              <a:rPr lang="en-US" sz="2400" dirty="0" smtClean="0">
                <a:solidFill>
                  <a:srgbClr val="000000"/>
                </a:solidFill>
                <a:latin typeface="Calibri"/>
              </a:rPr>
              <a:t> </a:t>
            </a:r>
            <a:r>
              <a:rPr lang="en-US" sz="2400" dirty="0" err="1">
                <a:solidFill>
                  <a:srgbClr val="000000"/>
                </a:solidFill>
                <a:latin typeface="Calibri"/>
              </a:rPr>
              <a:t>terrierii</a:t>
            </a:r>
            <a:r>
              <a:rPr lang="en-US" sz="2400" dirty="0">
                <a:solidFill>
                  <a:srgbClr val="000000"/>
                </a:solidFill>
                <a:latin typeface="Calibri"/>
              </a:rPr>
              <a:t> </a:t>
            </a:r>
            <a:r>
              <a:rPr lang="en-US" sz="2400" dirty="0" err="1">
                <a:solidFill>
                  <a:srgbClr val="000000"/>
                </a:solidFill>
                <a:latin typeface="Calibri"/>
              </a:rPr>
              <a:t>sunt</a:t>
            </a:r>
            <a:r>
              <a:rPr lang="en-US" sz="2400" dirty="0">
                <a:solidFill>
                  <a:srgbClr val="000000"/>
                </a:solidFill>
                <a:latin typeface="Calibri"/>
              </a:rPr>
              <a:t> </a:t>
            </a:r>
            <a:r>
              <a:rPr lang="en-US" sz="2400" dirty="0" smtClean="0">
                <a:solidFill>
                  <a:srgbClr val="000000"/>
                </a:solidFill>
                <a:latin typeface="Calibri"/>
              </a:rPr>
              <a:t>c</a:t>
            </a:r>
            <a:r>
              <a:rPr lang="ro-RO" sz="2400" dirty="0" smtClean="0">
                <a:solidFill>
                  <a:srgbClr val="000000"/>
                </a:solidFill>
                <a:latin typeface="Calibri"/>
              </a:rPr>
              <a:t>â</a:t>
            </a:r>
            <a:r>
              <a:rPr lang="en-US" sz="2400" dirty="0" err="1" smtClean="0">
                <a:solidFill>
                  <a:srgbClr val="000000"/>
                </a:solidFill>
                <a:latin typeface="Calibri"/>
              </a:rPr>
              <a:t>ini</a:t>
            </a:r>
            <a:r>
              <a:rPr lang="en-US" sz="2400" dirty="0">
                <a:solidFill>
                  <a:srgbClr val="000000"/>
                </a:solidFill>
                <a:latin typeface="Calibri"/>
              </a:rPr>
              <a:t>, </a:t>
            </a:r>
            <a:r>
              <a:rPr lang="en-US" sz="2400" dirty="0" err="1">
                <a:solidFill>
                  <a:srgbClr val="000000"/>
                </a:solidFill>
                <a:latin typeface="Calibri"/>
              </a:rPr>
              <a:t>deci</a:t>
            </a:r>
            <a:r>
              <a:rPr lang="en-US" sz="2400" dirty="0">
                <a:solidFill>
                  <a:srgbClr val="000000"/>
                </a:solidFill>
                <a:latin typeface="Calibri"/>
              </a:rPr>
              <a:t> Ion </a:t>
            </a:r>
            <a:r>
              <a:rPr lang="en-US" sz="2400" dirty="0" err="1">
                <a:solidFill>
                  <a:srgbClr val="000000"/>
                </a:solidFill>
                <a:latin typeface="Calibri"/>
              </a:rPr>
              <a:t>este</a:t>
            </a:r>
            <a:r>
              <a:rPr lang="en-US" sz="2400" dirty="0">
                <a:solidFill>
                  <a:srgbClr val="000000"/>
                </a:solidFill>
                <a:latin typeface="Calibri"/>
              </a:rPr>
              <a:t> </a:t>
            </a:r>
            <a:r>
              <a:rPr lang="en-US" sz="2400" dirty="0" smtClean="0">
                <a:solidFill>
                  <a:srgbClr val="000000"/>
                </a:solidFill>
                <a:latin typeface="Calibri"/>
              </a:rPr>
              <a:t>c</a:t>
            </a:r>
            <a:r>
              <a:rPr lang="ro-RO" sz="2400" dirty="0" smtClean="0">
                <a:solidFill>
                  <a:srgbClr val="000000"/>
                </a:solidFill>
                <a:latin typeface="Calibri"/>
              </a:rPr>
              <a:t>â</a:t>
            </a:r>
            <a:r>
              <a:rPr lang="en-US" sz="2400" dirty="0" err="1" smtClean="0">
                <a:solidFill>
                  <a:srgbClr val="000000"/>
                </a:solidFill>
                <a:latin typeface="Calibri"/>
              </a:rPr>
              <a:t>ine</a:t>
            </a:r>
            <a:r>
              <a:rPr lang="en-US" sz="2400" dirty="0">
                <a:solidFill>
                  <a:srgbClr val="000000"/>
                </a:solidFill>
                <a:latin typeface="Calibri"/>
              </a:rPr>
              <a:t>.</a:t>
            </a:r>
            <a:endParaRPr sz="1400" dirty="0"/>
          </a:p>
          <a:p>
            <a:pPr>
              <a:lnSpc>
                <a:spcPct val="100000"/>
              </a:lnSpc>
            </a:pPr>
            <a:endParaRPr sz="1400" dirty="0"/>
          </a:p>
          <a:p>
            <a:pPr>
              <a:lnSpc>
                <a:spcPct val="100000"/>
              </a:lnSpc>
            </a:pPr>
            <a:r>
              <a:rPr lang="en-US" sz="2400" dirty="0">
                <a:solidFill>
                  <a:srgbClr val="000000"/>
                </a:solidFill>
                <a:latin typeface="Calibri"/>
              </a:rPr>
              <a:t> </a:t>
            </a:r>
            <a:r>
              <a:rPr lang="en-US" sz="2400" dirty="0" smtClean="0">
                <a:solidFill>
                  <a:srgbClr val="000000"/>
                </a:solidFill>
                <a:latin typeface="Calibri"/>
              </a:rPr>
              <a:t>- </a:t>
            </a:r>
            <a:r>
              <a:rPr lang="en-US" sz="2400" dirty="0" err="1">
                <a:solidFill>
                  <a:srgbClr val="000000"/>
                </a:solidFill>
                <a:latin typeface="Calibri"/>
              </a:rPr>
              <a:t>unele</a:t>
            </a:r>
            <a:r>
              <a:rPr lang="en-US" sz="2400" dirty="0">
                <a:solidFill>
                  <a:srgbClr val="000000"/>
                </a:solidFill>
                <a:latin typeface="Calibri"/>
              </a:rPr>
              <a:t> premise </a:t>
            </a:r>
            <a:r>
              <a:rPr lang="en-US" sz="2400" dirty="0" err="1">
                <a:solidFill>
                  <a:srgbClr val="000000"/>
                </a:solidFill>
                <a:latin typeface="Calibri"/>
              </a:rPr>
              <a:t>sunt</a:t>
            </a:r>
            <a:r>
              <a:rPr lang="en-US" sz="2400" dirty="0">
                <a:solidFill>
                  <a:srgbClr val="000000"/>
                </a:solidFill>
                <a:latin typeface="Calibri"/>
              </a:rPr>
              <a:t> </a:t>
            </a:r>
            <a:r>
              <a:rPr lang="en-US" sz="2400" dirty="0" err="1">
                <a:solidFill>
                  <a:srgbClr val="000000"/>
                </a:solidFill>
                <a:latin typeface="Calibri"/>
              </a:rPr>
              <a:t>suficiente</a:t>
            </a:r>
            <a:r>
              <a:rPr lang="en-US" sz="2400" dirty="0">
                <a:solidFill>
                  <a:srgbClr val="000000"/>
                </a:solidFill>
                <a:latin typeface="Calibri"/>
              </a:rPr>
              <a:t> </a:t>
            </a:r>
            <a:r>
              <a:rPr lang="ro-RO" sz="2400" dirty="0" smtClean="0">
                <a:solidFill>
                  <a:srgbClr val="000000"/>
                </a:solidFill>
                <a:latin typeface="Calibri"/>
              </a:rPr>
              <a:t>în </a:t>
            </a:r>
            <a:r>
              <a:rPr lang="en-US" sz="2400" dirty="0" err="1" smtClean="0">
                <a:solidFill>
                  <a:srgbClr val="000000"/>
                </a:solidFill>
                <a:latin typeface="Calibri"/>
              </a:rPr>
              <a:t>ele</a:t>
            </a:r>
            <a:r>
              <a:rPr lang="en-US" sz="2400" dirty="0" smtClean="0">
                <a:solidFill>
                  <a:srgbClr val="000000"/>
                </a:solidFill>
                <a:latin typeface="Calibri"/>
              </a:rPr>
              <a:t> </a:t>
            </a:r>
            <a:r>
              <a:rPr lang="ro-RO" sz="2400" dirty="0" err="1" smtClean="0">
                <a:solidFill>
                  <a:srgbClr val="000000"/>
                </a:solidFill>
                <a:latin typeface="Calibri"/>
              </a:rPr>
              <a:t>î</a:t>
            </a:r>
            <a:r>
              <a:rPr lang="en-US" sz="2400" dirty="0" err="1" smtClean="0">
                <a:solidFill>
                  <a:srgbClr val="000000"/>
                </a:solidFill>
                <a:latin typeface="Calibri"/>
              </a:rPr>
              <a:t>nsele</a:t>
            </a:r>
            <a:r>
              <a:rPr lang="en-US" sz="2400" dirty="0" smtClean="0">
                <a:solidFill>
                  <a:srgbClr val="000000"/>
                </a:solidFill>
                <a:latin typeface="Calibri"/>
              </a:rPr>
              <a:t> </a:t>
            </a:r>
            <a:r>
              <a:rPr lang="en-US" sz="2400" dirty="0" err="1">
                <a:solidFill>
                  <a:srgbClr val="000000"/>
                </a:solidFill>
                <a:latin typeface="Calibri"/>
              </a:rPr>
              <a:t>pentru</a:t>
            </a:r>
            <a:r>
              <a:rPr lang="en-US" sz="2400" dirty="0">
                <a:solidFill>
                  <a:srgbClr val="000000"/>
                </a:solidFill>
                <a:latin typeface="Calibri"/>
              </a:rPr>
              <a:t> a </a:t>
            </a:r>
            <a:r>
              <a:rPr lang="en-US" sz="2400" dirty="0" err="1">
                <a:solidFill>
                  <a:srgbClr val="000000"/>
                </a:solidFill>
                <a:latin typeface="Calibri"/>
              </a:rPr>
              <a:t>justifica</a:t>
            </a:r>
            <a:r>
              <a:rPr lang="en-US" sz="2400" dirty="0">
                <a:solidFill>
                  <a:srgbClr val="000000"/>
                </a:solidFill>
                <a:latin typeface="Calibri"/>
              </a:rPr>
              <a:t> o </a:t>
            </a:r>
            <a:r>
              <a:rPr lang="en-US" sz="2400" dirty="0" err="1">
                <a:solidFill>
                  <a:srgbClr val="000000"/>
                </a:solidFill>
                <a:latin typeface="Calibri"/>
              </a:rPr>
              <a:t>concluzie</a:t>
            </a:r>
            <a:r>
              <a:rPr lang="en-US" sz="2400" dirty="0">
                <a:solidFill>
                  <a:srgbClr val="000000"/>
                </a:solidFill>
                <a:latin typeface="Calibri"/>
              </a:rPr>
              <a:t>.</a:t>
            </a:r>
            <a:endParaRPr sz="1400" dirty="0"/>
          </a:p>
          <a:p>
            <a:pPr>
              <a:lnSpc>
                <a:spcPct val="100000"/>
              </a:lnSpc>
            </a:pPr>
            <a:endParaRPr sz="1400" dirty="0"/>
          </a:p>
          <a:p>
            <a:pPr>
              <a:lnSpc>
                <a:spcPct val="100000"/>
              </a:lnSpc>
            </a:pPr>
            <a:r>
              <a:rPr lang="en-US" sz="2400" b="1" dirty="0" err="1">
                <a:solidFill>
                  <a:srgbClr val="000000"/>
                </a:solidFill>
                <a:latin typeface="Calibri"/>
              </a:rPr>
              <a:t>Exemplu</a:t>
            </a:r>
            <a:r>
              <a:rPr lang="en-US" sz="2400" dirty="0">
                <a:solidFill>
                  <a:srgbClr val="000000"/>
                </a:solidFill>
                <a:latin typeface="Calibri"/>
              </a:rPr>
              <a:t>: Ion a </a:t>
            </a:r>
            <a:r>
              <a:rPr lang="en-US" sz="2400" dirty="0" err="1">
                <a:solidFill>
                  <a:srgbClr val="000000"/>
                </a:solidFill>
                <a:latin typeface="Calibri"/>
              </a:rPr>
              <a:t>fost</a:t>
            </a:r>
            <a:r>
              <a:rPr lang="en-US" sz="2400" dirty="0">
                <a:solidFill>
                  <a:srgbClr val="000000"/>
                </a:solidFill>
                <a:latin typeface="Calibri"/>
              </a:rPr>
              <a:t> </a:t>
            </a:r>
            <a:r>
              <a:rPr lang="en-US" sz="2400" dirty="0" smtClean="0">
                <a:solidFill>
                  <a:srgbClr val="000000"/>
                </a:solidFill>
                <a:latin typeface="Calibri"/>
              </a:rPr>
              <a:t>ob</a:t>
            </a:r>
            <a:r>
              <a:rPr lang="ro-RO" sz="2400" dirty="0" smtClean="0">
                <a:solidFill>
                  <a:srgbClr val="000000"/>
                </a:solidFill>
                <a:latin typeface="Calibri"/>
              </a:rPr>
              <a:t>ț</a:t>
            </a:r>
            <a:r>
              <a:rPr lang="en-US" sz="2400" dirty="0" err="1" smtClean="0">
                <a:solidFill>
                  <a:srgbClr val="000000"/>
                </a:solidFill>
                <a:latin typeface="Calibri"/>
              </a:rPr>
              <a:t>inut</a:t>
            </a:r>
            <a:r>
              <a:rPr lang="en-US" sz="2400" dirty="0" smtClean="0">
                <a:solidFill>
                  <a:srgbClr val="000000"/>
                </a:solidFill>
                <a:latin typeface="Calibri"/>
              </a:rPr>
              <a:t> </a:t>
            </a:r>
            <a:r>
              <a:rPr lang="en-US" sz="2400" dirty="0" err="1">
                <a:solidFill>
                  <a:srgbClr val="000000"/>
                </a:solidFill>
                <a:latin typeface="Calibri"/>
              </a:rPr>
              <a:t>prin</a:t>
            </a:r>
            <a:r>
              <a:rPr lang="en-US" sz="2400" dirty="0">
                <a:solidFill>
                  <a:srgbClr val="000000"/>
                </a:solidFill>
                <a:latin typeface="Calibri"/>
              </a:rPr>
              <a:t> </a:t>
            </a:r>
            <a:r>
              <a:rPr lang="ro-RO" sz="2400" dirty="0" smtClean="0">
                <a:solidFill>
                  <a:srgbClr val="000000"/>
                </a:solidFill>
                <a:latin typeface="Calibri"/>
              </a:rPr>
              <a:t>î</a:t>
            </a:r>
            <a:r>
              <a:rPr lang="en-US" sz="2400" dirty="0" err="1" smtClean="0">
                <a:solidFill>
                  <a:srgbClr val="000000"/>
                </a:solidFill>
                <a:latin typeface="Calibri"/>
              </a:rPr>
              <a:t>ncruci</a:t>
            </a:r>
            <a:r>
              <a:rPr lang="ro-RO" sz="2400" dirty="0" smtClean="0">
                <a:solidFill>
                  <a:srgbClr val="000000"/>
                </a:solidFill>
                <a:latin typeface="Calibri"/>
              </a:rPr>
              <a:t>ș</a:t>
            </a:r>
            <a:r>
              <a:rPr lang="en-US" sz="2400" dirty="0" smtClean="0">
                <a:solidFill>
                  <a:srgbClr val="000000"/>
                </a:solidFill>
                <a:latin typeface="Calibri"/>
              </a:rPr>
              <a:t>area </a:t>
            </a:r>
            <a:r>
              <a:rPr lang="en-US" sz="2400" dirty="0">
                <a:solidFill>
                  <a:srgbClr val="000000"/>
                </a:solidFill>
                <a:latin typeface="Calibri"/>
              </a:rPr>
              <a:t>a </a:t>
            </a:r>
            <a:r>
              <a:rPr lang="en-US" sz="2400" dirty="0" err="1" smtClean="0">
                <a:solidFill>
                  <a:srgbClr val="000000"/>
                </a:solidFill>
                <a:latin typeface="Calibri"/>
              </a:rPr>
              <a:t>dou</a:t>
            </a:r>
            <a:r>
              <a:rPr lang="ro-RO" sz="2400" dirty="0" smtClean="0">
                <a:solidFill>
                  <a:srgbClr val="000000"/>
                </a:solidFill>
                <a:latin typeface="Calibri"/>
              </a:rPr>
              <a:t>ă</a:t>
            </a:r>
            <a:r>
              <a:rPr lang="en-US" sz="2400" dirty="0" smtClean="0">
                <a:solidFill>
                  <a:srgbClr val="000000"/>
                </a:solidFill>
                <a:latin typeface="Calibri"/>
              </a:rPr>
              <a:t> </a:t>
            </a:r>
            <a:r>
              <a:rPr lang="en-US" sz="2400" dirty="0" err="1">
                <a:solidFill>
                  <a:srgbClr val="000000"/>
                </a:solidFill>
                <a:latin typeface="Calibri"/>
              </a:rPr>
              <a:t>rase</a:t>
            </a:r>
            <a:r>
              <a:rPr lang="en-US" sz="2400" dirty="0">
                <a:solidFill>
                  <a:srgbClr val="000000"/>
                </a:solidFill>
                <a:latin typeface="Calibri"/>
              </a:rPr>
              <a:t> de </a:t>
            </a:r>
            <a:r>
              <a:rPr lang="en-US" sz="2400" dirty="0" smtClean="0">
                <a:solidFill>
                  <a:srgbClr val="000000"/>
                </a:solidFill>
                <a:latin typeface="Calibri"/>
              </a:rPr>
              <a:t>c</a:t>
            </a:r>
            <a:r>
              <a:rPr lang="ro-RO" sz="2400" dirty="0" smtClean="0">
                <a:solidFill>
                  <a:srgbClr val="000000"/>
                </a:solidFill>
                <a:latin typeface="Calibri"/>
              </a:rPr>
              <a:t>â</a:t>
            </a:r>
            <a:r>
              <a:rPr lang="en-US" sz="2400" dirty="0" err="1" smtClean="0">
                <a:solidFill>
                  <a:srgbClr val="000000"/>
                </a:solidFill>
                <a:latin typeface="Calibri"/>
              </a:rPr>
              <a:t>ini</a:t>
            </a:r>
            <a:r>
              <a:rPr lang="en-US" sz="2400" dirty="0">
                <a:solidFill>
                  <a:srgbClr val="000000"/>
                </a:solidFill>
                <a:latin typeface="Calibri"/>
              </a:rPr>
              <a:t>, </a:t>
            </a:r>
            <a:r>
              <a:rPr lang="en-US" sz="2400" dirty="0" err="1">
                <a:solidFill>
                  <a:srgbClr val="000000"/>
                </a:solidFill>
                <a:latin typeface="Calibri"/>
              </a:rPr>
              <a:t>deci</a:t>
            </a:r>
            <a:r>
              <a:rPr lang="en-US" sz="2400" dirty="0">
                <a:solidFill>
                  <a:srgbClr val="000000"/>
                </a:solidFill>
                <a:latin typeface="Calibri"/>
              </a:rPr>
              <a:t> Ion </a:t>
            </a:r>
            <a:r>
              <a:rPr lang="en-US" sz="2400" dirty="0" err="1">
                <a:solidFill>
                  <a:srgbClr val="000000"/>
                </a:solidFill>
                <a:latin typeface="Calibri"/>
              </a:rPr>
              <a:t>este</a:t>
            </a:r>
            <a:r>
              <a:rPr lang="en-US" sz="2400" dirty="0">
                <a:solidFill>
                  <a:srgbClr val="000000"/>
                </a:solidFill>
                <a:latin typeface="Calibri"/>
              </a:rPr>
              <a:t> </a:t>
            </a:r>
            <a:r>
              <a:rPr lang="en-US" sz="2400" dirty="0" smtClean="0">
                <a:solidFill>
                  <a:srgbClr val="000000"/>
                </a:solidFill>
                <a:latin typeface="Calibri"/>
              </a:rPr>
              <a:t>c</a:t>
            </a:r>
            <a:r>
              <a:rPr lang="ro-RO" sz="2400" dirty="0" smtClean="0">
                <a:solidFill>
                  <a:srgbClr val="000000"/>
                </a:solidFill>
                <a:latin typeface="Calibri"/>
              </a:rPr>
              <a:t>â</a:t>
            </a:r>
            <a:r>
              <a:rPr lang="en-US" sz="2400" dirty="0" err="1" smtClean="0">
                <a:solidFill>
                  <a:srgbClr val="000000"/>
                </a:solidFill>
                <a:latin typeface="Calibri"/>
              </a:rPr>
              <a:t>ine</a:t>
            </a:r>
            <a:r>
              <a:rPr lang="en-US" sz="2400" dirty="0">
                <a:solidFill>
                  <a:srgbClr val="000000"/>
                </a:solidFill>
                <a:latin typeface="Calibri"/>
              </a:rPr>
              <a:t>.</a:t>
            </a:r>
            <a:endParaRPr sz="1400" dirty="0"/>
          </a:p>
          <a:p>
            <a:pPr>
              <a:lnSpc>
                <a:spcPct val="100000"/>
              </a:lnSpc>
            </a:pPr>
            <a:endParaRPr sz="1400" dirty="0"/>
          </a:p>
        </p:txBody>
      </p:sp>
    </p:spTree>
    <p:extLst>
      <p:ext uri="{BB962C8B-B14F-4D97-AF65-F5344CB8AC3E}">
        <p14:creationId xmlns:p14="http://schemas.microsoft.com/office/powerpoint/2010/main" val="181234770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CustomShape 2"/>
          <p:cNvSpPr/>
          <p:nvPr/>
        </p:nvSpPr>
        <p:spPr>
          <a:xfrm>
            <a:off x="3276720" y="3962400"/>
            <a:ext cx="2209320" cy="761520"/>
          </a:xfrm>
          <a:prstGeom prst="rect">
            <a:avLst/>
          </a:prstGeom>
          <a:solidFill>
            <a:srgbClr val="FFFFFF"/>
          </a:solidFill>
          <a:ln w="25560">
            <a:solidFill>
              <a:srgbClr val="000000"/>
            </a:solidFill>
            <a:round/>
          </a:ln>
        </p:spPr>
        <p:txBody>
          <a:bodyPr/>
          <a:lstStyle/>
          <a:p>
            <a:pPr>
              <a:lnSpc>
                <a:spcPct val="100000"/>
              </a:lnSpc>
            </a:pPr>
            <a:r>
              <a:rPr lang="en-US" sz="2000" dirty="0" smtClean="0">
                <a:solidFill>
                  <a:srgbClr val="000000"/>
                </a:solidFill>
                <a:latin typeface="Calibri"/>
              </a:rPr>
              <a:t>To</a:t>
            </a:r>
            <a:r>
              <a:rPr lang="ro-RO" sz="2000" dirty="0" smtClean="0">
                <a:solidFill>
                  <a:srgbClr val="000000"/>
                </a:solidFill>
                <a:latin typeface="Calibri"/>
              </a:rPr>
              <a:t>ț</a:t>
            </a:r>
            <a:r>
              <a:rPr lang="en-US" sz="2000" dirty="0" err="1" smtClean="0">
                <a:solidFill>
                  <a:srgbClr val="000000"/>
                </a:solidFill>
                <a:latin typeface="Calibri"/>
              </a:rPr>
              <a:t>i</a:t>
            </a:r>
            <a:r>
              <a:rPr lang="en-US" sz="2000" dirty="0" smtClean="0">
                <a:solidFill>
                  <a:srgbClr val="000000"/>
                </a:solidFill>
                <a:latin typeface="Calibri"/>
              </a:rPr>
              <a:t> </a:t>
            </a:r>
            <a:r>
              <a:rPr lang="en-US" sz="2000" dirty="0" err="1">
                <a:solidFill>
                  <a:srgbClr val="000000"/>
                </a:solidFill>
                <a:latin typeface="Calibri"/>
              </a:rPr>
              <a:t>terrierii</a:t>
            </a:r>
            <a:r>
              <a:rPr lang="en-US" sz="2000" dirty="0">
                <a:solidFill>
                  <a:srgbClr val="000000"/>
                </a:solidFill>
                <a:latin typeface="Calibri"/>
              </a:rPr>
              <a:t> </a:t>
            </a:r>
            <a:r>
              <a:rPr lang="en-US" sz="2000" dirty="0" err="1">
                <a:solidFill>
                  <a:srgbClr val="000000"/>
                </a:solidFill>
                <a:latin typeface="Calibri"/>
              </a:rPr>
              <a:t>sunt</a:t>
            </a:r>
            <a:r>
              <a:rPr lang="en-US" sz="2000" dirty="0">
                <a:solidFill>
                  <a:srgbClr val="000000"/>
                </a:solidFill>
                <a:latin typeface="Calibri"/>
              </a:rPr>
              <a:t> </a:t>
            </a:r>
            <a:r>
              <a:rPr lang="en-US" sz="2000" dirty="0" smtClean="0">
                <a:solidFill>
                  <a:srgbClr val="000000"/>
                </a:solidFill>
                <a:latin typeface="Calibri"/>
              </a:rPr>
              <a:t>c</a:t>
            </a:r>
            <a:r>
              <a:rPr lang="ro-RO" sz="2000" dirty="0" smtClean="0">
                <a:solidFill>
                  <a:srgbClr val="000000"/>
                </a:solidFill>
                <a:latin typeface="Calibri"/>
              </a:rPr>
              <a:t>â</a:t>
            </a:r>
            <a:r>
              <a:rPr lang="en-US" sz="2000" dirty="0" err="1" smtClean="0">
                <a:solidFill>
                  <a:srgbClr val="000000"/>
                </a:solidFill>
                <a:latin typeface="Calibri"/>
              </a:rPr>
              <a:t>ini</a:t>
            </a:r>
            <a:endParaRPr sz="1200" dirty="0"/>
          </a:p>
        </p:txBody>
      </p:sp>
      <p:sp>
        <p:nvSpPr>
          <p:cNvPr id="113" name="CustomShape 3"/>
          <p:cNvSpPr/>
          <p:nvPr/>
        </p:nvSpPr>
        <p:spPr>
          <a:xfrm>
            <a:off x="5715000" y="3962400"/>
            <a:ext cx="3123720" cy="761520"/>
          </a:xfrm>
          <a:prstGeom prst="rect">
            <a:avLst/>
          </a:prstGeom>
          <a:solidFill>
            <a:srgbClr val="FFFFFF"/>
          </a:solidFill>
          <a:ln w="25560">
            <a:solidFill>
              <a:srgbClr val="000000"/>
            </a:solidFill>
            <a:round/>
          </a:ln>
        </p:spPr>
        <p:txBody>
          <a:bodyPr/>
          <a:lstStyle/>
          <a:p>
            <a:pPr>
              <a:lnSpc>
                <a:spcPct val="100000"/>
              </a:lnSpc>
            </a:pPr>
            <a:r>
              <a:rPr lang="en-US" sz="2000" dirty="0">
                <a:solidFill>
                  <a:srgbClr val="000000"/>
                </a:solidFill>
                <a:latin typeface="Calibri"/>
              </a:rPr>
              <a:t>Ion a </a:t>
            </a:r>
            <a:r>
              <a:rPr lang="en-US" sz="2000" dirty="0" err="1">
                <a:solidFill>
                  <a:srgbClr val="000000"/>
                </a:solidFill>
                <a:latin typeface="Calibri"/>
              </a:rPr>
              <a:t>fost</a:t>
            </a:r>
            <a:r>
              <a:rPr lang="en-US" sz="2000" dirty="0">
                <a:solidFill>
                  <a:srgbClr val="000000"/>
                </a:solidFill>
                <a:latin typeface="Calibri"/>
              </a:rPr>
              <a:t> </a:t>
            </a:r>
            <a:r>
              <a:rPr lang="en-US" sz="2000" dirty="0" smtClean="0">
                <a:solidFill>
                  <a:srgbClr val="000000"/>
                </a:solidFill>
                <a:latin typeface="Calibri"/>
              </a:rPr>
              <a:t>ob</a:t>
            </a:r>
            <a:r>
              <a:rPr lang="ro-RO" sz="2000" dirty="0" smtClean="0">
                <a:solidFill>
                  <a:srgbClr val="000000"/>
                </a:solidFill>
                <a:latin typeface="Calibri"/>
              </a:rPr>
              <a:t>ț</a:t>
            </a:r>
            <a:r>
              <a:rPr lang="en-US" sz="2000" dirty="0" err="1" smtClean="0">
                <a:solidFill>
                  <a:srgbClr val="000000"/>
                </a:solidFill>
                <a:latin typeface="Calibri"/>
              </a:rPr>
              <a:t>inut</a:t>
            </a:r>
            <a:r>
              <a:rPr lang="en-US" sz="2000" dirty="0" smtClean="0">
                <a:solidFill>
                  <a:srgbClr val="000000"/>
                </a:solidFill>
                <a:latin typeface="Calibri"/>
              </a:rPr>
              <a:t> </a:t>
            </a:r>
            <a:r>
              <a:rPr lang="en-US" sz="2000" dirty="0" err="1">
                <a:solidFill>
                  <a:srgbClr val="000000"/>
                </a:solidFill>
                <a:latin typeface="Calibri"/>
              </a:rPr>
              <a:t>prin</a:t>
            </a:r>
            <a:r>
              <a:rPr lang="en-US" sz="2000" dirty="0">
                <a:solidFill>
                  <a:srgbClr val="000000"/>
                </a:solidFill>
                <a:latin typeface="Calibri"/>
              </a:rPr>
              <a:t> </a:t>
            </a:r>
            <a:r>
              <a:rPr lang="ro-RO" sz="2000" dirty="0" smtClean="0">
                <a:solidFill>
                  <a:srgbClr val="000000"/>
                </a:solidFill>
                <a:latin typeface="Calibri"/>
              </a:rPr>
              <a:t>î</a:t>
            </a:r>
            <a:r>
              <a:rPr lang="en-US" sz="2000" dirty="0" err="1" smtClean="0">
                <a:solidFill>
                  <a:srgbClr val="000000"/>
                </a:solidFill>
                <a:latin typeface="Calibri"/>
              </a:rPr>
              <a:t>ncruci</a:t>
            </a:r>
            <a:r>
              <a:rPr lang="ro-RO" sz="2000" dirty="0" smtClean="0">
                <a:solidFill>
                  <a:srgbClr val="000000"/>
                </a:solidFill>
                <a:latin typeface="Calibri"/>
              </a:rPr>
              <a:t>ș</a:t>
            </a:r>
            <a:r>
              <a:rPr lang="en-US" sz="2000" dirty="0" smtClean="0">
                <a:solidFill>
                  <a:srgbClr val="000000"/>
                </a:solidFill>
                <a:latin typeface="Calibri"/>
              </a:rPr>
              <a:t>area </a:t>
            </a:r>
            <a:r>
              <a:rPr lang="en-US" sz="2000" dirty="0">
                <a:solidFill>
                  <a:srgbClr val="000000"/>
                </a:solidFill>
                <a:latin typeface="Calibri"/>
              </a:rPr>
              <a:t>a </a:t>
            </a:r>
            <a:r>
              <a:rPr lang="en-US" sz="2000" dirty="0" err="1">
                <a:solidFill>
                  <a:srgbClr val="000000"/>
                </a:solidFill>
                <a:latin typeface="Calibri"/>
              </a:rPr>
              <a:t>doi</a:t>
            </a:r>
            <a:r>
              <a:rPr lang="en-US" sz="2000" dirty="0">
                <a:solidFill>
                  <a:srgbClr val="000000"/>
                </a:solidFill>
                <a:latin typeface="Calibri"/>
              </a:rPr>
              <a:t> </a:t>
            </a:r>
            <a:r>
              <a:rPr lang="en-US" sz="2000" dirty="0" smtClean="0">
                <a:solidFill>
                  <a:srgbClr val="000000"/>
                </a:solidFill>
                <a:latin typeface="Calibri"/>
              </a:rPr>
              <a:t>c</a:t>
            </a:r>
            <a:r>
              <a:rPr lang="ro-RO" sz="2000" dirty="0" smtClean="0">
                <a:solidFill>
                  <a:srgbClr val="000000"/>
                </a:solidFill>
                <a:latin typeface="Calibri"/>
              </a:rPr>
              <a:t>â</a:t>
            </a:r>
            <a:r>
              <a:rPr lang="en-US" sz="2000" dirty="0" err="1" smtClean="0">
                <a:solidFill>
                  <a:srgbClr val="000000"/>
                </a:solidFill>
                <a:latin typeface="Calibri"/>
              </a:rPr>
              <a:t>ini</a:t>
            </a:r>
            <a:endParaRPr sz="1200" dirty="0"/>
          </a:p>
        </p:txBody>
      </p:sp>
      <p:sp>
        <p:nvSpPr>
          <p:cNvPr id="114" name="CustomShape 4"/>
          <p:cNvSpPr/>
          <p:nvPr/>
        </p:nvSpPr>
        <p:spPr>
          <a:xfrm>
            <a:off x="3581280" y="5562720"/>
            <a:ext cx="2209320" cy="609120"/>
          </a:xfrm>
          <a:prstGeom prst="rect">
            <a:avLst/>
          </a:prstGeom>
          <a:solidFill>
            <a:srgbClr val="FFFFFF"/>
          </a:solidFill>
          <a:ln w="25560">
            <a:solidFill>
              <a:srgbClr val="000000"/>
            </a:solidFill>
            <a:round/>
          </a:ln>
        </p:spPr>
        <p:txBody>
          <a:bodyPr/>
          <a:lstStyle/>
          <a:p>
            <a:pPr>
              <a:lnSpc>
                <a:spcPct val="100000"/>
              </a:lnSpc>
            </a:pPr>
            <a:r>
              <a:rPr lang="en-US" sz="2400" dirty="0">
                <a:solidFill>
                  <a:srgbClr val="000000"/>
                </a:solidFill>
                <a:latin typeface="Calibri"/>
              </a:rPr>
              <a:t>Ion </a:t>
            </a:r>
            <a:r>
              <a:rPr lang="en-US" sz="2400" dirty="0" err="1">
                <a:solidFill>
                  <a:srgbClr val="000000"/>
                </a:solidFill>
                <a:latin typeface="Calibri"/>
              </a:rPr>
              <a:t>este</a:t>
            </a:r>
            <a:r>
              <a:rPr lang="en-US" sz="2400" dirty="0">
                <a:solidFill>
                  <a:srgbClr val="000000"/>
                </a:solidFill>
                <a:latin typeface="Calibri"/>
              </a:rPr>
              <a:t> </a:t>
            </a:r>
            <a:r>
              <a:rPr lang="en-US" sz="2400" dirty="0" smtClean="0">
                <a:solidFill>
                  <a:srgbClr val="000000"/>
                </a:solidFill>
                <a:latin typeface="Calibri"/>
              </a:rPr>
              <a:t>c</a:t>
            </a:r>
            <a:r>
              <a:rPr lang="ro-RO" sz="2400" dirty="0" smtClean="0">
                <a:solidFill>
                  <a:srgbClr val="000000"/>
                </a:solidFill>
                <a:latin typeface="Calibri"/>
              </a:rPr>
              <a:t>â</a:t>
            </a:r>
            <a:r>
              <a:rPr lang="en-US" sz="2400" dirty="0" err="1" smtClean="0">
                <a:solidFill>
                  <a:srgbClr val="000000"/>
                </a:solidFill>
                <a:latin typeface="Calibri"/>
              </a:rPr>
              <a:t>ine</a:t>
            </a:r>
            <a:endParaRPr sz="1400" dirty="0"/>
          </a:p>
        </p:txBody>
      </p:sp>
      <p:sp>
        <p:nvSpPr>
          <p:cNvPr id="115" name="CustomShape 5"/>
          <p:cNvSpPr/>
          <p:nvPr/>
        </p:nvSpPr>
        <p:spPr>
          <a:xfrm rot="5400000" flipV="1">
            <a:off x="2514600" y="4038600"/>
            <a:ext cx="533400" cy="1905000"/>
          </a:xfrm>
          <a:prstGeom prst="bentConnector2">
            <a:avLst/>
          </a:prstGeom>
          <a:noFill/>
          <a:ln w="9360">
            <a:solidFill>
              <a:srgbClr val="4A7EBB"/>
            </a:solidFill>
            <a:round/>
          </a:ln>
        </p:spPr>
      </p:sp>
      <p:sp>
        <p:nvSpPr>
          <p:cNvPr id="116" name="CustomShape 6"/>
          <p:cNvSpPr/>
          <p:nvPr/>
        </p:nvSpPr>
        <p:spPr>
          <a:xfrm rot="5400000">
            <a:off x="3791160" y="4667400"/>
            <a:ext cx="533160" cy="647280"/>
          </a:xfrm>
          <a:prstGeom prst="bentConnector2">
            <a:avLst/>
          </a:prstGeom>
          <a:noFill/>
          <a:ln w="9360">
            <a:solidFill>
              <a:srgbClr val="4A7EBB"/>
            </a:solidFill>
            <a:round/>
          </a:ln>
        </p:spPr>
      </p:sp>
      <p:sp>
        <p:nvSpPr>
          <p:cNvPr id="117" name="CustomShape 7"/>
          <p:cNvSpPr/>
          <p:nvPr/>
        </p:nvSpPr>
        <p:spPr>
          <a:xfrm>
            <a:off x="3886200" y="5257800"/>
            <a:ext cx="360" cy="304560"/>
          </a:xfrm>
          <a:prstGeom prst="straightConnector1">
            <a:avLst/>
          </a:prstGeom>
          <a:noFill/>
          <a:ln w="9360">
            <a:solidFill>
              <a:srgbClr val="4A7EBB"/>
            </a:solidFill>
            <a:round/>
            <a:tailEnd type="arrow" w="med" len="med"/>
          </a:ln>
        </p:spPr>
      </p:sp>
      <p:sp>
        <p:nvSpPr>
          <p:cNvPr id="118" name="CustomShape 8"/>
          <p:cNvSpPr/>
          <p:nvPr/>
        </p:nvSpPr>
        <p:spPr>
          <a:xfrm flipH="1">
            <a:off x="4686480" y="4724640"/>
            <a:ext cx="2590560" cy="837720"/>
          </a:xfrm>
          <a:prstGeom prst="straightConnector1">
            <a:avLst/>
          </a:prstGeom>
          <a:noFill/>
          <a:ln w="9360">
            <a:solidFill>
              <a:srgbClr val="4A7EBB"/>
            </a:solidFill>
            <a:round/>
            <a:tailEnd type="arrow" w="med" len="med"/>
          </a:ln>
        </p:spPr>
      </p:sp>
      <p:sp>
        <p:nvSpPr>
          <p:cNvPr id="119" name="CustomShape 9"/>
          <p:cNvSpPr/>
          <p:nvPr/>
        </p:nvSpPr>
        <p:spPr>
          <a:xfrm>
            <a:off x="76320" y="762000"/>
            <a:ext cx="2209320" cy="761520"/>
          </a:xfrm>
          <a:prstGeom prst="rect">
            <a:avLst/>
          </a:prstGeom>
          <a:solidFill>
            <a:srgbClr val="FFFFFF"/>
          </a:solidFill>
          <a:ln w="25560">
            <a:solidFill>
              <a:srgbClr val="000000"/>
            </a:solidFill>
            <a:round/>
          </a:ln>
        </p:spPr>
        <p:txBody>
          <a:bodyPr/>
          <a:lstStyle/>
          <a:p>
            <a:pPr>
              <a:lnSpc>
                <a:spcPct val="100000"/>
              </a:lnSpc>
            </a:pPr>
            <a:r>
              <a:rPr lang="en-US" sz="2400" dirty="0">
                <a:solidFill>
                  <a:srgbClr val="000000"/>
                </a:solidFill>
                <a:latin typeface="Calibri"/>
              </a:rPr>
              <a:t>Ion </a:t>
            </a:r>
            <a:r>
              <a:rPr lang="en-US" sz="2400" dirty="0" err="1">
                <a:solidFill>
                  <a:srgbClr val="000000"/>
                </a:solidFill>
                <a:latin typeface="Calibri"/>
              </a:rPr>
              <a:t>este</a:t>
            </a:r>
            <a:r>
              <a:rPr lang="en-US" sz="2400" dirty="0">
                <a:solidFill>
                  <a:srgbClr val="000000"/>
                </a:solidFill>
                <a:latin typeface="Calibri"/>
              </a:rPr>
              <a:t> terrier</a:t>
            </a:r>
            <a:endParaRPr sz="1400" dirty="0"/>
          </a:p>
        </p:txBody>
      </p:sp>
      <p:sp>
        <p:nvSpPr>
          <p:cNvPr id="120" name="CustomShape 10"/>
          <p:cNvSpPr/>
          <p:nvPr/>
        </p:nvSpPr>
        <p:spPr>
          <a:xfrm>
            <a:off x="2895480" y="762000"/>
            <a:ext cx="2209320" cy="761520"/>
          </a:xfrm>
          <a:prstGeom prst="rect">
            <a:avLst/>
          </a:prstGeom>
          <a:solidFill>
            <a:srgbClr val="FFFFFF"/>
          </a:solidFill>
          <a:ln w="25560">
            <a:solidFill>
              <a:srgbClr val="000000"/>
            </a:solidFill>
            <a:round/>
          </a:ln>
        </p:spPr>
        <p:txBody>
          <a:bodyPr/>
          <a:lstStyle/>
          <a:p>
            <a:pPr>
              <a:lnSpc>
                <a:spcPct val="100000"/>
              </a:lnSpc>
            </a:pPr>
            <a:r>
              <a:rPr lang="en-US" sz="2000" dirty="0" smtClean="0">
                <a:solidFill>
                  <a:srgbClr val="000000"/>
                </a:solidFill>
                <a:latin typeface="Calibri"/>
              </a:rPr>
              <a:t>To</a:t>
            </a:r>
            <a:r>
              <a:rPr lang="ro-RO" sz="2000" dirty="0" smtClean="0">
                <a:solidFill>
                  <a:srgbClr val="000000"/>
                </a:solidFill>
                <a:latin typeface="Calibri"/>
              </a:rPr>
              <a:t>ț</a:t>
            </a:r>
            <a:r>
              <a:rPr lang="en-US" sz="2000" dirty="0" err="1" smtClean="0">
                <a:solidFill>
                  <a:srgbClr val="000000"/>
                </a:solidFill>
                <a:latin typeface="Calibri"/>
              </a:rPr>
              <a:t>i</a:t>
            </a:r>
            <a:r>
              <a:rPr lang="en-US" sz="2000" dirty="0" smtClean="0">
                <a:solidFill>
                  <a:srgbClr val="000000"/>
                </a:solidFill>
                <a:latin typeface="Calibri"/>
              </a:rPr>
              <a:t> </a:t>
            </a:r>
            <a:r>
              <a:rPr lang="en-US" sz="2000" dirty="0" err="1">
                <a:solidFill>
                  <a:srgbClr val="000000"/>
                </a:solidFill>
                <a:latin typeface="Calibri"/>
              </a:rPr>
              <a:t>terrierii</a:t>
            </a:r>
            <a:r>
              <a:rPr lang="en-US" sz="2000" dirty="0">
                <a:solidFill>
                  <a:srgbClr val="000000"/>
                </a:solidFill>
                <a:latin typeface="Calibri"/>
              </a:rPr>
              <a:t> </a:t>
            </a:r>
            <a:r>
              <a:rPr lang="en-US" sz="2000" dirty="0" err="1">
                <a:solidFill>
                  <a:srgbClr val="000000"/>
                </a:solidFill>
                <a:latin typeface="Calibri"/>
              </a:rPr>
              <a:t>sunt</a:t>
            </a:r>
            <a:r>
              <a:rPr lang="en-US" sz="2000" dirty="0">
                <a:solidFill>
                  <a:srgbClr val="000000"/>
                </a:solidFill>
                <a:latin typeface="Calibri"/>
              </a:rPr>
              <a:t> </a:t>
            </a:r>
            <a:r>
              <a:rPr lang="en-US" sz="2000" dirty="0" smtClean="0">
                <a:solidFill>
                  <a:srgbClr val="000000"/>
                </a:solidFill>
                <a:latin typeface="Calibri"/>
              </a:rPr>
              <a:t>c</a:t>
            </a:r>
            <a:r>
              <a:rPr lang="ro-RO" sz="2000" dirty="0" smtClean="0">
                <a:solidFill>
                  <a:srgbClr val="000000"/>
                </a:solidFill>
                <a:latin typeface="Calibri"/>
              </a:rPr>
              <a:t>â</a:t>
            </a:r>
            <a:r>
              <a:rPr lang="en-US" sz="2000" dirty="0" err="1" smtClean="0">
                <a:solidFill>
                  <a:srgbClr val="000000"/>
                </a:solidFill>
                <a:latin typeface="Calibri"/>
              </a:rPr>
              <a:t>ini</a:t>
            </a:r>
            <a:endParaRPr sz="1200" dirty="0"/>
          </a:p>
        </p:txBody>
      </p:sp>
      <p:sp>
        <p:nvSpPr>
          <p:cNvPr id="121" name="CustomShape 11"/>
          <p:cNvSpPr/>
          <p:nvPr/>
        </p:nvSpPr>
        <p:spPr>
          <a:xfrm>
            <a:off x="1523880" y="2590920"/>
            <a:ext cx="2209320" cy="609120"/>
          </a:xfrm>
          <a:prstGeom prst="rect">
            <a:avLst/>
          </a:prstGeom>
          <a:solidFill>
            <a:srgbClr val="FFFFFF"/>
          </a:solidFill>
          <a:ln w="25560">
            <a:solidFill>
              <a:srgbClr val="000000"/>
            </a:solidFill>
            <a:round/>
          </a:ln>
        </p:spPr>
        <p:txBody>
          <a:bodyPr/>
          <a:lstStyle/>
          <a:p>
            <a:pPr>
              <a:lnSpc>
                <a:spcPct val="100000"/>
              </a:lnSpc>
            </a:pPr>
            <a:r>
              <a:rPr lang="en-US" sz="2800" dirty="0">
                <a:solidFill>
                  <a:srgbClr val="000000"/>
                </a:solidFill>
                <a:latin typeface="Calibri"/>
              </a:rPr>
              <a:t>Ion </a:t>
            </a:r>
            <a:r>
              <a:rPr lang="en-US" sz="2800" dirty="0" err="1">
                <a:solidFill>
                  <a:srgbClr val="000000"/>
                </a:solidFill>
                <a:latin typeface="Calibri"/>
              </a:rPr>
              <a:t>este</a:t>
            </a:r>
            <a:r>
              <a:rPr lang="en-US" sz="2800" dirty="0">
                <a:solidFill>
                  <a:srgbClr val="000000"/>
                </a:solidFill>
                <a:latin typeface="Calibri"/>
              </a:rPr>
              <a:t> </a:t>
            </a:r>
            <a:r>
              <a:rPr lang="en-US" sz="2800" dirty="0" smtClean="0">
                <a:solidFill>
                  <a:srgbClr val="000000"/>
                </a:solidFill>
                <a:latin typeface="Calibri"/>
              </a:rPr>
              <a:t>c</a:t>
            </a:r>
            <a:r>
              <a:rPr lang="ro-RO" sz="2800" dirty="0" smtClean="0">
                <a:solidFill>
                  <a:srgbClr val="000000"/>
                </a:solidFill>
                <a:latin typeface="Calibri"/>
              </a:rPr>
              <a:t>â</a:t>
            </a:r>
            <a:r>
              <a:rPr lang="en-US" sz="2800" dirty="0" err="1" smtClean="0">
                <a:solidFill>
                  <a:srgbClr val="000000"/>
                </a:solidFill>
                <a:latin typeface="Calibri"/>
              </a:rPr>
              <a:t>ine</a:t>
            </a:r>
            <a:endParaRPr sz="1600" dirty="0"/>
          </a:p>
        </p:txBody>
      </p:sp>
      <p:sp>
        <p:nvSpPr>
          <p:cNvPr id="123" name="CustomShape 13"/>
          <p:cNvSpPr/>
          <p:nvPr/>
        </p:nvSpPr>
        <p:spPr>
          <a:xfrm rot="5400000">
            <a:off x="2647860" y="1466940"/>
            <a:ext cx="533160" cy="647280"/>
          </a:xfrm>
          <a:prstGeom prst="bentConnector2">
            <a:avLst/>
          </a:prstGeom>
          <a:noFill/>
          <a:ln w="9360">
            <a:solidFill>
              <a:srgbClr val="4A7EBB"/>
            </a:solidFill>
            <a:round/>
          </a:ln>
        </p:spPr>
      </p:sp>
      <p:sp>
        <p:nvSpPr>
          <p:cNvPr id="124" name="CustomShape 14"/>
          <p:cNvSpPr/>
          <p:nvPr/>
        </p:nvSpPr>
        <p:spPr>
          <a:xfrm>
            <a:off x="5486400" y="838080"/>
            <a:ext cx="3123720" cy="914520"/>
          </a:xfrm>
          <a:prstGeom prst="rect">
            <a:avLst/>
          </a:prstGeom>
          <a:solidFill>
            <a:srgbClr val="FFFFFF"/>
          </a:solidFill>
          <a:ln w="25560">
            <a:solidFill>
              <a:srgbClr val="000000"/>
            </a:solidFill>
            <a:round/>
          </a:ln>
        </p:spPr>
        <p:txBody>
          <a:bodyPr/>
          <a:lstStyle/>
          <a:p>
            <a:pPr>
              <a:lnSpc>
                <a:spcPct val="100000"/>
              </a:lnSpc>
            </a:pPr>
            <a:r>
              <a:rPr lang="en-US" sz="2400" dirty="0">
                <a:solidFill>
                  <a:srgbClr val="000000"/>
                </a:solidFill>
                <a:latin typeface="Calibri"/>
              </a:rPr>
              <a:t>Ion a </a:t>
            </a:r>
            <a:r>
              <a:rPr lang="en-US" sz="2400" dirty="0" err="1">
                <a:solidFill>
                  <a:srgbClr val="000000"/>
                </a:solidFill>
                <a:latin typeface="Calibri"/>
              </a:rPr>
              <a:t>fost</a:t>
            </a:r>
            <a:r>
              <a:rPr lang="en-US" sz="2400" dirty="0">
                <a:solidFill>
                  <a:srgbClr val="000000"/>
                </a:solidFill>
                <a:latin typeface="Calibri"/>
              </a:rPr>
              <a:t> </a:t>
            </a:r>
            <a:r>
              <a:rPr lang="en-US" sz="2400" dirty="0" smtClean="0">
                <a:solidFill>
                  <a:srgbClr val="000000"/>
                </a:solidFill>
                <a:latin typeface="Calibri"/>
              </a:rPr>
              <a:t>ob</a:t>
            </a:r>
            <a:r>
              <a:rPr lang="ro-RO" sz="2400" dirty="0" smtClean="0">
                <a:solidFill>
                  <a:srgbClr val="000000"/>
                </a:solidFill>
                <a:latin typeface="Calibri"/>
              </a:rPr>
              <a:t>ț</a:t>
            </a:r>
            <a:r>
              <a:rPr lang="en-US" sz="2400" dirty="0" err="1" smtClean="0">
                <a:solidFill>
                  <a:srgbClr val="000000"/>
                </a:solidFill>
                <a:latin typeface="Calibri"/>
              </a:rPr>
              <a:t>inut</a:t>
            </a:r>
            <a:r>
              <a:rPr lang="en-US" sz="2400" dirty="0" smtClean="0">
                <a:solidFill>
                  <a:srgbClr val="000000"/>
                </a:solidFill>
                <a:latin typeface="Calibri"/>
              </a:rPr>
              <a:t> </a:t>
            </a:r>
            <a:r>
              <a:rPr lang="en-US" sz="2400" dirty="0" err="1">
                <a:solidFill>
                  <a:srgbClr val="000000"/>
                </a:solidFill>
                <a:latin typeface="Calibri"/>
              </a:rPr>
              <a:t>prin</a:t>
            </a:r>
            <a:r>
              <a:rPr lang="en-US" sz="2400" dirty="0">
                <a:solidFill>
                  <a:srgbClr val="000000"/>
                </a:solidFill>
                <a:latin typeface="Calibri"/>
              </a:rPr>
              <a:t> </a:t>
            </a:r>
            <a:r>
              <a:rPr lang="ro-RO" sz="2400" dirty="0" smtClean="0">
                <a:solidFill>
                  <a:srgbClr val="000000"/>
                </a:solidFill>
                <a:latin typeface="Calibri"/>
              </a:rPr>
              <a:t>î</a:t>
            </a:r>
            <a:r>
              <a:rPr lang="en-US" sz="2400" dirty="0" err="1" smtClean="0">
                <a:solidFill>
                  <a:srgbClr val="000000"/>
                </a:solidFill>
                <a:latin typeface="Calibri"/>
              </a:rPr>
              <a:t>ncruci</a:t>
            </a:r>
            <a:r>
              <a:rPr lang="ro-RO" sz="2400" dirty="0" smtClean="0">
                <a:solidFill>
                  <a:srgbClr val="000000"/>
                </a:solidFill>
                <a:latin typeface="Calibri"/>
              </a:rPr>
              <a:t>ș</a:t>
            </a:r>
            <a:r>
              <a:rPr lang="en-US" sz="2400" dirty="0" smtClean="0">
                <a:solidFill>
                  <a:srgbClr val="000000"/>
                </a:solidFill>
                <a:latin typeface="Calibri"/>
              </a:rPr>
              <a:t>area </a:t>
            </a:r>
            <a:r>
              <a:rPr lang="en-US" sz="2400" dirty="0">
                <a:solidFill>
                  <a:srgbClr val="000000"/>
                </a:solidFill>
                <a:latin typeface="Calibri"/>
              </a:rPr>
              <a:t>a </a:t>
            </a:r>
            <a:r>
              <a:rPr lang="en-US" sz="2400" dirty="0" err="1">
                <a:solidFill>
                  <a:srgbClr val="000000"/>
                </a:solidFill>
                <a:latin typeface="Calibri"/>
              </a:rPr>
              <a:t>doi</a:t>
            </a:r>
            <a:r>
              <a:rPr lang="en-US" sz="2400" dirty="0">
                <a:solidFill>
                  <a:srgbClr val="000000"/>
                </a:solidFill>
                <a:latin typeface="Calibri"/>
              </a:rPr>
              <a:t> </a:t>
            </a:r>
            <a:r>
              <a:rPr lang="en-US" sz="2400" dirty="0" smtClean="0">
                <a:solidFill>
                  <a:srgbClr val="000000"/>
                </a:solidFill>
                <a:latin typeface="Calibri"/>
              </a:rPr>
              <a:t>c</a:t>
            </a:r>
            <a:r>
              <a:rPr lang="ro-RO" sz="2400" dirty="0" smtClean="0">
                <a:solidFill>
                  <a:srgbClr val="000000"/>
                </a:solidFill>
                <a:latin typeface="Calibri"/>
              </a:rPr>
              <a:t>â</a:t>
            </a:r>
            <a:r>
              <a:rPr lang="en-US" sz="2400" dirty="0" err="1" smtClean="0">
                <a:solidFill>
                  <a:srgbClr val="000000"/>
                </a:solidFill>
                <a:latin typeface="Calibri"/>
              </a:rPr>
              <a:t>ini</a:t>
            </a:r>
            <a:endParaRPr sz="1400" dirty="0"/>
          </a:p>
        </p:txBody>
      </p:sp>
      <p:sp>
        <p:nvSpPr>
          <p:cNvPr id="125" name="CustomShape 15"/>
          <p:cNvSpPr/>
          <p:nvPr/>
        </p:nvSpPr>
        <p:spPr>
          <a:xfrm>
            <a:off x="6019800" y="2514600"/>
            <a:ext cx="2209320" cy="609120"/>
          </a:xfrm>
          <a:prstGeom prst="rect">
            <a:avLst/>
          </a:prstGeom>
          <a:solidFill>
            <a:srgbClr val="FFFFFF"/>
          </a:solidFill>
          <a:ln w="25560">
            <a:solidFill>
              <a:srgbClr val="000000"/>
            </a:solidFill>
            <a:round/>
          </a:ln>
        </p:spPr>
        <p:txBody>
          <a:bodyPr/>
          <a:lstStyle/>
          <a:p>
            <a:pPr>
              <a:lnSpc>
                <a:spcPct val="100000"/>
              </a:lnSpc>
            </a:pPr>
            <a:r>
              <a:rPr lang="en-US" sz="2800" dirty="0">
                <a:solidFill>
                  <a:srgbClr val="000000"/>
                </a:solidFill>
                <a:latin typeface="Calibri"/>
              </a:rPr>
              <a:t>Ion </a:t>
            </a:r>
            <a:r>
              <a:rPr lang="en-US" sz="2800" dirty="0" err="1">
                <a:solidFill>
                  <a:srgbClr val="000000"/>
                </a:solidFill>
                <a:latin typeface="Calibri"/>
              </a:rPr>
              <a:t>este</a:t>
            </a:r>
            <a:r>
              <a:rPr lang="en-US" sz="2800" dirty="0">
                <a:solidFill>
                  <a:srgbClr val="000000"/>
                </a:solidFill>
                <a:latin typeface="Calibri"/>
              </a:rPr>
              <a:t> </a:t>
            </a:r>
            <a:r>
              <a:rPr lang="en-US" sz="2800" dirty="0" smtClean="0">
                <a:solidFill>
                  <a:srgbClr val="000000"/>
                </a:solidFill>
                <a:latin typeface="Calibri"/>
              </a:rPr>
              <a:t>c</a:t>
            </a:r>
            <a:r>
              <a:rPr lang="ro-RO" sz="2800" dirty="0" smtClean="0">
                <a:solidFill>
                  <a:srgbClr val="000000"/>
                </a:solidFill>
                <a:latin typeface="Calibri"/>
              </a:rPr>
              <a:t>â</a:t>
            </a:r>
            <a:r>
              <a:rPr lang="en-US" sz="2800" dirty="0" err="1" smtClean="0">
                <a:solidFill>
                  <a:srgbClr val="000000"/>
                </a:solidFill>
                <a:latin typeface="Calibri"/>
              </a:rPr>
              <a:t>ine</a:t>
            </a:r>
            <a:endParaRPr sz="1600" dirty="0"/>
          </a:p>
        </p:txBody>
      </p:sp>
      <p:sp>
        <p:nvSpPr>
          <p:cNvPr id="126" name="CustomShape 16"/>
          <p:cNvSpPr/>
          <p:nvPr/>
        </p:nvSpPr>
        <p:spPr>
          <a:xfrm>
            <a:off x="6968639" y="1752240"/>
            <a:ext cx="45720" cy="762360"/>
          </a:xfrm>
          <a:prstGeom prst="straightConnector1">
            <a:avLst/>
          </a:prstGeom>
          <a:noFill/>
          <a:ln w="9360">
            <a:solidFill>
              <a:srgbClr val="4A7EBB"/>
            </a:solidFill>
            <a:round/>
            <a:tailEnd type="arrow" w="med" len="med"/>
          </a:ln>
        </p:spPr>
      </p:sp>
      <p:sp>
        <p:nvSpPr>
          <p:cNvPr id="127" name="CustomShape 17"/>
          <p:cNvSpPr/>
          <p:nvPr/>
        </p:nvSpPr>
        <p:spPr>
          <a:xfrm>
            <a:off x="2590920" y="2057400"/>
            <a:ext cx="360" cy="533160"/>
          </a:xfrm>
          <a:prstGeom prst="straightConnector1">
            <a:avLst/>
          </a:prstGeom>
          <a:noFill/>
          <a:ln w="9360">
            <a:solidFill>
              <a:srgbClr val="4A7EBB"/>
            </a:solidFill>
            <a:round/>
            <a:tailEnd type="arrow" w="med" len="med"/>
          </a:ln>
        </p:spPr>
      </p:sp>
      <p:cxnSp>
        <p:nvCxnSpPr>
          <p:cNvPr id="27" name="Straight Connector 26"/>
          <p:cNvCxnSpPr>
            <a:stCxn id="119" idx="2"/>
          </p:cNvCxnSpPr>
          <p:nvPr/>
        </p:nvCxnSpPr>
        <p:spPr>
          <a:xfrm flipH="1">
            <a:off x="1143000" y="1523520"/>
            <a:ext cx="37980" cy="53388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1143000" y="2057400"/>
            <a:ext cx="1447800" cy="0"/>
          </a:xfrm>
          <a:prstGeom prst="line">
            <a:avLst/>
          </a:prstGeom>
        </p:spPr>
        <p:style>
          <a:lnRef idx="1">
            <a:schemeClr val="accent1"/>
          </a:lnRef>
          <a:fillRef idx="0">
            <a:schemeClr val="accent1"/>
          </a:fillRef>
          <a:effectRef idx="0">
            <a:schemeClr val="accent1"/>
          </a:effectRef>
          <a:fontRef idx="minor">
            <a:schemeClr val="tx1"/>
          </a:fontRef>
        </p:style>
      </p:cxnSp>
      <p:sp>
        <p:nvSpPr>
          <p:cNvPr id="32" name="CustomShape 9"/>
          <p:cNvSpPr/>
          <p:nvPr/>
        </p:nvSpPr>
        <p:spPr>
          <a:xfrm>
            <a:off x="609600" y="3962400"/>
            <a:ext cx="2209320" cy="761520"/>
          </a:xfrm>
          <a:prstGeom prst="rect">
            <a:avLst/>
          </a:prstGeom>
          <a:solidFill>
            <a:srgbClr val="FFFFFF"/>
          </a:solidFill>
          <a:ln w="25560">
            <a:solidFill>
              <a:srgbClr val="000000"/>
            </a:solidFill>
            <a:round/>
          </a:ln>
        </p:spPr>
        <p:txBody>
          <a:bodyPr/>
          <a:lstStyle/>
          <a:p>
            <a:pPr>
              <a:lnSpc>
                <a:spcPct val="100000"/>
              </a:lnSpc>
            </a:pPr>
            <a:r>
              <a:rPr lang="en-US" sz="2400" dirty="0">
                <a:solidFill>
                  <a:srgbClr val="000000"/>
                </a:solidFill>
                <a:latin typeface="Calibri"/>
              </a:rPr>
              <a:t>Ion </a:t>
            </a:r>
            <a:r>
              <a:rPr lang="en-US" sz="2400" dirty="0" err="1">
                <a:solidFill>
                  <a:srgbClr val="000000"/>
                </a:solidFill>
                <a:latin typeface="Calibri"/>
              </a:rPr>
              <a:t>este</a:t>
            </a:r>
            <a:r>
              <a:rPr lang="en-US" sz="2400" dirty="0">
                <a:solidFill>
                  <a:srgbClr val="000000"/>
                </a:solidFill>
                <a:latin typeface="Calibri"/>
              </a:rPr>
              <a:t> terrier</a:t>
            </a:r>
            <a:endParaRPr sz="1400" dirty="0"/>
          </a:p>
        </p:txBody>
      </p:sp>
    </p:spTree>
    <p:extLst>
      <p:ext uri="{BB962C8B-B14F-4D97-AF65-F5344CB8AC3E}">
        <p14:creationId xmlns:p14="http://schemas.microsoft.com/office/powerpoint/2010/main" val="4102309449"/>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Elemente de logică matematică</a:t>
            </a:r>
            <a:endParaRPr lang="en-US" dirty="0"/>
          </a:p>
        </p:txBody>
      </p:sp>
      <p:sp>
        <p:nvSpPr>
          <p:cNvPr id="3" name="Content Placeholder 2"/>
          <p:cNvSpPr>
            <a:spLocks noGrp="1"/>
          </p:cNvSpPr>
          <p:nvPr>
            <p:ph idx="1"/>
          </p:nvPr>
        </p:nvSpPr>
        <p:spPr/>
        <p:txBody>
          <a:bodyPr/>
          <a:lstStyle/>
          <a:p>
            <a:r>
              <a:rPr lang="ro-RO" dirty="0" smtClean="0"/>
              <a:t>Nu orice raționament poate fi catalogat ca fiind silogism sau raționament imediat.</a:t>
            </a:r>
          </a:p>
          <a:p>
            <a:pPr marL="0" indent="0">
              <a:buNone/>
            </a:pPr>
            <a:endParaRPr lang="ro-RO" dirty="0" smtClean="0"/>
          </a:p>
          <a:p>
            <a:pPr marL="0" indent="0">
              <a:buNone/>
            </a:pPr>
            <a:r>
              <a:rPr lang="ro-RO" dirty="0" smtClean="0"/>
              <a:t>Exemplu: Dacă merg la curs, atunci voi învăța ceva nou. Dacă dorm, atunci voi fi odihnit. Fie merg la curs, fie dorm. Prin urmare, voi învăța ceva nou sau voi fi odihnit.</a:t>
            </a:r>
            <a:endParaRPr lang="en-US" dirty="0"/>
          </a:p>
        </p:txBody>
      </p:sp>
    </p:spTree>
    <p:extLst>
      <p:ext uri="{BB962C8B-B14F-4D97-AF65-F5344CB8AC3E}">
        <p14:creationId xmlns:p14="http://schemas.microsoft.com/office/powerpoint/2010/main" val="26312979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Condițional</a:t>
            </a:r>
            <a:endParaRPr lang="en-US" dirty="0"/>
          </a:p>
        </p:txBody>
      </p:sp>
      <p:sp>
        <p:nvSpPr>
          <p:cNvPr id="3" name="Content Placeholder 2"/>
          <p:cNvSpPr>
            <a:spLocks noGrp="1"/>
          </p:cNvSpPr>
          <p:nvPr>
            <p:ph idx="1"/>
          </p:nvPr>
        </p:nvSpPr>
        <p:spPr/>
        <p:txBody>
          <a:bodyPr>
            <a:normAutofit/>
          </a:bodyPr>
          <a:lstStyle/>
          <a:p>
            <a:pPr marL="0" indent="0">
              <a:buNone/>
            </a:pPr>
            <a:r>
              <a:rPr lang="ro-RO" dirty="0" smtClean="0">
                <a:latin typeface="+mj-lt"/>
              </a:rPr>
              <a:t>A</a:t>
            </a:r>
            <a:r>
              <a:rPr lang="ro-RO" dirty="0" smtClean="0">
                <a:latin typeface="+mj-lt"/>
                <a:cs typeface="Arial"/>
              </a:rPr>
              <a:t>→B</a:t>
            </a:r>
          </a:p>
          <a:p>
            <a:pPr marL="0" indent="0">
              <a:buNone/>
            </a:pPr>
            <a:endParaRPr lang="ro-RO" dirty="0">
              <a:latin typeface="Arial"/>
              <a:cs typeface="Arial"/>
            </a:endParaRPr>
          </a:p>
          <a:p>
            <a:pPr marL="0" indent="0">
              <a:buNone/>
            </a:pPr>
            <a:endParaRPr lang="ro-RO" dirty="0" smtClean="0"/>
          </a:p>
          <a:p>
            <a:pPr marL="0" indent="0">
              <a:buNone/>
            </a:pPr>
            <a:endParaRPr lang="ro-RO" dirty="0"/>
          </a:p>
          <a:p>
            <a:pPr marL="0" indent="0">
              <a:buNone/>
            </a:pPr>
            <a:endParaRPr lang="ro-RO" dirty="0" smtClean="0"/>
          </a:p>
          <a:p>
            <a:pPr marL="0" indent="0">
              <a:buNone/>
            </a:pPr>
            <a:r>
              <a:rPr lang="ro-RO" dirty="0" smtClean="0"/>
              <a:t>O implicație (materială) este falsă când ANTECEDENTUL (A) este adevărat și CONSECVENTUL (B) este fals.</a:t>
            </a:r>
          </a:p>
          <a:p>
            <a:pPr marL="0" indent="0">
              <a:buNone/>
            </a:pPr>
            <a:r>
              <a:rPr lang="ro-RO" dirty="0" smtClean="0">
                <a:effectLst>
                  <a:outerShdw blurRad="38100" dist="38100" dir="2700000" algn="tl">
                    <a:srgbClr val="000000">
                      <a:alpha val="43137"/>
                    </a:srgbClr>
                  </a:outerShdw>
                </a:effectLst>
              </a:rPr>
              <a:t>Operatorul care leagă premisele de concluzie este implicația.</a:t>
            </a:r>
            <a:endParaRPr lang="en-US" dirty="0">
              <a:effectLst>
                <a:outerShdw blurRad="38100" dist="38100" dir="2700000" algn="tl">
                  <a:srgbClr val="000000">
                    <a:alpha val="43137"/>
                  </a:srgbClr>
                </a:outerShdw>
              </a:effectLst>
            </a:endParaRPr>
          </a:p>
        </p:txBody>
      </p:sp>
      <p:graphicFrame>
        <p:nvGraphicFramePr>
          <p:cNvPr id="4" name="Table 3"/>
          <p:cNvGraphicFramePr>
            <a:graphicFrameLocks noGrp="1"/>
          </p:cNvGraphicFramePr>
          <p:nvPr>
            <p:extLst>
              <p:ext uri="{D42A27DB-BD31-4B8C-83A1-F6EECF244321}">
                <p14:modId xmlns:p14="http://schemas.microsoft.com/office/powerpoint/2010/main" val="1138569359"/>
              </p:ext>
            </p:extLst>
          </p:nvPr>
        </p:nvGraphicFramePr>
        <p:xfrm>
          <a:off x="5257800" y="1676400"/>
          <a:ext cx="2971800" cy="1854200"/>
        </p:xfrm>
        <a:graphic>
          <a:graphicData uri="http://schemas.openxmlformats.org/drawingml/2006/table">
            <a:tbl>
              <a:tblPr firstRow="1" bandRow="1">
                <a:tableStyleId>{5C22544A-7EE6-4342-B048-85BDC9FD1C3A}</a:tableStyleId>
              </a:tblPr>
              <a:tblGrid>
                <a:gridCol w="990600"/>
                <a:gridCol w="990600"/>
                <a:gridCol w="990600"/>
              </a:tblGrid>
              <a:tr h="370840">
                <a:tc>
                  <a:txBody>
                    <a:bodyPr/>
                    <a:lstStyle/>
                    <a:p>
                      <a:pPr algn="ctr"/>
                      <a:r>
                        <a:rPr lang="ro-RO" dirty="0" smtClean="0"/>
                        <a:t>A</a:t>
                      </a:r>
                      <a:endParaRPr lang="en-US" dirty="0"/>
                    </a:p>
                  </a:txBody>
                  <a:tcPr/>
                </a:tc>
                <a:tc>
                  <a:txBody>
                    <a:bodyPr/>
                    <a:lstStyle/>
                    <a:p>
                      <a:pPr algn="ctr"/>
                      <a:r>
                        <a:rPr lang="ro-RO" dirty="0" smtClean="0"/>
                        <a:t>B</a:t>
                      </a:r>
                      <a:endParaRPr lang="en-US" dirty="0"/>
                    </a:p>
                  </a:txBody>
                  <a:tcPr/>
                </a:tc>
                <a:tc>
                  <a:txBody>
                    <a:bodyPr/>
                    <a:lstStyle/>
                    <a:p>
                      <a:pPr marL="0" indent="0" algn="ctr">
                        <a:buNone/>
                      </a:pPr>
                      <a:r>
                        <a:rPr lang="ro-RO" dirty="0" smtClean="0"/>
                        <a:t>A</a:t>
                      </a:r>
                      <a:r>
                        <a:rPr lang="ro-RO" dirty="0" smtClean="0">
                          <a:latin typeface="Arial"/>
                          <a:cs typeface="Arial"/>
                        </a:rPr>
                        <a:t>→B</a:t>
                      </a:r>
                    </a:p>
                  </a:txBody>
                  <a:tcPr/>
                </a:tc>
              </a:tr>
              <a:tr h="370840">
                <a:tc>
                  <a:txBody>
                    <a:bodyPr/>
                    <a:lstStyle/>
                    <a:p>
                      <a:pPr algn="ctr"/>
                      <a:r>
                        <a:rPr lang="ro-RO" dirty="0" smtClean="0"/>
                        <a:t>1</a:t>
                      </a:r>
                      <a:endParaRPr lang="en-US" dirty="0"/>
                    </a:p>
                  </a:txBody>
                  <a:tcPr/>
                </a:tc>
                <a:tc>
                  <a:txBody>
                    <a:bodyPr/>
                    <a:lstStyle/>
                    <a:p>
                      <a:pPr algn="ctr"/>
                      <a:r>
                        <a:rPr lang="ro-RO" dirty="0" smtClean="0"/>
                        <a:t>1</a:t>
                      </a:r>
                      <a:endParaRPr lang="en-US" dirty="0"/>
                    </a:p>
                  </a:txBody>
                  <a:tcPr/>
                </a:tc>
                <a:tc>
                  <a:txBody>
                    <a:bodyPr/>
                    <a:lstStyle/>
                    <a:p>
                      <a:pPr algn="ctr"/>
                      <a:r>
                        <a:rPr lang="ro-RO" dirty="0" smtClean="0"/>
                        <a:t>1</a:t>
                      </a:r>
                      <a:endParaRPr lang="en-US" dirty="0"/>
                    </a:p>
                  </a:txBody>
                  <a:tcPr/>
                </a:tc>
              </a:tr>
              <a:tr h="370840">
                <a:tc>
                  <a:txBody>
                    <a:bodyPr/>
                    <a:lstStyle/>
                    <a:p>
                      <a:pPr algn="ctr"/>
                      <a:r>
                        <a:rPr lang="ro-RO" dirty="0" smtClean="0">
                          <a:solidFill>
                            <a:srgbClr val="FF0000"/>
                          </a:solidFill>
                        </a:rPr>
                        <a:t>1</a:t>
                      </a:r>
                      <a:endParaRPr lang="en-US" dirty="0">
                        <a:solidFill>
                          <a:srgbClr val="FF0000"/>
                        </a:solidFill>
                      </a:endParaRPr>
                    </a:p>
                  </a:txBody>
                  <a:tcPr/>
                </a:tc>
                <a:tc>
                  <a:txBody>
                    <a:bodyPr/>
                    <a:lstStyle/>
                    <a:p>
                      <a:pPr algn="ctr"/>
                      <a:r>
                        <a:rPr lang="ro-RO" dirty="0" smtClean="0">
                          <a:solidFill>
                            <a:srgbClr val="FF0000"/>
                          </a:solidFill>
                        </a:rPr>
                        <a:t>0</a:t>
                      </a:r>
                      <a:endParaRPr lang="en-US" dirty="0">
                        <a:solidFill>
                          <a:srgbClr val="FF0000"/>
                        </a:solidFill>
                      </a:endParaRPr>
                    </a:p>
                  </a:txBody>
                  <a:tcPr/>
                </a:tc>
                <a:tc>
                  <a:txBody>
                    <a:bodyPr/>
                    <a:lstStyle/>
                    <a:p>
                      <a:pPr algn="ctr"/>
                      <a:r>
                        <a:rPr lang="ro-RO" dirty="0" smtClean="0">
                          <a:solidFill>
                            <a:srgbClr val="FF0000"/>
                          </a:solidFill>
                        </a:rPr>
                        <a:t>0</a:t>
                      </a:r>
                      <a:endParaRPr lang="en-US" dirty="0">
                        <a:solidFill>
                          <a:srgbClr val="FF0000"/>
                        </a:solidFill>
                      </a:endParaRPr>
                    </a:p>
                  </a:txBody>
                  <a:tcPr/>
                </a:tc>
              </a:tr>
              <a:tr h="370840">
                <a:tc>
                  <a:txBody>
                    <a:bodyPr/>
                    <a:lstStyle/>
                    <a:p>
                      <a:pPr algn="ctr"/>
                      <a:r>
                        <a:rPr lang="ro-RO" dirty="0" smtClean="0"/>
                        <a:t>0</a:t>
                      </a:r>
                      <a:endParaRPr lang="en-US" dirty="0"/>
                    </a:p>
                  </a:txBody>
                  <a:tcPr/>
                </a:tc>
                <a:tc>
                  <a:txBody>
                    <a:bodyPr/>
                    <a:lstStyle/>
                    <a:p>
                      <a:pPr algn="ctr"/>
                      <a:r>
                        <a:rPr lang="ro-RO" dirty="0" smtClean="0"/>
                        <a:t>1</a:t>
                      </a:r>
                      <a:endParaRPr lang="en-US" dirty="0"/>
                    </a:p>
                  </a:txBody>
                  <a:tcPr/>
                </a:tc>
                <a:tc>
                  <a:txBody>
                    <a:bodyPr/>
                    <a:lstStyle/>
                    <a:p>
                      <a:pPr algn="ctr"/>
                      <a:r>
                        <a:rPr lang="ro-RO" dirty="0" smtClean="0"/>
                        <a:t>1</a:t>
                      </a:r>
                      <a:endParaRPr lang="en-US" dirty="0"/>
                    </a:p>
                  </a:txBody>
                  <a:tcPr/>
                </a:tc>
              </a:tr>
              <a:tr h="370840">
                <a:tc>
                  <a:txBody>
                    <a:bodyPr/>
                    <a:lstStyle/>
                    <a:p>
                      <a:pPr algn="ctr"/>
                      <a:r>
                        <a:rPr lang="ro-RO" dirty="0" smtClean="0"/>
                        <a:t>0</a:t>
                      </a:r>
                      <a:endParaRPr lang="en-US" dirty="0"/>
                    </a:p>
                  </a:txBody>
                  <a:tcPr/>
                </a:tc>
                <a:tc>
                  <a:txBody>
                    <a:bodyPr/>
                    <a:lstStyle/>
                    <a:p>
                      <a:pPr algn="ctr"/>
                      <a:r>
                        <a:rPr lang="ro-RO" dirty="0" smtClean="0"/>
                        <a:t>0</a:t>
                      </a:r>
                      <a:endParaRPr lang="en-US" dirty="0"/>
                    </a:p>
                  </a:txBody>
                  <a:tcPr/>
                </a:tc>
                <a:tc>
                  <a:txBody>
                    <a:bodyPr/>
                    <a:lstStyle/>
                    <a:p>
                      <a:pPr algn="ctr"/>
                      <a:r>
                        <a:rPr lang="ro-RO" dirty="0" smtClean="0"/>
                        <a:t>1</a:t>
                      </a:r>
                      <a:endParaRPr lang="en-US" dirty="0"/>
                    </a:p>
                  </a:txBody>
                  <a:tcPr/>
                </a:tc>
              </a:tr>
            </a:tbl>
          </a:graphicData>
        </a:graphic>
      </p:graphicFrame>
    </p:spTree>
    <p:extLst>
      <p:ext uri="{BB962C8B-B14F-4D97-AF65-F5344CB8AC3E}">
        <p14:creationId xmlns:p14="http://schemas.microsoft.com/office/powerpoint/2010/main" val="327555779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269981160"/>
              </p:ext>
            </p:extLst>
          </p:nvPr>
        </p:nvGraphicFramePr>
        <p:xfrm>
          <a:off x="457200" y="1828800"/>
          <a:ext cx="8229600" cy="1849120"/>
        </p:xfrm>
        <a:graphic>
          <a:graphicData uri="http://schemas.openxmlformats.org/drawingml/2006/table">
            <a:tbl>
              <a:tblPr firstRow="1" bandRow="1">
                <a:tableStyleId>{5C22544A-7EE6-4342-B048-85BDC9FD1C3A}</a:tableStyleId>
              </a:tblPr>
              <a:tblGrid>
                <a:gridCol w="2743200"/>
                <a:gridCol w="2743200"/>
                <a:gridCol w="2743200"/>
              </a:tblGrid>
              <a:tr h="142240">
                <a:tc>
                  <a:txBody>
                    <a:bodyPr/>
                    <a:lstStyle/>
                    <a:p>
                      <a:pPr algn="ctr"/>
                      <a:r>
                        <a:rPr lang="ro-RO" dirty="0" smtClean="0"/>
                        <a:t>Premisele</a:t>
                      </a:r>
                      <a:endParaRPr lang="en-US" dirty="0"/>
                    </a:p>
                  </a:txBody>
                  <a:tcPr/>
                </a:tc>
                <a:tc>
                  <a:txBody>
                    <a:bodyPr/>
                    <a:lstStyle/>
                    <a:p>
                      <a:pPr algn="ctr"/>
                      <a:r>
                        <a:rPr lang="ro-RO" dirty="0" smtClean="0"/>
                        <a:t>Concluzia</a:t>
                      </a:r>
                      <a:endParaRPr lang="en-US" dirty="0"/>
                    </a:p>
                  </a:txBody>
                  <a:tcPr/>
                </a:tc>
                <a:tc>
                  <a:txBody>
                    <a:bodyPr/>
                    <a:lstStyle/>
                    <a:p>
                      <a:pPr algn="ctr"/>
                      <a:r>
                        <a:rPr lang="ro-RO" dirty="0" smtClean="0"/>
                        <a:t>Argumentul</a:t>
                      </a:r>
                      <a:endParaRPr lang="en-US" dirty="0"/>
                    </a:p>
                  </a:txBody>
                  <a:tcPr/>
                </a:tc>
              </a:tr>
              <a:tr h="370840">
                <a:tc>
                  <a:txBody>
                    <a:bodyPr/>
                    <a:lstStyle/>
                    <a:p>
                      <a:pPr algn="ctr"/>
                      <a:r>
                        <a:rPr lang="ro-RO" dirty="0" smtClean="0"/>
                        <a:t>1</a:t>
                      </a:r>
                      <a:endParaRPr lang="en-US" dirty="0"/>
                    </a:p>
                  </a:txBody>
                  <a:tcPr/>
                </a:tc>
                <a:tc>
                  <a:txBody>
                    <a:bodyPr/>
                    <a:lstStyle/>
                    <a:p>
                      <a:pPr algn="ctr"/>
                      <a:r>
                        <a:rPr lang="ro-RO" dirty="0" smtClean="0"/>
                        <a:t>1</a:t>
                      </a:r>
                      <a:endParaRPr lang="en-US" dirty="0"/>
                    </a:p>
                  </a:txBody>
                  <a:tcPr/>
                </a:tc>
                <a:tc>
                  <a:txBody>
                    <a:bodyPr/>
                    <a:lstStyle/>
                    <a:p>
                      <a:pPr algn="ctr"/>
                      <a:r>
                        <a:rPr lang="ro-RO" dirty="0" smtClean="0">
                          <a:solidFill>
                            <a:srgbClr val="FF0000"/>
                          </a:solidFill>
                        </a:rPr>
                        <a:t>Valid</a:t>
                      </a:r>
                      <a:endParaRPr lang="en-US" dirty="0">
                        <a:solidFill>
                          <a:srgbClr val="FF0000"/>
                        </a:solidFill>
                      </a:endParaRPr>
                    </a:p>
                  </a:txBody>
                  <a:tcPr/>
                </a:tc>
              </a:tr>
              <a:tr h="370840">
                <a:tc>
                  <a:txBody>
                    <a:bodyPr/>
                    <a:lstStyle/>
                    <a:p>
                      <a:pPr algn="ctr"/>
                      <a:r>
                        <a:rPr lang="ro-RO" dirty="0" smtClean="0"/>
                        <a:t>1</a:t>
                      </a:r>
                      <a:endParaRPr lang="en-US" dirty="0"/>
                    </a:p>
                  </a:txBody>
                  <a:tcPr/>
                </a:tc>
                <a:tc>
                  <a:txBody>
                    <a:bodyPr/>
                    <a:lstStyle/>
                    <a:p>
                      <a:pPr algn="ctr"/>
                      <a:r>
                        <a:rPr lang="ro-RO" dirty="0" smtClean="0"/>
                        <a:t>0</a:t>
                      </a:r>
                      <a:endParaRPr lang="en-US" dirty="0"/>
                    </a:p>
                  </a:txBody>
                  <a:tcPr/>
                </a:tc>
                <a:tc>
                  <a:txBody>
                    <a:bodyPr/>
                    <a:lstStyle/>
                    <a:p>
                      <a:pPr algn="ctr"/>
                      <a:r>
                        <a:rPr lang="ro-RO" dirty="0" smtClean="0"/>
                        <a:t>Nevalid</a:t>
                      </a:r>
                      <a:endParaRPr lang="en-US" dirty="0"/>
                    </a:p>
                  </a:txBody>
                  <a:tcPr/>
                </a:tc>
              </a:tr>
              <a:tr h="370840">
                <a:tc>
                  <a:txBody>
                    <a:bodyPr/>
                    <a:lstStyle/>
                    <a:p>
                      <a:pPr algn="ctr"/>
                      <a:r>
                        <a:rPr lang="ro-RO" dirty="0" smtClean="0"/>
                        <a:t>Cel puțin una 0</a:t>
                      </a:r>
                      <a:endParaRPr lang="en-US" dirty="0"/>
                    </a:p>
                  </a:txBody>
                  <a:tcPr/>
                </a:tc>
                <a:tc>
                  <a:txBody>
                    <a:bodyPr/>
                    <a:lstStyle/>
                    <a:p>
                      <a:pPr algn="ctr"/>
                      <a:r>
                        <a:rPr lang="ro-RO" dirty="0" smtClean="0"/>
                        <a:t>?</a:t>
                      </a:r>
                      <a:endParaRPr lang="en-US" dirty="0"/>
                    </a:p>
                  </a:txBody>
                  <a:tcPr/>
                </a:tc>
                <a:tc>
                  <a:txBody>
                    <a:bodyPr/>
                    <a:lstStyle/>
                    <a:p>
                      <a:pPr algn="ctr"/>
                      <a:r>
                        <a:rPr lang="ro-RO" dirty="0" smtClean="0"/>
                        <a:t>Valid</a:t>
                      </a:r>
                      <a:endParaRPr lang="en-US" dirty="0"/>
                    </a:p>
                  </a:txBody>
                  <a:tcPr/>
                </a:tc>
              </a:tr>
              <a:tr h="370840">
                <a:tc>
                  <a:txBody>
                    <a:bodyPr/>
                    <a:lstStyle/>
                    <a:p>
                      <a:pPr algn="ctr"/>
                      <a:r>
                        <a:rPr lang="ro-RO" dirty="0" smtClean="0"/>
                        <a:t>Cel puțin una 0</a:t>
                      </a:r>
                      <a:endParaRPr lang="en-US" dirty="0"/>
                    </a:p>
                  </a:txBody>
                  <a:tcPr/>
                </a:tc>
                <a:tc>
                  <a:txBody>
                    <a:bodyPr/>
                    <a:lstStyle/>
                    <a:p>
                      <a:pPr algn="ctr"/>
                      <a:r>
                        <a:rPr lang="ro-RO" dirty="0" smtClean="0"/>
                        <a:t>?</a:t>
                      </a:r>
                      <a:endParaRPr lang="en-US" dirty="0"/>
                    </a:p>
                  </a:txBody>
                  <a:tcPr/>
                </a:tc>
                <a:tc>
                  <a:txBody>
                    <a:bodyPr/>
                    <a:lstStyle/>
                    <a:p>
                      <a:pPr algn="ctr"/>
                      <a:r>
                        <a:rPr lang="ro-RO" dirty="0" smtClean="0"/>
                        <a:t>Nevalid</a:t>
                      </a:r>
                      <a:endParaRPr lang="en-US" dirty="0"/>
                    </a:p>
                  </a:txBody>
                  <a:tcPr/>
                </a:tc>
              </a:tr>
            </a:tbl>
          </a:graphicData>
        </a:graphic>
      </p:graphicFrame>
    </p:spTree>
    <p:extLst>
      <p:ext uri="{BB962C8B-B14F-4D97-AF65-F5344CB8AC3E}">
        <p14:creationId xmlns:p14="http://schemas.microsoft.com/office/powerpoint/2010/main" val="24512222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457200"/>
            <a:ext cx="8685213" cy="640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0731790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Simbolizarea argumentelor</a:t>
            </a:r>
            <a:endParaRPr lang="en-US" dirty="0"/>
          </a:p>
        </p:txBody>
      </p:sp>
      <p:sp>
        <p:nvSpPr>
          <p:cNvPr id="3" name="Content Placeholder 2"/>
          <p:cNvSpPr>
            <a:spLocks noGrp="1"/>
          </p:cNvSpPr>
          <p:nvPr>
            <p:ph idx="1"/>
          </p:nvPr>
        </p:nvSpPr>
        <p:spPr/>
        <p:txBody>
          <a:bodyPr>
            <a:normAutofit/>
          </a:bodyPr>
          <a:lstStyle/>
          <a:p>
            <a:r>
              <a:rPr lang="ro-RO" dirty="0" smtClean="0">
                <a:solidFill>
                  <a:srgbClr val="FF0000"/>
                </a:solidFill>
              </a:rPr>
              <a:t>Pasul 1</a:t>
            </a:r>
            <a:r>
              <a:rPr lang="ro-RO" dirty="0" smtClean="0"/>
              <a:t>: Identificarea concluziei</a:t>
            </a:r>
          </a:p>
          <a:p>
            <a:pPr>
              <a:buFont typeface="Wingdings" pitchFamily="2" charset="2"/>
              <a:buChar char="ü"/>
            </a:pPr>
            <a:r>
              <a:rPr lang="ro-RO" b="1" u="sng" dirty="0" smtClean="0">
                <a:effectLst>
                  <a:outerShdw blurRad="38100" dist="38100" dir="2700000" algn="tl">
                    <a:srgbClr val="000000">
                      <a:alpha val="43137"/>
                    </a:srgbClr>
                  </a:outerShdw>
                </a:effectLst>
              </a:rPr>
              <a:t>Indicatori ai concluziei</a:t>
            </a:r>
            <a:r>
              <a:rPr lang="ro-RO" dirty="0" smtClean="0"/>
              <a:t>: deci, așadar, decurge că, prin urmare, în concluzie, trebuie să conchidem că, etc.</a:t>
            </a:r>
          </a:p>
          <a:p>
            <a:pPr>
              <a:buFont typeface="Wingdings" pitchFamily="2" charset="2"/>
              <a:buChar char="ü"/>
            </a:pPr>
            <a:r>
              <a:rPr lang="ro-RO" b="1" u="sng" dirty="0" smtClean="0">
                <a:effectLst>
                  <a:outerShdw blurRad="38100" dist="38100" dir="2700000" algn="tl">
                    <a:srgbClr val="000000">
                      <a:alpha val="43137"/>
                    </a:srgbClr>
                  </a:outerShdw>
                </a:effectLst>
              </a:rPr>
              <a:t>Indicatori ai premiselor</a:t>
            </a:r>
            <a:r>
              <a:rPr lang="ro-RO" dirty="0" smtClean="0"/>
              <a:t>: pentru că, deoarece, dacă, avânt în vedere, etc.</a:t>
            </a:r>
          </a:p>
          <a:p>
            <a:r>
              <a:rPr lang="ro-RO" dirty="0" smtClean="0">
                <a:solidFill>
                  <a:srgbClr val="FF0000"/>
                </a:solidFill>
              </a:rPr>
              <a:t>Pasul 2</a:t>
            </a:r>
            <a:r>
              <a:rPr lang="ro-RO" dirty="0" smtClean="0"/>
              <a:t>: Identificarea propozițiilor atomice din argument și construirea unui dicționar.</a:t>
            </a:r>
          </a:p>
          <a:p>
            <a:pPr marL="0" indent="0">
              <a:buNone/>
            </a:pPr>
            <a:r>
              <a:rPr lang="ro-RO" dirty="0" smtClean="0">
                <a:solidFill>
                  <a:srgbClr val="00B0F0"/>
                </a:solidFill>
              </a:rPr>
              <a:t>!</a:t>
            </a:r>
            <a:r>
              <a:rPr lang="ro-RO" dirty="0" smtClean="0"/>
              <a:t> </a:t>
            </a:r>
            <a:r>
              <a:rPr lang="ro-RO" b="1" i="1" dirty="0" smtClean="0"/>
              <a:t>Atenție la evitarea repetițiilor!</a:t>
            </a:r>
          </a:p>
          <a:p>
            <a:r>
              <a:rPr lang="ro-RO" dirty="0" smtClean="0">
                <a:solidFill>
                  <a:srgbClr val="FF0000"/>
                </a:solidFill>
              </a:rPr>
              <a:t>Pasul 3</a:t>
            </a:r>
            <a:r>
              <a:rPr lang="ro-RO" dirty="0" smtClean="0"/>
              <a:t>: Identificarea operatorilor logici.</a:t>
            </a:r>
          </a:p>
          <a:p>
            <a:r>
              <a:rPr lang="ro-RO" dirty="0" smtClean="0">
                <a:solidFill>
                  <a:srgbClr val="FF0000"/>
                </a:solidFill>
              </a:rPr>
              <a:t>Pasul 4</a:t>
            </a:r>
            <a:r>
              <a:rPr lang="ro-RO" dirty="0" smtClean="0"/>
              <a:t>: Simbolizarea premiselor și concluziei.</a:t>
            </a:r>
          </a:p>
          <a:p>
            <a:r>
              <a:rPr lang="ro-RO" dirty="0" smtClean="0">
                <a:solidFill>
                  <a:srgbClr val="FF0000"/>
                </a:solidFill>
              </a:rPr>
              <a:t>Pasul 5</a:t>
            </a:r>
            <a:r>
              <a:rPr lang="ro-RO" dirty="0" smtClean="0"/>
              <a:t>: Simbolizarea întregului argument</a:t>
            </a:r>
          </a:p>
        </p:txBody>
      </p:sp>
    </p:spTree>
    <p:extLst>
      <p:ext uri="{BB962C8B-B14F-4D97-AF65-F5344CB8AC3E}">
        <p14:creationId xmlns:p14="http://schemas.microsoft.com/office/powerpoint/2010/main" val="409257046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Simbolizarea argumentelor</a:t>
            </a:r>
            <a:r>
              <a:rPr lang="en-US" dirty="0" smtClean="0"/>
              <a:t> (1)</a:t>
            </a:r>
            <a:endParaRPr lang="en-US" dirty="0"/>
          </a:p>
        </p:txBody>
      </p:sp>
      <p:sp>
        <p:nvSpPr>
          <p:cNvPr id="3" name="Content Placeholder 2"/>
          <p:cNvSpPr>
            <a:spLocks noGrp="1"/>
          </p:cNvSpPr>
          <p:nvPr>
            <p:ph idx="1"/>
          </p:nvPr>
        </p:nvSpPr>
        <p:spPr/>
        <p:txBody>
          <a:bodyPr>
            <a:normAutofit fontScale="92500" lnSpcReduction="20000"/>
          </a:bodyPr>
          <a:lstStyle/>
          <a:p>
            <a:pPr marL="0" indent="0" algn="just">
              <a:buNone/>
            </a:pPr>
            <a:r>
              <a:rPr lang="ro-RO" dirty="0">
                <a:solidFill>
                  <a:srgbClr val="FF0000"/>
                </a:solidFill>
              </a:rPr>
              <a:t>Dacă</a:t>
            </a:r>
            <a:r>
              <a:rPr lang="ro-RO" dirty="0"/>
              <a:t> Smith îl mituiește pe profesor, </a:t>
            </a:r>
            <a:r>
              <a:rPr lang="ro-RO" dirty="0">
                <a:solidFill>
                  <a:srgbClr val="FF0000"/>
                </a:solidFill>
              </a:rPr>
              <a:t>atunc</a:t>
            </a:r>
            <a:r>
              <a:rPr lang="ro-RO" dirty="0"/>
              <a:t>i va lua o notă de 10. </a:t>
            </a:r>
            <a:r>
              <a:rPr lang="ro-RO" b="1" dirty="0"/>
              <a:t>Și</a:t>
            </a:r>
            <a:r>
              <a:rPr lang="ro-RO" dirty="0"/>
              <a:t> </a:t>
            </a:r>
            <a:r>
              <a:rPr lang="ro-RO" dirty="0">
                <a:solidFill>
                  <a:srgbClr val="FF0000"/>
                </a:solidFill>
              </a:rPr>
              <a:t>dacă</a:t>
            </a:r>
            <a:r>
              <a:rPr lang="ro-RO" dirty="0"/>
              <a:t> ia un 10, cei care ar putea să-i ofere un loc de muncă vor fi impresionați </a:t>
            </a:r>
            <a:r>
              <a:rPr lang="ro-RO" b="1" dirty="0"/>
              <a:t>și</a:t>
            </a:r>
            <a:r>
              <a:rPr lang="ro-RO" dirty="0"/>
              <a:t>-i vor face oferte. </a:t>
            </a:r>
            <a:r>
              <a:rPr lang="ro-RO" b="1" dirty="0"/>
              <a:t>Dar</a:t>
            </a:r>
            <a:r>
              <a:rPr lang="ro-RO" dirty="0"/>
              <a:t> lui Smith </a:t>
            </a:r>
            <a:r>
              <a:rPr lang="ro-RO" b="1" u="sng" dirty="0"/>
              <a:t>nu</a:t>
            </a:r>
            <a:r>
              <a:rPr lang="ro-RO" dirty="0"/>
              <a:t> i se va face nicio ofertă. </a:t>
            </a:r>
            <a:r>
              <a:rPr lang="ro-RO" dirty="0">
                <a:solidFill>
                  <a:srgbClr val="00B050"/>
                </a:solidFill>
              </a:rPr>
              <a:t>Așadar</a:t>
            </a:r>
            <a:r>
              <a:rPr lang="ro-RO" dirty="0"/>
              <a:t>, </a:t>
            </a:r>
            <a:r>
              <a:rPr lang="ro-RO" u="sng" dirty="0"/>
              <a:t>Smith </a:t>
            </a:r>
            <a:r>
              <a:rPr lang="ro-RO" b="1" u="sng" dirty="0"/>
              <a:t>nu</a:t>
            </a:r>
            <a:r>
              <a:rPr lang="ro-RO" u="sng" dirty="0"/>
              <a:t>-l va mitui pe profesor</a:t>
            </a:r>
            <a:r>
              <a:rPr lang="ro-RO" u="sng" dirty="0" smtClean="0"/>
              <a:t>.</a:t>
            </a:r>
            <a:r>
              <a:rPr lang="en-US" u="sng" dirty="0" smtClean="0"/>
              <a:t>  </a:t>
            </a:r>
            <a:endParaRPr lang="en-US" u="sng" dirty="0"/>
          </a:p>
          <a:p>
            <a:pPr marL="0" indent="0" algn="just">
              <a:buNone/>
            </a:pPr>
            <a:r>
              <a:rPr lang="en-US" dirty="0" smtClean="0"/>
              <a:t>A= S </a:t>
            </a:r>
            <a:r>
              <a:rPr lang="en-US" dirty="0" err="1" smtClean="0"/>
              <a:t>il</a:t>
            </a:r>
            <a:r>
              <a:rPr lang="en-US" dirty="0" smtClean="0"/>
              <a:t> </a:t>
            </a:r>
            <a:r>
              <a:rPr lang="en-US" dirty="0" err="1" smtClean="0"/>
              <a:t>mituieste</a:t>
            </a:r>
            <a:r>
              <a:rPr lang="en-US" dirty="0" smtClean="0"/>
              <a:t> </a:t>
            </a:r>
            <a:r>
              <a:rPr lang="en-US" dirty="0" err="1" smtClean="0"/>
              <a:t>pe</a:t>
            </a:r>
            <a:r>
              <a:rPr lang="en-US" dirty="0" smtClean="0"/>
              <a:t> </a:t>
            </a:r>
            <a:r>
              <a:rPr lang="en-US" dirty="0" err="1" smtClean="0"/>
              <a:t>profesor</a:t>
            </a:r>
            <a:endParaRPr lang="en-US" dirty="0" smtClean="0"/>
          </a:p>
          <a:p>
            <a:pPr marL="0" indent="0" algn="just">
              <a:buNone/>
            </a:pPr>
            <a:r>
              <a:rPr lang="en-US" dirty="0" smtClean="0"/>
              <a:t>B= S </a:t>
            </a:r>
            <a:r>
              <a:rPr lang="en-US" dirty="0" err="1" smtClean="0"/>
              <a:t>va</a:t>
            </a:r>
            <a:r>
              <a:rPr lang="en-US" dirty="0" smtClean="0"/>
              <a:t> </a:t>
            </a:r>
            <a:r>
              <a:rPr lang="en-US" dirty="0" err="1" smtClean="0"/>
              <a:t>lua</a:t>
            </a:r>
            <a:r>
              <a:rPr lang="en-US" dirty="0" smtClean="0"/>
              <a:t> 10</a:t>
            </a:r>
          </a:p>
          <a:p>
            <a:pPr marL="0" indent="0" algn="just">
              <a:buNone/>
            </a:pPr>
            <a:r>
              <a:rPr lang="en-US" dirty="0" smtClean="0"/>
              <a:t>C= </a:t>
            </a:r>
            <a:r>
              <a:rPr lang="en-US" dirty="0" err="1" smtClean="0"/>
              <a:t>Angajatorii</a:t>
            </a:r>
            <a:r>
              <a:rPr lang="en-US" dirty="0" smtClean="0"/>
              <a:t> </a:t>
            </a:r>
            <a:r>
              <a:rPr lang="en-US" dirty="0" err="1" smtClean="0"/>
              <a:t>vor</a:t>
            </a:r>
            <a:r>
              <a:rPr lang="en-US" dirty="0" smtClean="0"/>
              <a:t> fi </a:t>
            </a:r>
            <a:r>
              <a:rPr lang="en-US" dirty="0" err="1" smtClean="0"/>
              <a:t>impresionati</a:t>
            </a:r>
            <a:endParaRPr lang="en-US" dirty="0" smtClean="0"/>
          </a:p>
          <a:p>
            <a:pPr marL="0" indent="0" algn="just">
              <a:buNone/>
            </a:pPr>
            <a:r>
              <a:rPr lang="en-US" dirty="0" smtClean="0"/>
              <a:t>D= </a:t>
            </a:r>
            <a:r>
              <a:rPr lang="en-US" dirty="0" err="1" smtClean="0"/>
              <a:t>Angajatorii</a:t>
            </a:r>
            <a:r>
              <a:rPr lang="en-US" dirty="0" smtClean="0"/>
              <a:t> ii </a:t>
            </a:r>
            <a:r>
              <a:rPr lang="en-US" dirty="0" err="1" smtClean="0"/>
              <a:t>vor</a:t>
            </a:r>
            <a:r>
              <a:rPr lang="en-US" dirty="0" smtClean="0"/>
              <a:t> face </a:t>
            </a:r>
            <a:r>
              <a:rPr lang="en-US" dirty="0" err="1" smtClean="0"/>
              <a:t>oferte</a:t>
            </a:r>
            <a:endParaRPr lang="en-US" dirty="0" smtClean="0"/>
          </a:p>
          <a:p>
            <a:pPr marL="0" indent="0" algn="just">
              <a:buNone/>
            </a:pPr>
            <a:r>
              <a:rPr lang="en-US" dirty="0" smtClean="0"/>
              <a:t>A-&gt;B</a:t>
            </a:r>
          </a:p>
          <a:p>
            <a:pPr marL="0" indent="0" algn="just">
              <a:buNone/>
            </a:pPr>
            <a:r>
              <a:rPr lang="en-US" dirty="0" smtClean="0"/>
              <a:t>B-&gt;(C&amp;D)</a:t>
            </a:r>
          </a:p>
          <a:p>
            <a:pPr marL="0" indent="0" algn="just">
              <a:buNone/>
            </a:pPr>
            <a:r>
              <a:rPr lang="en-US" dirty="0" smtClean="0"/>
              <a:t>~D</a:t>
            </a:r>
          </a:p>
          <a:p>
            <a:pPr marL="0" indent="0" algn="just">
              <a:buNone/>
            </a:pPr>
            <a:r>
              <a:rPr lang="en-US" dirty="0" smtClean="0"/>
              <a:t>____</a:t>
            </a:r>
          </a:p>
          <a:p>
            <a:pPr marL="0" indent="0" algn="just">
              <a:buNone/>
            </a:pPr>
            <a:r>
              <a:rPr lang="en-US" dirty="0" smtClean="0"/>
              <a:t>~A </a:t>
            </a:r>
          </a:p>
          <a:p>
            <a:pPr marL="0" indent="0" algn="just">
              <a:buNone/>
            </a:pPr>
            <a:r>
              <a:rPr lang="en-US" dirty="0" smtClean="0"/>
              <a:t>((A-&gt;B)&amp;((B-&gt;(C&amp;D))&amp;~D)-&gt;~A</a:t>
            </a:r>
            <a:endParaRPr lang="en-US" dirty="0" smtClean="0"/>
          </a:p>
        </p:txBody>
      </p:sp>
    </p:spTree>
    <p:extLst>
      <p:ext uri="{BB962C8B-B14F-4D97-AF65-F5344CB8AC3E}">
        <p14:creationId xmlns:p14="http://schemas.microsoft.com/office/powerpoint/2010/main" val="344323589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lgn="just">
              <a:buNone/>
            </a:pPr>
            <a:r>
              <a:rPr lang="en-US" dirty="0"/>
              <a:t>A-&gt;B</a:t>
            </a:r>
          </a:p>
          <a:p>
            <a:pPr marL="0" indent="0" algn="just">
              <a:buNone/>
            </a:pPr>
            <a:r>
              <a:rPr lang="en-US" dirty="0"/>
              <a:t>B-&gt;(C&amp;D)</a:t>
            </a:r>
          </a:p>
          <a:p>
            <a:pPr marL="0" indent="0" algn="just">
              <a:buNone/>
            </a:pPr>
            <a:r>
              <a:rPr lang="en-US" dirty="0"/>
              <a:t>~D</a:t>
            </a:r>
          </a:p>
          <a:p>
            <a:pPr marL="0" indent="0" algn="just">
              <a:buNone/>
            </a:pPr>
            <a:r>
              <a:rPr lang="en-US" dirty="0"/>
              <a:t>____</a:t>
            </a:r>
          </a:p>
          <a:p>
            <a:pPr marL="0" indent="0" algn="just">
              <a:buNone/>
            </a:pPr>
            <a:r>
              <a:rPr lang="en-US" dirty="0"/>
              <a:t>~A </a:t>
            </a:r>
          </a:p>
          <a:p>
            <a:pPr marL="0" indent="0">
              <a:buNone/>
            </a:pPr>
            <a:endParaRPr lang="en-US" dirty="0"/>
          </a:p>
        </p:txBody>
      </p:sp>
    </p:spTree>
    <p:extLst>
      <p:ext uri="{BB962C8B-B14F-4D97-AF65-F5344CB8AC3E}">
        <p14:creationId xmlns:p14="http://schemas.microsoft.com/office/powerpoint/2010/main" val="4358099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a:t>
            </a:r>
            <a:r>
              <a:rPr lang="en-US" dirty="0" smtClean="0"/>
              <a:t>1</a:t>
            </a:r>
            <a:r>
              <a:rPr lang="ro-RO" dirty="0" smtClean="0"/>
              <a:t>)</a:t>
            </a:r>
            <a:endParaRPr lang="en-US" dirty="0"/>
          </a:p>
        </p:txBody>
      </p:sp>
      <p:sp>
        <p:nvSpPr>
          <p:cNvPr id="3" name="Content Placeholder 2"/>
          <p:cNvSpPr>
            <a:spLocks noGrp="1"/>
          </p:cNvSpPr>
          <p:nvPr>
            <p:ph idx="1"/>
          </p:nvPr>
        </p:nvSpPr>
        <p:spPr/>
        <p:txBody>
          <a:bodyPr>
            <a:normAutofit/>
          </a:bodyPr>
          <a:lstStyle/>
          <a:p>
            <a:pPr marL="0" indent="0" algn="just">
              <a:buNone/>
            </a:pPr>
            <a:r>
              <a:rPr lang="ro-RO" dirty="0" smtClean="0"/>
              <a:t>A: Smith îl mituiește pe profesor.</a:t>
            </a:r>
          </a:p>
          <a:p>
            <a:pPr marL="0" indent="0" algn="just">
              <a:buNone/>
            </a:pPr>
            <a:r>
              <a:rPr lang="ro-RO" dirty="0" smtClean="0"/>
              <a:t>B: Smith primește nota 10.</a:t>
            </a:r>
          </a:p>
          <a:p>
            <a:pPr marL="0" indent="0" algn="just">
              <a:buNone/>
            </a:pPr>
            <a:r>
              <a:rPr lang="ro-RO" dirty="0" smtClean="0"/>
              <a:t>C: Ofertanții potențiali de locuri de muncă vor fi impresionați.</a:t>
            </a:r>
          </a:p>
          <a:p>
            <a:pPr marL="0" indent="0" algn="just">
              <a:buNone/>
            </a:pPr>
            <a:r>
              <a:rPr lang="ro-RO" dirty="0" smtClean="0"/>
              <a:t>D: Ofertanții potențiali de locuri de muncă îi vor face ofertă lui Smith</a:t>
            </a:r>
            <a:endParaRPr lang="en-US" dirty="0" smtClean="0"/>
          </a:p>
          <a:p>
            <a:pPr marL="0" indent="0">
              <a:buNone/>
            </a:pPr>
            <a:endParaRPr lang="ro-RO" dirty="0" smtClean="0"/>
          </a:p>
          <a:p>
            <a:pPr marL="0" indent="0">
              <a:buNone/>
            </a:pPr>
            <a:r>
              <a:rPr lang="ro-RO" dirty="0"/>
              <a:t>A</a:t>
            </a:r>
            <a:r>
              <a:rPr lang="ro-RO" dirty="0" smtClean="0"/>
              <a:t>→B</a:t>
            </a:r>
          </a:p>
          <a:p>
            <a:pPr marL="0" indent="0">
              <a:buNone/>
            </a:pPr>
            <a:r>
              <a:rPr lang="ro-RO" dirty="0" smtClean="0"/>
              <a:t>B→(C&amp;D)</a:t>
            </a:r>
          </a:p>
          <a:p>
            <a:pPr marL="0" indent="0">
              <a:buNone/>
            </a:pPr>
            <a:r>
              <a:rPr lang="en-US" dirty="0" smtClean="0"/>
              <a:t>~</a:t>
            </a:r>
            <a:r>
              <a:rPr lang="ro-RO" dirty="0" smtClean="0"/>
              <a:t>D</a:t>
            </a:r>
          </a:p>
          <a:p>
            <a:pPr marL="0" indent="0">
              <a:buNone/>
            </a:pPr>
            <a:r>
              <a:rPr lang="ro-RO" dirty="0" smtClean="0">
                <a:latin typeface="Cambria Math"/>
                <a:ea typeface="Cambria Math"/>
              </a:rPr>
              <a:t>∴</a:t>
            </a:r>
            <a:r>
              <a:rPr lang="en-US" dirty="0" smtClean="0">
                <a:latin typeface="Cambria Math"/>
                <a:ea typeface="Cambria Math"/>
              </a:rPr>
              <a:t>~A</a:t>
            </a:r>
            <a:endParaRPr lang="en-US" dirty="0"/>
          </a:p>
        </p:txBody>
      </p:sp>
    </p:spTree>
    <p:extLst>
      <p:ext uri="{BB962C8B-B14F-4D97-AF65-F5344CB8AC3E}">
        <p14:creationId xmlns:p14="http://schemas.microsoft.com/office/powerpoint/2010/main" val="124278398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Simbolizarea argumentelor (</a:t>
            </a:r>
            <a:r>
              <a:rPr lang="en-US" dirty="0" smtClean="0"/>
              <a:t>2</a:t>
            </a:r>
            <a:r>
              <a:rPr lang="ro-RO" dirty="0" smtClean="0"/>
              <a:t>)</a:t>
            </a:r>
            <a:endParaRPr lang="en-US" dirty="0"/>
          </a:p>
        </p:txBody>
      </p:sp>
      <p:sp>
        <p:nvSpPr>
          <p:cNvPr id="3" name="Content Placeholder 2"/>
          <p:cNvSpPr>
            <a:spLocks noGrp="1"/>
          </p:cNvSpPr>
          <p:nvPr>
            <p:ph idx="1"/>
          </p:nvPr>
        </p:nvSpPr>
        <p:spPr/>
        <p:txBody>
          <a:bodyPr/>
          <a:lstStyle/>
          <a:p>
            <a:pPr marL="0" indent="0" algn="just">
              <a:buNone/>
            </a:pPr>
            <a:r>
              <a:rPr lang="ro-RO" dirty="0"/>
              <a:t>Dacă logica este dificilă, atunci se vor înscrie puțini studenți la cursul de logică, exceptând situația în care astfel de cursuri sunt obligatorii. Dacă logica nu este dificilă, atunci cursurile de logică nu vor fi obligatorii. Așadar, dacă un student poate să aleagă dacă se înscrie sau nu la un curs de logică, atunci sau logica nu este dificilă, sau puțini studenți se înscriu la cursurile de logică.</a:t>
            </a:r>
            <a:endParaRPr lang="en-US" dirty="0"/>
          </a:p>
        </p:txBody>
      </p:sp>
    </p:spTree>
    <p:extLst>
      <p:ext uri="{BB962C8B-B14F-4D97-AF65-F5344CB8AC3E}">
        <p14:creationId xmlns:p14="http://schemas.microsoft.com/office/powerpoint/2010/main" val="376917219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a:t>
            </a:r>
            <a:endParaRPr lang="en-US" dirty="0"/>
          </a:p>
        </p:txBody>
      </p:sp>
      <p:sp>
        <p:nvSpPr>
          <p:cNvPr id="3" name="Content Placeholder 2"/>
          <p:cNvSpPr>
            <a:spLocks noGrp="1"/>
          </p:cNvSpPr>
          <p:nvPr>
            <p:ph idx="1"/>
          </p:nvPr>
        </p:nvSpPr>
        <p:spPr/>
        <p:txBody>
          <a:bodyPr/>
          <a:lstStyle/>
          <a:p>
            <a:pPr marL="0" indent="0">
              <a:buNone/>
            </a:pPr>
            <a:r>
              <a:rPr lang="en-US" dirty="0" smtClean="0"/>
              <a:t>A: </a:t>
            </a:r>
            <a:r>
              <a:rPr lang="ro-RO" dirty="0" smtClean="0"/>
              <a:t>Logica este dificilă.</a:t>
            </a:r>
          </a:p>
          <a:p>
            <a:pPr marL="0" indent="0">
              <a:buNone/>
            </a:pPr>
            <a:r>
              <a:rPr lang="ro-RO" dirty="0" smtClean="0"/>
              <a:t>B: Puțini studenți se înscriu la cursurile de logică.</a:t>
            </a:r>
          </a:p>
          <a:p>
            <a:pPr marL="0" indent="0">
              <a:buNone/>
            </a:pPr>
            <a:r>
              <a:rPr lang="ro-RO" dirty="0" smtClean="0"/>
              <a:t>C: Cursurile de logică sunt obligatorii.</a:t>
            </a:r>
          </a:p>
          <a:p>
            <a:pPr marL="0" indent="0">
              <a:buNone/>
            </a:pPr>
            <a:endParaRPr lang="ro-RO" dirty="0"/>
          </a:p>
          <a:p>
            <a:pPr marL="0" indent="0">
              <a:buNone/>
            </a:pPr>
            <a:r>
              <a:rPr lang="ro-RO" dirty="0" smtClean="0"/>
              <a:t>A→(</a:t>
            </a:r>
            <a:r>
              <a:rPr lang="en-US" dirty="0" smtClean="0"/>
              <a:t>~</a:t>
            </a:r>
            <a:r>
              <a:rPr lang="ro-RO" dirty="0" smtClean="0"/>
              <a:t>C→B)</a:t>
            </a:r>
          </a:p>
          <a:p>
            <a:pPr marL="0" indent="0">
              <a:buNone/>
            </a:pPr>
            <a:r>
              <a:rPr lang="en-US" dirty="0" smtClean="0"/>
              <a:t>~</a:t>
            </a:r>
            <a:r>
              <a:rPr lang="ro-RO" dirty="0" smtClean="0"/>
              <a:t>A→</a:t>
            </a:r>
            <a:r>
              <a:rPr lang="en-US" dirty="0" smtClean="0"/>
              <a:t>~</a:t>
            </a:r>
            <a:r>
              <a:rPr lang="ro-RO" dirty="0" smtClean="0"/>
              <a:t>C</a:t>
            </a:r>
            <a:endParaRPr lang="en-US" dirty="0" smtClean="0"/>
          </a:p>
          <a:p>
            <a:pPr marL="0" indent="0">
              <a:buNone/>
            </a:pPr>
            <a:r>
              <a:rPr lang="en-US" dirty="0" smtClean="0"/>
              <a:t>~</a:t>
            </a:r>
            <a:r>
              <a:rPr lang="ro-RO" dirty="0" smtClean="0"/>
              <a:t>C→(</a:t>
            </a:r>
            <a:r>
              <a:rPr lang="en-US" dirty="0" smtClean="0"/>
              <a:t>~</a:t>
            </a:r>
            <a:r>
              <a:rPr lang="ro-RO" dirty="0" smtClean="0"/>
              <a:t>AvB)</a:t>
            </a:r>
            <a:endParaRPr lang="en-US" dirty="0"/>
          </a:p>
        </p:txBody>
      </p:sp>
    </p:spTree>
    <p:extLst>
      <p:ext uri="{BB962C8B-B14F-4D97-AF65-F5344CB8AC3E}">
        <p14:creationId xmlns:p14="http://schemas.microsoft.com/office/powerpoint/2010/main" val="170715504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Simbolizarea argumentelor</a:t>
            </a:r>
            <a:r>
              <a:rPr lang="en-US" dirty="0" smtClean="0"/>
              <a:t> (3)</a:t>
            </a:r>
            <a:endParaRPr lang="en-US" dirty="0"/>
          </a:p>
        </p:txBody>
      </p:sp>
      <p:sp>
        <p:nvSpPr>
          <p:cNvPr id="3" name="Content Placeholder 2"/>
          <p:cNvSpPr>
            <a:spLocks noGrp="1"/>
          </p:cNvSpPr>
          <p:nvPr>
            <p:ph idx="1"/>
          </p:nvPr>
        </p:nvSpPr>
        <p:spPr/>
        <p:txBody>
          <a:bodyPr/>
          <a:lstStyle/>
          <a:p>
            <a:pPr marL="0" indent="0" algn="just">
              <a:buNone/>
            </a:pPr>
            <a:r>
              <a:rPr lang="ro-RO" dirty="0"/>
              <a:t>Dacă Dumnezeu există, nu va exista rău în lume, în afară de cazul în care Dumnezeu este nedrept, sau nu este </a:t>
            </a:r>
            <a:r>
              <a:rPr lang="ro-RO" dirty="0" smtClean="0"/>
              <a:t>omnipotent</a:t>
            </a:r>
            <a:r>
              <a:rPr lang="ro-RO" dirty="0"/>
              <a:t>, sau nu este omniscient. Dar dacă Dumnezeu există, atunci El nu este nici una dintre acestea și există rău în lume. Așadar, trebuie să conchidem că Dumnezeu nu există.</a:t>
            </a:r>
            <a:endParaRPr lang="en-US" dirty="0"/>
          </a:p>
          <a:p>
            <a:pPr marL="0" indent="0">
              <a:buNone/>
            </a:pPr>
            <a:endParaRPr lang="en-US" dirty="0"/>
          </a:p>
        </p:txBody>
      </p:sp>
    </p:spTree>
    <p:extLst>
      <p:ext uri="{BB962C8B-B14F-4D97-AF65-F5344CB8AC3E}">
        <p14:creationId xmlns:p14="http://schemas.microsoft.com/office/powerpoint/2010/main" val="336848453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(3)</a:t>
            </a: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ro-RO" dirty="0" smtClean="0"/>
              <a:t>A: Dumnezeu există.</a:t>
            </a:r>
          </a:p>
          <a:p>
            <a:pPr marL="0" indent="0">
              <a:buNone/>
            </a:pPr>
            <a:r>
              <a:rPr lang="ro-RO" dirty="0" smtClean="0"/>
              <a:t>B: Există rău în lume.</a:t>
            </a:r>
          </a:p>
          <a:p>
            <a:pPr marL="0" indent="0">
              <a:buNone/>
            </a:pPr>
            <a:r>
              <a:rPr lang="ro-RO" dirty="0" smtClean="0"/>
              <a:t>C: Dumnezeu este drept.</a:t>
            </a:r>
          </a:p>
          <a:p>
            <a:pPr marL="0" indent="0">
              <a:buNone/>
            </a:pPr>
            <a:r>
              <a:rPr lang="ro-RO" dirty="0" smtClean="0"/>
              <a:t>D: Dumnezeu este omnipotent.</a:t>
            </a:r>
          </a:p>
          <a:p>
            <a:pPr marL="0" indent="0">
              <a:buNone/>
            </a:pPr>
            <a:r>
              <a:rPr lang="ro-RO" dirty="0" smtClean="0"/>
              <a:t>E: Dumnezeu este omniscient.</a:t>
            </a:r>
          </a:p>
          <a:p>
            <a:pPr marL="0" indent="0">
              <a:buNone/>
            </a:pPr>
            <a:endParaRPr lang="ro-RO" dirty="0"/>
          </a:p>
          <a:p>
            <a:pPr marL="0" indent="0">
              <a:buNone/>
            </a:pPr>
            <a:r>
              <a:rPr lang="ro-RO" dirty="0" smtClean="0"/>
              <a:t>A→</a:t>
            </a:r>
            <a:r>
              <a:rPr lang="en-US" dirty="0" smtClean="0"/>
              <a:t>{~[~Cv(~Dv~E)]→~B}</a:t>
            </a:r>
          </a:p>
          <a:p>
            <a:pPr marL="0" indent="0">
              <a:buNone/>
            </a:pPr>
            <a:r>
              <a:rPr lang="en-US" dirty="0"/>
              <a:t>{A</a:t>
            </a:r>
            <a:r>
              <a:rPr lang="en-US" dirty="0" smtClean="0"/>
              <a:t>→[(C&amp;D)&amp;E]}&amp;B</a:t>
            </a:r>
          </a:p>
          <a:p>
            <a:pPr marL="0" indent="0">
              <a:buNone/>
            </a:pPr>
            <a:r>
              <a:rPr lang="en-US" dirty="0" smtClean="0">
                <a:latin typeface="Cambria Math"/>
                <a:ea typeface="Cambria Math"/>
              </a:rPr>
              <a:t>∴~A</a:t>
            </a:r>
          </a:p>
          <a:p>
            <a:pPr marL="0" indent="0">
              <a:buNone/>
            </a:pPr>
            <a:endParaRPr lang="en-US" dirty="0" smtClean="0">
              <a:latin typeface="Cambria Math"/>
              <a:ea typeface="Cambria Math"/>
            </a:endParaRPr>
          </a:p>
          <a:p>
            <a:pPr marL="0" indent="0">
              <a:buNone/>
            </a:pPr>
            <a:r>
              <a:rPr lang="ro-RO" dirty="0"/>
              <a:t>A</a:t>
            </a:r>
            <a:r>
              <a:rPr lang="ro-RO" dirty="0" smtClean="0"/>
              <a:t>→</a:t>
            </a:r>
            <a:r>
              <a:rPr lang="en-US" dirty="0"/>
              <a:t>{</a:t>
            </a:r>
            <a:r>
              <a:rPr lang="en-US" dirty="0" smtClean="0"/>
              <a:t>~[~Cv(~</a:t>
            </a:r>
            <a:r>
              <a:rPr lang="en-US" dirty="0"/>
              <a:t>Dv~E</a:t>
            </a:r>
            <a:r>
              <a:rPr lang="en-US" dirty="0" smtClean="0"/>
              <a:t>)]→</a:t>
            </a:r>
            <a:r>
              <a:rPr lang="en-US" dirty="0"/>
              <a:t>~</a:t>
            </a:r>
            <a:r>
              <a:rPr lang="en-US" dirty="0" smtClean="0"/>
              <a:t>B}</a:t>
            </a:r>
            <a:endParaRPr lang="en-US" dirty="0"/>
          </a:p>
          <a:p>
            <a:pPr marL="0" indent="0">
              <a:buNone/>
            </a:pPr>
            <a:r>
              <a:rPr lang="en-US" dirty="0" smtClean="0"/>
              <a:t>{A→[(~~C&amp;~~D)&amp;~~E]}&amp;</a:t>
            </a:r>
            <a:r>
              <a:rPr lang="en-US" dirty="0"/>
              <a:t>B</a:t>
            </a:r>
          </a:p>
          <a:p>
            <a:pPr marL="0" indent="0">
              <a:buNone/>
            </a:pPr>
            <a:r>
              <a:rPr lang="en-US" dirty="0">
                <a:latin typeface="Cambria Math"/>
                <a:ea typeface="Cambria Math"/>
              </a:rPr>
              <a:t>∴~A</a:t>
            </a:r>
            <a:endParaRPr lang="en-US" dirty="0"/>
          </a:p>
          <a:p>
            <a:pPr marL="0" indent="0">
              <a:buNone/>
            </a:pPr>
            <a:endParaRPr lang="en-US" dirty="0"/>
          </a:p>
        </p:txBody>
      </p:sp>
    </p:spTree>
    <p:extLst>
      <p:ext uri="{BB962C8B-B14F-4D97-AF65-F5344CB8AC3E}">
        <p14:creationId xmlns:p14="http://schemas.microsoft.com/office/powerpoint/2010/main" val="29211017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Simbolizarea argumentelor</a:t>
            </a:r>
            <a:r>
              <a:rPr lang="en-US" dirty="0" smtClean="0"/>
              <a:t> (4)</a:t>
            </a:r>
            <a:endParaRPr lang="en-US" dirty="0"/>
          </a:p>
        </p:txBody>
      </p:sp>
      <p:sp>
        <p:nvSpPr>
          <p:cNvPr id="3" name="Content Placeholder 2"/>
          <p:cNvSpPr>
            <a:spLocks noGrp="1"/>
          </p:cNvSpPr>
          <p:nvPr>
            <p:ph idx="1"/>
          </p:nvPr>
        </p:nvSpPr>
        <p:spPr/>
        <p:txBody>
          <a:bodyPr/>
          <a:lstStyle/>
          <a:p>
            <a:pPr marL="0" indent="0" algn="just">
              <a:buNone/>
            </a:pPr>
            <a:r>
              <a:rPr lang="ro-RO" dirty="0"/>
              <a:t>Putem fi siguri că Jackson va fi de acord cu propunerea. Pentru că altfel, coaliția se va dezmembra și exact în aceste circumstanțe s-ar desfășura alegeri, dar acest caz din urmă poate fi cu siguranță eliminat.</a:t>
            </a:r>
            <a:endParaRPr lang="en-US" dirty="0"/>
          </a:p>
        </p:txBody>
      </p:sp>
    </p:spTree>
    <p:extLst>
      <p:ext uri="{BB962C8B-B14F-4D97-AF65-F5344CB8AC3E}">
        <p14:creationId xmlns:p14="http://schemas.microsoft.com/office/powerpoint/2010/main" val="96481949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(4)</a:t>
            </a:r>
            <a:endParaRPr lang="en-US" dirty="0"/>
          </a:p>
        </p:txBody>
      </p:sp>
      <p:sp>
        <p:nvSpPr>
          <p:cNvPr id="3" name="Content Placeholder 2"/>
          <p:cNvSpPr>
            <a:spLocks noGrp="1"/>
          </p:cNvSpPr>
          <p:nvPr>
            <p:ph idx="1"/>
          </p:nvPr>
        </p:nvSpPr>
        <p:spPr/>
        <p:txBody>
          <a:bodyPr/>
          <a:lstStyle/>
          <a:p>
            <a:pPr marL="0" indent="0">
              <a:buNone/>
            </a:pPr>
            <a:r>
              <a:rPr lang="en-US" dirty="0" smtClean="0"/>
              <a:t>A: Jackson va fi de acord cu propunerea</a:t>
            </a:r>
            <a:r>
              <a:rPr lang="ro-RO" dirty="0" smtClean="0"/>
              <a:t>.</a:t>
            </a:r>
            <a:endParaRPr lang="en-US" dirty="0" smtClean="0"/>
          </a:p>
          <a:p>
            <a:pPr marL="0" indent="0">
              <a:buNone/>
            </a:pPr>
            <a:r>
              <a:rPr lang="en-US" dirty="0" smtClean="0"/>
              <a:t>B: Coal</a:t>
            </a:r>
            <a:r>
              <a:rPr lang="ro-RO" dirty="0" smtClean="0"/>
              <a:t>iția se va dezmembra.</a:t>
            </a:r>
          </a:p>
          <a:p>
            <a:pPr marL="0" indent="0">
              <a:buNone/>
            </a:pPr>
            <a:r>
              <a:rPr lang="ro-RO" dirty="0" smtClean="0"/>
              <a:t>C: Vor fi alegeri.</a:t>
            </a:r>
          </a:p>
          <a:p>
            <a:pPr marL="0" indent="0">
              <a:buNone/>
            </a:pPr>
            <a:endParaRPr lang="ro-RO" dirty="0"/>
          </a:p>
          <a:p>
            <a:pPr marL="0" indent="0">
              <a:buNone/>
            </a:pPr>
            <a:r>
              <a:rPr lang="ro-RO" dirty="0" smtClean="0"/>
              <a:t>(</a:t>
            </a:r>
            <a:r>
              <a:rPr lang="en-US" dirty="0" smtClean="0"/>
              <a:t>~A→B)&amp;(B↔C)</a:t>
            </a:r>
          </a:p>
          <a:p>
            <a:pPr marL="0" indent="0">
              <a:buNone/>
            </a:pPr>
            <a:r>
              <a:rPr lang="en-US" dirty="0" smtClean="0"/>
              <a:t>~C</a:t>
            </a:r>
          </a:p>
          <a:p>
            <a:pPr marL="0" indent="0">
              <a:buNone/>
            </a:pPr>
            <a:r>
              <a:rPr lang="en-US" dirty="0" smtClean="0">
                <a:latin typeface="Cambria Math"/>
                <a:ea typeface="Cambria Math"/>
              </a:rPr>
              <a:t>∴A</a:t>
            </a:r>
            <a:endParaRPr lang="en-US" dirty="0"/>
          </a:p>
        </p:txBody>
      </p:sp>
    </p:spTree>
    <p:extLst>
      <p:ext uri="{BB962C8B-B14F-4D97-AF65-F5344CB8AC3E}">
        <p14:creationId xmlns:p14="http://schemas.microsoft.com/office/powerpoint/2010/main" val="354515875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Shape 1"/>
          <p:cNvSpPr txBox="1"/>
          <p:nvPr/>
        </p:nvSpPr>
        <p:spPr>
          <a:xfrm>
            <a:off x="457200" y="0"/>
            <a:ext cx="8229240" cy="1142640"/>
          </a:xfrm>
          <a:prstGeom prst="rect">
            <a:avLst/>
          </a:prstGeom>
        </p:spPr>
        <p:txBody>
          <a:bodyPr anchor="ctr"/>
          <a:lstStyle/>
          <a:p>
            <a:pPr algn="ctr">
              <a:lnSpc>
                <a:spcPct val="100000"/>
              </a:lnSpc>
            </a:pPr>
            <a:r>
              <a:rPr lang="en-US" sz="4400" dirty="0" err="1" smtClean="0">
                <a:solidFill>
                  <a:srgbClr val="000000"/>
                </a:solidFill>
                <a:latin typeface="Calibri"/>
              </a:rPr>
              <a:t>Argumente</a:t>
            </a:r>
            <a:endParaRPr dirty="0"/>
          </a:p>
        </p:txBody>
      </p:sp>
      <p:sp>
        <p:nvSpPr>
          <p:cNvPr id="7" name="TextShape 2"/>
          <p:cNvSpPr txBox="1"/>
          <p:nvPr/>
        </p:nvSpPr>
        <p:spPr>
          <a:xfrm>
            <a:off x="457200" y="990600"/>
            <a:ext cx="8229240" cy="5486400"/>
          </a:xfrm>
          <a:prstGeom prst="rect">
            <a:avLst/>
          </a:prstGeom>
        </p:spPr>
        <p:txBody>
          <a:bodyPr/>
          <a:lstStyle/>
          <a:p>
            <a:pPr>
              <a:lnSpc>
                <a:spcPct val="100000"/>
              </a:lnSpc>
            </a:pPr>
            <a:r>
              <a:rPr lang="ro-RO" sz="2200" dirty="0" smtClean="0"/>
              <a:t>Q: </a:t>
            </a:r>
            <a:r>
              <a:rPr lang="en-US" sz="2200" dirty="0" smtClean="0"/>
              <a:t>Cum test</a:t>
            </a:r>
            <a:r>
              <a:rPr lang="ro-RO" sz="2200" dirty="0" smtClean="0"/>
              <a:t>ăm validitatea argumentelor? Cum știm dacă un argument este valid?</a:t>
            </a:r>
          </a:p>
          <a:p>
            <a:pPr>
              <a:lnSpc>
                <a:spcPct val="100000"/>
              </a:lnSpc>
            </a:pPr>
            <a:endParaRPr lang="ro-RO" sz="2200" dirty="0" smtClean="0"/>
          </a:p>
          <a:p>
            <a:pPr>
              <a:lnSpc>
                <a:spcPct val="100000"/>
              </a:lnSpc>
            </a:pPr>
            <a:r>
              <a:rPr lang="ro-RO" sz="2200" dirty="0" smtClean="0"/>
              <a:t>Algoritm:</a:t>
            </a:r>
          </a:p>
          <a:p>
            <a:pPr marL="514350" indent="-514350">
              <a:lnSpc>
                <a:spcPct val="100000"/>
              </a:lnSpc>
              <a:buAutoNum type="arabicParenBoth"/>
            </a:pPr>
            <a:r>
              <a:rPr lang="ro-RO" sz="2200" dirty="0" smtClean="0"/>
              <a:t>Identificăm premisele și concluzia.</a:t>
            </a:r>
          </a:p>
          <a:p>
            <a:pPr marL="514350" indent="-514350">
              <a:lnSpc>
                <a:spcPct val="100000"/>
              </a:lnSpc>
              <a:buAutoNum type="arabicParenBoth"/>
            </a:pPr>
            <a:r>
              <a:rPr lang="ro-RO" sz="2200" dirty="0" smtClean="0"/>
              <a:t>Le descoperim forma logică (le </a:t>
            </a:r>
            <a:r>
              <a:rPr lang="ro-RO" sz="2200" i="1" dirty="0" smtClean="0"/>
              <a:t>formalizăm</a:t>
            </a:r>
            <a:r>
              <a:rPr lang="ro-RO" sz="2200" dirty="0" smtClean="0"/>
              <a:t> sau </a:t>
            </a:r>
            <a:r>
              <a:rPr lang="ro-RO" sz="2200" i="1" dirty="0" smtClean="0"/>
              <a:t>simbolizăm</a:t>
            </a:r>
            <a:r>
              <a:rPr lang="ro-RO" sz="2200" dirty="0" smtClean="0"/>
              <a:t> în limbajului logicii).</a:t>
            </a:r>
          </a:p>
          <a:p>
            <a:pPr marL="514350" indent="-514350">
              <a:lnSpc>
                <a:spcPct val="100000"/>
              </a:lnSpc>
              <a:buAutoNum type="arabicParenBoth"/>
            </a:pPr>
            <a:r>
              <a:rPr lang="ro-RO" sz="2200" dirty="0" smtClean="0"/>
              <a:t>Construim următoarea propoziție: </a:t>
            </a:r>
          </a:p>
          <a:p>
            <a:pPr marL="514350" indent="-514350">
              <a:lnSpc>
                <a:spcPct val="100000"/>
              </a:lnSpc>
            </a:pPr>
            <a:r>
              <a:rPr lang="ro-RO" sz="2200" dirty="0" smtClean="0"/>
              <a:t>	(premisa1 &amp; premisa 2 &amp; ... &amp; premisa n) -</a:t>
            </a:r>
            <a:r>
              <a:rPr lang="en-US" sz="2200" dirty="0" smtClean="0"/>
              <a:t>&gt; </a:t>
            </a:r>
            <a:r>
              <a:rPr lang="en-US" sz="2200" dirty="0" err="1" smtClean="0"/>
              <a:t>concluzie</a:t>
            </a:r>
            <a:endParaRPr lang="ro-RO" sz="2200" dirty="0" smtClean="0"/>
          </a:p>
          <a:p>
            <a:pPr marL="514350" indent="-514350">
              <a:lnSpc>
                <a:spcPct val="100000"/>
              </a:lnSpc>
            </a:pPr>
            <a:endParaRPr lang="en-US" sz="2200" dirty="0" smtClean="0"/>
          </a:p>
          <a:p>
            <a:pPr marL="514350" indent="-514350">
              <a:lnSpc>
                <a:spcPct val="100000"/>
              </a:lnSpc>
            </a:pPr>
            <a:r>
              <a:rPr lang="en-US" sz="2200" dirty="0" smtClean="0"/>
              <a:t>	</a:t>
            </a:r>
            <a:r>
              <a:rPr lang="en-US" sz="2200" dirty="0" err="1" smtClean="0"/>
              <a:t>adic</a:t>
            </a:r>
            <a:r>
              <a:rPr lang="ro-RO" sz="2200" dirty="0" smtClean="0"/>
              <a:t>ă: conjuncția tuturor premiselor implică concluzia.</a:t>
            </a:r>
          </a:p>
          <a:p>
            <a:pPr marL="514350" indent="-514350">
              <a:lnSpc>
                <a:spcPct val="100000"/>
              </a:lnSpc>
            </a:pPr>
            <a:r>
              <a:rPr lang="ro-RO" sz="2200" dirty="0" smtClean="0"/>
              <a:t>(4) Testăm dacă propoziția este tautologie.</a:t>
            </a:r>
          </a:p>
          <a:p>
            <a:pPr marL="514350" indent="-514350">
              <a:lnSpc>
                <a:spcPct val="100000"/>
              </a:lnSpc>
            </a:pPr>
            <a:r>
              <a:rPr lang="ro-RO" sz="2200" dirty="0" smtClean="0"/>
              <a:t>(5) Dacă este tautologie, atunci argumentul este valid. Altfel, nu.</a:t>
            </a:r>
          </a:p>
          <a:p>
            <a:pPr marL="514350" indent="-514350">
              <a:lnSpc>
                <a:spcPct val="100000"/>
              </a:lnSpc>
            </a:pPr>
            <a:endParaRPr lang="ro-RO" sz="2200" dirty="0" smtClean="0"/>
          </a:p>
          <a:p>
            <a:pPr marL="514350" indent="-514350">
              <a:lnSpc>
                <a:spcPct val="100000"/>
              </a:lnSpc>
            </a:pPr>
            <a:r>
              <a:rPr lang="ro-RO" sz="2200" b="1" dirty="0" smtClean="0"/>
              <a:t>Tautologie. </a:t>
            </a:r>
            <a:r>
              <a:rPr lang="ro-RO" sz="2200" dirty="0" smtClean="0"/>
              <a:t>O propoziție P este tautologică ddacă este adevărată indiferent de interpretarea acesteia = dacă pe fiecare linie a tabelului de adevăr avem 1. </a:t>
            </a:r>
            <a:endParaRPr lang="ro-RO" sz="2200" b="1" dirty="0" smtClean="0"/>
          </a:p>
          <a:p>
            <a:pPr>
              <a:lnSpc>
                <a:spcPct val="100000"/>
              </a:lnSpc>
            </a:pPr>
            <a:endParaRPr dirty="0"/>
          </a:p>
          <a:p>
            <a:pPr>
              <a:lnSpc>
                <a:spcPct val="100000"/>
              </a:lnSpc>
            </a:pPr>
            <a:endParaRPr dirty="0"/>
          </a:p>
          <a:p>
            <a:pPr>
              <a:lnSpc>
                <a:spcPct val="100000"/>
              </a:lnSpc>
            </a:pPr>
            <a:endParaRPr dirty="0"/>
          </a:p>
        </p:txBody>
      </p:sp>
    </p:spTree>
    <p:extLst>
      <p:ext uri="{BB962C8B-B14F-4D97-AF65-F5344CB8AC3E}">
        <p14:creationId xmlns:p14="http://schemas.microsoft.com/office/powerpoint/2010/main" val="340490742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Negaţia</a:t>
            </a:r>
            <a:endParaRPr lang="ro-RO" dirty="0"/>
          </a:p>
        </p:txBody>
      </p:sp>
      <p:sp>
        <p:nvSpPr>
          <p:cNvPr id="3" name="Content Placeholder 2"/>
          <p:cNvSpPr>
            <a:spLocks noGrp="1"/>
          </p:cNvSpPr>
          <p:nvPr>
            <p:ph idx="1"/>
          </p:nvPr>
        </p:nvSpPr>
        <p:spPr/>
        <p:txBody>
          <a:bodyPr/>
          <a:lstStyle/>
          <a:p>
            <a:r>
              <a:rPr lang="ro-RO" dirty="0" smtClean="0"/>
              <a:t>Negaţia inversează valoarea de adevăr a propoziţiei iniţiale.</a:t>
            </a:r>
          </a:p>
          <a:p>
            <a:endParaRPr lang="ro-RO" dirty="0"/>
          </a:p>
          <a:p>
            <a:pPr marL="114300" indent="0">
              <a:buNone/>
            </a:pPr>
            <a:r>
              <a:rPr lang="ro-RO" sz="2800" b="1" dirty="0" smtClean="0">
                <a:solidFill>
                  <a:srgbClr val="FF0000"/>
                </a:solidFill>
                <a:effectLst>
                  <a:outerShdw blurRad="38100" dist="38100" dir="2700000" algn="tl">
                    <a:srgbClr val="000000">
                      <a:alpha val="43137"/>
                    </a:srgbClr>
                  </a:outerShdw>
                </a:effectLst>
              </a:rPr>
              <a:t>2</a:t>
            </a:r>
            <a:r>
              <a:rPr lang="ro-RO" sz="2800" b="1" baseline="30000" dirty="0" smtClean="0">
                <a:solidFill>
                  <a:srgbClr val="FF0000"/>
                </a:solidFill>
                <a:effectLst>
                  <a:outerShdw blurRad="38100" dist="38100" dir="2700000" algn="tl">
                    <a:srgbClr val="000000">
                      <a:alpha val="43137"/>
                    </a:srgbClr>
                  </a:outerShdw>
                </a:effectLst>
              </a:rPr>
              <a:t>n </a:t>
            </a:r>
            <a:r>
              <a:rPr lang="ro-RO" sz="2800" b="1" dirty="0" smtClean="0">
                <a:solidFill>
                  <a:srgbClr val="FF0000"/>
                </a:solidFill>
                <a:effectLst>
                  <a:outerShdw blurRad="38100" dist="38100" dir="2700000" algn="tl">
                    <a:srgbClr val="000000">
                      <a:alpha val="43137"/>
                    </a:srgbClr>
                  </a:outerShdw>
                </a:effectLst>
              </a:rPr>
              <a:t> - unde </a:t>
            </a:r>
            <a:r>
              <a:rPr lang="ro-RO" sz="2800" b="1" i="1" dirty="0" smtClean="0">
                <a:solidFill>
                  <a:srgbClr val="FF0000"/>
                </a:solidFill>
                <a:effectLst>
                  <a:outerShdw blurRad="38100" dist="38100" dir="2700000" algn="tl">
                    <a:srgbClr val="000000">
                      <a:alpha val="43137"/>
                    </a:srgbClr>
                  </a:outerShdw>
                </a:effectLst>
              </a:rPr>
              <a:t>n</a:t>
            </a:r>
            <a:r>
              <a:rPr lang="ro-RO" sz="2800" b="1" dirty="0" smtClean="0">
                <a:solidFill>
                  <a:srgbClr val="FF0000"/>
                </a:solidFill>
                <a:effectLst>
                  <a:outerShdw blurRad="38100" dist="38100" dir="2700000" algn="tl">
                    <a:srgbClr val="000000">
                      <a:alpha val="43137"/>
                    </a:srgbClr>
                  </a:outerShdw>
                </a:effectLst>
              </a:rPr>
              <a:t> este numărul de litere-propoziţie.</a:t>
            </a:r>
            <a:endParaRPr lang="ro-RO" sz="2800" b="1" dirty="0">
              <a:solidFill>
                <a:srgbClr val="FF0000"/>
              </a:solidFill>
              <a:effectLst>
                <a:outerShdw blurRad="38100" dist="38100" dir="2700000" algn="tl">
                  <a:srgbClr val="000000">
                    <a:alpha val="43137"/>
                  </a:srgbClr>
                </a:outerShdw>
              </a:effectLst>
            </a:endParaRPr>
          </a:p>
          <a:p>
            <a:pPr marL="114300" indent="0">
              <a:buNone/>
            </a:pPr>
            <a:endParaRPr lang="ro-RO" dirty="0"/>
          </a:p>
        </p:txBody>
      </p:sp>
      <p:graphicFrame>
        <p:nvGraphicFramePr>
          <p:cNvPr id="4" name="Table 3"/>
          <p:cNvGraphicFramePr>
            <a:graphicFrameLocks noGrp="1"/>
          </p:cNvGraphicFramePr>
          <p:nvPr>
            <p:extLst>
              <p:ext uri="{D42A27DB-BD31-4B8C-83A1-F6EECF244321}">
                <p14:modId xmlns:p14="http://schemas.microsoft.com/office/powerpoint/2010/main" val="3863731244"/>
              </p:ext>
            </p:extLst>
          </p:nvPr>
        </p:nvGraphicFramePr>
        <p:xfrm>
          <a:off x="3200400" y="4495800"/>
          <a:ext cx="3264024" cy="1273212"/>
        </p:xfrm>
        <a:graphic>
          <a:graphicData uri="http://schemas.openxmlformats.org/drawingml/2006/table">
            <a:tbl>
              <a:tblPr firstRow="1" bandRow="1">
                <a:tableStyleId>{5C22544A-7EE6-4342-B048-85BDC9FD1C3A}</a:tableStyleId>
              </a:tblPr>
              <a:tblGrid>
                <a:gridCol w="1632012"/>
                <a:gridCol w="1632012"/>
              </a:tblGrid>
              <a:tr h="346622">
                <a:tc>
                  <a:txBody>
                    <a:bodyPr/>
                    <a:lstStyle/>
                    <a:p>
                      <a:pPr algn="ctr"/>
                      <a:r>
                        <a:rPr lang="ro-RO" dirty="0" smtClean="0"/>
                        <a:t>p</a:t>
                      </a:r>
                      <a:endParaRPr lang="ro-RO" dirty="0"/>
                    </a:p>
                  </a:txBody>
                  <a:tcPr/>
                </a:tc>
                <a:tc>
                  <a:txBody>
                    <a:bodyPr/>
                    <a:lstStyle/>
                    <a:p>
                      <a:pPr algn="ctr"/>
                      <a:r>
                        <a:rPr lang="en-US" dirty="0" smtClean="0"/>
                        <a:t>~p</a:t>
                      </a:r>
                      <a:endParaRPr lang="ro-RO" dirty="0"/>
                    </a:p>
                  </a:txBody>
                  <a:tcPr/>
                </a:tc>
              </a:tr>
              <a:tr h="541692">
                <a:tc>
                  <a:txBody>
                    <a:bodyPr/>
                    <a:lstStyle/>
                    <a:p>
                      <a:pPr algn="ctr"/>
                      <a:r>
                        <a:rPr lang="en-US" dirty="0" smtClean="0"/>
                        <a:t>T</a:t>
                      </a:r>
                      <a:endParaRPr lang="ro-RO" dirty="0"/>
                    </a:p>
                  </a:txBody>
                  <a:tcPr/>
                </a:tc>
                <a:tc>
                  <a:txBody>
                    <a:bodyPr/>
                    <a:lstStyle/>
                    <a:p>
                      <a:pPr algn="ctr"/>
                      <a:r>
                        <a:rPr lang="ro-RO" dirty="0" smtClean="0"/>
                        <a:t>⊥</a:t>
                      </a:r>
                      <a:endParaRPr lang="ro-RO" dirty="0"/>
                    </a:p>
                  </a:txBody>
                  <a:tcPr/>
                </a:tc>
              </a:tr>
              <a:tr h="346622">
                <a:tc>
                  <a:txBody>
                    <a:bodyPr/>
                    <a:lstStyle/>
                    <a:p>
                      <a:pPr algn="ctr"/>
                      <a:r>
                        <a:rPr lang="ro-RO" dirty="0" smtClean="0"/>
                        <a:t>⊥</a:t>
                      </a:r>
                      <a:endParaRPr lang="ro-RO" dirty="0"/>
                    </a:p>
                  </a:txBody>
                  <a:tcPr/>
                </a:tc>
                <a:tc>
                  <a:txBody>
                    <a:bodyPr/>
                    <a:lstStyle/>
                    <a:p>
                      <a:pPr algn="ctr"/>
                      <a:r>
                        <a:rPr lang="en-US" dirty="0" smtClean="0"/>
                        <a:t>T</a:t>
                      </a:r>
                      <a:endParaRPr lang="ro-RO" dirty="0"/>
                    </a:p>
                  </a:txBody>
                  <a:tcPr/>
                </a:tc>
              </a:tr>
            </a:tbl>
          </a:graphicData>
        </a:graphic>
      </p:graphicFrame>
    </p:spTree>
    <p:extLst>
      <p:ext uri="{BB962C8B-B14F-4D97-AF65-F5344CB8AC3E}">
        <p14:creationId xmlns:p14="http://schemas.microsoft.com/office/powerpoint/2010/main" val="89384876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ro-RO" dirty="0" smtClean="0"/>
              <a:t>Conjuncţia, Disjuncţia, Condiţionalul, Bicondiţionalul</a:t>
            </a:r>
            <a:endParaRPr lang="ro-RO"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918486567"/>
              </p:ext>
            </p:extLst>
          </p:nvPr>
        </p:nvGraphicFramePr>
        <p:xfrm>
          <a:off x="467544" y="3068960"/>
          <a:ext cx="7620000" cy="1854200"/>
        </p:xfrm>
        <a:graphic>
          <a:graphicData uri="http://schemas.openxmlformats.org/drawingml/2006/table">
            <a:tbl>
              <a:tblPr firstRow="1" bandRow="1">
                <a:tableStyleId>{5C22544A-7EE6-4342-B048-85BDC9FD1C3A}</a:tableStyleId>
              </a:tblPr>
              <a:tblGrid>
                <a:gridCol w="1270000"/>
                <a:gridCol w="1270000"/>
                <a:gridCol w="1270000"/>
                <a:gridCol w="1270000"/>
                <a:gridCol w="1270000"/>
                <a:gridCol w="1270000"/>
              </a:tblGrid>
              <a:tr h="370840">
                <a:tc>
                  <a:txBody>
                    <a:bodyPr/>
                    <a:lstStyle/>
                    <a:p>
                      <a:pPr algn="ctr"/>
                      <a:r>
                        <a:rPr lang="ro-RO" dirty="0" smtClean="0"/>
                        <a:t>p</a:t>
                      </a:r>
                      <a:endParaRPr lang="ro-RO" dirty="0"/>
                    </a:p>
                  </a:txBody>
                  <a:tcPr/>
                </a:tc>
                <a:tc>
                  <a:txBody>
                    <a:bodyPr/>
                    <a:lstStyle/>
                    <a:p>
                      <a:pPr algn="ctr"/>
                      <a:r>
                        <a:rPr lang="ro-RO" dirty="0" smtClean="0"/>
                        <a:t>q</a:t>
                      </a:r>
                      <a:endParaRPr lang="ro-RO" dirty="0"/>
                    </a:p>
                  </a:txBody>
                  <a:tcPr/>
                </a:tc>
                <a:tc>
                  <a:txBody>
                    <a:bodyPr/>
                    <a:lstStyle/>
                    <a:p>
                      <a:pPr algn="ctr"/>
                      <a:r>
                        <a:rPr lang="ro-RO" dirty="0" smtClean="0"/>
                        <a:t>p&amp;q</a:t>
                      </a:r>
                      <a:endParaRPr lang="ro-RO" dirty="0"/>
                    </a:p>
                  </a:txBody>
                  <a:tcPr/>
                </a:tc>
                <a:tc>
                  <a:txBody>
                    <a:bodyPr/>
                    <a:lstStyle/>
                    <a:p>
                      <a:pPr algn="ctr"/>
                      <a:r>
                        <a:rPr lang="ro-RO" dirty="0" smtClean="0"/>
                        <a:t>pvq</a:t>
                      </a:r>
                      <a:endParaRPr lang="ro-RO" dirty="0"/>
                    </a:p>
                  </a:txBody>
                  <a:tcPr/>
                </a:tc>
                <a:tc>
                  <a:txBody>
                    <a:bodyPr/>
                    <a:lstStyle/>
                    <a:p>
                      <a:pPr algn="ctr"/>
                      <a:r>
                        <a:rPr lang="ro-RO" dirty="0" smtClean="0"/>
                        <a:t>p→q</a:t>
                      </a:r>
                      <a:endParaRPr lang="ro-RO" dirty="0"/>
                    </a:p>
                  </a:txBody>
                  <a:tcPr/>
                </a:tc>
                <a:tc>
                  <a:txBody>
                    <a:bodyPr/>
                    <a:lstStyle/>
                    <a:p>
                      <a:pPr algn="ctr"/>
                      <a:r>
                        <a:rPr lang="ro-RO" dirty="0" smtClean="0"/>
                        <a:t>p↔q</a:t>
                      </a:r>
                      <a:endParaRPr lang="ro-RO" dirty="0"/>
                    </a:p>
                  </a:txBody>
                  <a:tcPr/>
                </a:tc>
              </a:tr>
              <a:tr h="370840">
                <a:tc>
                  <a:txBody>
                    <a:bodyPr/>
                    <a:lstStyle/>
                    <a:p>
                      <a:pPr algn="ctr"/>
                      <a:r>
                        <a:rPr lang="ro-RO" dirty="0" smtClean="0"/>
                        <a:t>T</a:t>
                      </a:r>
                      <a:endParaRPr lang="ro-RO" dirty="0"/>
                    </a:p>
                  </a:txBody>
                  <a:tcPr/>
                </a:tc>
                <a:tc>
                  <a:txBody>
                    <a:bodyPr/>
                    <a:lstStyle/>
                    <a:p>
                      <a:pPr algn="ctr"/>
                      <a:r>
                        <a:rPr lang="ro-RO" dirty="0" smtClean="0"/>
                        <a:t>T</a:t>
                      </a:r>
                      <a:endParaRPr lang="ro-RO" dirty="0"/>
                    </a:p>
                  </a:txBody>
                  <a:tcPr/>
                </a:tc>
                <a:tc>
                  <a:txBody>
                    <a:bodyPr/>
                    <a:lstStyle/>
                    <a:p>
                      <a:pPr algn="ctr"/>
                      <a:r>
                        <a:rPr lang="ro-RO" dirty="0" smtClean="0"/>
                        <a:t>T</a:t>
                      </a:r>
                      <a:endParaRPr lang="ro-RO" dirty="0"/>
                    </a:p>
                  </a:txBody>
                  <a:tcPr/>
                </a:tc>
                <a:tc>
                  <a:txBody>
                    <a:bodyPr/>
                    <a:lstStyle/>
                    <a:p>
                      <a:pPr algn="ctr"/>
                      <a:r>
                        <a:rPr lang="ro-RO" dirty="0" smtClean="0"/>
                        <a:t>T</a:t>
                      </a:r>
                      <a:endParaRPr lang="ro-RO" dirty="0"/>
                    </a:p>
                  </a:txBody>
                  <a:tcPr/>
                </a:tc>
                <a:tc>
                  <a:txBody>
                    <a:bodyPr/>
                    <a:lstStyle/>
                    <a:p>
                      <a:pPr algn="ctr"/>
                      <a:r>
                        <a:rPr lang="ro-RO" dirty="0" smtClean="0"/>
                        <a:t>T</a:t>
                      </a:r>
                      <a:endParaRPr lang="ro-RO" dirty="0"/>
                    </a:p>
                  </a:txBody>
                  <a:tcPr/>
                </a:tc>
                <a:tc>
                  <a:txBody>
                    <a:bodyPr/>
                    <a:lstStyle/>
                    <a:p>
                      <a:pPr algn="ctr"/>
                      <a:r>
                        <a:rPr lang="ro-RO" dirty="0" smtClean="0"/>
                        <a:t>T</a:t>
                      </a:r>
                      <a:endParaRPr lang="ro-RO" dirty="0"/>
                    </a:p>
                  </a:txBody>
                  <a:tcPr/>
                </a:tc>
              </a:tr>
              <a:tr h="370840">
                <a:tc>
                  <a:txBody>
                    <a:bodyPr/>
                    <a:lstStyle/>
                    <a:p>
                      <a:pPr algn="ctr"/>
                      <a:r>
                        <a:rPr lang="ro-RO" dirty="0" smtClean="0"/>
                        <a:t>T</a:t>
                      </a:r>
                      <a:endParaRPr lang="ro-RO" dirty="0"/>
                    </a:p>
                  </a:txBody>
                  <a:tcPr/>
                </a:tc>
                <a:tc>
                  <a:txBody>
                    <a:bodyPr/>
                    <a:lstStyle/>
                    <a:p>
                      <a:pPr algn="ctr"/>
                      <a:r>
                        <a:rPr lang="ro-RO" dirty="0" smtClean="0"/>
                        <a:t>⊥</a:t>
                      </a:r>
                      <a:endParaRPr lang="ro-RO" dirty="0"/>
                    </a:p>
                  </a:txBody>
                  <a:tcPr/>
                </a:tc>
                <a:tc>
                  <a:txBody>
                    <a:bodyPr/>
                    <a:lstStyle/>
                    <a:p>
                      <a:pPr algn="ctr"/>
                      <a:r>
                        <a:rPr lang="ro-RO" dirty="0" smtClean="0"/>
                        <a:t>⊥</a:t>
                      </a:r>
                      <a:endParaRPr lang="ro-RO" dirty="0"/>
                    </a:p>
                  </a:txBody>
                  <a:tcPr/>
                </a:tc>
                <a:tc>
                  <a:txBody>
                    <a:bodyPr/>
                    <a:lstStyle/>
                    <a:p>
                      <a:pPr algn="ctr"/>
                      <a:r>
                        <a:rPr lang="ro-RO" dirty="0" smtClean="0"/>
                        <a:t>T</a:t>
                      </a:r>
                      <a:endParaRPr lang="ro-RO" dirty="0"/>
                    </a:p>
                  </a:txBody>
                  <a:tcPr/>
                </a:tc>
                <a:tc>
                  <a:txBody>
                    <a:bodyPr/>
                    <a:lstStyle/>
                    <a:p>
                      <a:pPr algn="ctr"/>
                      <a:r>
                        <a:rPr lang="ro-RO" dirty="0" smtClean="0"/>
                        <a:t>⊥</a:t>
                      </a:r>
                      <a:endParaRPr lang="ro-RO" dirty="0"/>
                    </a:p>
                  </a:txBody>
                  <a:tcPr/>
                </a:tc>
                <a:tc>
                  <a:txBody>
                    <a:bodyPr/>
                    <a:lstStyle/>
                    <a:p>
                      <a:pPr algn="ctr"/>
                      <a:r>
                        <a:rPr lang="ro-RO" dirty="0" smtClean="0"/>
                        <a:t>⊥</a:t>
                      </a:r>
                      <a:endParaRPr lang="ro-RO" dirty="0"/>
                    </a:p>
                  </a:txBody>
                  <a:tcPr/>
                </a:tc>
              </a:tr>
              <a:tr h="370840">
                <a:tc>
                  <a:txBody>
                    <a:bodyPr/>
                    <a:lstStyle/>
                    <a:p>
                      <a:pPr algn="ctr"/>
                      <a:r>
                        <a:rPr lang="ro-RO" dirty="0" smtClean="0"/>
                        <a:t>⊥</a:t>
                      </a:r>
                      <a:endParaRPr lang="ro-RO" dirty="0"/>
                    </a:p>
                  </a:txBody>
                  <a:tcPr/>
                </a:tc>
                <a:tc>
                  <a:txBody>
                    <a:bodyPr/>
                    <a:lstStyle/>
                    <a:p>
                      <a:pPr algn="ctr"/>
                      <a:r>
                        <a:rPr lang="ro-RO" dirty="0" smtClean="0"/>
                        <a:t>T</a:t>
                      </a:r>
                      <a:endParaRPr lang="ro-RO" dirty="0"/>
                    </a:p>
                  </a:txBody>
                  <a:tcPr/>
                </a:tc>
                <a:tc>
                  <a:txBody>
                    <a:bodyPr/>
                    <a:lstStyle/>
                    <a:p>
                      <a:pPr algn="ctr"/>
                      <a:r>
                        <a:rPr lang="ro-RO" dirty="0" smtClean="0"/>
                        <a:t>⊥</a:t>
                      </a:r>
                      <a:endParaRPr lang="ro-RO" dirty="0"/>
                    </a:p>
                  </a:txBody>
                  <a:tcPr/>
                </a:tc>
                <a:tc>
                  <a:txBody>
                    <a:bodyPr/>
                    <a:lstStyle/>
                    <a:p>
                      <a:pPr algn="ctr"/>
                      <a:r>
                        <a:rPr lang="ro-RO" dirty="0" smtClean="0"/>
                        <a:t>T</a:t>
                      </a:r>
                      <a:endParaRPr lang="ro-RO" dirty="0"/>
                    </a:p>
                  </a:txBody>
                  <a:tcPr/>
                </a:tc>
                <a:tc>
                  <a:txBody>
                    <a:bodyPr/>
                    <a:lstStyle/>
                    <a:p>
                      <a:pPr algn="ctr"/>
                      <a:r>
                        <a:rPr lang="ro-RO" dirty="0" smtClean="0"/>
                        <a:t>T</a:t>
                      </a:r>
                      <a:endParaRPr lang="ro-RO" dirty="0"/>
                    </a:p>
                  </a:txBody>
                  <a:tcPr/>
                </a:tc>
                <a:tc>
                  <a:txBody>
                    <a:bodyPr/>
                    <a:lstStyle/>
                    <a:p>
                      <a:pPr algn="ctr"/>
                      <a:r>
                        <a:rPr lang="ro-RO" dirty="0" smtClean="0"/>
                        <a:t>⊥</a:t>
                      </a:r>
                      <a:endParaRPr lang="ro-RO" dirty="0"/>
                    </a:p>
                  </a:txBody>
                  <a:tcPr/>
                </a:tc>
              </a:tr>
              <a:tr h="370840">
                <a:tc>
                  <a:txBody>
                    <a:bodyPr/>
                    <a:lstStyle/>
                    <a:p>
                      <a:pPr algn="ctr"/>
                      <a:r>
                        <a:rPr lang="ro-RO" dirty="0" smtClean="0"/>
                        <a:t>⊥</a:t>
                      </a:r>
                      <a:endParaRPr lang="ro-RO" dirty="0"/>
                    </a:p>
                  </a:txBody>
                  <a:tcPr/>
                </a:tc>
                <a:tc>
                  <a:txBody>
                    <a:bodyPr/>
                    <a:lstStyle/>
                    <a:p>
                      <a:pPr algn="ctr"/>
                      <a:r>
                        <a:rPr lang="ro-RO" dirty="0" smtClean="0"/>
                        <a:t>⊥</a:t>
                      </a:r>
                      <a:endParaRPr lang="ro-RO" dirty="0"/>
                    </a:p>
                  </a:txBody>
                  <a:tcPr/>
                </a:tc>
                <a:tc>
                  <a:txBody>
                    <a:bodyPr/>
                    <a:lstStyle/>
                    <a:p>
                      <a:pPr algn="ctr"/>
                      <a:r>
                        <a:rPr lang="ro-RO" dirty="0" smtClean="0"/>
                        <a:t>⊥</a:t>
                      </a:r>
                      <a:endParaRPr lang="ro-RO" dirty="0"/>
                    </a:p>
                  </a:txBody>
                  <a:tcPr/>
                </a:tc>
                <a:tc>
                  <a:txBody>
                    <a:bodyPr/>
                    <a:lstStyle/>
                    <a:p>
                      <a:pPr algn="ctr"/>
                      <a:r>
                        <a:rPr lang="ro-RO" dirty="0" smtClean="0"/>
                        <a:t>⊥</a:t>
                      </a:r>
                      <a:endParaRPr lang="ro-RO" dirty="0"/>
                    </a:p>
                  </a:txBody>
                  <a:tcPr/>
                </a:tc>
                <a:tc>
                  <a:txBody>
                    <a:bodyPr/>
                    <a:lstStyle/>
                    <a:p>
                      <a:pPr algn="ctr"/>
                      <a:r>
                        <a:rPr lang="ro-RO" dirty="0" smtClean="0"/>
                        <a:t>T</a:t>
                      </a:r>
                      <a:endParaRPr lang="ro-RO" dirty="0"/>
                    </a:p>
                  </a:txBody>
                  <a:tcPr/>
                </a:tc>
                <a:tc>
                  <a:txBody>
                    <a:bodyPr/>
                    <a:lstStyle/>
                    <a:p>
                      <a:pPr algn="ctr"/>
                      <a:r>
                        <a:rPr lang="ro-RO" dirty="0" smtClean="0"/>
                        <a:t>T</a:t>
                      </a:r>
                      <a:endParaRPr lang="ro-RO" dirty="0"/>
                    </a:p>
                  </a:txBody>
                  <a:tcPr/>
                </a:tc>
              </a:tr>
            </a:tbl>
          </a:graphicData>
        </a:graphic>
      </p:graphicFrame>
    </p:spTree>
    <p:extLst>
      <p:ext uri="{BB962C8B-B14F-4D97-AF65-F5344CB8AC3E}">
        <p14:creationId xmlns:p14="http://schemas.microsoft.com/office/powerpoint/2010/main" val="219600318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32656"/>
            <a:ext cx="7620000" cy="6068144"/>
          </a:xfrm>
        </p:spPr>
        <p:txBody>
          <a:bodyPr>
            <a:noAutofit/>
          </a:bodyPr>
          <a:lstStyle/>
          <a:p>
            <a:pPr algn="just"/>
            <a:r>
              <a:rPr lang="ro-RO" sz="3000" b="1" dirty="0" smtClean="0">
                <a:solidFill>
                  <a:srgbClr val="FF0000"/>
                </a:solidFill>
                <a:effectLst>
                  <a:outerShdw blurRad="38100" dist="38100" dir="2700000" algn="tl">
                    <a:srgbClr val="000000">
                      <a:alpha val="43137"/>
                    </a:srgbClr>
                  </a:outerShdw>
                </a:effectLst>
              </a:rPr>
              <a:t>Negaţia</a:t>
            </a:r>
            <a:r>
              <a:rPr lang="ro-RO" sz="3000" dirty="0" smtClean="0"/>
              <a:t> inversează valorile de adevăr.</a:t>
            </a:r>
          </a:p>
          <a:p>
            <a:pPr algn="just"/>
            <a:r>
              <a:rPr lang="ro-RO" sz="3000" b="1" smtClean="0">
                <a:solidFill>
                  <a:srgbClr val="FF0000"/>
                </a:solidFill>
                <a:effectLst>
                  <a:outerShdw blurRad="38100" dist="38100" dir="2700000" algn="tl">
                    <a:srgbClr val="000000">
                      <a:alpha val="43137"/>
                    </a:srgbClr>
                  </a:outerShdw>
                </a:effectLst>
              </a:rPr>
              <a:t>Conjuncţia</a:t>
            </a:r>
            <a:r>
              <a:rPr lang="ro-RO" sz="3000" smtClean="0"/>
              <a:t> </a:t>
            </a:r>
            <a:r>
              <a:rPr lang="ro-RO" sz="3000" dirty="0" smtClean="0"/>
              <a:t>este adevărată dacă şi numai dacă ambii conjuncţi sunt adevăraţi.</a:t>
            </a:r>
          </a:p>
          <a:p>
            <a:pPr algn="just"/>
            <a:r>
              <a:rPr lang="ro-RO" sz="3000" b="1" dirty="0" smtClean="0">
                <a:solidFill>
                  <a:srgbClr val="FF0000"/>
                </a:solidFill>
                <a:effectLst>
                  <a:outerShdw blurRad="38100" dist="38100" dir="2700000" algn="tl">
                    <a:srgbClr val="000000">
                      <a:alpha val="43137"/>
                    </a:srgbClr>
                  </a:outerShdw>
                </a:effectLst>
              </a:rPr>
              <a:t>Disjuncţia</a:t>
            </a:r>
            <a:r>
              <a:rPr lang="ro-RO" sz="3000" dirty="0" smtClean="0"/>
              <a:t> este falsă dacă şi numai dacă ambii disjuncţi sunt falşi. În caz contrar este adevărată.</a:t>
            </a:r>
          </a:p>
          <a:p>
            <a:pPr algn="just"/>
            <a:r>
              <a:rPr lang="ro-RO" sz="3000" b="1" dirty="0" smtClean="0">
                <a:solidFill>
                  <a:srgbClr val="FF0000"/>
                </a:solidFill>
                <a:effectLst>
                  <a:outerShdw blurRad="38100" dist="38100" dir="2700000" algn="tl">
                    <a:srgbClr val="000000">
                      <a:alpha val="43137"/>
                    </a:srgbClr>
                  </a:outerShdw>
                </a:effectLst>
              </a:rPr>
              <a:t>Condiţionalul</a:t>
            </a:r>
            <a:r>
              <a:rPr lang="ro-RO" sz="3000" dirty="0" smtClean="0"/>
              <a:t> este fals dacă şi numai dacă antecedentul este adevărat şi consecventul fals.</a:t>
            </a:r>
          </a:p>
          <a:p>
            <a:pPr algn="just"/>
            <a:r>
              <a:rPr lang="ro-RO" sz="3000" b="1" dirty="0" smtClean="0">
                <a:solidFill>
                  <a:srgbClr val="FF0000"/>
                </a:solidFill>
                <a:effectLst>
                  <a:outerShdw blurRad="38100" dist="38100" dir="2700000" algn="tl">
                    <a:srgbClr val="000000">
                      <a:alpha val="43137"/>
                    </a:srgbClr>
                  </a:outerShdw>
                </a:effectLst>
              </a:rPr>
              <a:t>Bicondiţionalul</a:t>
            </a:r>
            <a:r>
              <a:rPr lang="ro-RO" sz="3000" dirty="0" smtClean="0"/>
              <a:t> este adevărat dacă şi numai dacă ambii săi membri au aceeaşi valoare de adevăr.</a:t>
            </a:r>
            <a:endParaRPr lang="ro-RO" sz="3000" dirty="0"/>
          </a:p>
        </p:txBody>
      </p:sp>
    </p:spTree>
    <p:extLst>
      <p:ext uri="{BB962C8B-B14F-4D97-AF65-F5344CB8AC3E}">
        <p14:creationId xmlns:p14="http://schemas.microsoft.com/office/powerpoint/2010/main" val="429117548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Clasificarea formulelor</a:t>
            </a:r>
            <a:endParaRPr lang="ro-RO" dirty="0"/>
          </a:p>
        </p:txBody>
      </p:sp>
      <p:sp>
        <p:nvSpPr>
          <p:cNvPr id="3" name="Content Placeholder 2"/>
          <p:cNvSpPr>
            <a:spLocks noGrp="1"/>
          </p:cNvSpPr>
          <p:nvPr>
            <p:ph idx="1"/>
          </p:nvPr>
        </p:nvSpPr>
        <p:spPr/>
        <p:txBody>
          <a:bodyPr/>
          <a:lstStyle/>
          <a:p>
            <a:pPr marL="114300" indent="0">
              <a:buNone/>
            </a:pPr>
            <a:endParaRPr lang="ro-RO" dirty="0" smtClean="0"/>
          </a:p>
          <a:p>
            <a:pPr marL="114300" indent="0">
              <a:buNone/>
            </a:pPr>
            <a:endParaRPr lang="ro-RO" dirty="0"/>
          </a:p>
        </p:txBody>
      </p:sp>
      <p:graphicFrame>
        <p:nvGraphicFramePr>
          <p:cNvPr id="4" name="Table 3"/>
          <p:cNvGraphicFramePr>
            <a:graphicFrameLocks noGrp="1"/>
          </p:cNvGraphicFramePr>
          <p:nvPr>
            <p:extLst>
              <p:ext uri="{D42A27DB-BD31-4B8C-83A1-F6EECF244321}">
                <p14:modId xmlns:p14="http://schemas.microsoft.com/office/powerpoint/2010/main" val="1479019815"/>
              </p:ext>
            </p:extLst>
          </p:nvPr>
        </p:nvGraphicFramePr>
        <p:xfrm>
          <a:off x="899592" y="2420888"/>
          <a:ext cx="6648399" cy="2724890"/>
        </p:xfrm>
        <a:graphic>
          <a:graphicData uri="http://schemas.openxmlformats.org/drawingml/2006/table">
            <a:tbl>
              <a:tblPr firstRow="1" bandRow="1">
                <a:tableStyleId>{5C22544A-7EE6-4342-B048-85BDC9FD1C3A}</a:tableStyleId>
              </a:tblPr>
              <a:tblGrid>
                <a:gridCol w="2216133"/>
                <a:gridCol w="2216133"/>
                <a:gridCol w="2216133"/>
              </a:tblGrid>
              <a:tr h="768085">
                <a:tc gridSpan="2">
                  <a:txBody>
                    <a:bodyPr/>
                    <a:lstStyle/>
                    <a:p>
                      <a:pPr algn="ctr"/>
                      <a:r>
                        <a:rPr lang="ro-RO" dirty="0" smtClean="0">
                          <a:solidFill>
                            <a:srgbClr val="C00000"/>
                          </a:solidFill>
                        </a:rPr>
                        <a:t>Formule consistente</a:t>
                      </a:r>
                      <a:endParaRPr lang="ro-RO" dirty="0">
                        <a:solidFill>
                          <a:srgbClr val="C00000"/>
                        </a:solidFill>
                      </a:endParaRPr>
                    </a:p>
                  </a:txBody>
                  <a:tcPr/>
                </a:tc>
                <a:tc hMerge="1">
                  <a:txBody>
                    <a:bodyPr/>
                    <a:lstStyle/>
                    <a:p>
                      <a:pPr algn="ctr"/>
                      <a:endParaRPr lang="ro-RO" dirty="0"/>
                    </a:p>
                  </a:txBody>
                  <a:tcPr/>
                </a:tc>
                <a:tc>
                  <a:txBody>
                    <a:bodyPr/>
                    <a:lstStyle/>
                    <a:p>
                      <a:pPr algn="ctr"/>
                      <a:r>
                        <a:rPr lang="ro-RO" dirty="0" smtClean="0">
                          <a:solidFill>
                            <a:srgbClr val="C00000"/>
                          </a:solidFill>
                        </a:rPr>
                        <a:t>Formule inconsistente</a:t>
                      </a:r>
                    </a:p>
                  </a:txBody>
                  <a:tcPr/>
                </a:tc>
              </a:tr>
              <a:tr h="768085">
                <a:tc>
                  <a:txBody>
                    <a:bodyPr/>
                    <a:lstStyle/>
                    <a:p>
                      <a:pPr algn="ctr"/>
                      <a:r>
                        <a:rPr lang="ro-RO" b="1" dirty="0" smtClean="0">
                          <a:solidFill>
                            <a:srgbClr val="00B0F0"/>
                          </a:solidFill>
                          <a:effectLst>
                            <a:outerShdw blurRad="38100" dist="38100" dir="2700000" algn="tl">
                              <a:srgbClr val="000000">
                                <a:alpha val="43137"/>
                              </a:srgbClr>
                            </a:outerShdw>
                          </a:effectLst>
                        </a:rPr>
                        <a:t>Tautologii</a:t>
                      </a:r>
                    </a:p>
                    <a:p>
                      <a:pPr algn="ctr"/>
                      <a:r>
                        <a:rPr lang="ro-RO" b="1" dirty="0" smtClean="0">
                          <a:solidFill>
                            <a:srgbClr val="00B0F0"/>
                          </a:solidFill>
                          <a:effectLst>
                            <a:outerShdw blurRad="38100" dist="38100" dir="2700000" algn="tl">
                              <a:srgbClr val="000000">
                                <a:alpha val="43137"/>
                              </a:srgbClr>
                            </a:outerShdw>
                          </a:effectLst>
                        </a:rPr>
                        <a:t>Legi logice</a:t>
                      </a:r>
                    </a:p>
                  </a:txBody>
                  <a:tcPr/>
                </a:tc>
                <a:tc>
                  <a:txBody>
                    <a:bodyPr/>
                    <a:lstStyle/>
                    <a:p>
                      <a:pPr algn="ctr"/>
                      <a:r>
                        <a:rPr lang="ro-RO" b="1" dirty="0" smtClean="0">
                          <a:solidFill>
                            <a:srgbClr val="00B0F0"/>
                          </a:solidFill>
                          <a:effectLst>
                            <a:outerShdw blurRad="38100" dist="38100" dir="2700000" algn="tl">
                              <a:srgbClr val="000000">
                                <a:alpha val="43137"/>
                              </a:srgbClr>
                            </a:outerShdw>
                          </a:effectLst>
                        </a:rPr>
                        <a:t>Formule contingente</a:t>
                      </a:r>
                    </a:p>
                    <a:p>
                      <a:pPr algn="ctr"/>
                      <a:r>
                        <a:rPr lang="ro-RO" b="1" dirty="0" smtClean="0">
                          <a:solidFill>
                            <a:srgbClr val="00B0F0"/>
                          </a:solidFill>
                          <a:effectLst>
                            <a:outerShdw blurRad="38100" dist="38100" dir="2700000" algn="tl">
                              <a:srgbClr val="000000">
                                <a:alpha val="43137"/>
                              </a:srgbClr>
                            </a:outerShdw>
                          </a:effectLst>
                        </a:rPr>
                        <a:t>Formule realizabile</a:t>
                      </a:r>
                      <a:endParaRPr lang="ro-RO" b="1" dirty="0">
                        <a:solidFill>
                          <a:srgbClr val="00B0F0"/>
                        </a:solidFill>
                        <a:effectLst>
                          <a:outerShdw blurRad="38100" dist="38100" dir="2700000" algn="tl">
                            <a:srgbClr val="000000">
                              <a:alpha val="43137"/>
                            </a:srgbClr>
                          </a:outerShdw>
                        </a:effectLst>
                      </a:endParaRPr>
                    </a:p>
                  </a:txBody>
                  <a:tcPr/>
                </a:tc>
                <a:tc>
                  <a:txBody>
                    <a:bodyPr/>
                    <a:lstStyle/>
                    <a:p>
                      <a:pPr algn="ctr"/>
                      <a:r>
                        <a:rPr lang="ro-RO" b="1" dirty="0" smtClean="0">
                          <a:solidFill>
                            <a:srgbClr val="00B0F0"/>
                          </a:solidFill>
                          <a:effectLst>
                            <a:outerShdw blurRad="38100" dist="38100" dir="2700000" algn="tl">
                              <a:srgbClr val="000000">
                                <a:alpha val="43137"/>
                              </a:srgbClr>
                            </a:outerShdw>
                          </a:effectLst>
                        </a:rPr>
                        <a:t>Contradicţii</a:t>
                      </a:r>
                      <a:endParaRPr lang="ro-RO" b="1" dirty="0">
                        <a:solidFill>
                          <a:srgbClr val="00B0F0"/>
                        </a:solidFill>
                        <a:effectLst>
                          <a:outerShdw blurRad="38100" dist="38100" dir="2700000" algn="tl">
                            <a:srgbClr val="000000">
                              <a:alpha val="43137"/>
                            </a:srgbClr>
                          </a:outerShdw>
                        </a:effectLst>
                      </a:endParaRPr>
                    </a:p>
                  </a:txBody>
                  <a:tcPr/>
                </a:tc>
              </a:tr>
              <a:tr h="768085">
                <a:tc>
                  <a:txBody>
                    <a:bodyPr/>
                    <a:lstStyle/>
                    <a:p>
                      <a:pPr algn="ctr"/>
                      <a:r>
                        <a:rPr lang="ro-RO" b="1" dirty="0" smtClean="0">
                          <a:solidFill>
                            <a:srgbClr val="FFC000"/>
                          </a:solidFill>
                        </a:rPr>
                        <a:t>Formule valide</a:t>
                      </a:r>
                      <a:endParaRPr lang="ro-RO" b="1" dirty="0">
                        <a:solidFill>
                          <a:srgbClr val="FFC000"/>
                        </a:solidFill>
                      </a:endParaRPr>
                    </a:p>
                  </a:txBody>
                  <a:tcPr/>
                </a:tc>
                <a:tc gridSpan="2">
                  <a:txBody>
                    <a:bodyPr/>
                    <a:lstStyle/>
                    <a:p>
                      <a:pPr algn="ctr"/>
                      <a:r>
                        <a:rPr lang="ro-RO" b="1" dirty="0" smtClean="0">
                          <a:solidFill>
                            <a:srgbClr val="FFC000"/>
                          </a:solidFill>
                        </a:rPr>
                        <a:t>Formule nevalide</a:t>
                      </a:r>
                      <a:endParaRPr lang="ro-RO" b="1" dirty="0">
                        <a:solidFill>
                          <a:srgbClr val="FFC000"/>
                        </a:solidFill>
                      </a:endParaRPr>
                    </a:p>
                  </a:txBody>
                  <a:tcPr/>
                </a:tc>
                <a:tc hMerge="1">
                  <a:txBody>
                    <a:bodyPr/>
                    <a:lstStyle/>
                    <a:p>
                      <a:pPr algn="ctr"/>
                      <a:endParaRPr lang="ro-RO" dirty="0"/>
                    </a:p>
                  </a:txBody>
                  <a:tcPr/>
                </a:tc>
              </a:tr>
            </a:tbl>
          </a:graphicData>
        </a:graphic>
      </p:graphicFrame>
    </p:spTree>
    <p:extLst>
      <p:ext uri="{BB962C8B-B14F-4D97-AF65-F5344CB8AC3E}">
        <p14:creationId xmlns:p14="http://schemas.microsoft.com/office/powerpoint/2010/main" val="232531078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Shape 1"/>
          <p:cNvSpPr txBox="1"/>
          <p:nvPr/>
        </p:nvSpPr>
        <p:spPr>
          <a:xfrm>
            <a:off x="457200" y="0"/>
            <a:ext cx="8229240" cy="1142640"/>
          </a:xfrm>
          <a:prstGeom prst="rect">
            <a:avLst/>
          </a:prstGeom>
        </p:spPr>
        <p:txBody>
          <a:bodyPr anchor="ctr"/>
          <a:lstStyle/>
          <a:p>
            <a:pPr algn="ctr">
              <a:lnSpc>
                <a:spcPct val="100000"/>
              </a:lnSpc>
            </a:pPr>
            <a:r>
              <a:rPr lang="ro-RO" sz="4400" dirty="0" smtClean="0">
                <a:solidFill>
                  <a:srgbClr val="000000"/>
                </a:solidFill>
                <a:latin typeface="Calibri"/>
              </a:rPr>
              <a:t>Se poate mai simplu?</a:t>
            </a:r>
            <a:endParaRPr dirty="0"/>
          </a:p>
        </p:txBody>
      </p:sp>
      <p:sp>
        <p:nvSpPr>
          <p:cNvPr id="7" name="TextShape 2"/>
          <p:cNvSpPr txBox="1"/>
          <p:nvPr/>
        </p:nvSpPr>
        <p:spPr>
          <a:xfrm>
            <a:off x="457200" y="838200"/>
            <a:ext cx="8229240" cy="6019800"/>
          </a:xfrm>
          <a:prstGeom prst="rect">
            <a:avLst/>
          </a:prstGeom>
        </p:spPr>
        <p:txBody>
          <a:bodyPr/>
          <a:lstStyle/>
          <a:p>
            <a:pPr>
              <a:lnSpc>
                <a:spcPct val="100000"/>
              </a:lnSpc>
            </a:pPr>
            <a:r>
              <a:rPr lang="ro-RO" sz="2800" b="1" dirty="0" smtClean="0"/>
              <a:t>Q</a:t>
            </a:r>
            <a:r>
              <a:rPr lang="ro-RO" sz="2800" dirty="0" smtClean="0"/>
              <a:t>: Metoda este bună, dar ce se întâmplă dacă am premise cu foarte multe variabile propoziționale? Dacă N este numărul variabilelor propoziționale din care este compusă o propoziție, atunci voi avea 2</a:t>
            </a:r>
            <a:r>
              <a:rPr lang="ro-RO" sz="2800" baseline="30000" dirty="0" smtClean="0"/>
              <a:t>N</a:t>
            </a:r>
            <a:r>
              <a:rPr lang="ro-RO" sz="2800" dirty="0" smtClean="0"/>
              <a:t> linii în tabel. Mi-ar lua o veșnicie să verific așa ceva.</a:t>
            </a:r>
          </a:p>
          <a:p>
            <a:pPr>
              <a:lnSpc>
                <a:spcPct val="100000"/>
              </a:lnSpc>
            </a:pPr>
            <a:endParaRPr lang="ro-RO" sz="2800" dirty="0" smtClean="0"/>
          </a:p>
          <a:p>
            <a:pPr>
              <a:lnSpc>
                <a:spcPct val="100000"/>
              </a:lnSpc>
            </a:pPr>
            <a:r>
              <a:rPr lang="ro-RO" sz="2800" b="1" dirty="0" smtClean="0"/>
              <a:t>A</a:t>
            </a:r>
            <a:r>
              <a:rPr lang="ro-RO" sz="2800" dirty="0" smtClean="0"/>
              <a:t>: Ne putem folosi de rezultate deja demonstrate. Știm ce scheme de raționament garantează validitatea unui argument! Dacă un argument anume respectă schema (pattern-ul?), atunci sigur este valid!</a:t>
            </a:r>
            <a:endParaRPr sz="2800" dirty="0"/>
          </a:p>
          <a:p>
            <a:pPr>
              <a:lnSpc>
                <a:spcPct val="100000"/>
              </a:lnSpc>
            </a:pPr>
            <a:endParaRPr sz="2000" dirty="0"/>
          </a:p>
          <a:p>
            <a:pPr>
              <a:lnSpc>
                <a:spcPct val="100000"/>
              </a:lnSpc>
            </a:pPr>
            <a:endParaRPr sz="2000" dirty="0"/>
          </a:p>
          <a:p>
            <a:pPr>
              <a:lnSpc>
                <a:spcPct val="100000"/>
              </a:lnSpc>
            </a:pPr>
            <a:endParaRPr sz="2000" dirty="0"/>
          </a:p>
        </p:txBody>
      </p:sp>
    </p:spTree>
    <p:extLst>
      <p:ext uri="{BB962C8B-B14F-4D97-AF65-F5344CB8AC3E}">
        <p14:creationId xmlns:p14="http://schemas.microsoft.com/office/powerpoint/2010/main" val="146965676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CustomShape 1"/>
          <p:cNvSpPr/>
          <p:nvPr/>
        </p:nvSpPr>
        <p:spPr>
          <a:xfrm flipH="1">
            <a:off x="380880" y="1600200"/>
            <a:ext cx="3352320" cy="4343040"/>
          </a:xfrm>
          <a:prstGeom prst="rect">
            <a:avLst/>
          </a:prstGeom>
          <a:solidFill>
            <a:srgbClr val="B9CDE5"/>
          </a:solidFill>
          <a:ln w="25560">
            <a:solidFill>
              <a:srgbClr val="3A5F8B"/>
            </a:solidFill>
            <a:round/>
          </a:ln>
        </p:spPr>
      </p:sp>
      <p:sp>
        <p:nvSpPr>
          <p:cNvPr id="146" name="TextShape 2"/>
          <p:cNvSpPr txBox="1"/>
          <p:nvPr/>
        </p:nvSpPr>
        <p:spPr>
          <a:xfrm>
            <a:off x="457200" y="274680"/>
            <a:ext cx="8229240" cy="1142640"/>
          </a:xfrm>
          <a:prstGeom prst="rect">
            <a:avLst/>
          </a:prstGeom>
        </p:spPr>
        <p:txBody>
          <a:bodyPr anchor="ctr"/>
          <a:lstStyle/>
          <a:p>
            <a:pPr algn="ctr">
              <a:lnSpc>
                <a:spcPct val="100000"/>
              </a:lnSpc>
            </a:pPr>
            <a:r>
              <a:rPr lang="en-US" sz="4400">
                <a:solidFill>
                  <a:srgbClr val="000000"/>
                </a:solidFill>
                <a:latin typeface="Calibri"/>
              </a:rPr>
              <a:t>Tipuri de argumente</a:t>
            </a:r>
            <a:endParaRPr/>
          </a:p>
        </p:txBody>
      </p:sp>
      <p:sp>
        <p:nvSpPr>
          <p:cNvPr id="147" name="TextShape 3"/>
          <p:cNvSpPr txBox="1"/>
          <p:nvPr/>
        </p:nvSpPr>
        <p:spPr>
          <a:xfrm>
            <a:off x="457200" y="1600200"/>
            <a:ext cx="3352320" cy="4525560"/>
          </a:xfrm>
          <a:prstGeom prst="rect">
            <a:avLst/>
          </a:prstGeom>
        </p:spPr>
        <p:txBody>
          <a:bodyPr/>
          <a:lstStyle/>
          <a:p>
            <a:pPr>
              <a:lnSpc>
                <a:spcPct val="100000"/>
              </a:lnSpc>
            </a:pPr>
            <a:r>
              <a:rPr lang="en-US" sz="3200" b="1" u="sng" dirty="0">
                <a:solidFill>
                  <a:srgbClr val="000000"/>
                </a:solidFill>
                <a:latin typeface="Calibri"/>
              </a:rPr>
              <a:t>Modus ponens</a:t>
            </a:r>
            <a:endParaRPr dirty="0"/>
          </a:p>
          <a:p>
            <a:pPr>
              <a:lnSpc>
                <a:spcPct val="100000"/>
              </a:lnSpc>
            </a:pPr>
            <a:r>
              <a:rPr lang="en-US" sz="3200" b="1" dirty="0">
                <a:solidFill>
                  <a:srgbClr val="000000"/>
                </a:solidFill>
                <a:latin typeface="Calibri"/>
              </a:rPr>
              <a:t>Forma </a:t>
            </a:r>
            <a:r>
              <a:rPr lang="en-US" sz="3200" b="1" dirty="0" smtClean="0">
                <a:solidFill>
                  <a:srgbClr val="000000"/>
                </a:solidFill>
                <a:latin typeface="Calibri"/>
              </a:rPr>
              <a:t>logic</a:t>
            </a:r>
            <a:r>
              <a:rPr lang="ro-RO" sz="3200" b="1" dirty="0" smtClean="0">
                <a:solidFill>
                  <a:srgbClr val="000000"/>
                </a:solidFill>
                <a:latin typeface="Calibri"/>
              </a:rPr>
              <a:t>ă</a:t>
            </a:r>
            <a:r>
              <a:rPr lang="en-US" sz="3200" b="1" dirty="0" smtClean="0">
                <a:solidFill>
                  <a:srgbClr val="000000"/>
                </a:solidFill>
                <a:latin typeface="Calibri"/>
              </a:rPr>
              <a:t>:</a:t>
            </a:r>
            <a:endParaRPr dirty="0"/>
          </a:p>
          <a:p>
            <a:pPr>
              <a:lnSpc>
                <a:spcPct val="100000"/>
              </a:lnSpc>
            </a:pPr>
            <a:r>
              <a:rPr lang="en-US" sz="3200" dirty="0" err="1">
                <a:solidFill>
                  <a:srgbClr val="000000"/>
                </a:solidFill>
                <a:latin typeface="Calibri"/>
              </a:rPr>
              <a:t>Premisa</a:t>
            </a:r>
            <a:r>
              <a:rPr lang="en-US" sz="3200" dirty="0">
                <a:solidFill>
                  <a:srgbClr val="000000"/>
                </a:solidFill>
                <a:latin typeface="Calibri"/>
              </a:rPr>
              <a:t> 1: A -&gt; B</a:t>
            </a:r>
            <a:endParaRPr dirty="0"/>
          </a:p>
          <a:p>
            <a:pPr>
              <a:lnSpc>
                <a:spcPct val="100000"/>
              </a:lnSpc>
            </a:pPr>
            <a:r>
              <a:rPr lang="en-US" sz="3200" dirty="0" err="1">
                <a:solidFill>
                  <a:srgbClr val="000000"/>
                </a:solidFill>
                <a:latin typeface="Calibri"/>
              </a:rPr>
              <a:t>Premisa</a:t>
            </a:r>
            <a:r>
              <a:rPr lang="en-US" sz="3200" dirty="0">
                <a:solidFill>
                  <a:srgbClr val="000000"/>
                </a:solidFill>
                <a:latin typeface="Calibri"/>
              </a:rPr>
              <a:t> 2: A</a:t>
            </a:r>
            <a:endParaRPr dirty="0"/>
          </a:p>
          <a:p>
            <a:pPr>
              <a:lnSpc>
                <a:spcPct val="100000"/>
              </a:lnSpc>
            </a:pPr>
            <a:r>
              <a:rPr lang="en-US" sz="3200" dirty="0" err="1">
                <a:solidFill>
                  <a:srgbClr val="000000"/>
                </a:solidFill>
                <a:latin typeface="Calibri"/>
              </a:rPr>
              <a:t>Concluzie</a:t>
            </a:r>
            <a:r>
              <a:rPr lang="en-US" sz="3200" dirty="0">
                <a:solidFill>
                  <a:srgbClr val="000000"/>
                </a:solidFill>
                <a:latin typeface="Calibri"/>
              </a:rPr>
              <a:t>: </a:t>
            </a:r>
            <a:r>
              <a:rPr lang="en-US" sz="3200" dirty="0" smtClean="0">
                <a:solidFill>
                  <a:srgbClr val="000000"/>
                </a:solidFill>
                <a:latin typeface="Calibri"/>
              </a:rPr>
              <a:t>B</a:t>
            </a:r>
          </a:p>
          <a:p>
            <a:pPr>
              <a:lnSpc>
                <a:spcPct val="100000"/>
              </a:lnSpc>
            </a:pPr>
            <a:endParaRPr lang="en-US" sz="3200" dirty="0">
              <a:solidFill>
                <a:srgbClr val="000000"/>
              </a:solidFill>
              <a:latin typeface="Calibri"/>
            </a:endParaRPr>
          </a:p>
          <a:p>
            <a:pPr>
              <a:lnSpc>
                <a:spcPct val="100000"/>
              </a:lnSpc>
            </a:pPr>
            <a:endParaRPr lang="en-US" sz="3200" dirty="0" smtClean="0">
              <a:solidFill>
                <a:srgbClr val="000000"/>
              </a:solidFill>
              <a:latin typeface="Calibri"/>
            </a:endParaRPr>
          </a:p>
          <a:p>
            <a:pPr>
              <a:lnSpc>
                <a:spcPct val="100000"/>
              </a:lnSpc>
            </a:pPr>
            <a:r>
              <a:rPr lang="en-US" sz="3200" dirty="0" smtClean="0">
                <a:solidFill>
                  <a:srgbClr val="000000"/>
                </a:solidFill>
                <a:latin typeface="Calibri"/>
              </a:rPr>
              <a:t>((A-&gt;B)&amp;A)-&gt;B</a:t>
            </a:r>
            <a:endParaRPr dirty="0"/>
          </a:p>
        </p:txBody>
      </p:sp>
      <p:sp>
        <p:nvSpPr>
          <p:cNvPr id="148" name="CustomShape 4"/>
          <p:cNvSpPr/>
          <p:nvPr/>
        </p:nvSpPr>
        <p:spPr>
          <a:xfrm>
            <a:off x="3733920" y="1523880"/>
            <a:ext cx="4952520" cy="4876560"/>
          </a:xfrm>
          <a:prstGeom prst="rect">
            <a:avLst/>
          </a:prstGeom>
          <a:noFill/>
          <a:ln>
            <a:noFill/>
          </a:ln>
        </p:spPr>
        <p:txBody>
          <a:bodyPr/>
          <a:lstStyle/>
          <a:p>
            <a:pPr>
              <a:lnSpc>
                <a:spcPct val="100000"/>
              </a:lnSpc>
            </a:pPr>
            <a:r>
              <a:rPr lang="en-US" sz="2800" b="1" dirty="0" err="1">
                <a:solidFill>
                  <a:srgbClr val="000000"/>
                </a:solidFill>
                <a:latin typeface="Calibri"/>
              </a:rPr>
              <a:t>Exemplu</a:t>
            </a:r>
            <a:r>
              <a:rPr lang="en-US" sz="2800" b="1" dirty="0">
                <a:solidFill>
                  <a:srgbClr val="000000"/>
                </a:solidFill>
                <a:latin typeface="Calibri"/>
              </a:rPr>
              <a:t>:</a:t>
            </a:r>
            <a:endParaRPr sz="1600" dirty="0"/>
          </a:p>
          <a:p>
            <a:pPr>
              <a:lnSpc>
                <a:spcPct val="100000"/>
              </a:lnSpc>
            </a:pPr>
            <a:r>
              <a:rPr lang="en-US" sz="2800" dirty="0" err="1" smtClean="0">
                <a:solidFill>
                  <a:srgbClr val="000000"/>
                </a:solidFill>
                <a:latin typeface="Calibri"/>
              </a:rPr>
              <a:t>Dac</a:t>
            </a:r>
            <a:r>
              <a:rPr lang="ro-RO" sz="2800" dirty="0" smtClean="0">
                <a:solidFill>
                  <a:srgbClr val="000000"/>
                </a:solidFill>
                <a:latin typeface="Calibri"/>
              </a:rPr>
              <a:t>ă</a:t>
            </a:r>
            <a:r>
              <a:rPr lang="en-US" sz="2800" dirty="0" smtClean="0">
                <a:solidFill>
                  <a:srgbClr val="000000"/>
                </a:solidFill>
                <a:latin typeface="Calibri"/>
              </a:rPr>
              <a:t> pre</a:t>
            </a:r>
            <a:r>
              <a:rPr lang="ro-RO" sz="2800" dirty="0" smtClean="0">
                <a:solidFill>
                  <a:srgbClr val="000000"/>
                </a:solidFill>
                <a:latin typeface="Calibri"/>
              </a:rPr>
              <a:t>ș</a:t>
            </a:r>
            <a:r>
              <a:rPr lang="en-US" sz="2800" dirty="0" err="1" smtClean="0">
                <a:solidFill>
                  <a:srgbClr val="000000"/>
                </a:solidFill>
                <a:latin typeface="Calibri"/>
              </a:rPr>
              <a:t>edintele</a:t>
            </a:r>
            <a:r>
              <a:rPr lang="en-US" sz="2800" dirty="0" smtClean="0">
                <a:solidFill>
                  <a:srgbClr val="000000"/>
                </a:solidFill>
                <a:latin typeface="Calibri"/>
              </a:rPr>
              <a:t> </a:t>
            </a:r>
            <a:r>
              <a:rPr lang="en-US" sz="2800" dirty="0" err="1" smtClean="0">
                <a:solidFill>
                  <a:srgbClr val="000000"/>
                </a:solidFill>
                <a:latin typeface="Calibri"/>
              </a:rPr>
              <a:t>dore</a:t>
            </a:r>
            <a:r>
              <a:rPr lang="ro-RO" sz="2800" dirty="0" smtClean="0">
                <a:solidFill>
                  <a:srgbClr val="000000"/>
                </a:solidFill>
                <a:latin typeface="Calibri"/>
              </a:rPr>
              <a:t>ș</a:t>
            </a:r>
            <a:r>
              <a:rPr lang="en-US" sz="2800" dirty="0" err="1" smtClean="0">
                <a:solidFill>
                  <a:srgbClr val="000000"/>
                </a:solidFill>
                <a:latin typeface="Calibri"/>
              </a:rPr>
              <a:t>te</a:t>
            </a:r>
            <a:r>
              <a:rPr lang="en-US" sz="2800" dirty="0" smtClean="0">
                <a:solidFill>
                  <a:srgbClr val="000000"/>
                </a:solidFill>
                <a:latin typeface="Calibri"/>
              </a:rPr>
              <a:t> s</a:t>
            </a:r>
            <a:r>
              <a:rPr lang="ro-RO" sz="2800" dirty="0" smtClean="0">
                <a:solidFill>
                  <a:srgbClr val="000000"/>
                </a:solidFill>
                <a:latin typeface="Calibri"/>
              </a:rPr>
              <a:t>ă</a:t>
            </a:r>
            <a:r>
              <a:rPr lang="en-US" sz="2800" dirty="0" smtClean="0">
                <a:solidFill>
                  <a:srgbClr val="000000"/>
                </a:solidFill>
                <a:latin typeface="Calibri"/>
              </a:rPr>
              <a:t>-</a:t>
            </a:r>
            <a:r>
              <a:rPr lang="ro-RO" sz="2800" dirty="0" err="1">
                <a:solidFill>
                  <a:srgbClr val="000000"/>
                </a:solidFill>
                <a:latin typeface="Calibri"/>
              </a:rPr>
              <a:t>ș</a:t>
            </a:r>
            <a:r>
              <a:rPr lang="en-US" sz="2800" dirty="0" smtClean="0">
                <a:solidFill>
                  <a:srgbClr val="000000"/>
                </a:solidFill>
                <a:latin typeface="Calibri"/>
              </a:rPr>
              <a:t>i </a:t>
            </a:r>
            <a:r>
              <a:rPr lang="en-US" sz="2800" dirty="0" err="1">
                <a:solidFill>
                  <a:srgbClr val="000000"/>
                </a:solidFill>
                <a:latin typeface="Calibri"/>
              </a:rPr>
              <a:t>respecte</a:t>
            </a:r>
            <a:r>
              <a:rPr lang="en-US" sz="2800" dirty="0">
                <a:solidFill>
                  <a:srgbClr val="000000"/>
                </a:solidFill>
                <a:latin typeface="Calibri"/>
              </a:rPr>
              <a:t> </a:t>
            </a:r>
            <a:r>
              <a:rPr lang="en-US" sz="2800" dirty="0" err="1">
                <a:solidFill>
                  <a:srgbClr val="000000"/>
                </a:solidFill>
                <a:latin typeface="Calibri"/>
              </a:rPr>
              <a:t>programul</a:t>
            </a:r>
            <a:r>
              <a:rPr lang="en-US" sz="2800" dirty="0">
                <a:solidFill>
                  <a:srgbClr val="000000"/>
                </a:solidFill>
                <a:latin typeface="Calibri"/>
              </a:rPr>
              <a:t> electoral, </a:t>
            </a:r>
            <a:r>
              <a:rPr lang="en-US" sz="2800" dirty="0" err="1">
                <a:solidFill>
                  <a:srgbClr val="000000"/>
                </a:solidFill>
                <a:latin typeface="Calibri"/>
              </a:rPr>
              <a:t>atunci</a:t>
            </a:r>
            <a:r>
              <a:rPr lang="en-US" sz="2800" dirty="0">
                <a:solidFill>
                  <a:srgbClr val="000000"/>
                </a:solidFill>
                <a:latin typeface="Calibri"/>
              </a:rPr>
              <a:t> </a:t>
            </a:r>
            <a:r>
              <a:rPr lang="en-US" sz="2800" dirty="0" err="1">
                <a:solidFill>
                  <a:srgbClr val="000000"/>
                </a:solidFill>
                <a:latin typeface="Calibri"/>
              </a:rPr>
              <a:t>va</a:t>
            </a:r>
            <a:r>
              <a:rPr lang="en-US" sz="2800" dirty="0">
                <a:solidFill>
                  <a:srgbClr val="000000"/>
                </a:solidFill>
                <a:latin typeface="Calibri"/>
              </a:rPr>
              <a:t> </a:t>
            </a:r>
            <a:r>
              <a:rPr lang="en-US" sz="2800" dirty="0" err="1">
                <a:solidFill>
                  <a:srgbClr val="000000"/>
                </a:solidFill>
                <a:latin typeface="Calibri"/>
              </a:rPr>
              <a:t>discuta</a:t>
            </a:r>
            <a:r>
              <a:rPr lang="en-US" sz="2800" dirty="0">
                <a:solidFill>
                  <a:srgbClr val="000000"/>
                </a:solidFill>
                <a:latin typeface="Calibri"/>
              </a:rPr>
              <a:t> cu </a:t>
            </a:r>
            <a:r>
              <a:rPr lang="en-US" sz="2800" dirty="0" err="1">
                <a:solidFill>
                  <a:srgbClr val="000000"/>
                </a:solidFill>
                <a:latin typeface="Calibri"/>
              </a:rPr>
              <a:t>primul</a:t>
            </a:r>
            <a:r>
              <a:rPr lang="en-US" sz="2800" dirty="0">
                <a:solidFill>
                  <a:srgbClr val="000000"/>
                </a:solidFill>
                <a:latin typeface="Calibri"/>
              </a:rPr>
              <a:t> </a:t>
            </a:r>
            <a:r>
              <a:rPr lang="en-US" sz="2800" dirty="0" err="1">
                <a:solidFill>
                  <a:srgbClr val="000000"/>
                </a:solidFill>
                <a:latin typeface="Calibri"/>
              </a:rPr>
              <a:t>ministru</a:t>
            </a:r>
            <a:r>
              <a:rPr lang="en-US" sz="2800" dirty="0">
                <a:solidFill>
                  <a:srgbClr val="000000"/>
                </a:solidFill>
                <a:latin typeface="Calibri"/>
              </a:rPr>
              <a:t>. </a:t>
            </a:r>
            <a:r>
              <a:rPr lang="en-US" sz="2800" dirty="0" smtClean="0">
                <a:solidFill>
                  <a:srgbClr val="000000"/>
                </a:solidFill>
                <a:latin typeface="Calibri"/>
              </a:rPr>
              <a:t>Pre</a:t>
            </a:r>
            <a:r>
              <a:rPr lang="ro-RO" sz="2800" dirty="0" smtClean="0">
                <a:solidFill>
                  <a:srgbClr val="000000"/>
                </a:solidFill>
                <a:latin typeface="Calibri"/>
              </a:rPr>
              <a:t>ș</a:t>
            </a:r>
            <a:r>
              <a:rPr lang="en-US" sz="2800" dirty="0" err="1" smtClean="0">
                <a:solidFill>
                  <a:srgbClr val="000000"/>
                </a:solidFill>
                <a:latin typeface="Calibri"/>
              </a:rPr>
              <a:t>edintele</a:t>
            </a:r>
            <a:r>
              <a:rPr lang="en-US" sz="2800" dirty="0" smtClean="0">
                <a:solidFill>
                  <a:srgbClr val="000000"/>
                </a:solidFill>
                <a:latin typeface="Calibri"/>
              </a:rPr>
              <a:t> </a:t>
            </a:r>
            <a:r>
              <a:rPr lang="en-US" sz="2800" dirty="0">
                <a:solidFill>
                  <a:srgbClr val="000000"/>
                </a:solidFill>
                <a:latin typeface="Calibri"/>
              </a:rPr>
              <a:t>a </a:t>
            </a:r>
            <a:r>
              <a:rPr lang="en-US" sz="2800" dirty="0" err="1">
                <a:solidFill>
                  <a:srgbClr val="000000"/>
                </a:solidFill>
                <a:latin typeface="Calibri"/>
              </a:rPr>
              <a:t>declarat</a:t>
            </a:r>
            <a:r>
              <a:rPr lang="en-US" sz="2800" dirty="0">
                <a:solidFill>
                  <a:srgbClr val="000000"/>
                </a:solidFill>
                <a:latin typeface="Calibri"/>
              </a:rPr>
              <a:t> </a:t>
            </a:r>
            <a:r>
              <a:rPr lang="en-US" sz="2800" dirty="0" err="1" smtClean="0">
                <a:solidFill>
                  <a:srgbClr val="000000"/>
                </a:solidFill>
                <a:latin typeface="Calibri"/>
              </a:rPr>
              <a:t>asear</a:t>
            </a:r>
            <a:r>
              <a:rPr lang="ro-RO" sz="2800" dirty="0" smtClean="0">
                <a:solidFill>
                  <a:srgbClr val="000000"/>
                </a:solidFill>
                <a:latin typeface="Calibri"/>
              </a:rPr>
              <a:t>ă</a:t>
            </a:r>
            <a:r>
              <a:rPr lang="en-US" sz="2800" dirty="0" smtClean="0">
                <a:solidFill>
                  <a:srgbClr val="000000"/>
                </a:solidFill>
                <a:latin typeface="Calibri"/>
              </a:rPr>
              <a:t> c</a:t>
            </a:r>
            <a:r>
              <a:rPr lang="ro-RO" sz="2800" dirty="0" smtClean="0">
                <a:solidFill>
                  <a:srgbClr val="000000"/>
                </a:solidFill>
                <a:latin typeface="Calibri"/>
              </a:rPr>
              <a:t>ă</a:t>
            </a:r>
            <a:r>
              <a:rPr lang="en-US" sz="2800" dirty="0" smtClean="0">
                <a:solidFill>
                  <a:srgbClr val="000000"/>
                </a:solidFill>
                <a:latin typeface="Calibri"/>
              </a:rPr>
              <a:t> </a:t>
            </a:r>
            <a:r>
              <a:rPr lang="en-US" sz="2800" dirty="0" err="1" smtClean="0">
                <a:solidFill>
                  <a:srgbClr val="000000"/>
                </a:solidFill>
                <a:latin typeface="Calibri"/>
              </a:rPr>
              <a:t>dore</a:t>
            </a:r>
            <a:r>
              <a:rPr lang="ro-RO" sz="2800" dirty="0" smtClean="0">
                <a:solidFill>
                  <a:srgbClr val="000000"/>
                </a:solidFill>
                <a:latin typeface="Calibri"/>
              </a:rPr>
              <a:t>ș</a:t>
            </a:r>
            <a:r>
              <a:rPr lang="en-US" sz="2800" dirty="0" err="1" smtClean="0">
                <a:solidFill>
                  <a:srgbClr val="000000"/>
                </a:solidFill>
                <a:latin typeface="Calibri"/>
              </a:rPr>
              <a:t>te</a:t>
            </a:r>
            <a:r>
              <a:rPr lang="en-US" sz="2800" dirty="0" smtClean="0">
                <a:solidFill>
                  <a:srgbClr val="000000"/>
                </a:solidFill>
                <a:latin typeface="Calibri"/>
              </a:rPr>
              <a:t> s</a:t>
            </a:r>
            <a:r>
              <a:rPr lang="ro-RO" sz="2800" dirty="0" smtClean="0">
                <a:solidFill>
                  <a:srgbClr val="000000"/>
                </a:solidFill>
                <a:latin typeface="Calibri"/>
              </a:rPr>
              <a:t>ă</a:t>
            </a:r>
            <a:r>
              <a:rPr lang="en-US" sz="2800" dirty="0" smtClean="0">
                <a:solidFill>
                  <a:srgbClr val="000000"/>
                </a:solidFill>
                <a:latin typeface="Calibri"/>
              </a:rPr>
              <a:t>-</a:t>
            </a:r>
            <a:r>
              <a:rPr lang="ro-RO" sz="2800" dirty="0" smtClean="0">
                <a:solidFill>
                  <a:srgbClr val="000000"/>
                </a:solidFill>
                <a:latin typeface="Calibri"/>
              </a:rPr>
              <a:t>ș</a:t>
            </a:r>
            <a:r>
              <a:rPr lang="en-US" sz="2800" dirty="0" smtClean="0">
                <a:solidFill>
                  <a:srgbClr val="000000"/>
                </a:solidFill>
                <a:latin typeface="Calibri"/>
              </a:rPr>
              <a:t>i </a:t>
            </a:r>
            <a:r>
              <a:rPr lang="en-US" sz="2800" dirty="0" err="1">
                <a:solidFill>
                  <a:srgbClr val="000000"/>
                </a:solidFill>
                <a:latin typeface="Calibri"/>
              </a:rPr>
              <a:t>respecte</a:t>
            </a:r>
            <a:r>
              <a:rPr lang="en-US" sz="2800" dirty="0">
                <a:solidFill>
                  <a:srgbClr val="000000"/>
                </a:solidFill>
                <a:latin typeface="Calibri"/>
              </a:rPr>
              <a:t> </a:t>
            </a:r>
            <a:r>
              <a:rPr lang="en-US" sz="2800" dirty="0" err="1">
                <a:solidFill>
                  <a:srgbClr val="000000"/>
                </a:solidFill>
                <a:latin typeface="Calibri"/>
              </a:rPr>
              <a:t>programul</a:t>
            </a:r>
            <a:r>
              <a:rPr lang="en-US" sz="2800" dirty="0">
                <a:solidFill>
                  <a:srgbClr val="000000"/>
                </a:solidFill>
                <a:latin typeface="Calibri"/>
              </a:rPr>
              <a:t> electoral. </a:t>
            </a:r>
            <a:r>
              <a:rPr lang="ro-RO" sz="2800" dirty="0" smtClean="0">
                <a:solidFill>
                  <a:srgbClr val="000000"/>
                </a:solidFill>
                <a:latin typeface="Calibri"/>
              </a:rPr>
              <a:t>Î</a:t>
            </a:r>
            <a:r>
              <a:rPr lang="en-US" sz="2800" dirty="0" smtClean="0">
                <a:solidFill>
                  <a:srgbClr val="000000"/>
                </a:solidFill>
                <a:latin typeface="Calibri"/>
              </a:rPr>
              <a:t>n </a:t>
            </a:r>
            <a:r>
              <a:rPr lang="en-US" sz="2800" dirty="0" err="1">
                <a:solidFill>
                  <a:srgbClr val="000000"/>
                </a:solidFill>
                <a:latin typeface="Calibri"/>
              </a:rPr>
              <a:t>concluzie</a:t>
            </a:r>
            <a:r>
              <a:rPr lang="en-US" sz="2800" dirty="0">
                <a:solidFill>
                  <a:srgbClr val="000000"/>
                </a:solidFill>
                <a:latin typeface="Calibri"/>
              </a:rPr>
              <a:t>, </a:t>
            </a:r>
            <a:r>
              <a:rPr lang="en-US" sz="2800" dirty="0" err="1">
                <a:solidFill>
                  <a:srgbClr val="000000"/>
                </a:solidFill>
                <a:latin typeface="Calibri"/>
              </a:rPr>
              <a:t>ar</a:t>
            </a:r>
            <a:r>
              <a:rPr lang="en-US" sz="2800" dirty="0">
                <a:solidFill>
                  <a:srgbClr val="000000"/>
                </a:solidFill>
                <a:latin typeface="Calibri"/>
              </a:rPr>
              <a:t> </a:t>
            </a:r>
            <a:r>
              <a:rPr lang="en-US" sz="2800" dirty="0" err="1">
                <a:solidFill>
                  <a:srgbClr val="000000"/>
                </a:solidFill>
                <a:latin typeface="Calibri"/>
              </a:rPr>
              <a:t>trebui</a:t>
            </a:r>
            <a:r>
              <a:rPr lang="en-US" sz="2800" dirty="0">
                <a:solidFill>
                  <a:srgbClr val="000000"/>
                </a:solidFill>
                <a:latin typeface="Calibri"/>
              </a:rPr>
              <a:t> </a:t>
            </a:r>
            <a:r>
              <a:rPr lang="en-US" sz="2800" dirty="0" smtClean="0">
                <a:solidFill>
                  <a:srgbClr val="000000"/>
                </a:solidFill>
                <a:latin typeface="Calibri"/>
              </a:rPr>
              <a:t>s</a:t>
            </a:r>
            <a:r>
              <a:rPr lang="ro-RO" sz="2800" dirty="0" smtClean="0">
                <a:solidFill>
                  <a:srgbClr val="000000"/>
                </a:solidFill>
                <a:latin typeface="Calibri"/>
              </a:rPr>
              <a:t>ă</a:t>
            </a:r>
            <a:r>
              <a:rPr lang="en-US" sz="2800" dirty="0" smtClean="0">
                <a:solidFill>
                  <a:srgbClr val="000000"/>
                </a:solidFill>
                <a:latin typeface="Calibri"/>
              </a:rPr>
              <a:t> </a:t>
            </a:r>
            <a:r>
              <a:rPr lang="en-US" sz="2800" dirty="0">
                <a:solidFill>
                  <a:srgbClr val="000000"/>
                </a:solidFill>
                <a:latin typeface="Calibri"/>
              </a:rPr>
              <a:t>ne </a:t>
            </a:r>
            <a:r>
              <a:rPr lang="en-US" sz="2800" dirty="0" smtClean="0">
                <a:solidFill>
                  <a:srgbClr val="000000"/>
                </a:solidFill>
                <a:latin typeface="Calibri"/>
              </a:rPr>
              <a:t>a</a:t>
            </a:r>
            <a:r>
              <a:rPr lang="ro-RO" sz="2800" dirty="0" smtClean="0">
                <a:solidFill>
                  <a:srgbClr val="000000"/>
                </a:solidFill>
                <a:latin typeface="Calibri"/>
              </a:rPr>
              <a:t>ș</a:t>
            </a:r>
            <a:r>
              <a:rPr lang="en-US" sz="2800" dirty="0" err="1" smtClean="0">
                <a:solidFill>
                  <a:srgbClr val="000000"/>
                </a:solidFill>
                <a:latin typeface="Calibri"/>
              </a:rPr>
              <a:t>tept</a:t>
            </a:r>
            <a:r>
              <a:rPr lang="ro-RO" sz="2800" dirty="0" smtClean="0">
                <a:solidFill>
                  <a:srgbClr val="000000"/>
                </a:solidFill>
                <a:latin typeface="Calibri"/>
              </a:rPr>
              <a:t>ă</a:t>
            </a:r>
            <a:r>
              <a:rPr lang="en-US" sz="2800" dirty="0" smtClean="0">
                <a:solidFill>
                  <a:srgbClr val="000000"/>
                </a:solidFill>
                <a:latin typeface="Calibri"/>
              </a:rPr>
              <a:t>m </a:t>
            </a:r>
            <a:r>
              <a:rPr lang="en-US" sz="2800" dirty="0">
                <a:solidFill>
                  <a:srgbClr val="000000"/>
                </a:solidFill>
                <a:latin typeface="Calibri"/>
              </a:rPr>
              <a:t>la o </a:t>
            </a:r>
            <a:r>
              <a:rPr lang="en-US" sz="2800" dirty="0" err="1" smtClean="0">
                <a:solidFill>
                  <a:srgbClr val="000000"/>
                </a:solidFill>
                <a:latin typeface="Calibri"/>
              </a:rPr>
              <a:t>discu</a:t>
            </a:r>
            <a:r>
              <a:rPr lang="ro-RO" sz="2800" dirty="0" smtClean="0">
                <a:solidFill>
                  <a:srgbClr val="000000"/>
                </a:solidFill>
                <a:latin typeface="Calibri"/>
              </a:rPr>
              <a:t>ț</a:t>
            </a:r>
            <a:r>
              <a:rPr lang="en-US" sz="2800" dirty="0" err="1" smtClean="0">
                <a:solidFill>
                  <a:srgbClr val="000000"/>
                </a:solidFill>
                <a:latin typeface="Calibri"/>
              </a:rPr>
              <a:t>ie</a:t>
            </a:r>
            <a:r>
              <a:rPr lang="en-US" sz="2800" dirty="0" smtClean="0">
                <a:solidFill>
                  <a:srgbClr val="000000"/>
                </a:solidFill>
                <a:latin typeface="Calibri"/>
              </a:rPr>
              <a:t> </a:t>
            </a:r>
            <a:r>
              <a:rPr lang="en-US" sz="2800" dirty="0">
                <a:solidFill>
                  <a:srgbClr val="000000"/>
                </a:solidFill>
                <a:latin typeface="Calibri"/>
              </a:rPr>
              <a:t>cu </a:t>
            </a:r>
            <a:r>
              <a:rPr lang="en-US" sz="2800" dirty="0" err="1">
                <a:solidFill>
                  <a:srgbClr val="000000"/>
                </a:solidFill>
                <a:latin typeface="Calibri"/>
              </a:rPr>
              <a:t>primul</a:t>
            </a:r>
            <a:r>
              <a:rPr lang="en-US" sz="2800" dirty="0">
                <a:solidFill>
                  <a:srgbClr val="000000"/>
                </a:solidFill>
                <a:latin typeface="Calibri"/>
              </a:rPr>
              <a:t> </a:t>
            </a:r>
            <a:r>
              <a:rPr lang="en-US" sz="2800" dirty="0" err="1">
                <a:solidFill>
                  <a:srgbClr val="000000"/>
                </a:solidFill>
                <a:latin typeface="Calibri"/>
              </a:rPr>
              <a:t>ministru</a:t>
            </a:r>
            <a:r>
              <a:rPr lang="en-US" sz="2800" dirty="0">
                <a:solidFill>
                  <a:srgbClr val="000000"/>
                </a:solidFill>
                <a:latin typeface="Calibri"/>
              </a:rPr>
              <a:t>.</a:t>
            </a:r>
            <a:endParaRPr sz="1600" dirty="0"/>
          </a:p>
          <a:p>
            <a:pPr>
              <a:lnSpc>
                <a:spcPct val="100000"/>
              </a:lnSpc>
            </a:pPr>
            <a:endParaRPr sz="1600" dirty="0"/>
          </a:p>
          <a:p>
            <a:pPr>
              <a:lnSpc>
                <a:spcPct val="100000"/>
              </a:lnSpc>
            </a:pPr>
            <a:endParaRPr sz="1600" dirty="0"/>
          </a:p>
          <a:p>
            <a:pPr>
              <a:lnSpc>
                <a:spcPct val="100000"/>
              </a:lnSpc>
            </a:pPr>
            <a:endParaRPr sz="1600" dirty="0"/>
          </a:p>
        </p:txBody>
      </p:sp>
    </p:spTree>
    <p:extLst>
      <p:ext uri="{BB962C8B-B14F-4D97-AF65-F5344CB8AC3E}">
        <p14:creationId xmlns:p14="http://schemas.microsoft.com/office/powerpoint/2010/main" val="229581375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CustomShape 1"/>
          <p:cNvSpPr/>
          <p:nvPr/>
        </p:nvSpPr>
        <p:spPr>
          <a:xfrm flipH="1">
            <a:off x="380880" y="1600200"/>
            <a:ext cx="3352320" cy="4343040"/>
          </a:xfrm>
          <a:prstGeom prst="rect">
            <a:avLst/>
          </a:prstGeom>
          <a:solidFill>
            <a:srgbClr val="B9CDE5"/>
          </a:solidFill>
          <a:ln w="25560">
            <a:solidFill>
              <a:srgbClr val="3A5F8B"/>
            </a:solidFill>
            <a:round/>
          </a:ln>
        </p:spPr>
      </p:sp>
      <p:sp>
        <p:nvSpPr>
          <p:cNvPr id="150" name="TextShape 2"/>
          <p:cNvSpPr txBox="1"/>
          <p:nvPr/>
        </p:nvSpPr>
        <p:spPr>
          <a:xfrm>
            <a:off x="457200" y="274680"/>
            <a:ext cx="8229240" cy="1142640"/>
          </a:xfrm>
          <a:prstGeom prst="rect">
            <a:avLst/>
          </a:prstGeom>
        </p:spPr>
        <p:txBody>
          <a:bodyPr anchor="ctr"/>
          <a:lstStyle/>
          <a:p>
            <a:pPr algn="ctr">
              <a:lnSpc>
                <a:spcPct val="100000"/>
              </a:lnSpc>
            </a:pPr>
            <a:r>
              <a:rPr lang="en-US" sz="4400">
                <a:solidFill>
                  <a:srgbClr val="000000"/>
                </a:solidFill>
                <a:latin typeface="Calibri"/>
              </a:rPr>
              <a:t>Tipuri de argumente</a:t>
            </a:r>
            <a:endParaRPr/>
          </a:p>
        </p:txBody>
      </p:sp>
      <p:sp>
        <p:nvSpPr>
          <p:cNvPr id="151" name="TextShape 3"/>
          <p:cNvSpPr txBox="1"/>
          <p:nvPr/>
        </p:nvSpPr>
        <p:spPr>
          <a:xfrm>
            <a:off x="457200" y="1600200"/>
            <a:ext cx="3352320" cy="4525560"/>
          </a:xfrm>
          <a:prstGeom prst="rect">
            <a:avLst/>
          </a:prstGeom>
        </p:spPr>
        <p:txBody>
          <a:bodyPr/>
          <a:lstStyle/>
          <a:p>
            <a:pPr>
              <a:lnSpc>
                <a:spcPct val="100000"/>
              </a:lnSpc>
            </a:pPr>
            <a:r>
              <a:rPr lang="en-US" sz="3200" b="1" u="sng" dirty="0">
                <a:solidFill>
                  <a:srgbClr val="000000"/>
                </a:solidFill>
                <a:latin typeface="Calibri"/>
              </a:rPr>
              <a:t>Modus </a:t>
            </a:r>
            <a:r>
              <a:rPr lang="en-US" sz="3200" b="1" u="sng" dirty="0" err="1">
                <a:solidFill>
                  <a:srgbClr val="000000"/>
                </a:solidFill>
                <a:latin typeface="Calibri"/>
              </a:rPr>
              <a:t>tollens</a:t>
            </a:r>
            <a:endParaRPr dirty="0"/>
          </a:p>
          <a:p>
            <a:pPr>
              <a:lnSpc>
                <a:spcPct val="100000"/>
              </a:lnSpc>
            </a:pPr>
            <a:r>
              <a:rPr lang="en-US" sz="3200" b="1" dirty="0">
                <a:solidFill>
                  <a:srgbClr val="000000"/>
                </a:solidFill>
                <a:latin typeface="Calibri"/>
              </a:rPr>
              <a:t>Forma </a:t>
            </a:r>
            <a:r>
              <a:rPr lang="en-US" sz="3200" b="1" dirty="0" smtClean="0">
                <a:solidFill>
                  <a:srgbClr val="000000"/>
                </a:solidFill>
                <a:latin typeface="Calibri"/>
              </a:rPr>
              <a:t>logic</a:t>
            </a:r>
            <a:r>
              <a:rPr lang="ro-RO" sz="3200" b="1" dirty="0" smtClean="0">
                <a:solidFill>
                  <a:srgbClr val="000000"/>
                </a:solidFill>
                <a:latin typeface="Calibri"/>
              </a:rPr>
              <a:t>ă</a:t>
            </a:r>
            <a:r>
              <a:rPr lang="en-US" sz="3200" b="1" dirty="0" smtClean="0">
                <a:solidFill>
                  <a:srgbClr val="000000"/>
                </a:solidFill>
                <a:latin typeface="Calibri"/>
              </a:rPr>
              <a:t>:</a:t>
            </a:r>
            <a:endParaRPr dirty="0"/>
          </a:p>
          <a:p>
            <a:pPr>
              <a:lnSpc>
                <a:spcPct val="100000"/>
              </a:lnSpc>
            </a:pPr>
            <a:r>
              <a:rPr lang="en-US" sz="3200" dirty="0" err="1">
                <a:solidFill>
                  <a:srgbClr val="000000"/>
                </a:solidFill>
                <a:latin typeface="Calibri"/>
              </a:rPr>
              <a:t>Premisa</a:t>
            </a:r>
            <a:r>
              <a:rPr lang="en-US" sz="3200" dirty="0">
                <a:solidFill>
                  <a:srgbClr val="000000"/>
                </a:solidFill>
                <a:latin typeface="Calibri"/>
              </a:rPr>
              <a:t> 1: A -&gt; B</a:t>
            </a:r>
            <a:endParaRPr dirty="0"/>
          </a:p>
          <a:p>
            <a:pPr>
              <a:lnSpc>
                <a:spcPct val="100000"/>
              </a:lnSpc>
            </a:pPr>
            <a:r>
              <a:rPr lang="en-US" sz="3200" dirty="0" err="1">
                <a:solidFill>
                  <a:srgbClr val="000000"/>
                </a:solidFill>
                <a:latin typeface="Calibri"/>
              </a:rPr>
              <a:t>Premisa</a:t>
            </a:r>
            <a:r>
              <a:rPr lang="en-US" sz="3200" dirty="0">
                <a:solidFill>
                  <a:srgbClr val="000000"/>
                </a:solidFill>
                <a:latin typeface="Calibri"/>
              </a:rPr>
              <a:t> 2: non-B</a:t>
            </a:r>
            <a:endParaRPr dirty="0"/>
          </a:p>
          <a:p>
            <a:pPr>
              <a:lnSpc>
                <a:spcPct val="100000"/>
              </a:lnSpc>
            </a:pPr>
            <a:r>
              <a:rPr lang="en-US" sz="3200" dirty="0" err="1">
                <a:solidFill>
                  <a:srgbClr val="000000"/>
                </a:solidFill>
                <a:latin typeface="Calibri"/>
              </a:rPr>
              <a:t>Concluzie</a:t>
            </a:r>
            <a:r>
              <a:rPr lang="en-US" sz="3200" dirty="0">
                <a:solidFill>
                  <a:srgbClr val="000000"/>
                </a:solidFill>
                <a:latin typeface="Calibri"/>
              </a:rPr>
              <a:t>: non-A</a:t>
            </a:r>
            <a:endParaRPr dirty="0"/>
          </a:p>
        </p:txBody>
      </p:sp>
      <p:sp>
        <p:nvSpPr>
          <p:cNvPr id="152" name="CustomShape 4"/>
          <p:cNvSpPr/>
          <p:nvPr/>
        </p:nvSpPr>
        <p:spPr>
          <a:xfrm>
            <a:off x="3733920" y="1523880"/>
            <a:ext cx="4952520" cy="5333760"/>
          </a:xfrm>
          <a:prstGeom prst="rect">
            <a:avLst/>
          </a:prstGeom>
          <a:noFill/>
          <a:ln>
            <a:noFill/>
          </a:ln>
        </p:spPr>
        <p:txBody>
          <a:bodyPr/>
          <a:lstStyle/>
          <a:p>
            <a:pPr>
              <a:lnSpc>
                <a:spcPct val="100000"/>
              </a:lnSpc>
            </a:pPr>
            <a:r>
              <a:rPr lang="en-US" sz="3200" b="1" dirty="0" err="1">
                <a:solidFill>
                  <a:srgbClr val="000000"/>
                </a:solidFill>
                <a:latin typeface="Calibri"/>
              </a:rPr>
              <a:t>Exemplu</a:t>
            </a:r>
            <a:r>
              <a:rPr lang="en-US" sz="3200" b="1" dirty="0">
                <a:solidFill>
                  <a:srgbClr val="000000"/>
                </a:solidFill>
                <a:latin typeface="Calibri"/>
              </a:rPr>
              <a:t>:</a:t>
            </a:r>
            <a:endParaRPr dirty="0"/>
          </a:p>
          <a:p>
            <a:pPr>
              <a:lnSpc>
                <a:spcPct val="100000"/>
              </a:lnSpc>
            </a:pPr>
            <a:r>
              <a:rPr lang="en-US" sz="3200" dirty="0" smtClean="0">
                <a:solidFill>
                  <a:srgbClr val="000000"/>
                </a:solidFill>
                <a:latin typeface="Calibri"/>
              </a:rPr>
              <a:t>Da</a:t>
            </a:r>
            <a:r>
              <a:rPr lang="ro-RO" sz="3200" dirty="0" smtClean="0">
                <a:solidFill>
                  <a:srgbClr val="000000"/>
                </a:solidFill>
                <a:latin typeface="Calibri"/>
              </a:rPr>
              <a:t>că</a:t>
            </a:r>
            <a:r>
              <a:rPr lang="en-US" sz="3200" dirty="0" smtClean="0">
                <a:solidFill>
                  <a:srgbClr val="000000"/>
                </a:solidFill>
                <a:latin typeface="Calibri"/>
              </a:rPr>
              <a:t> </a:t>
            </a:r>
            <a:r>
              <a:rPr lang="en-US" sz="3200" dirty="0">
                <a:solidFill>
                  <a:srgbClr val="000000"/>
                </a:solidFill>
                <a:latin typeface="Calibri"/>
              </a:rPr>
              <a:t>Superman </a:t>
            </a:r>
            <a:r>
              <a:rPr lang="en-US" sz="3200" dirty="0" err="1">
                <a:solidFill>
                  <a:srgbClr val="000000"/>
                </a:solidFill>
                <a:latin typeface="Calibri"/>
              </a:rPr>
              <a:t>este</a:t>
            </a:r>
            <a:r>
              <a:rPr lang="en-US" sz="3200" dirty="0">
                <a:solidFill>
                  <a:srgbClr val="000000"/>
                </a:solidFill>
                <a:latin typeface="Calibri"/>
              </a:rPr>
              <a:t> </a:t>
            </a:r>
            <a:r>
              <a:rPr lang="en-US" sz="3200" dirty="0" err="1" smtClean="0">
                <a:solidFill>
                  <a:srgbClr val="000000"/>
                </a:solidFill>
                <a:latin typeface="Calibri"/>
              </a:rPr>
              <a:t>fiin</a:t>
            </a:r>
            <a:r>
              <a:rPr lang="ro-RO" sz="3200" dirty="0" smtClean="0">
                <a:solidFill>
                  <a:srgbClr val="000000"/>
                </a:solidFill>
                <a:latin typeface="Calibri"/>
              </a:rPr>
              <a:t>ț</a:t>
            </a:r>
            <a:r>
              <a:rPr lang="ro-RO" sz="3200" dirty="0">
                <a:solidFill>
                  <a:srgbClr val="000000"/>
                </a:solidFill>
                <a:latin typeface="Calibri"/>
              </a:rPr>
              <a:t>ă</a:t>
            </a:r>
            <a:r>
              <a:rPr lang="en-US" sz="3200" dirty="0" smtClean="0">
                <a:solidFill>
                  <a:srgbClr val="000000"/>
                </a:solidFill>
                <a:latin typeface="Calibri"/>
              </a:rPr>
              <a:t> </a:t>
            </a:r>
            <a:r>
              <a:rPr lang="en-US" sz="3200" dirty="0" err="1" smtClean="0">
                <a:solidFill>
                  <a:srgbClr val="000000"/>
                </a:solidFill>
                <a:latin typeface="Calibri"/>
              </a:rPr>
              <a:t>uman</a:t>
            </a:r>
            <a:r>
              <a:rPr lang="ro-RO" sz="3200" dirty="0" smtClean="0">
                <a:solidFill>
                  <a:srgbClr val="000000"/>
                </a:solidFill>
                <a:latin typeface="Calibri"/>
              </a:rPr>
              <a:t>ă</a:t>
            </a:r>
            <a:r>
              <a:rPr lang="en-US" sz="3200" dirty="0" smtClean="0">
                <a:solidFill>
                  <a:srgbClr val="000000"/>
                </a:solidFill>
                <a:latin typeface="Calibri"/>
              </a:rPr>
              <a:t>, </a:t>
            </a:r>
            <a:r>
              <a:rPr lang="en-US" sz="3200" dirty="0" err="1">
                <a:solidFill>
                  <a:srgbClr val="000000"/>
                </a:solidFill>
                <a:latin typeface="Calibri"/>
              </a:rPr>
              <a:t>atunci</a:t>
            </a:r>
            <a:r>
              <a:rPr lang="en-US" sz="3200" dirty="0">
                <a:solidFill>
                  <a:srgbClr val="000000"/>
                </a:solidFill>
                <a:latin typeface="Calibri"/>
              </a:rPr>
              <a:t> are ADN </a:t>
            </a:r>
            <a:r>
              <a:rPr lang="en-US" sz="3200" dirty="0" err="1">
                <a:solidFill>
                  <a:srgbClr val="000000"/>
                </a:solidFill>
                <a:latin typeface="Calibri"/>
              </a:rPr>
              <a:t>uman</a:t>
            </a:r>
            <a:r>
              <a:rPr lang="en-US" sz="3200" dirty="0">
                <a:solidFill>
                  <a:srgbClr val="000000"/>
                </a:solidFill>
                <a:latin typeface="Calibri"/>
              </a:rPr>
              <a:t>. Superman nu are ADN </a:t>
            </a:r>
            <a:r>
              <a:rPr lang="en-US" sz="3200" dirty="0" err="1">
                <a:solidFill>
                  <a:srgbClr val="000000"/>
                </a:solidFill>
                <a:latin typeface="Calibri"/>
              </a:rPr>
              <a:t>uman</a:t>
            </a:r>
            <a:r>
              <a:rPr lang="en-US" sz="3200" dirty="0">
                <a:solidFill>
                  <a:srgbClr val="000000"/>
                </a:solidFill>
                <a:latin typeface="Calibri"/>
              </a:rPr>
              <a:t>, </a:t>
            </a:r>
            <a:r>
              <a:rPr lang="en-US" sz="3200" dirty="0" err="1">
                <a:solidFill>
                  <a:srgbClr val="000000"/>
                </a:solidFill>
                <a:latin typeface="Calibri"/>
              </a:rPr>
              <a:t>deci</a:t>
            </a:r>
            <a:r>
              <a:rPr lang="en-US" sz="3200" dirty="0">
                <a:solidFill>
                  <a:srgbClr val="000000"/>
                </a:solidFill>
                <a:latin typeface="Calibri"/>
              </a:rPr>
              <a:t> Superman nu </a:t>
            </a:r>
            <a:r>
              <a:rPr lang="en-US" sz="3200" dirty="0" err="1">
                <a:solidFill>
                  <a:srgbClr val="000000"/>
                </a:solidFill>
                <a:latin typeface="Calibri"/>
              </a:rPr>
              <a:t>este</a:t>
            </a:r>
            <a:r>
              <a:rPr lang="en-US" sz="3200" dirty="0">
                <a:solidFill>
                  <a:srgbClr val="000000"/>
                </a:solidFill>
                <a:latin typeface="Calibri"/>
              </a:rPr>
              <a:t> </a:t>
            </a:r>
            <a:r>
              <a:rPr lang="en-US" sz="3200" dirty="0" err="1" smtClean="0">
                <a:solidFill>
                  <a:srgbClr val="000000"/>
                </a:solidFill>
                <a:latin typeface="Calibri"/>
              </a:rPr>
              <a:t>fiin</a:t>
            </a:r>
            <a:r>
              <a:rPr lang="ro-RO" sz="3200" dirty="0" smtClean="0">
                <a:solidFill>
                  <a:srgbClr val="000000"/>
                </a:solidFill>
                <a:latin typeface="Calibri"/>
              </a:rPr>
              <a:t>ță</a:t>
            </a:r>
            <a:r>
              <a:rPr lang="en-US" sz="3200" dirty="0" smtClean="0">
                <a:solidFill>
                  <a:srgbClr val="000000"/>
                </a:solidFill>
                <a:latin typeface="Calibri"/>
              </a:rPr>
              <a:t> </a:t>
            </a:r>
            <a:r>
              <a:rPr lang="en-US" sz="3200" dirty="0" err="1" smtClean="0">
                <a:solidFill>
                  <a:srgbClr val="000000"/>
                </a:solidFill>
                <a:latin typeface="Calibri"/>
              </a:rPr>
              <a:t>uman</a:t>
            </a:r>
            <a:r>
              <a:rPr lang="ro-RO" sz="3200" dirty="0" smtClean="0">
                <a:solidFill>
                  <a:srgbClr val="000000"/>
                </a:solidFill>
                <a:latin typeface="Calibri"/>
              </a:rPr>
              <a:t>ă</a:t>
            </a:r>
            <a:r>
              <a:rPr lang="en-US" sz="3200" dirty="0" smtClean="0">
                <a:solidFill>
                  <a:srgbClr val="000000"/>
                </a:solidFill>
                <a:latin typeface="Calibri"/>
              </a:rPr>
              <a:t>.</a:t>
            </a:r>
            <a:endParaRPr dirty="0"/>
          </a:p>
          <a:p>
            <a:pPr>
              <a:lnSpc>
                <a:spcPct val="100000"/>
              </a:lnSpc>
            </a:pPr>
            <a:endParaRPr dirty="0"/>
          </a:p>
          <a:p>
            <a:pPr>
              <a:lnSpc>
                <a:spcPct val="100000"/>
              </a:lnSpc>
            </a:pPr>
            <a:endParaRPr dirty="0"/>
          </a:p>
          <a:p>
            <a:pPr>
              <a:lnSpc>
                <a:spcPct val="100000"/>
              </a:lnSpc>
            </a:pPr>
            <a:endParaRPr dirty="0"/>
          </a:p>
        </p:txBody>
      </p:sp>
    </p:spTree>
    <p:extLst>
      <p:ext uri="{BB962C8B-B14F-4D97-AF65-F5344CB8AC3E}">
        <p14:creationId xmlns:p14="http://schemas.microsoft.com/office/powerpoint/2010/main" val="128866000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CustomShape 1"/>
          <p:cNvSpPr/>
          <p:nvPr/>
        </p:nvSpPr>
        <p:spPr>
          <a:xfrm flipH="1">
            <a:off x="380880" y="1600200"/>
            <a:ext cx="3352320" cy="4343040"/>
          </a:xfrm>
          <a:prstGeom prst="rect">
            <a:avLst/>
          </a:prstGeom>
          <a:solidFill>
            <a:srgbClr val="B9CDE5"/>
          </a:solidFill>
          <a:ln w="25560">
            <a:solidFill>
              <a:srgbClr val="3A5F8B"/>
            </a:solidFill>
            <a:round/>
          </a:ln>
        </p:spPr>
      </p:sp>
      <p:sp>
        <p:nvSpPr>
          <p:cNvPr id="154" name="TextShape 2"/>
          <p:cNvSpPr txBox="1"/>
          <p:nvPr/>
        </p:nvSpPr>
        <p:spPr>
          <a:xfrm>
            <a:off x="457200" y="274680"/>
            <a:ext cx="8229240" cy="1142640"/>
          </a:xfrm>
          <a:prstGeom prst="rect">
            <a:avLst/>
          </a:prstGeom>
        </p:spPr>
        <p:txBody>
          <a:bodyPr anchor="ctr"/>
          <a:lstStyle/>
          <a:p>
            <a:pPr algn="ctr">
              <a:lnSpc>
                <a:spcPct val="100000"/>
              </a:lnSpc>
            </a:pPr>
            <a:r>
              <a:rPr lang="en-US" sz="4400">
                <a:solidFill>
                  <a:srgbClr val="000000"/>
                </a:solidFill>
                <a:latin typeface="Calibri"/>
              </a:rPr>
              <a:t>Tipuri de argumente</a:t>
            </a:r>
            <a:endParaRPr/>
          </a:p>
        </p:txBody>
      </p:sp>
      <p:sp>
        <p:nvSpPr>
          <p:cNvPr id="155" name="TextShape 3"/>
          <p:cNvSpPr txBox="1"/>
          <p:nvPr/>
        </p:nvSpPr>
        <p:spPr>
          <a:xfrm>
            <a:off x="457200" y="1600200"/>
            <a:ext cx="3352320" cy="4343040"/>
          </a:xfrm>
          <a:prstGeom prst="rect">
            <a:avLst/>
          </a:prstGeom>
        </p:spPr>
        <p:txBody>
          <a:bodyPr/>
          <a:lstStyle/>
          <a:p>
            <a:pPr>
              <a:lnSpc>
                <a:spcPct val="100000"/>
              </a:lnSpc>
            </a:pPr>
            <a:r>
              <a:rPr lang="en-US" sz="2800" b="1" u="sng" dirty="0" err="1">
                <a:solidFill>
                  <a:srgbClr val="000000"/>
                </a:solidFill>
                <a:latin typeface="Calibri"/>
              </a:rPr>
              <a:t>Silogismul</a:t>
            </a:r>
            <a:r>
              <a:rPr lang="en-US" sz="2800" b="1" u="sng" dirty="0">
                <a:solidFill>
                  <a:srgbClr val="000000"/>
                </a:solidFill>
                <a:latin typeface="Calibri"/>
              </a:rPr>
              <a:t> </a:t>
            </a:r>
            <a:r>
              <a:rPr lang="en-US" sz="2800" b="1" u="sng" dirty="0" err="1">
                <a:solidFill>
                  <a:srgbClr val="000000"/>
                </a:solidFill>
                <a:latin typeface="Calibri"/>
              </a:rPr>
              <a:t>disjunctiv</a:t>
            </a:r>
            <a:endParaRPr sz="1600" dirty="0"/>
          </a:p>
          <a:p>
            <a:pPr>
              <a:lnSpc>
                <a:spcPct val="100000"/>
              </a:lnSpc>
            </a:pPr>
            <a:r>
              <a:rPr lang="en-US" sz="2800" b="1" dirty="0">
                <a:solidFill>
                  <a:srgbClr val="000000"/>
                </a:solidFill>
                <a:latin typeface="Calibri"/>
              </a:rPr>
              <a:t>Forma </a:t>
            </a:r>
            <a:r>
              <a:rPr lang="en-US" sz="2800" b="1" dirty="0" smtClean="0">
                <a:solidFill>
                  <a:srgbClr val="000000"/>
                </a:solidFill>
                <a:latin typeface="Calibri"/>
              </a:rPr>
              <a:t>logic</a:t>
            </a:r>
            <a:r>
              <a:rPr lang="ro-RO" sz="2800" b="1" dirty="0" smtClean="0">
                <a:solidFill>
                  <a:srgbClr val="000000"/>
                </a:solidFill>
                <a:latin typeface="Calibri"/>
              </a:rPr>
              <a:t>ă</a:t>
            </a:r>
            <a:r>
              <a:rPr lang="en-US" sz="2800" b="1" dirty="0" smtClean="0">
                <a:solidFill>
                  <a:srgbClr val="000000"/>
                </a:solidFill>
                <a:latin typeface="Calibri"/>
              </a:rPr>
              <a:t>:</a:t>
            </a:r>
            <a:endParaRPr sz="1600" dirty="0"/>
          </a:p>
          <a:p>
            <a:pPr>
              <a:lnSpc>
                <a:spcPct val="100000"/>
              </a:lnSpc>
            </a:pPr>
            <a:r>
              <a:rPr lang="en-US" sz="2800" dirty="0" err="1">
                <a:solidFill>
                  <a:srgbClr val="000000"/>
                </a:solidFill>
                <a:latin typeface="Calibri"/>
              </a:rPr>
              <a:t>Premisa</a:t>
            </a:r>
            <a:r>
              <a:rPr lang="en-US" sz="2800" dirty="0">
                <a:solidFill>
                  <a:srgbClr val="000000"/>
                </a:solidFill>
                <a:latin typeface="Calibri"/>
              </a:rPr>
              <a:t> 1: A </a:t>
            </a:r>
            <a:r>
              <a:rPr lang="en-US" sz="2800" dirty="0" err="1">
                <a:solidFill>
                  <a:srgbClr val="000000"/>
                </a:solidFill>
                <a:latin typeface="Calibri"/>
              </a:rPr>
              <a:t>sau</a:t>
            </a:r>
            <a:r>
              <a:rPr lang="en-US" sz="2800" dirty="0">
                <a:solidFill>
                  <a:srgbClr val="000000"/>
                </a:solidFill>
                <a:latin typeface="Calibri"/>
              </a:rPr>
              <a:t> B</a:t>
            </a:r>
            <a:endParaRPr sz="1600" dirty="0"/>
          </a:p>
          <a:p>
            <a:pPr>
              <a:lnSpc>
                <a:spcPct val="100000"/>
              </a:lnSpc>
            </a:pPr>
            <a:r>
              <a:rPr lang="en-US" sz="2800" dirty="0" err="1">
                <a:solidFill>
                  <a:srgbClr val="000000"/>
                </a:solidFill>
                <a:latin typeface="Calibri"/>
              </a:rPr>
              <a:t>Premisa</a:t>
            </a:r>
            <a:r>
              <a:rPr lang="en-US" sz="2800" dirty="0">
                <a:solidFill>
                  <a:srgbClr val="000000"/>
                </a:solidFill>
                <a:latin typeface="Calibri"/>
              </a:rPr>
              <a:t> 2: non-B</a:t>
            </a:r>
            <a:endParaRPr sz="1600" dirty="0"/>
          </a:p>
          <a:p>
            <a:pPr>
              <a:lnSpc>
                <a:spcPct val="100000"/>
              </a:lnSpc>
            </a:pPr>
            <a:r>
              <a:rPr lang="en-US" sz="2800" dirty="0" err="1">
                <a:solidFill>
                  <a:srgbClr val="000000"/>
                </a:solidFill>
                <a:latin typeface="Calibri"/>
              </a:rPr>
              <a:t>Concluzie</a:t>
            </a:r>
            <a:r>
              <a:rPr lang="en-US" sz="2800" dirty="0">
                <a:solidFill>
                  <a:srgbClr val="000000"/>
                </a:solidFill>
                <a:latin typeface="Calibri"/>
              </a:rPr>
              <a:t>: A</a:t>
            </a:r>
            <a:endParaRPr sz="1600" dirty="0"/>
          </a:p>
          <a:p>
            <a:pPr>
              <a:lnSpc>
                <a:spcPct val="100000"/>
              </a:lnSpc>
            </a:pPr>
            <a:endParaRPr sz="1600" dirty="0"/>
          </a:p>
          <a:p>
            <a:pPr>
              <a:lnSpc>
                <a:spcPct val="100000"/>
              </a:lnSpc>
            </a:pPr>
            <a:r>
              <a:rPr lang="en-US" sz="2800" dirty="0" err="1">
                <a:solidFill>
                  <a:srgbClr val="000000"/>
                </a:solidFill>
                <a:latin typeface="Calibri"/>
              </a:rPr>
              <a:t>Premisa</a:t>
            </a:r>
            <a:r>
              <a:rPr lang="en-US" sz="2800" dirty="0">
                <a:solidFill>
                  <a:srgbClr val="000000"/>
                </a:solidFill>
                <a:latin typeface="Calibri"/>
              </a:rPr>
              <a:t> 1: A </a:t>
            </a:r>
            <a:r>
              <a:rPr lang="en-US" sz="2800" dirty="0" err="1">
                <a:solidFill>
                  <a:srgbClr val="000000"/>
                </a:solidFill>
                <a:latin typeface="Calibri"/>
              </a:rPr>
              <a:t>sau</a:t>
            </a:r>
            <a:r>
              <a:rPr lang="en-US" sz="2800" dirty="0">
                <a:solidFill>
                  <a:srgbClr val="000000"/>
                </a:solidFill>
                <a:latin typeface="Calibri"/>
              </a:rPr>
              <a:t> B</a:t>
            </a:r>
            <a:endParaRPr sz="1600" dirty="0"/>
          </a:p>
          <a:p>
            <a:pPr>
              <a:lnSpc>
                <a:spcPct val="100000"/>
              </a:lnSpc>
            </a:pPr>
            <a:r>
              <a:rPr lang="en-US" sz="2800" dirty="0" err="1">
                <a:solidFill>
                  <a:srgbClr val="000000"/>
                </a:solidFill>
                <a:latin typeface="Calibri"/>
              </a:rPr>
              <a:t>Premisa</a:t>
            </a:r>
            <a:r>
              <a:rPr lang="en-US" sz="2800" dirty="0">
                <a:solidFill>
                  <a:srgbClr val="000000"/>
                </a:solidFill>
                <a:latin typeface="Calibri"/>
              </a:rPr>
              <a:t> 2: non-A</a:t>
            </a:r>
            <a:endParaRPr sz="1600" dirty="0"/>
          </a:p>
          <a:p>
            <a:pPr>
              <a:lnSpc>
                <a:spcPct val="100000"/>
              </a:lnSpc>
            </a:pPr>
            <a:r>
              <a:rPr lang="en-US" sz="2800" dirty="0" err="1">
                <a:solidFill>
                  <a:srgbClr val="000000"/>
                </a:solidFill>
                <a:latin typeface="Calibri"/>
              </a:rPr>
              <a:t>Concluzia</a:t>
            </a:r>
            <a:r>
              <a:rPr lang="en-US" sz="2800" dirty="0">
                <a:solidFill>
                  <a:srgbClr val="000000"/>
                </a:solidFill>
                <a:latin typeface="Calibri"/>
              </a:rPr>
              <a:t>: B</a:t>
            </a:r>
            <a:endParaRPr sz="1600" dirty="0"/>
          </a:p>
        </p:txBody>
      </p:sp>
      <p:sp>
        <p:nvSpPr>
          <p:cNvPr id="156" name="CustomShape 4"/>
          <p:cNvSpPr/>
          <p:nvPr/>
        </p:nvSpPr>
        <p:spPr>
          <a:xfrm>
            <a:off x="3733920" y="1523880"/>
            <a:ext cx="4952520" cy="5333760"/>
          </a:xfrm>
          <a:prstGeom prst="rect">
            <a:avLst/>
          </a:prstGeom>
          <a:noFill/>
          <a:ln>
            <a:noFill/>
          </a:ln>
        </p:spPr>
        <p:txBody>
          <a:bodyPr/>
          <a:lstStyle/>
          <a:p>
            <a:pPr>
              <a:lnSpc>
                <a:spcPct val="100000"/>
              </a:lnSpc>
            </a:pPr>
            <a:r>
              <a:rPr lang="en-US" sz="2400" b="1" dirty="0" err="1">
                <a:solidFill>
                  <a:srgbClr val="000000"/>
                </a:solidFill>
                <a:latin typeface="Calibri"/>
              </a:rPr>
              <a:t>Exemplu</a:t>
            </a:r>
            <a:r>
              <a:rPr lang="en-US" sz="2400" b="1" dirty="0">
                <a:solidFill>
                  <a:srgbClr val="000000"/>
                </a:solidFill>
                <a:latin typeface="Calibri"/>
              </a:rPr>
              <a:t>:</a:t>
            </a:r>
            <a:endParaRPr sz="1400" dirty="0"/>
          </a:p>
          <a:p>
            <a:pPr>
              <a:lnSpc>
                <a:spcPct val="100000"/>
              </a:lnSpc>
            </a:pPr>
            <a:r>
              <a:rPr lang="en-US" sz="2400" dirty="0">
                <a:solidFill>
                  <a:srgbClr val="000000"/>
                </a:solidFill>
                <a:latin typeface="Calibri"/>
              </a:rPr>
              <a:t>“</a:t>
            </a:r>
            <a:r>
              <a:rPr lang="en-US" sz="2400" dirty="0" err="1">
                <a:solidFill>
                  <a:srgbClr val="000000"/>
                </a:solidFill>
                <a:latin typeface="Calibri"/>
              </a:rPr>
              <a:t>Legalizarea</a:t>
            </a:r>
            <a:r>
              <a:rPr lang="en-US" sz="2400" dirty="0">
                <a:solidFill>
                  <a:srgbClr val="000000"/>
                </a:solidFill>
                <a:latin typeface="Calibri"/>
              </a:rPr>
              <a:t> </a:t>
            </a:r>
            <a:r>
              <a:rPr lang="en-US" sz="2400" dirty="0" err="1">
                <a:solidFill>
                  <a:srgbClr val="000000"/>
                </a:solidFill>
                <a:latin typeface="Calibri"/>
              </a:rPr>
              <a:t>drogurilor</a:t>
            </a:r>
            <a:r>
              <a:rPr lang="en-US" sz="2400" dirty="0">
                <a:solidFill>
                  <a:srgbClr val="000000"/>
                </a:solidFill>
                <a:latin typeface="Calibri"/>
              </a:rPr>
              <a:t> </a:t>
            </a:r>
            <a:r>
              <a:rPr lang="en-US" sz="2400" dirty="0" smtClean="0">
                <a:solidFill>
                  <a:srgbClr val="000000"/>
                </a:solidFill>
                <a:latin typeface="Calibri"/>
              </a:rPr>
              <a:t>u</a:t>
            </a:r>
            <a:r>
              <a:rPr lang="ro-RO" sz="2400" dirty="0">
                <a:solidFill>
                  <a:srgbClr val="000000"/>
                </a:solidFill>
                <a:latin typeface="Calibri"/>
              </a:rPr>
              <a:t>ș</a:t>
            </a:r>
            <a:r>
              <a:rPr lang="en-US" sz="2400" dirty="0" err="1" smtClean="0">
                <a:solidFill>
                  <a:srgbClr val="000000"/>
                </a:solidFill>
                <a:latin typeface="Calibri"/>
              </a:rPr>
              <a:t>oare</a:t>
            </a:r>
            <a:r>
              <a:rPr lang="en-US" sz="2400" dirty="0" smtClean="0">
                <a:solidFill>
                  <a:srgbClr val="000000"/>
                </a:solidFill>
                <a:latin typeface="Calibri"/>
              </a:rPr>
              <a:t> </a:t>
            </a:r>
            <a:r>
              <a:rPr lang="en-US" sz="2400" dirty="0" err="1">
                <a:solidFill>
                  <a:srgbClr val="000000"/>
                </a:solidFill>
                <a:latin typeface="Calibri"/>
              </a:rPr>
              <a:t>va</a:t>
            </a:r>
            <a:r>
              <a:rPr lang="en-US" sz="2400" dirty="0">
                <a:solidFill>
                  <a:srgbClr val="000000"/>
                </a:solidFill>
                <a:latin typeface="Calibri"/>
              </a:rPr>
              <a:t> duce </a:t>
            </a:r>
            <a:r>
              <a:rPr lang="en-US" sz="2400" dirty="0" err="1">
                <a:solidFill>
                  <a:srgbClr val="000000"/>
                </a:solidFill>
                <a:latin typeface="Calibri"/>
              </a:rPr>
              <a:t>ori</a:t>
            </a:r>
            <a:r>
              <a:rPr lang="en-US" sz="2400" dirty="0">
                <a:solidFill>
                  <a:srgbClr val="000000"/>
                </a:solidFill>
                <a:latin typeface="Calibri"/>
              </a:rPr>
              <a:t> la </a:t>
            </a:r>
            <a:r>
              <a:rPr lang="en-US" sz="2400" dirty="0" err="1" smtClean="0">
                <a:solidFill>
                  <a:srgbClr val="000000"/>
                </a:solidFill>
                <a:latin typeface="Calibri"/>
              </a:rPr>
              <a:t>cre</a:t>
            </a:r>
            <a:r>
              <a:rPr lang="ro-RO" sz="2400" dirty="0" smtClean="0">
                <a:solidFill>
                  <a:srgbClr val="000000"/>
                </a:solidFill>
                <a:latin typeface="Calibri"/>
              </a:rPr>
              <a:t>ș</a:t>
            </a:r>
            <a:r>
              <a:rPr lang="en-US" sz="2400" dirty="0" err="1" smtClean="0">
                <a:solidFill>
                  <a:srgbClr val="000000"/>
                </a:solidFill>
                <a:latin typeface="Calibri"/>
              </a:rPr>
              <a:t>terea</a:t>
            </a:r>
            <a:r>
              <a:rPr lang="en-US" sz="2400" dirty="0" smtClean="0">
                <a:solidFill>
                  <a:srgbClr val="000000"/>
                </a:solidFill>
                <a:latin typeface="Calibri"/>
              </a:rPr>
              <a:t> </a:t>
            </a:r>
            <a:r>
              <a:rPr lang="en-US" sz="2400" dirty="0" err="1">
                <a:solidFill>
                  <a:srgbClr val="000000"/>
                </a:solidFill>
                <a:latin typeface="Calibri"/>
              </a:rPr>
              <a:t>ori</a:t>
            </a:r>
            <a:r>
              <a:rPr lang="en-US" sz="2400" dirty="0">
                <a:solidFill>
                  <a:srgbClr val="000000"/>
                </a:solidFill>
                <a:latin typeface="Calibri"/>
              </a:rPr>
              <a:t> la </a:t>
            </a:r>
            <a:r>
              <a:rPr lang="en-US" sz="2400" dirty="0" err="1" smtClean="0">
                <a:solidFill>
                  <a:srgbClr val="000000"/>
                </a:solidFill>
                <a:latin typeface="Calibri"/>
              </a:rPr>
              <a:t>sc</a:t>
            </a:r>
            <a:r>
              <a:rPr lang="ro-RO" sz="2400" dirty="0" smtClean="0">
                <a:solidFill>
                  <a:srgbClr val="000000"/>
                </a:solidFill>
                <a:latin typeface="Calibri"/>
              </a:rPr>
              <a:t>ă</a:t>
            </a:r>
            <a:r>
              <a:rPr lang="en-US" sz="2400" dirty="0" err="1" smtClean="0">
                <a:solidFill>
                  <a:srgbClr val="000000"/>
                </a:solidFill>
                <a:latin typeface="Calibri"/>
              </a:rPr>
              <a:t>derea</a:t>
            </a:r>
            <a:r>
              <a:rPr lang="en-US" sz="2400" dirty="0" smtClean="0">
                <a:solidFill>
                  <a:srgbClr val="000000"/>
                </a:solidFill>
                <a:latin typeface="Calibri"/>
              </a:rPr>
              <a:t> pie</a:t>
            </a:r>
            <a:r>
              <a:rPr lang="ro-RO" sz="2400" dirty="0" smtClean="0">
                <a:solidFill>
                  <a:srgbClr val="000000"/>
                </a:solidFill>
                <a:latin typeface="Calibri"/>
              </a:rPr>
              <a:t>ț</a:t>
            </a:r>
            <a:r>
              <a:rPr lang="en-US" sz="2400" dirty="0" err="1" smtClean="0">
                <a:solidFill>
                  <a:srgbClr val="000000"/>
                </a:solidFill>
                <a:latin typeface="Calibri"/>
              </a:rPr>
              <a:t>ei</a:t>
            </a:r>
            <a:r>
              <a:rPr lang="en-US" sz="2400" dirty="0" smtClean="0">
                <a:solidFill>
                  <a:srgbClr val="000000"/>
                </a:solidFill>
                <a:latin typeface="Calibri"/>
              </a:rPr>
              <a:t> </a:t>
            </a:r>
            <a:r>
              <a:rPr lang="en-US" sz="2400" dirty="0" err="1">
                <a:solidFill>
                  <a:srgbClr val="000000"/>
                </a:solidFill>
                <a:latin typeface="Calibri"/>
              </a:rPr>
              <a:t>negre</a:t>
            </a:r>
            <a:r>
              <a:rPr lang="en-US" sz="2400" dirty="0">
                <a:solidFill>
                  <a:srgbClr val="000000"/>
                </a:solidFill>
                <a:latin typeface="Calibri"/>
              </a:rPr>
              <a:t>. </a:t>
            </a:r>
            <a:r>
              <a:rPr lang="en-US" sz="2400" dirty="0" err="1" smtClean="0">
                <a:solidFill>
                  <a:srgbClr val="000000"/>
                </a:solidFill>
                <a:latin typeface="Calibri"/>
              </a:rPr>
              <a:t>Economi</a:t>
            </a:r>
            <a:r>
              <a:rPr lang="ro-RO" sz="2400" dirty="0" smtClean="0">
                <a:solidFill>
                  <a:srgbClr val="000000"/>
                </a:solidFill>
                <a:latin typeface="Calibri"/>
              </a:rPr>
              <a:t>ș</a:t>
            </a:r>
            <a:r>
              <a:rPr lang="en-US" sz="2400" dirty="0" err="1" smtClean="0">
                <a:solidFill>
                  <a:srgbClr val="000000"/>
                </a:solidFill>
                <a:latin typeface="Calibri"/>
              </a:rPr>
              <a:t>tii</a:t>
            </a:r>
            <a:r>
              <a:rPr lang="en-US" sz="2400" dirty="0" smtClean="0">
                <a:solidFill>
                  <a:srgbClr val="000000"/>
                </a:solidFill>
                <a:latin typeface="Calibri"/>
              </a:rPr>
              <a:t> consider</a:t>
            </a:r>
            <a:r>
              <a:rPr lang="ro-RO" sz="2400" dirty="0" smtClean="0">
                <a:solidFill>
                  <a:srgbClr val="000000"/>
                </a:solidFill>
                <a:latin typeface="Calibri"/>
              </a:rPr>
              <a:t>ă</a:t>
            </a:r>
            <a:r>
              <a:rPr lang="en-US" sz="2400" dirty="0" smtClean="0">
                <a:solidFill>
                  <a:srgbClr val="000000"/>
                </a:solidFill>
                <a:latin typeface="Calibri"/>
              </a:rPr>
              <a:t> c</a:t>
            </a:r>
            <a:r>
              <a:rPr lang="ro-RO" sz="2400" dirty="0" smtClean="0">
                <a:solidFill>
                  <a:srgbClr val="000000"/>
                </a:solidFill>
                <a:latin typeface="Calibri"/>
              </a:rPr>
              <a:t>ă</a:t>
            </a:r>
            <a:r>
              <a:rPr lang="en-US" sz="2400" dirty="0" smtClean="0">
                <a:solidFill>
                  <a:srgbClr val="000000"/>
                </a:solidFill>
                <a:latin typeface="Calibri"/>
              </a:rPr>
              <a:t> </a:t>
            </a:r>
            <a:r>
              <a:rPr lang="en-US" sz="2400" dirty="0" err="1" smtClean="0">
                <a:solidFill>
                  <a:srgbClr val="000000"/>
                </a:solidFill>
                <a:latin typeface="Calibri"/>
              </a:rPr>
              <a:t>pia</a:t>
            </a:r>
            <a:r>
              <a:rPr lang="ro-RO" sz="2400" dirty="0" smtClean="0">
                <a:solidFill>
                  <a:srgbClr val="000000"/>
                </a:solidFill>
                <a:latin typeface="Calibri"/>
              </a:rPr>
              <a:t>ț</a:t>
            </a:r>
            <a:r>
              <a:rPr lang="en-US" sz="2400" dirty="0" smtClean="0">
                <a:solidFill>
                  <a:srgbClr val="000000"/>
                </a:solidFill>
                <a:latin typeface="Calibri"/>
              </a:rPr>
              <a:t>a </a:t>
            </a:r>
            <a:r>
              <a:rPr lang="en-US" sz="2400" dirty="0" err="1" smtClean="0">
                <a:solidFill>
                  <a:srgbClr val="000000"/>
                </a:solidFill>
                <a:latin typeface="Calibri"/>
              </a:rPr>
              <a:t>neagr</a:t>
            </a:r>
            <a:r>
              <a:rPr lang="ro-RO" sz="2400" dirty="0" smtClean="0">
                <a:solidFill>
                  <a:srgbClr val="000000"/>
                </a:solidFill>
                <a:latin typeface="Calibri"/>
              </a:rPr>
              <a:t>ă</a:t>
            </a:r>
            <a:r>
              <a:rPr lang="en-US" sz="2400" dirty="0" smtClean="0">
                <a:solidFill>
                  <a:srgbClr val="000000"/>
                </a:solidFill>
                <a:latin typeface="Calibri"/>
              </a:rPr>
              <a:t> </a:t>
            </a:r>
            <a:r>
              <a:rPr lang="en-US" sz="2400" dirty="0">
                <a:solidFill>
                  <a:srgbClr val="000000"/>
                </a:solidFill>
                <a:latin typeface="Calibri"/>
              </a:rPr>
              <a:t>nu are cum </a:t>
            </a:r>
            <a:r>
              <a:rPr lang="en-US" sz="2400" dirty="0" smtClean="0">
                <a:solidFill>
                  <a:srgbClr val="000000"/>
                </a:solidFill>
                <a:latin typeface="Calibri"/>
              </a:rPr>
              <a:t>s</a:t>
            </a:r>
            <a:r>
              <a:rPr lang="ro-RO" sz="2400" dirty="0" smtClean="0">
                <a:solidFill>
                  <a:srgbClr val="000000"/>
                </a:solidFill>
                <a:latin typeface="Calibri"/>
              </a:rPr>
              <a:t>ă</a:t>
            </a:r>
            <a:r>
              <a:rPr lang="en-US" sz="2400" dirty="0" smtClean="0">
                <a:solidFill>
                  <a:srgbClr val="000000"/>
                </a:solidFill>
                <a:latin typeface="Calibri"/>
              </a:rPr>
              <a:t> </a:t>
            </a:r>
            <a:r>
              <a:rPr lang="en-US" sz="2400" dirty="0" err="1" smtClean="0">
                <a:solidFill>
                  <a:srgbClr val="000000"/>
                </a:solidFill>
                <a:latin typeface="Calibri"/>
              </a:rPr>
              <a:t>creasc</a:t>
            </a:r>
            <a:r>
              <a:rPr lang="ro-RO" sz="2400" dirty="0" smtClean="0">
                <a:solidFill>
                  <a:srgbClr val="000000"/>
                </a:solidFill>
                <a:latin typeface="Calibri"/>
              </a:rPr>
              <a:t>ă</a:t>
            </a:r>
            <a:r>
              <a:rPr lang="en-US" sz="2400" dirty="0" smtClean="0">
                <a:solidFill>
                  <a:srgbClr val="000000"/>
                </a:solidFill>
                <a:latin typeface="Calibri"/>
              </a:rPr>
              <a:t> </a:t>
            </a:r>
            <a:r>
              <a:rPr lang="ro-RO" sz="2400" dirty="0" smtClean="0">
                <a:solidFill>
                  <a:srgbClr val="000000"/>
                </a:solidFill>
                <a:latin typeface="Calibri"/>
              </a:rPr>
              <a:t>drept</a:t>
            </a:r>
            <a:r>
              <a:rPr lang="en-US" sz="2400" dirty="0" smtClean="0">
                <a:solidFill>
                  <a:srgbClr val="000000"/>
                </a:solidFill>
                <a:latin typeface="Calibri"/>
              </a:rPr>
              <a:t> </a:t>
            </a:r>
            <a:r>
              <a:rPr lang="en-US" sz="2400" dirty="0" err="1">
                <a:solidFill>
                  <a:srgbClr val="000000"/>
                </a:solidFill>
                <a:latin typeface="Calibri"/>
              </a:rPr>
              <a:t>urmare</a:t>
            </a:r>
            <a:r>
              <a:rPr lang="en-US" sz="2400" dirty="0">
                <a:solidFill>
                  <a:srgbClr val="000000"/>
                </a:solidFill>
                <a:latin typeface="Calibri"/>
              </a:rPr>
              <a:t> a </a:t>
            </a:r>
            <a:r>
              <a:rPr lang="en-US" sz="2400" dirty="0" err="1" smtClean="0">
                <a:solidFill>
                  <a:srgbClr val="000000"/>
                </a:solidFill>
                <a:latin typeface="Calibri"/>
              </a:rPr>
              <a:t>legaliz</a:t>
            </a:r>
            <a:r>
              <a:rPr lang="ro-RO" sz="2400" dirty="0" smtClean="0">
                <a:solidFill>
                  <a:srgbClr val="000000"/>
                </a:solidFill>
                <a:latin typeface="Calibri"/>
              </a:rPr>
              <a:t>ă</a:t>
            </a:r>
            <a:r>
              <a:rPr lang="en-US" sz="2400" dirty="0" err="1" smtClean="0">
                <a:solidFill>
                  <a:srgbClr val="000000"/>
                </a:solidFill>
                <a:latin typeface="Calibri"/>
              </a:rPr>
              <a:t>rii</a:t>
            </a:r>
            <a:r>
              <a:rPr lang="en-US" sz="2400" dirty="0" smtClean="0">
                <a:solidFill>
                  <a:srgbClr val="000000"/>
                </a:solidFill>
                <a:latin typeface="Calibri"/>
              </a:rPr>
              <a:t> </a:t>
            </a:r>
            <a:r>
              <a:rPr lang="en-US" sz="2400" dirty="0" err="1">
                <a:solidFill>
                  <a:srgbClr val="000000"/>
                </a:solidFill>
                <a:latin typeface="Calibri"/>
              </a:rPr>
              <a:t>drogurilor</a:t>
            </a:r>
            <a:r>
              <a:rPr lang="en-US" sz="2400" dirty="0">
                <a:solidFill>
                  <a:srgbClr val="000000"/>
                </a:solidFill>
                <a:latin typeface="Calibri"/>
              </a:rPr>
              <a:t> </a:t>
            </a:r>
            <a:r>
              <a:rPr lang="en-US" sz="2400" dirty="0" smtClean="0">
                <a:solidFill>
                  <a:srgbClr val="000000"/>
                </a:solidFill>
                <a:latin typeface="Calibri"/>
              </a:rPr>
              <a:t>u</a:t>
            </a:r>
            <a:r>
              <a:rPr lang="ro-RO" sz="2400" dirty="0" smtClean="0">
                <a:solidFill>
                  <a:srgbClr val="000000"/>
                </a:solidFill>
                <a:latin typeface="Calibri"/>
              </a:rPr>
              <a:t>ș</a:t>
            </a:r>
            <a:r>
              <a:rPr lang="en-US" sz="2400" dirty="0" err="1" smtClean="0">
                <a:solidFill>
                  <a:srgbClr val="000000"/>
                </a:solidFill>
                <a:latin typeface="Calibri"/>
              </a:rPr>
              <a:t>oare</a:t>
            </a:r>
            <a:r>
              <a:rPr lang="en-US" sz="2400" dirty="0">
                <a:solidFill>
                  <a:srgbClr val="000000"/>
                </a:solidFill>
                <a:latin typeface="Calibri"/>
              </a:rPr>
              <a:t>. </a:t>
            </a:r>
            <a:r>
              <a:rPr lang="ro-RO" sz="2400" dirty="0" smtClean="0">
                <a:solidFill>
                  <a:srgbClr val="000000"/>
                </a:solidFill>
                <a:latin typeface="Calibri"/>
              </a:rPr>
              <a:t>Î</a:t>
            </a:r>
            <a:r>
              <a:rPr lang="en-US" sz="2400" dirty="0" smtClean="0">
                <a:solidFill>
                  <a:srgbClr val="000000"/>
                </a:solidFill>
                <a:latin typeface="Calibri"/>
              </a:rPr>
              <a:t>n </a:t>
            </a:r>
            <a:r>
              <a:rPr lang="en-US" sz="2400" dirty="0" err="1">
                <a:solidFill>
                  <a:srgbClr val="000000"/>
                </a:solidFill>
                <a:latin typeface="Calibri"/>
              </a:rPr>
              <a:t>concluzie</a:t>
            </a:r>
            <a:r>
              <a:rPr lang="en-US" sz="2400" dirty="0">
                <a:solidFill>
                  <a:srgbClr val="000000"/>
                </a:solidFill>
                <a:latin typeface="Calibri"/>
              </a:rPr>
              <a:t>, </a:t>
            </a:r>
            <a:r>
              <a:rPr lang="en-US" sz="2400" dirty="0" err="1" smtClean="0">
                <a:solidFill>
                  <a:srgbClr val="000000"/>
                </a:solidFill>
                <a:latin typeface="Calibri"/>
              </a:rPr>
              <a:t>pia</a:t>
            </a:r>
            <a:r>
              <a:rPr lang="ro-RO" sz="2400" dirty="0" smtClean="0">
                <a:solidFill>
                  <a:srgbClr val="000000"/>
                </a:solidFill>
                <a:latin typeface="Calibri"/>
              </a:rPr>
              <a:t>ț</a:t>
            </a:r>
            <a:r>
              <a:rPr lang="en-US" sz="2400" dirty="0" smtClean="0">
                <a:solidFill>
                  <a:srgbClr val="000000"/>
                </a:solidFill>
                <a:latin typeface="Calibri"/>
              </a:rPr>
              <a:t>a </a:t>
            </a:r>
            <a:r>
              <a:rPr lang="en-US" sz="2400" dirty="0" err="1" smtClean="0">
                <a:solidFill>
                  <a:srgbClr val="000000"/>
                </a:solidFill>
                <a:latin typeface="Calibri"/>
              </a:rPr>
              <a:t>neagr</a:t>
            </a:r>
            <a:r>
              <a:rPr lang="ro-RO" sz="2400" dirty="0" smtClean="0">
                <a:solidFill>
                  <a:srgbClr val="000000"/>
                </a:solidFill>
                <a:latin typeface="Calibri"/>
              </a:rPr>
              <a:t>ă</a:t>
            </a:r>
            <a:r>
              <a:rPr lang="en-US" sz="2400" dirty="0" smtClean="0">
                <a:solidFill>
                  <a:srgbClr val="000000"/>
                </a:solidFill>
                <a:latin typeface="Calibri"/>
              </a:rPr>
              <a:t> </a:t>
            </a:r>
            <a:r>
              <a:rPr lang="en-US" sz="2400" dirty="0">
                <a:solidFill>
                  <a:srgbClr val="000000"/>
                </a:solidFill>
                <a:latin typeface="Calibri"/>
              </a:rPr>
              <a:t>se </a:t>
            </a:r>
            <a:r>
              <a:rPr lang="en-US" sz="2400" dirty="0" err="1">
                <a:solidFill>
                  <a:srgbClr val="000000"/>
                </a:solidFill>
                <a:latin typeface="Calibri"/>
              </a:rPr>
              <a:t>va</a:t>
            </a:r>
            <a:r>
              <a:rPr lang="en-US" sz="2400" dirty="0">
                <a:solidFill>
                  <a:srgbClr val="000000"/>
                </a:solidFill>
                <a:latin typeface="Calibri"/>
              </a:rPr>
              <a:t> </a:t>
            </a:r>
            <a:r>
              <a:rPr lang="en-US" sz="2400" dirty="0" err="1">
                <a:solidFill>
                  <a:srgbClr val="000000"/>
                </a:solidFill>
                <a:latin typeface="Calibri"/>
              </a:rPr>
              <a:t>diminua</a:t>
            </a:r>
            <a:r>
              <a:rPr lang="en-US" sz="2400" dirty="0">
                <a:solidFill>
                  <a:srgbClr val="000000"/>
                </a:solidFill>
                <a:latin typeface="Calibri"/>
              </a:rPr>
              <a:t>”</a:t>
            </a:r>
            <a:endParaRPr sz="1400" dirty="0"/>
          </a:p>
          <a:p>
            <a:pPr>
              <a:lnSpc>
                <a:spcPct val="100000"/>
              </a:lnSpc>
            </a:pPr>
            <a:endParaRPr sz="1400" dirty="0"/>
          </a:p>
          <a:p>
            <a:pPr>
              <a:lnSpc>
                <a:spcPct val="100000"/>
              </a:lnSpc>
            </a:pPr>
            <a:r>
              <a:rPr lang="en-US" sz="2400" dirty="0">
                <a:solidFill>
                  <a:srgbClr val="000000"/>
                </a:solidFill>
                <a:latin typeface="Calibri"/>
              </a:rPr>
              <a:t>“</a:t>
            </a:r>
            <a:r>
              <a:rPr lang="en-US" sz="2400" dirty="0" err="1">
                <a:solidFill>
                  <a:srgbClr val="000000"/>
                </a:solidFill>
                <a:latin typeface="Calibri"/>
              </a:rPr>
              <a:t>Ori</a:t>
            </a:r>
            <a:r>
              <a:rPr lang="en-US" sz="2400" dirty="0">
                <a:solidFill>
                  <a:srgbClr val="000000"/>
                </a:solidFill>
                <a:latin typeface="Calibri"/>
              </a:rPr>
              <a:t> </a:t>
            </a:r>
            <a:r>
              <a:rPr lang="en-US" sz="2400" dirty="0" err="1">
                <a:solidFill>
                  <a:srgbClr val="000000"/>
                </a:solidFill>
                <a:latin typeface="Calibri"/>
              </a:rPr>
              <a:t>iei</a:t>
            </a:r>
            <a:r>
              <a:rPr lang="en-US" sz="2400" dirty="0">
                <a:solidFill>
                  <a:srgbClr val="000000"/>
                </a:solidFill>
                <a:latin typeface="Calibri"/>
              </a:rPr>
              <a:t> </a:t>
            </a:r>
            <a:r>
              <a:rPr lang="en-US" sz="2400" dirty="0" err="1">
                <a:solidFill>
                  <a:srgbClr val="000000"/>
                </a:solidFill>
                <a:latin typeface="Calibri"/>
              </a:rPr>
              <a:t>examenul</a:t>
            </a:r>
            <a:r>
              <a:rPr lang="en-US" sz="2400" dirty="0">
                <a:solidFill>
                  <a:srgbClr val="000000"/>
                </a:solidFill>
                <a:latin typeface="Calibri"/>
              </a:rPr>
              <a:t> </a:t>
            </a:r>
            <a:r>
              <a:rPr lang="en-US" sz="2400" dirty="0" err="1">
                <a:solidFill>
                  <a:srgbClr val="000000"/>
                </a:solidFill>
                <a:latin typeface="Calibri"/>
              </a:rPr>
              <a:t>pentru</a:t>
            </a:r>
            <a:r>
              <a:rPr lang="en-US" sz="2400" dirty="0">
                <a:solidFill>
                  <a:srgbClr val="000000"/>
                </a:solidFill>
                <a:latin typeface="Calibri"/>
              </a:rPr>
              <a:t> </a:t>
            </a:r>
            <a:r>
              <a:rPr lang="en-US" sz="2400" dirty="0" smtClean="0">
                <a:solidFill>
                  <a:srgbClr val="000000"/>
                </a:solidFill>
                <a:latin typeface="Calibri"/>
              </a:rPr>
              <a:t>c</a:t>
            </a:r>
            <a:r>
              <a:rPr lang="ro-RO" sz="2400" dirty="0" smtClean="0">
                <a:solidFill>
                  <a:srgbClr val="000000"/>
                </a:solidFill>
                <a:latin typeface="Calibri"/>
              </a:rPr>
              <a:t>ă</a:t>
            </a:r>
            <a:r>
              <a:rPr lang="en-US" sz="2400" dirty="0" smtClean="0">
                <a:solidFill>
                  <a:srgbClr val="000000"/>
                </a:solidFill>
                <a:latin typeface="Calibri"/>
              </a:rPr>
              <a:t> </a:t>
            </a:r>
            <a:r>
              <a:rPr lang="en-US" sz="2400" dirty="0" err="1">
                <a:solidFill>
                  <a:srgbClr val="000000"/>
                </a:solidFill>
                <a:latin typeface="Calibri"/>
              </a:rPr>
              <a:t>ai</a:t>
            </a:r>
            <a:r>
              <a:rPr lang="en-US" sz="2400" dirty="0">
                <a:solidFill>
                  <a:srgbClr val="000000"/>
                </a:solidFill>
                <a:latin typeface="Calibri"/>
              </a:rPr>
              <a:t> </a:t>
            </a:r>
            <a:r>
              <a:rPr lang="ro-RO" sz="2400" dirty="0">
                <a:solidFill>
                  <a:srgbClr val="000000"/>
                </a:solidFill>
                <a:latin typeface="Calibri"/>
              </a:rPr>
              <a:t>î</a:t>
            </a:r>
            <a:r>
              <a:rPr lang="en-US" sz="2400" dirty="0" err="1" smtClean="0">
                <a:solidFill>
                  <a:srgbClr val="000000"/>
                </a:solidFill>
                <a:latin typeface="Calibri"/>
              </a:rPr>
              <a:t>nv</a:t>
            </a:r>
            <a:r>
              <a:rPr lang="ro-RO" sz="2400" dirty="0" smtClean="0">
                <a:solidFill>
                  <a:srgbClr val="000000"/>
                </a:solidFill>
                <a:latin typeface="Calibri"/>
              </a:rPr>
              <a:t>ă</a:t>
            </a:r>
            <a:r>
              <a:rPr lang="ro-RO" sz="2400" dirty="0">
                <a:solidFill>
                  <a:srgbClr val="000000"/>
                </a:solidFill>
                <a:latin typeface="Calibri"/>
              </a:rPr>
              <a:t>ț</a:t>
            </a:r>
            <a:r>
              <a:rPr lang="en-US" sz="2400" dirty="0" smtClean="0">
                <a:solidFill>
                  <a:srgbClr val="000000"/>
                </a:solidFill>
                <a:latin typeface="Calibri"/>
              </a:rPr>
              <a:t>at</a:t>
            </a:r>
            <a:r>
              <a:rPr lang="en-US" sz="2400" dirty="0">
                <a:solidFill>
                  <a:srgbClr val="000000"/>
                </a:solidFill>
                <a:latin typeface="Calibri"/>
              </a:rPr>
              <a:t>, </a:t>
            </a:r>
            <a:r>
              <a:rPr lang="en-US" sz="2400" dirty="0" err="1">
                <a:solidFill>
                  <a:srgbClr val="000000"/>
                </a:solidFill>
                <a:latin typeface="Calibri"/>
              </a:rPr>
              <a:t>ori</a:t>
            </a:r>
            <a:r>
              <a:rPr lang="en-US" sz="2400" dirty="0">
                <a:solidFill>
                  <a:srgbClr val="000000"/>
                </a:solidFill>
                <a:latin typeface="Calibri"/>
              </a:rPr>
              <a:t> </a:t>
            </a:r>
            <a:r>
              <a:rPr lang="ro-RO" sz="2400" dirty="0" err="1">
                <a:solidFill>
                  <a:srgbClr val="000000"/>
                </a:solidFill>
                <a:latin typeface="Calibri"/>
              </a:rPr>
              <a:t>î</a:t>
            </a:r>
            <a:r>
              <a:rPr lang="en-US" sz="2400" dirty="0" smtClean="0">
                <a:solidFill>
                  <a:srgbClr val="000000"/>
                </a:solidFill>
                <a:latin typeface="Calibri"/>
              </a:rPr>
              <a:t>l </a:t>
            </a:r>
            <a:r>
              <a:rPr lang="en-US" sz="2400" dirty="0" err="1">
                <a:solidFill>
                  <a:srgbClr val="000000"/>
                </a:solidFill>
                <a:latin typeface="Calibri"/>
              </a:rPr>
              <a:t>iei</a:t>
            </a:r>
            <a:r>
              <a:rPr lang="en-US" sz="2400" dirty="0">
                <a:solidFill>
                  <a:srgbClr val="000000"/>
                </a:solidFill>
                <a:latin typeface="Calibri"/>
              </a:rPr>
              <a:t> </a:t>
            </a:r>
            <a:r>
              <a:rPr lang="en-US" sz="2400" dirty="0" err="1">
                <a:solidFill>
                  <a:srgbClr val="000000"/>
                </a:solidFill>
                <a:latin typeface="Calibri"/>
              </a:rPr>
              <a:t>pentru</a:t>
            </a:r>
            <a:r>
              <a:rPr lang="en-US" sz="2400" dirty="0">
                <a:solidFill>
                  <a:srgbClr val="000000"/>
                </a:solidFill>
                <a:latin typeface="Calibri"/>
              </a:rPr>
              <a:t> </a:t>
            </a:r>
            <a:r>
              <a:rPr lang="en-US" sz="2400" dirty="0" smtClean="0">
                <a:solidFill>
                  <a:srgbClr val="000000"/>
                </a:solidFill>
                <a:latin typeface="Calibri"/>
              </a:rPr>
              <a:t>c</a:t>
            </a:r>
            <a:r>
              <a:rPr lang="ro-RO" sz="2400" dirty="0" smtClean="0">
                <a:solidFill>
                  <a:srgbClr val="000000"/>
                </a:solidFill>
                <a:latin typeface="Calibri"/>
              </a:rPr>
              <a:t>ă</a:t>
            </a:r>
            <a:r>
              <a:rPr lang="en-US" sz="2400" dirty="0" smtClean="0">
                <a:solidFill>
                  <a:srgbClr val="000000"/>
                </a:solidFill>
                <a:latin typeface="Calibri"/>
              </a:rPr>
              <a:t> </a:t>
            </a:r>
            <a:r>
              <a:rPr lang="en-US" sz="2400" dirty="0" err="1">
                <a:solidFill>
                  <a:srgbClr val="000000"/>
                </a:solidFill>
                <a:latin typeface="Calibri"/>
              </a:rPr>
              <a:t>ai</a:t>
            </a:r>
            <a:r>
              <a:rPr lang="en-US" sz="2400" dirty="0">
                <a:solidFill>
                  <a:srgbClr val="000000"/>
                </a:solidFill>
                <a:latin typeface="Calibri"/>
              </a:rPr>
              <a:t> </a:t>
            </a:r>
            <a:r>
              <a:rPr lang="en-US" sz="2400" dirty="0" err="1">
                <a:solidFill>
                  <a:srgbClr val="000000"/>
                </a:solidFill>
                <a:latin typeface="Calibri"/>
              </a:rPr>
              <a:t>avut</a:t>
            </a:r>
            <a:r>
              <a:rPr lang="en-US" sz="2400" dirty="0">
                <a:solidFill>
                  <a:srgbClr val="000000"/>
                </a:solidFill>
                <a:latin typeface="Calibri"/>
              </a:rPr>
              <a:t> </a:t>
            </a:r>
            <a:r>
              <a:rPr lang="en-US" sz="2400" dirty="0" err="1">
                <a:solidFill>
                  <a:srgbClr val="000000"/>
                </a:solidFill>
                <a:latin typeface="Calibri"/>
              </a:rPr>
              <a:t>noroc</a:t>
            </a:r>
            <a:r>
              <a:rPr lang="en-US" sz="2400" dirty="0">
                <a:solidFill>
                  <a:srgbClr val="000000"/>
                </a:solidFill>
                <a:latin typeface="Calibri"/>
              </a:rPr>
              <a:t>. E </a:t>
            </a:r>
            <a:r>
              <a:rPr lang="en-US" sz="2400" dirty="0" err="1">
                <a:solidFill>
                  <a:srgbClr val="000000"/>
                </a:solidFill>
                <a:latin typeface="Calibri"/>
              </a:rPr>
              <a:t>clar</a:t>
            </a:r>
            <a:r>
              <a:rPr lang="en-US" sz="2400" dirty="0">
                <a:solidFill>
                  <a:srgbClr val="000000"/>
                </a:solidFill>
                <a:latin typeface="Calibri"/>
              </a:rPr>
              <a:t> </a:t>
            </a:r>
            <a:r>
              <a:rPr lang="en-US" sz="2400" dirty="0" smtClean="0">
                <a:solidFill>
                  <a:srgbClr val="000000"/>
                </a:solidFill>
                <a:latin typeface="Calibri"/>
              </a:rPr>
              <a:t>c</a:t>
            </a:r>
            <a:r>
              <a:rPr lang="ro-RO" sz="2400" dirty="0" smtClean="0">
                <a:solidFill>
                  <a:srgbClr val="000000"/>
                </a:solidFill>
                <a:latin typeface="Calibri"/>
              </a:rPr>
              <a:t>ă</a:t>
            </a:r>
            <a:r>
              <a:rPr lang="en-US" sz="2400" dirty="0" smtClean="0">
                <a:solidFill>
                  <a:srgbClr val="000000"/>
                </a:solidFill>
                <a:latin typeface="Calibri"/>
              </a:rPr>
              <a:t> </a:t>
            </a:r>
            <a:r>
              <a:rPr lang="en-US" sz="2400" dirty="0">
                <a:solidFill>
                  <a:srgbClr val="000000"/>
                </a:solidFill>
                <a:latin typeface="Calibri"/>
              </a:rPr>
              <a:t>nu </a:t>
            </a:r>
            <a:r>
              <a:rPr lang="en-US" sz="2400" dirty="0" err="1">
                <a:solidFill>
                  <a:srgbClr val="000000"/>
                </a:solidFill>
                <a:latin typeface="Calibri"/>
              </a:rPr>
              <a:t>ai</a:t>
            </a:r>
            <a:r>
              <a:rPr lang="en-US" sz="2400" dirty="0">
                <a:solidFill>
                  <a:srgbClr val="000000"/>
                </a:solidFill>
                <a:latin typeface="Calibri"/>
              </a:rPr>
              <a:t> </a:t>
            </a:r>
            <a:r>
              <a:rPr lang="ro-RO" sz="2400" dirty="0">
                <a:solidFill>
                  <a:srgbClr val="000000"/>
                </a:solidFill>
                <a:latin typeface="Calibri"/>
              </a:rPr>
              <a:t>î</a:t>
            </a:r>
            <a:r>
              <a:rPr lang="en-US" sz="2400" dirty="0" err="1" smtClean="0">
                <a:solidFill>
                  <a:srgbClr val="000000"/>
                </a:solidFill>
                <a:latin typeface="Calibri"/>
              </a:rPr>
              <a:t>nv</a:t>
            </a:r>
            <a:r>
              <a:rPr lang="ro-RO" sz="2400" dirty="0" smtClean="0">
                <a:solidFill>
                  <a:srgbClr val="000000"/>
                </a:solidFill>
                <a:latin typeface="Calibri"/>
              </a:rPr>
              <a:t>ă</a:t>
            </a:r>
            <a:r>
              <a:rPr lang="ro-RO" sz="2400" dirty="0">
                <a:solidFill>
                  <a:srgbClr val="000000"/>
                </a:solidFill>
                <a:latin typeface="Calibri"/>
              </a:rPr>
              <a:t>ț</a:t>
            </a:r>
            <a:r>
              <a:rPr lang="en-US" sz="2400" dirty="0" smtClean="0">
                <a:solidFill>
                  <a:srgbClr val="000000"/>
                </a:solidFill>
                <a:latin typeface="Calibri"/>
              </a:rPr>
              <a:t>at</a:t>
            </a:r>
            <a:r>
              <a:rPr lang="en-US" sz="2400" dirty="0">
                <a:solidFill>
                  <a:srgbClr val="000000"/>
                </a:solidFill>
                <a:latin typeface="Calibri"/>
              </a:rPr>
              <a:t>, </a:t>
            </a:r>
            <a:r>
              <a:rPr lang="en-US" sz="2400" dirty="0" err="1">
                <a:solidFill>
                  <a:srgbClr val="000000"/>
                </a:solidFill>
                <a:latin typeface="Calibri"/>
              </a:rPr>
              <a:t>deci</a:t>
            </a:r>
            <a:r>
              <a:rPr lang="en-US" sz="2400" dirty="0">
                <a:solidFill>
                  <a:srgbClr val="000000"/>
                </a:solidFill>
                <a:latin typeface="Calibri"/>
              </a:rPr>
              <a:t> </a:t>
            </a:r>
            <a:r>
              <a:rPr lang="en-US" sz="2400" dirty="0" err="1">
                <a:solidFill>
                  <a:srgbClr val="000000"/>
                </a:solidFill>
                <a:latin typeface="Calibri"/>
              </a:rPr>
              <a:t>ai</a:t>
            </a:r>
            <a:r>
              <a:rPr lang="en-US" sz="2400" dirty="0">
                <a:solidFill>
                  <a:srgbClr val="000000"/>
                </a:solidFill>
                <a:latin typeface="Calibri"/>
              </a:rPr>
              <a:t> </a:t>
            </a:r>
            <a:r>
              <a:rPr lang="en-US" sz="2400" dirty="0" err="1">
                <a:solidFill>
                  <a:srgbClr val="000000"/>
                </a:solidFill>
                <a:latin typeface="Calibri"/>
              </a:rPr>
              <a:t>avut</a:t>
            </a:r>
            <a:r>
              <a:rPr lang="en-US" sz="2400" dirty="0">
                <a:solidFill>
                  <a:srgbClr val="000000"/>
                </a:solidFill>
                <a:latin typeface="Calibri"/>
              </a:rPr>
              <a:t> </a:t>
            </a:r>
            <a:r>
              <a:rPr lang="en-US" sz="2400" dirty="0" err="1">
                <a:solidFill>
                  <a:srgbClr val="000000"/>
                </a:solidFill>
                <a:latin typeface="Calibri"/>
              </a:rPr>
              <a:t>noroc</a:t>
            </a:r>
            <a:r>
              <a:rPr lang="en-US" sz="2400" dirty="0">
                <a:solidFill>
                  <a:srgbClr val="000000"/>
                </a:solidFill>
                <a:latin typeface="Calibri"/>
              </a:rPr>
              <a:t>.”</a:t>
            </a:r>
            <a:endParaRPr sz="1400" dirty="0"/>
          </a:p>
          <a:p>
            <a:pPr>
              <a:lnSpc>
                <a:spcPct val="100000"/>
              </a:lnSpc>
            </a:pPr>
            <a:endParaRPr sz="1400" dirty="0"/>
          </a:p>
          <a:p>
            <a:pPr>
              <a:lnSpc>
                <a:spcPct val="100000"/>
              </a:lnSpc>
            </a:pPr>
            <a:endParaRPr sz="1400" dirty="0"/>
          </a:p>
        </p:txBody>
      </p:sp>
    </p:spTree>
    <p:extLst>
      <p:ext uri="{BB962C8B-B14F-4D97-AF65-F5344CB8AC3E}">
        <p14:creationId xmlns:p14="http://schemas.microsoft.com/office/powerpoint/2010/main" val="261691442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CustomShape 1"/>
          <p:cNvSpPr/>
          <p:nvPr/>
        </p:nvSpPr>
        <p:spPr>
          <a:xfrm flipH="1">
            <a:off x="380880" y="1600200"/>
            <a:ext cx="3352320" cy="4343040"/>
          </a:xfrm>
          <a:prstGeom prst="rect">
            <a:avLst/>
          </a:prstGeom>
          <a:solidFill>
            <a:srgbClr val="B9CDE5"/>
          </a:solidFill>
          <a:ln w="25560">
            <a:solidFill>
              <a:srgbClr val="3A5F8B"/>
            </a:solidFill>
            <a:round/>
          </a:ln>
        </p:spPr>
      </p:sp>
      <p:sp>
        <p:nvSpPr>
          <p:cNvPr id="158" name="TextShape 2"/>
          <p:cNvSpPr txBox="1"/>
          <p:nvPr/>
        </p:nvSpPr>
        <p:spPr>
          <a:xfrm>
            <a:off x="457200" y="274680"/>
            <a:ext cx="8229240" cy="1142640"/>
          </a:xfrm>
          <a:prstGeom prst="rect">
            <a:avLst/>
          </a:prstGeom>
        </p:spPr>
        <p:txBody>
          <a:bodyPr anchor="ctr"/>
          <a:lstStyle/>
          <a:p>
            <a:pPr algn="ctr">
              <a:lnSpc>
                <a:spcPct val="100000"/>
              </a:lnSpc>
            </a:pPr>
            <a:r>
              <a:rPr lang="en-US" sz="4400">
                <a:solidFill>
                  <a:srgbClr val="000000"/>
                </a:solidFill>
                <a:latin typeface="Calibri"/>
              </a:rPr>
              <a:t>Tipuri de argumente</a:t>
            </a:r>
            <a:endParaRPr/>
          </a:p>
        </p:txBody>
      </p:sp>
      <p:sp>
        <p:nvSpPr>
          <p:cNvPr id="159" name="TextShape 3"/>
          <p:cNvSpPr txBox="1"/>
          <p:nvPr/>
        </p:nvSpPr>
        <p:spPr>
          <a:xfrm>
            <a:off x="457200" y="1600200"/>
            <a:ext cx="3352320" cy="4525560"/>
          </a:xfrm>
          <a:prstGeom prst="rect">
            <a:avLst/>
          </a:prstGeom>
        </p:spPr>
        <p:txBody>
          <a:bodyPr/>
          <a:lstStyle/>
          <a:p>
            <a:pPr>
              <a:lnSpc>
                <a:spcPct val="100000"/>
              </a:lnSpc>
            </a:pPr>
            <a:r>
              <a:rPr lang="ro-RO" sz="3200" b="1" u="sng" dirty="0" smtClean="0">
                <a:solidFill>
                  <a:srgbClr val="000000"/>
                </a:solidFill>
                <a:latin typeface="Calibri"/>
              </a:rPr>
              <a:t>Dilema:</a:t>
            </a:r>
          </a:p>
          <a:p>
            <a:pPr>
              <a:lnSpc>
                <a:spcPct val="100000"/>
              </a:lnSpc>
            </a:pPr>
            <a:r>
              <a:rPr lang="en-US" sz="3200" b="1" dirty="0" smtClean="0">
                <a:solidFill>
                  <a:srgbClr val="000000"/>
                </a:solidFill>
                <a:latin typeface="Calibri"/>
              </a:rPr>
              <a:t>Forma logic</a:t>
            </a:r>
            <a:r>
              <a:rPr lang="ro-RO" sz="3200" b="1" dirty="0" smtClean="0">
                <a:solidFill>
                  <a:srgbClr val="000000"/>
                </a:solidFill>
                <a:latin typeface="Calibri"/>
              </a:rPr>
              <a:t>ă</a:t>
            </a:r>
            <a:r>
              <a:rPr lang="en-US" sz="3200" b="1" dirty="0" smtClean="0">
                <a:solidFill>
                  <a:srgbClr val="000000"/>
                </a:solidFill>
                <a:latin typeface="Calibri"/>
              </a:rPr>
              <a:t>:</a:t>
            </a:r>
            <a:endParaRPr dirty="0"/>
          </a:p>
          <a:p>
            <a:pPr>
              <a:lnSpc>
                <a:spcPct val="100000"/>
              </a:lnSpc>
            </a:pPr>
            <a:r>
              <a:rPr lang="en-US" sz="3200" dirty="0" err="1">
                <a:solidFill>
                  <a:srgbClr val="000000"/>
                </a:solidFill>
                <a:latin typeface="Calibri"/>
              </a:rPr>
              <a:t>Premisa</a:t>
            </a:r>
            <a:r>
              <a:rPr lang="en-US" sz="3200" dirty="0">
                <a:solidFill>
                  <a:srgbClr val="000000"/>
                </a:solidFill>
                <a:latin typeface="Calibri"/>
              </a:rPr>
              <a:t> 1: A </a:t>
            </a:r>
            <a:r>
              <a:rPr lang="en-US" sz="3200" dirty="0" err="1">
                <a:solidFill>
                  <a:srgbClr val="000000"/>
                </a:solidFill>
                <a:latin typeface="Calibri"/>
              </a:rPr>
              <a:t>sau</a:t>
            </a:r>
            <a:r>
              <a:rPr lang="en-US" sz="3200" dirty="0">
                <a:solidFill>
                  <a:srgbClr val="000000"/>
                </a:solidFill>
                <a:latin typeface="Calibri"/>
              </a:rPr>
              <a:t> B</a:t>
            </a:r>
            <a:endParaRPr dirty="0"/>
          </a:p>
          <a:p>
            <a:pPr>
              <a:lnSpc>
                <a:spcPct val="100000"/>
              </a:lnSpc>
            </a:pPr>
            <a:r>
              <a:rPr lang="en-US" sz="3200" dirty="0" err="1">
                <a:solidFill>
                  <a:srgbClr val="000000"/>
                </a:solidFill>
                <a:latin typeface="Calibri"/>
              </a:rPr>
              <a:t>Premisa</a:t>
            </a:r>
            <a:r>
              <a:rPr lang="en-US" sz="3200" dirty="0">
                <a:solidFill>
                  <a:srgbClr val="000000"/>
                </a:solidFill>
                <a:latin typeface="Calibri"/>
              </a:rPr>
              <a:t> 2: A -&gt; C</a:t>
            </a:r>
            <a:endParaRPr dirty="0"/>
          </a:p>
          <a:p>
            <a:pPr>
              <a:lnSpc>
                <a:spcPct val="100000"/>
              </a:lnSpc>
            </a:pPr>
            <a:r>
              <a:rPr lang="en-US" sz="3200" dirty="0" err="1">
                <a:solidFill>
                  <a:srgbClr val="000000"/>
                </a:solidFill>
                <a:latin typeface="Calibri"/>
              </a:rPr>
              <a:t>Premisa</a:t>
            </a:r>
            <a:r>
              <a:rPr lang="en-US" sz="3200" dirty="0">
                <a:solidFill>
                  <a:srgbClr val="000000"/>
                </a:solidFill>
                <a:latin typeface="Calibri"/>
              </a:rPr>
              <a:t> 3: B -&gt; C</a:t>
            </a:r>
            <a:endParaRPr dirty="0"/>
          </a:p>
          <a:p>
            <a:pPr>
              <a:lnSpc>
                <a:spcPct val="100000"/>
              </a:lnSpc>
            </a:pPr>
            <a:r>
              <a:rPr lang="en-US" sz="3200" dirty="0" err="1">
                <a:solidFill>
                  <a:srgbClr val="000000"/>
                </a:solidFill>
                <a:latin typeface="Calibri"/>
              </a:rPr>
              <a:t>Concluzie</a:t>
            </a:r>
            <a:r>
              <a:rPr lang="en-US" sz="3200" dirty="0">
                <a:solidFill>
                  <a:srgbClr val="000000"/>
                </a:solidFill>
                <a:latin typeface="Calibri"/>
              </a:rPr>
              <a:t>: C</a:t>
            </a:r>
            <a:endParaRPr dirty="0"/>
          </a:p>
        </p:txBody>
      </p:sp>
      <p:sp>
        <p:nvSpPr>
          <p:cNvPr id="160" name="CustomShape 4"/>
          <p:cNvSpPr/>
          <p:nvPr/>
        </p:nvSpPr>
        <p:spPr>
          <a:xfrm>
            <a:off x="3733920" y="1523880"/>
            <a:ext cx="4952520" cy="5333760"/>
          </a:xfrm>
          <a:prstGeom prst="rect">
            <a:avLst/>
          </a:prstGeom>
          <a:noFill/>
          <a:ln>
            <a:noFill/>
          </a:ln>
        </p:spPr>
        <p:txBody>
          <a:bodyPr/>
          <a:lstStyle/>
          <a:p>
            <a:pPr>
              <a:lnSpc>
                <a:spcPct val="100000"/>
              </a:lnSpc>
            </a:pPr>
            <a:r>
              <a:rPr lang="en-US" sz="2400" b="1" dirty="0" err="1">
                <a:solidFill>
                  <a:srgbClr val="000000"/>
                </a:solidFill>
                <a:latin typeface="Calibri"/>
              </a:rPr>
              <a:t>Exemplu</a:t>
            </a:r>
            <a:r>
              <a:rPr lang="en-US" sz="2400" b="1" dirty="0">
                <a:solidFill>
                  <a:srgbClr val="000000"/>
                </a:solidFill>
                <a:latin typeface="Calibri"/>
              </a:rPr>
              <a:t>:</a:t>
            </a:r>
            <a:endParaRPr sz="1400" dirty="0"/>
          </a:p>
          <a:p>
            <a:pPr>
              <a:lnSpc>
                <a:spcPct val="100000"/>
              </a:lnSpc>
            </a:pPr>
            <a:r>
              <a:rPr lang="en-US" sz="2400" dirty="0">
                <a:solidFill>
                  <a:srgbClr val="000000"/>
                </a:solidFill>
                <a:latin typeface="Calibri"/>
              </a:rPr>
              <a:t>Este </a:t>
            </a:r>
            <a:r>
              <a:rPr lang="en-US" sz="2400" dirty="0" err="1">
                <a:solidFill>
                  <a:srgbClr val="000000"/>
                </a:solidFill>
                <a:latin typeface="Calibri"/>
              </a:rPr>
              <a:t>util</a:t>
            </a:r>
            <a:r>
              <a:rPr lang="en-US" sz="2400" dirty="0">
                <a:solidFill>
                  <a:srgbClr val="000000"/>
                </a:solidFill>
                <a:latin typeface="Calibri"/>
              </a:rPr>
              <a:t> </a:t>
            </a:r>
            <a:r>
              <a:rPr lang="en-US" sz="2400" dirty="0" smtClean="0">
                <a:solidFill>
                  <a:srgbClr val="000000"/>
                </a:solidFill>
                <a:latin typeface="Calibri"/>
              </a:rPr>
              <a:t>s</a:t>
            </a:r>
            <a:r>
              <a:rPr lang="ro-RO" sz="2400" dirty="0" smtClean="0">
                <a:solidFill>
                  <a:srgbClr val="000000"/>
                </a:solidFill>
                <a:latin typeface="Calibri"/>
              </a:rPr>
              <a:t>ă</a:t>
            </a:r>
            <a:r>
              <a:rPr lang="en-US" sz="2400" dirty="0" smtClean="0">
                <a:solidFill>
                  <a:srgbClr val="000000"/>
                </a:solidFill>
                <a:latin typeface="Calibri"/>
              </a:rPr>
              <a:t> </a:t>
            </a:r>
            <a:r>
              <a:rPr lang="ro-RO" sz="2400" dirty="0">
                <a:solidFill>
                  <a:srgbClr val="000000"/>
                </a:solidFill>
                <a:latin typeface="Calibri"/>
              </a:rPr>
              <a:t>î</a:t>
            </a:r>
            <a:r>
              <a:rPr lang="en-US" sz="2400" dirty="0" err="1" smtClean="0">
                <a:solidFill>
                  <a:srgbClr val="000000"/>
                </a:solidFill>
                <a:latin typeface="Calibri"/>
              </a:rPr>
              <a:t>nve</a:t>
            </a:r>
            <a:r>
              <a:rPr lang="ro-RO" sz="2400" dirty="0" smtClean="0">
                <a:solidFill>
                  <a:srgbClr val="000000"/>
                </a:solidFill>
                <a:latin typeface="Calibri"/>
              </a:rPr>
              <a:t>ț</a:t>
            </a:r>
            <a:r>
              <a:rPr lang="en-US" sz="2400" dirty="0" smtClean="0">
                <a:solidFill>
                  <a:srgbClr val="000000"/>
                </a:solidFill>
                <a:latin typeface="Calibri"/>
              </a:rPr>
              <a:t>i s</a:t>
            </a:r>
            <a:r>
              <a:rPr lang="ro-RO" sz="2400" dirty="0" smtClean="0">
                <a:solidFill>
                  <a:srgbClr val="000000"/>
                </a:solidFill>
                <a:latin typeface="Calibri"/>
              </a:rPr>
              <a:t>ă</a:t>
            </a:r>
            <a:r>
              <a:rPr lang="en-US" sz="2400" dirty="0" smtClean="0">
                <a:solidFill>
                  <a:srgbClr val="000000"/>
                </a:solidFill>
                <a:latin typeface="Calibri"/>
              </a:rPr>
              <a:t> g</a:t>
            </a:r>
            <a:r>
              <a:rPr lang="ro-RO" sz="2400" dirty="0" smtClean="0">
                <a:solidFill>
                  <a:srgbClr val="000000"/>
                </a:solidFill>
                <a:latin typeface="Calibri"/>
              </a:rPr>
              <a:t>â</a:t>
            </a:r>
            <a:r>
              <a:rPr lang="en-US" sz="2400" dirty="0" err="1" smtClean="0">
                <a:solidFill>
                  <a:srgbClr val="000000"/>
                </a:solidFill>
                <a:latin typeface="Calibri"/>
              </a:rPr>
              <a:t>nde</a:t>
            </a:r>
            <a:r>
              <a:rPr lang="ro-RO" sz="2400" dirty="0" smtClean="0">
                <a:solidFill>
                  <a:srgbClr val="000000"/>
                </a:solidFill>
                <a:latin typeface="Calibri"/>
              </a:rPr>
              <a:t>ș</a:t>
            </a:r>
            <a:r>
              <a:rPr lang="en-US" sz="2400" dirty="0" err="1" smtClean="0">
                <a:solidFill>
                  <a:srgbClr val="000000"/>
                </a:solidFill>
                <a:latin typeface="Calibri"/>
              </a:rPr>
              <a:t>ti</a:t>
            </a:r>
            <a:r>
              <a:rPr lang="en-US" sz="2400" dirty="0" smtClean="0">
                <a:solidFill>
                  <a:srgbClr val="000000"/>
                </a:solidFill>
                <a:latin typeface="Calibri"/>
              </a:rPr>
              <a:t> </a:t>
            </a:r>
            <a:r>
              <a:rPr lang="en-US" sz="2400" dirty="0">
                <a:solidFill>
                  <a:srgbClr val="000000"/>
                </a:solidFill>
                <a:latin typeface="Calibri"/>
              </a:rPr>
              <a:t>critic. </a:t>
            </a:r>
            <a:r>
              <a:rPr lang="en-US" sz="2400" dirty="0" err="1">
                <a:solidFill>
                  <a:srgbClr val="000000"/>
                </a:solidFill>
                <a:latin typeface="Calibri"/>
              </a:rPr>
              <a:t>Unii</a:t>
            </a:r>
            <a:r>
              <a:rPr lang="en-US" sz="2400" dirty="0">
                <a:solidFill>
                  <a:srgbClr val="000000"/>
                </a:solidFill>
                <a:latin typeface="Calibri"/>
              </a:rPr>
              <a:t> </a:t>
            </a:r>
            <a:r>
              <a:rPr lang="ro-RO" sz="2400" dirty="0" smtClean="0">
                <a:solidFill>
                  <a:srgbClr val="000000"/>
                </a:solidFill>
                <a:latin typeface="Calibri"/>
              </a:rPr>
              <a:t>oameni fac cercetare, alții lucrează în firme. Dacă eși cercetător, va trebui să fii capabil să îți argumentezi punctul de vedere (în cadrul lucrărilor pe care le vei scrie), deci trebuie să înveți să gândești critic. Dacă lucrezi într-o firmă, va trebui să fii capabil să îți susții punctul de vedere cu argumente (spre exemplu în cadrul ședințelor), deci trebuie să înveți să gândești critic.</a:t>
            </a:r>
            <a:endParaRPr sz="1400" dirty="0"/>
          </a:p>
          <a:p>
            <a:pPr>
              <a:lnSpc>
                <a:spcPct val="100000"/>
              </a:lnSpc>
            </a:pPr>
            <a:endParaRPr sz="1400" dirty="0"/>
          </a:p>
        </p:txBody>
      </p:sp>
    </p:spTree>
    <p:extLst>
      <p:ext uri="{BB962C8B-B14F-4D97-AF65-F5344CB8AC3E}">
        <p14:creationId xmlns:p14="http://schemas.microsoft.com/office/powerpoint/2010/main" val="143111384"/>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CustomShape 1"/>
          <p:cNvSpPr/>
          <p:nvPr/>
        </p:nvSpPr>
        <p:spPr>
          <a:xfrm flipH="1">
            <a:off x="380880" y="1600200"/>
            <a:ext cx="3352320" cy="4343040"/>
          </a:xfrm>
          <a:prstGeom prst="rect">
            <a:avLst/>
          </a:prstGeom>
          <a:solidFill>
            <a:srgbClr val="B9CDE5"/>
          </a:solidFill>
          <a:ln w="25560">
            <a:solidFill>
              <a:srgbClr val="3A5F8B"/>
            </a:solidFill>
            <a:round/>
          </a:ln>
        </p:spPr>
      </p:sp>
      <p:sp>
        <p:nvSpPr>
          <p:cNvPr id="162" name="TextShape 2"/>
          <p:cNvSpPr txBox="1"/>
          <p:nvPr/>
        </p:nvSpPr>
        <p:spPr>
          <a:xfrm>
            <a:off x="457200" y="274680"/>
            <a:ext cx="8229240" cy="1142640"/>
          </a:xfrm>
          <a:prstGeom prst="rect">
            <a:avLst/>
          </a:prstGeom>
        </p:spPr>
        <p:txBody>
          <a:bodyPr anchor="ctr"/>
          <a:lstStyle/>
          <a:p>
            <a:pPr algn="ctr">
              <a:lnSpc>
                <a:spcPct val="100000"/>
              </a:lnSpc>
            </a:pPr>
            <a:r>
              <a:rPr lang="en-US" sz="4400">
                <a:solidFill>
                  <a:srgbClr val="000000"/>
                </a:solidFill>
                <a:latin typeface="Calibri"/>
              </a:rPr>
              <a:t>Tipuri de argumente</a:t>
            </a:r>
            <a:endParaRPr/>
          </a:p>
        </p:txBody>
      </p:sp>
      <p:sp>
        <p:nvSpPr>
          <p:cNvPr id="163" name="TextShape 3"/>
          <p:cNvSpPr txBox="1"/>
          <p:nvPr/>
        </p:nvSpPr>
        <p:spPr>
          <a:xfrm>
            <a:off x="457200" y="1600200"/>
            <a:ext cx="3352320" cy="4525560"/>
          </a:xfrm>
          <a:prstGeom prst="rect">
            <a:avLst/>
          </a:prstGeom>
        </p:spPr>
        <p:txBody>
          <a:bodyPr/>
          <a:lstStyle/>
          <a:p>
            <a:pPr>
              <a:lnSpc>
                <a:spcPct val="100000"/>
              </a:lnSpc>
            </a:pPr>
            <a:r>
              <a:rPr lang="en-US" sz="3200" b="1" u="sng" dirty="0" err="1" smtClean="0">
                <a:solidFill>
                  <a:srgbClr val="000000"/>
                </a:solidFill>
                <a:latin typeface="Calibri"/>
              </a:rPr>
              <a:t>Dilema</a:t>
            </a:r>
            <a:r>
              <a:rPr lang="en-US" sz="3200" b="1" u="sng" dirty="0" smtClean="0">
                <a:solidFill>
                  <a:srgbClr val="000000"/>
                </a:solidFill>
                <a:latin typeface="Calibri"/>
              </a:rPr>
              <a:t>:</a:t>
            </a:r>
            <a:endParaRPr dirty="0"/>
          </a:p>
          <a:p>
            <a:pPr>
              <a:lnSpc>
                <a:spcPct val="100000"/>
              </a:lnSpc>
            </a:pPr>
            <a:r>
              <a:rPr lang="en-US" sz="3200" b="1" dirty="0">
                <a:solidFill>
                  <a:srgbClr val="000000"/>
                </a:solidFill>
                <a:latin typeface="Calibri"/>
              </a:rPr>
              <a:t>Forma </a:t>
            </a:r>
            <a:r>
              <a:rPr lang="en-US" sz="3200" b="1" dirty="0" smtClean="0">
                <a:solidFill>
                  <a:srgbClr val="000000"/>
                </a:solidFill>
                <a:latin typeface="Calibri"/>
              </a:rPr>
              <a:t>logic</a:t>
            </a:r>
            <a:r>
              <a:rPr lang="ro-RO" sz="3200" b="1" dirty="0" smtClean="0">
                <a:solidFill>
                  <a:srgbClr val="000000"/>
                </a:solidFill>
                <a:latin typeface="Calibri"/>
              </a:rPr>
              <a:t>ă</a:t>
            </a:r>
            <a:r>
              <a:rPr lang="en-US" sz="3200" b="1" dirty="0" smtClean="0">
                <a:solidFill>
                  <a:srgbClr val="000000"/>
                </a:solidFill>
                <a:latin typeface="Calibri"/>
              </a:rPr>
              <a:t>:</a:t>
            </a:r>
            <a:endParaRPr dirty="0"/>
          </a:p>
          <a:p>
            <a:pPr>
              <a:lnSpc>
                <a:spcPct val="100000"/>
              </a:lnSpc>
            </a:pPr>
            <a:r>
              <a:rPr lang="en-US" sz="3200" dirty="0" err="1">
                <a:solidFill>
                  <a:srgbClr val="000000"/>
                </a:solidFill>
                <a:latin typeface="Calibri"/>
              </a:rPr>
              <a:t>Premisa</a:t>
            </a:r>
            <a:r>
              <a:rPr lang="en-US" sz="3200" dirty="0">
                <a:solidFill>
                  <a:srgbClr val="000000"/>
                </a:solidFill>
                <a:latin typeface="Calibri"/>
              </a:rPr>
              <a:t> 1: A </a:t>
            </a:r>
            <a:r>
              <a:rPr lang="en-US" sz="3200" dirty="0" err="1">
                <a:solidFill>
                  <a:srgbClr val="000000"/>
                </a:solidFill>
                <a:latin typeface="Calibri"/>
              </a:rPr>
              <a:t>sau</a:t>
            </a:r>
            <a:r>
              <a:rPr lang="en-US" sz="3200" dirty="0">
                <a:solidFill>
                  <a:srgbClr val="000000"/>
                </a:solidFill>
                <a:latin typeface="Calibri"/>
              </a:rPr>
              <a:t> B</a:t>
            </a:r>
            <a:endParaRPr dirty="0"/>
          </a:p>
          <a:p>
            <a:pPr>
              <a:lnSpc>
                <a:spcPct val="100000"/>
              </a:lnSpc>
            </a:pPr>
            <a:r>
              <a:rPr lang="en-US" sz="3200" dirty="0" err="1">
                <a:solidFill>
                  <a:srgbClr val="000000"/>
                </a:solidFill>
                <a:latin typeface="Calibri"/>
              </a:rPr>
              <a:t>Premisa</a:t>
            </a:r>
            <a:r>
              <a:rPr lang="en-US" sz="3200" dirty="0">
                <a:solidFill>
                  <a:srgbClr val="000000"/>
                </a:solidFill>
                <a:latin typeface="Calibri"/>
              </a:rPr>
              <a:t> 2: A -&gt; C</a:t>
            </a:r>
            <a:endParaRPr dirty="0"/>
          </a:p>
          <a:p>
            <a:pPr>
              <a:lnSpc>
                <a:spcPct val="100000"/>
              </a:lnSpc>
            </a:pPr>
            <a:r>
              <a:rPr lang="en-US" sz="3200" dirty="0" err="1">
                <a:solidFill>
                  <a:srgbClr val="000000"/>
                </a:solidFill>
                <a:latin typeface="Calibri"/>
              </a:rPr>
              <a:t>Premisa</a:t>
            </a:r>
            <a:r>
              <a:rPr lang="en-US" sz="3200" dirty="0">
                <a:solidFill>
                  <a:srgbClr val="000000"/>
                </a:solidFill>
                <a:latin typeface="Calibri"/>
              </a:rPr>
              <a:t> 3: B -&gt; C</a:t>
            </a:r>
            <a:endParaRPr dirty="0"/>
          </a:p>
          <a:p>
            <a:pPr>
              <a:lnSpc>
                <a:spcPct val="100000"/>
              </a:lnSpc>
            </a:pPr>
            <a:r>
              <a:rPr lang="en-US" sz="3200" dirty="0" err="1">
                <a:solidFill>
                  <a:srgbClr val="000000"/>
                </a:solidFill>
                <a:latin typeface="Calibri"/>
              </a:rPr>
              <a:t>Concluzie</a:t>
            </a:r>
            <a:r>
              <a:rPr lang="en-US" sz="3200" dirty="0">
                <a:solidFill>
                  <a:srgbClr val="000000"/>
                </a:solidFill>
                <a:latin typeface="Calibri"/>
              </a:rPr>
              <a:t>: C</a:t>
            </a:r>
            <a:endParaRPr dirty="0"/>
          </a:p>
        </p:txBody>
      </p:sp>
      <p:sp>
        <p:nvSpPr>
          <p:cNvPr id="164" name="CustomShape 4"/>
          <p:cNvSpPr/>
          <p:nvPr/>
        </p:nvSpPr>
        <p:spPr>
          <a:xfrm>
            <a:off x="3733920" y="1523880"/>
            <a:ext cx="4952520" cy="5333760"/>
          </a:xfrm>
          <a:prstGeom prst="rect">
            <a:avLst/>
          </a:prstGeom>
          <a:noFill/>
          <a:ln>
            <a:noFill/>
          </a:ln>
        </p:spPr>
        <p:txBody>
          <a:bodyPr/>
          <a:lstStyle/>
          <a:p>
            <a:pPr>
              <a:lnSpc>
                <a:spcPct val="100000"/>
              </a:lnSpc>
            </a:pPr>
            <a:r>
              <a:rPr lang="en-US" sz="2400" b="1" dirty="0" err="1" smtClean="0">
                <a:solidFill>
                  <a:srgbClr val="000000"/>
                </a:solidFill>
                <a:latin typeface="Calibri"/>
              </a:rPr>
              <a:t>Exemplu</a:t>
            </a:r>
            <a:r>
              <a:rPr lang="ro-RO" sz="2400" dirty="0" smtClean="0">
                <a:solidFill>
                  <a:srgbClr val="000000"/>
                </a:solidFill>
                <a:latin typeface="Calibri"/>
              </a:rPr>
              <a:t>:</a:t>
            </a:r>
          </a:p>
          <a:p>
            <a:pPr>
              <a:lnSpc>
                <a:spcPct val="100000"/>
              </a:lnSpc>
            </a:pPr>
            <a:r>
              <a:rPr lang="ro-RO" sz="2400" dirty="0" smtClean="0">
                <a:solidFill>
                  <a:srgbClr val="000000"/>
                </a:solidFill>
                <a:latin typeface="Calibri"/>
              </a:rPr>
              <a:t>„Poți învăța sau poți avea restanță. Dacă înveți, vei avea o vară liniștită. Dacă ai restanță, vei avea o vară liniștită (pentru că oricum nu îți pasă). Prin urmare, vei avea o vară liniștită.”</a:t>
            </a:r>
            <a:endParaRPr sz="1400" dirty="0"/>
          </a:p>
          <a:p>
            <a:pPr>
              <a:lnSpc>
                <a:spcPct val="100000"/>
              </a:lnSpc>
            </a:pPr>
            <a:endParaRPr sz="1400" dirty="0"/>
          </a:p>
          <a:p>
            <a:pPr>
              <a:lnSpc>
                <a:spcPct val="100000"/>
              </a:lnSpc>
            </a:pPr>
            <a:endParaRPr sz="1400" dirty="0"/>
          </a:p>
        </p:txBody>
      </p:sp>
    </p:spTree>
    <p:extLst>
      <p:ext uri="{BB962C8B-B14F-4D97-AF65-F5344CB8AC3E}">
        <p14:creationId xmlns:p14="http://schemas.microsoft.com/office/powerpoint/2010/main" val="2449580896"/>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CustomShape 1"/>
          <p:cNvSpPr/>
          <p:nvPr/>
        </p:nvSpPr>
        <p:spPr>
          <a:xfrm flipH="1">
            <a:off x="380880" y="1600200"/>
            <a:ext cx="3352320" cy="4343040"/>
          </a:xfrm>
          <a:prstGeom prst="rect">
            <a:avLst/>
          </a:prstGeom>
          <a:solidFill>
            <a:srgbClr val="B9CDE5"/>
          </a:solidFill>
          <a:ln w="25560">
            <a:solidFill>
              <a:srgbClr val="3A5F8B"/>
            </a:solidFill>
            <a:round/>
          </a:ln>
        </p:spPr>
      </p:sp>
      <p:sp>
        <p:nvSpPr>
          <p:cNvPr id="166" name="TextShape 2"/>
          <p:cNvSpPr txBox="1"/>
          <p:nvPr/>
        </p:nvSpPr>
        <p:spPr>
          <a:xfrm>
            <a:off x="457200" y="274680"/>
            <a:ext cx="8229240" cy="1142640"/>
          </a:xfrm>
          <a:prstGeom prst="rect">
            <a:avLst/>
          </a:prstGeom>
        </p:spPr>
        <p:txBody>
          <a:bodyPr anchor="ctr"/>
          <a:lstStyle/>
          <a:p>
            <a:pPr algn="ctr">
              <a:lnSpc>
                <a:spcPct val="100000"/>
              </a:lnSpc>
            </a:pPr>
            <a:r>
              <a:rPr lang="en-US" sz="4400">
                <a:solidFill>
                  <a:srgbClr val="000000"/>
                </a:solidFill>
                <a:latin typeface="Calibri"/>
              </a:rPr>
              <a:t>Tipuri de argumente</a:t>
            </a:r>
            <a:endParaRPr/>
          </a:p>
        </p:txBody>
      </p:sp>
      <p:sp>
        <p:nvSpPr>
          <p:cNvPr id="167" name="TextShape 3"/>
          <p:cNvSpPr txBox="1"/>
          <p:nvPr/>
        </p:nvSpPr>
        <p:spPr>
          <a:xfrm>
            <a:off x="457200" y="1600200"/>
            <a:ext cx="3352320" cy="4525560"/>
          </a:xfrm>
          <a:prstGeom prst="rect">
            <a:avLst/>
          </a:prstGeom>
        </p:spPr>
        <p:txBody>
          <a:bodyPr/>
          <a:lstStyle/>
          <a:p>
            <a:pPr>
              <a:lnSpc>
                <a:spcPct val="100000"/>
              </a:lnSpc>
            </a:pPr>
            <a:r>
              <a:rPr lang="en-US" sz="3200" b="1" u="sng" dirty="0" err="1">
                <a:solidFill>
                  <a:srgbClr val="000000"/>
                </a:solidFill>
                <a:latin typeface="Calibri"/>
              </a:rPr>
              <a:t>Dilema</a:t>
            </a:r>
            <a:r>
              <a:rPr lang="en-US" sz="3200" b="1" u="sng" dirty="0">
                <a:solidFill>
                  <a:srgbClr val="000000"/>
                </a:solidFill>
                <a:latin typeface="Calibri"/>
              </a:rPr>
              <a:t> </a:t>
            </a:r>
            <a:r>
              <a:rPr lang="en-US" sz="3200" b="1" u="sng" dirty="0" err="1" smtClean="0">
                <a:solidFill>
                  <a:srgbClr val="000000"/>
                </a:solidFill>
                <a:latin typeface="Calibri"/>
              </a:rPr>
              <a:t>constructiv</a:t>
            </a:r>
            <a:r>
              <a:rPr lang="ro-RO" sz="3200" b="1" u="sng" dirty="0" smtClean="0">
                <a:solidFill>
                  <a:srgbClr val="000000"/>
                </a:solidFill>
                <a:latin typeface="Calibri"/>
              </a:rPr>
              <a:t>ă</a:t>
            </a:r>
            <a:endParaRPr dirty="0"/>
          </a:p>
          <a:p>
            <a:pPr>
              <a:lnSpc>
                <a:spcPct val="100000"/>
              </a:lnSpc>
            </a:pPr>
            <a:r>
              <a:rPr lang="en-US" sz="3200" b="1" dirty="0">
                <a:solidFill>
                  <a:srgbClr val="000000"/>
                </a:solidFill>
                <a:latin typeface="Calibri"/>
              </a:rPr>
              <a:t>Forma </a:t>
            </a:r>
            <a:r>
              <a:rPr lang="en-US" sz="3200" b="1" dirty="0" smtClean="0">
                <a:solidFill>
                  <a:srgbClr val="000000"/>
                </a:solidFill>
                <a:latin typeface="Calibri"/>
              </a:rPr>
              <a:t>logic</a:t>
            </a:r>
            <a:r>
              <a:rPr lang="ro-RO" sz="3200" b="1" dirty="0" smtClean="0">
                <a:solidFill>
                  <a:srgbClr val="000000"/>
                </a:solidFill>
                <a:latin typeface="Calibri"/>
              </a:rPr>
              <a:t>ă</a:t>
            </a:r>
            <a:r>
              <a:rPr lang="en-US" sz="3200" b="1" dirty="0" smtClean="0">
                <a:solidFill>
                  <a:srgbClr val="000000"/>
                </a:solidFill>
                <a:latin typeface="Calibri"/>
              </a:rPr>
              <a:t>:</a:t>
            </a:r>
            <a:endParaRPr dirty="0"/>
          </a:p>
          <a:p>
            <a:pPr>
              <a:lnSpc>
                <a:spcPct val="100000"/>
              </a:lnSpc>
            </a:pPr>
            <a:r>
              <a:rPr lang="en-US" sz="3200" dirty="0" err="1">
                <a:solidFill>
                  <a:srgbClr val="000000"/>
                </a:solidFill>
                <a:latin typeface="Calibri"/>
              </a:rPr>
              <a:t>Premisa</a:t>
            </a:r>
            <a:r>
              <a:rPr lang="en-US" sz="3200" dirty="0">
                <a:solidFill>
                  <a:srgbClr val="000000"/>
                </a:solidFill>
                <a:latin typeface="Calibri"/>
              </a:rPr>
              <a:t> 1: A </a:t>
            </a:r>
            <a:r>
              <a:rPr lang="en-US" sz="3200" dirty="0" err="1">
                <a:solidFill>
                  <a:srgbClr val="000000"/>
                </a:solidFill>
                <a:latin typeface="Calibri"/>
              </a:rPr>
              <a:t>sau</a:t>
            </a:r>
            <a:r>
              <a:rPr lang="en-US" sz="3200" dirty="0">
                <a:solidFill>
                  <a:srgbClr val="000000"/>
                </a:solidFill>
                <a:latin typeface="Calibri"/>
              </a:rPr>
              <a:t> B</a:t>
            </a:r>
            <a:endParaRPr dirty="0"/>
          </a:p>
          <a:p>
            <a:pPr>
              <a:lnSpc>
                <a:spcPct val="100000"/>
              </a:lnSpc>
            </a:pPr>
            <a:r>
              <a:rPr lang="en-US" sz="3200" dirty="0" err="1">
                <a:solidFill>
                  <a:srgbClr val="000000"/>
                </a:solidFill>
                <a:latin typeface="Calibri"/>
              </a:rPr>
              <a:t>Premisa</a:t>
            </a:r>
            <a:r>
              <a:rPr lang="en-US" sz="3200" dirty="0">
                <a:solidFill>
                  <a:srgbClr val="000000"/>
                </a:solidFill>
                <a:latin typeface="Calibri"/>
              </a:rPr>
              <a:t> 2: A -&gt; C</a:t>
            </a:r>
            <a:endParaRPr dirty="0"/>
          </a:p>
          <a:p>
            <a:pPr>
              <a:lnSpc>
                <a:spcPct val="100000"/>
              </a:lnSpc>
            </a:pPr>
            <a:r>
              <a:rPr lang="en-US" sz="3200" dirty="0" err="1">
                <a:solidFill>
                  <a:srgbClr val="000000"/>
                </a:solidFill>
                <a:latin typeface="Calibri"/>
              </a:rPr>
              <a:t>Premisa</a:t>
            </a:r>
            <a:r>
              <a:rPr lang="en-US" sz="3200" dirty="0">
                <a:solidFill>
                  <a:srgbClr val="000000"/>
                </a:solidFill>
                <a:latin typeface="Calibri"/>
              </a:rPr>
              <a:t> 3: B -&gt; D</a:t>
            </a:r>
            <a:endParaRPr dirty="0"/>
          </a:p>
          <a:p>
            <a:pPr>
              <a:lnSpc>
                <a:spcPct val="100000"/>
              </a:lnSpc>
            </a:pPr>
            <a:r>
              <a:rPr lang="en-US" sz="3200" dirty="0" err="1">
                <a:solidFill>
                  <a:srgbClr val="000000"/>
                </a:solidFill>
                <a:latin typeface="Calibri"/>
              </a:rPr>
              <a:t>Concluzie</a:t>
            </a:r>
            <a:r>
              <a:rPr lang="en-US" sz="3200" dirty="0">
                <a:solidFill>
                  <a:srgbClr val="000000"/>
                </a:solidFill>
                <a:latin typeface="Calibri"/>
              </a:rPr>
              <a:t>: C </a:t>
            </a:r>
            <a:r>
              <a:rPr lang="en-US" sz="3200" dirty="0" err="1">
                <a:solidFill>
                  <a:srgbClr val="000000"/>
                </a:solidFill>
                <a:latin typeface="Calibri"/>
              </a:rPr>
              <a:t>sau</a:t>
            </a:r>
            <a:r>
              <a:rPr lang="en-US" sz="3200" dirty="0">
                <a:solidFill>
                  <a:srgbClr val="000000"/>
                </a:solidFill>
                <a:latin typeface="Calibri"/>
              </a:rPr>
              <a:t> D</a:t>
            </a:r>
            <a:endParaRPr dirty="0"/>
          </a:p>
        </p:txBody>
      </p:sp>
      <p:sp>
        <p:nvSpPr>
          <p:cNvPr id="168" name="CustomShape 4"/>
          <p:cNvSpPr/>
          <p:nvPr/>
        </p:nvSpPr>
        <p:spPr>
          <a:xfrm>
            <a:off x="3733920" y="1523880"/>
            <a:ext cx="4952520" cy="4754160"/>
          </a:xfrm>
          <a:prstGeom prst="rect">
            <a:avLst/>
          </a:prstGeom>
          <a:noFill/>
          <a:ln>
            <a:noFill/>
          </a:ln>
        </p:spPr>
        <p:txBody>
          <a:bodyPr/>
          <a:lstStyle/>
          <a:p>
            <a:pPr>
              <a:lnSpc>
                <a:spcPct val="100000"/>
              </a:lnSpc>
            </a:pPr>
            <a:r>
              <a:rPr lang="en-US" sz="3200" b="1" dirty="0" err="1">
                <a:solidFill>
                  <a:srgbClr val="000000"/>
                </a:solidFill>
                <a:latin typeface="Calibri"/>
              </a:rPr>
              <a:t>Exemplu</a:t>
            </a:r>
            <a:r>
              <a:rPr lang="en-US" sz="3200" b="1" dirty="0">
                <a:solidFill>
                  <a:srgbClr val="000000"/>
                </a:solidFill>
                <a:latin typeface="Calibri"/>
              </a:rPr>
              <a:t>:</a:t>
            </a:r>
            <a:endParaRPr dirty="0"/>
          </a:p>
          <a:p>
            <a:pPr>
              <a:lnSpc>
                <a:spcPct val="100000"/>
              </a:lnSpc>
            </a:pPr>
            <a:r>
              <a:rPr lang="en-US" sz="3200" dirty="0" smtClean="0">
                <a:solidFill>
                  <a:srgbClr val="000000"/>
                </a:solidFill>
                <a:latin typeface="Calibri"/>
              </a:rPr>
              <a:t>Pre</a:t>
            </a:r>
            <a:r>
              <a:rPr lang="ro-RO" sz="3200" dirty="0" smtClean="0">
                <a:solidFill>
                  <a:srgbClr val="000000"/>
                </a:solidFill>
                <a:latin typeface="Calibri"/>
              </a:rPr>
              <a:t>ș</a:t>
            </a:r>
            <a:r>
              <a:rPr lang="en-US" sz="3200" dirty="0" err="1" smtClean="0">
                <a:solidFill>
                  <a:srgbClr val="000000"/>
                </a:solidFill>
                <a:latin typeface="Calibri"/>
              </a:rPr>
              <a:t>edintele</a:t>
            </a:r>
            <a:r>
              <a:rPr lang="en-US" sz="3200" dirty="0" smtClean="0">
                <a:solidFill>
                  <a:srgbClr val="000000"/>
                </a:solidFill>
                <a:latin typeface="Calibri"/>
              </a:rPr>
              <a:t> </a:t>
            </a:r>
            <a:r>
              <a:rPr lang="en-US" sz="3200" dirty="0" err="1">
                <a:solidFill>
                  <a:srgbClr val="000000"/>
                </a:solidFill>
                <a:latin typeface="Calibri"/>
              </a:rPr>
              <a:t>ori</a:t>
            </a:r>
            <a:r>
              <a:rPr lang="en-US" sz="3200" dirty="0">
                <a:solidFill>
                  <a:srgbClr val="000000"/>
                </a:solidFill>
                <a:latin typeface="Calibri"/>
              </a:rPr>
              <a:t> a </a:t>
            </a:r>
            <a:r>
              <a:rPr lang="en-US" sz="3200" dirty="0" err="1">
                <a:solidFill>
                  <a:srgbClr val="000000"/>
                </a:solidFill>
                <a:latin typeface="Calibri"/>
              </a:rPr>
              <a:t>spus</a:t>
            </a:r>
            <a:r>
              <a:rPr lang="en-US" sz="3200" dirty="0">
                <a:solidFill>
                  <a:srgbClr val="000000"/>
                </a:solidFill>
                <a:latin typeface="Calibri"/>
              </a:rPr>
              <a:t> </a:t>
            </a:r>
            <a:r>
              <a:rPr lang="en-US" sz="3200" dirty="0" err="1" smtClean="0">
                <a:solidFill>
                  <a:srgbClr val="000000"/>
                </a:solidFill>
                <a:latin typeface="Calibri"/>
              </a:rPr>
              <a:t>adev</a:t>
            </a:r>
            <a:r>
              <a:rPr lang="ro-RO" sz="3200" dirty="0" smtClean="0">
                <a:solidFill>
                  <a:srgbClr val="000000"/>
                </a:solidFill>
                <a:latin typeface="Calibri"/>
              </a:rPr>
              <a:t>ă</a:t>
            </a:r>
            <a:r>
              <a:rPr lang="en-US" sz="3200" dirty="0" err="1" smtClean="0">
                <a:solidFill>
                  <a:srgbClr val="000000"/>
                </a:solidFill>
                <a:latin typeface="Calibri"/>
              </a:rPr>
              <a:t>rul</a:t>
            </a:r>
            <a:r>
              <a:rPr lang="en-US" sz="3200" dirty="0">
                <a:solidFill>
                  <a:srgbClr val="000000"/>
                </a:solidFill>
                <a:latin typeface="Calibri"/>
              </a:rPr>
              <a:t>, </a:t>
            </a:r>
            <a:r>
              <a:rPr lang="en-US" sz="3200" dirty="0" err="1">
                <a:solidFill>
                  <a:srgbClr val="000000"/>
                </a:solidFill>
                <a:latin typeface="Calibri"/>
              </a:rPr>
              <a:t>ori</a:t>
            </a:r>
            <a:r>
              <a:rPr lang="en-US" sz="3200" dirty="0">
                <a:solidFill>
                  <a:srgbClr val="000000"/>
                </a:solidFill>
                <a:latin typeface="Calibri"/>
              </a:rPr>
              <a:t> a </a:t>
            </a:r>
            <a:r>
              <a:rPr lang="en-US" sz="3200" dirty="0" smtClean="0">
                <a:solidFill>
                  <a:srgbClr val="000000"/>
                </a:solidFill>
                <a:latin typeface="Calibri"/>
              </a:rPr>
              <a:t>min</a:t>
            </a:r>
            <a:r>
              <a:rPr lang="ro-RO" sz="3200" dirty="0" smtClean="0">
                <a:solidFill>
                  <a:srgbClr val="000000"/>
                </a:solidFill>
                <a:latin typeface="Calibri"/>
              </a:rPr>
              <a:t>ț</a:t>
            </a:r>
            <a:r>
              <a:rPr lang="en-US" sz="3200" dirty="0" smtClean="0">
                <a:solidFill>
                  <a:srgbClr val="000000"/>
                </a:solidFill>
                <a:latin typeface="Calibri"/>
              </a:rPr>
              <a:t>it</a:t>
            </a:r>
            <a:r>
              <a:rPr lang="en-US" sz="3200" dirty="0">
                <a:solidFill>
                  <a:srgbClr val="000000"/>
                </a:solidFill>
                <a:latin typeface="Calibri"/>
              </a:rPr>
              <a:t>. </a:t>
            </a:r>
            <a:r>
              <a:rPr lang="en-US" sz="3200" dirty="0" err="1" smtClean="0">
                <a:solidFill>
                  <a:srgbClr val="000000"/>
                </a:solidFill>
                <a:latin typeface="Calibri"/>
              </a:rPr>
              <a:t>Dac</a:t>
            </a:r>
            <a:r>
              <a:rPr lang="ro-RO" sz="3200" dirty="0" smtClean="0">
                <a:solidFill>
                  <a:srgbClr val="000000"/>
                </a:solidFill>
                <a:latin typeface="Calibri"/>
              </a:rPr>
              <a:t>ă</a:t>
            </a:r>
            <a:r>
              <a:rPr lang="en-US" sz="3200" dirty="0" smtClean="0">
                <a:solidFill>
                  <a:srgbClr val="000000"/>
                </a:solidFill>
                <a:latin typeface="Calibri"/>
              </a:rPr>
              <a:t> </a:t>
            </a:r>
            <a:r>
              <a:rPr lang="en-US" sz="3200" dirty="0">
                <a:solidFill>
                  <a:srgbClr val="000000"/>
                </a:solidFill>
                <a:latin typeface="Calibri"/>
              </a:rPr>
              <a:t>a </a:t>
            </a:r>
            <a:r>
              <a:rPr lang="en-US" sz="3200" dirty="0" err="1">
                <a:solidFill>
                  <a:srgbClr val="000000"/>
                </a:solidFill>
                <a:latin typeface="Calibri"/>
              </a:rPr>
              <a:t>spus</a:t>
            </a:r>
            <a:r>
              <a:rPr lang="en-US" sz="3200" dirty="0">
                <a:solidFill>
                  <a:srgbClr val="000000"/>
                </a:solidFill>
                <a:latin typeface="Calibri"/>
              </a:rPr>
              <a:t> </a:t>
            </a:r>
            <a:r>
              <a:rPr lang="en-US" sz="3200" dirty="0" err="1" smtClean="0">
                <a:solidFill>
                  <a:srgbClr val="000000"/>
                </a:solidFill>
                <a:latin typeface="Calibri"/>
              </a:rPr>
              <a:t>adev</a:t>
            </a:r>
            <a:r>
              <a:rPr lang="ro-RO" sz="3200" dirty="0" smtClean="0">
                <a:solidFill>
                  <a:srgbClr val="000000"/>
                </a:solidFill>
                <a:latin typeface="Calibri"/>
              </a:rPr>
              <a:t>ă</a:t>
            </a:r>
            <a:r>
              <a:rPr lang="en-US" sz="3200" dirty="0" err="1" smtClean="0">
                <a:solidFill>
                  <a:srgbClr val="000000"/>
                </a:solidFill>
                <a:latin typeface="Calibri"/>
              </a:rPr>
              <a:t>rul</a:t>
            </a:r>
            <a:r>
              <a:rPr lang="en-US" sz="3200" dirty="0">
                <a:solidFill>
                  <a:srgbClr val="000000"/>
                </a:solidFill>
                <a:latin typeface="Calibri"/>
              </a:rPr>
              <a:t>, </a:t>
            </a:r>
            <a:r>
              <a:rPr lang="en-US" sz="3200" dirty="0" err="1">
                <a:solidFill>
                  <a:srgbClr val="000000"/>
                </a:solidFill>
                <a:latin typeface="Calibri"/>
              </a:rPr>
              <a:t>este</a:t>
            </a:r>
            <a:r>
              <a:rPr lang="en-US" sz="3200" dirty="0">
                <a:solidFill>
                  <a:srgbClr val="000000"/>
                </a:solidFill>
                <a:latin typeface="Calibri"/>
              </a:rPr>
              <a:t> </a:t>
            </a:r>
            <a:r>
              <a:rPr lang="en-US" sz="3200" dirty="0" err="1">
                <a:solidFill>
                  <a:srgbClr val="000000"/>
                </a:solidFill>
                <a:latin typeface="Calibri"/>
              </a:rPr>
              <a:t>nebun</a:t>
            </a:r>
            <a:r>
              <a:rPr lang="en-US" sz="3200" dirty="0">
                <a:solidFill>
                  <a:srgbClr val="000000"/>
                </a:solidFill>
                <a:latin typeface="Calibri"/>
              </a:rPr>
              <a:t>. </a:t>
            </a:r>
            <a:r>
              <a:rPr lang="en-US" sz="3200" dirty="0" err="1" smtClean="0">
                <a:solidFill>
                  <a:srgbClr val="000000"/>
                </a:solidFill>
                <a:latin typeface="Calibri"/>
              </a:rPr>
              <a:t>Dac</a:t>
            </a:r>
            <a:r>
              <a:rPr lang="ro-RO" sz="3200" dirty="0" smtClean="0">
                <a:solidFill>
                  <a:srgbClr val="000000"/>
                </a:solidFill>
                <a:latin typeface="Calibri"/>
              </a:rPr>
              <a:t>ă</a:t>
            </a:r>
            <a:r>
              <a:rPr lang="en-US" sz="3200" dirty="0" smtClean="0">
                <a:solidFill>
                  <a:srgbClr val="000000"/>
                </a:solidFill>
                <a:latin typeface="Calibri"/>
              </a:rPr>
              <a:t> </a:t>
            </a:r>
            <a:r>
              <a:rPr lang="en-US" sz="3200" dirty="0">
                <a:solidFill>
                  <a:srgbClr val="000000"/>
                </a:solidFill>
                <a:latin typeface="Calibri"/>
              </a:rPr>
              <a:t>a </a:t>
            </a:r>
            <a:r>
              <a:rPr lang="en-US" sz="3200" dirty="0" smtClean="0">
                <a:solidFill>
                  <a:srgbClr val="000000"/>
                </a:solidFill>
                <a:latin typeface="Calibri"/>
              </a:rPr>
              <a:t>min</a:t>
            </a:r>
            <a:r>
              <a:rPr lang="ro-RO" sz="3200" dirty="0" smtClean="0">
                <a:solidFill>
                  <a:srgbClr val="000000"/>
                </a:solidFill>
                <a:latin typeface="Calibri"/>
              </a:rPr>
              <a:t>ț</a:t>
            </a:r>
            <a:r>
              <a:rPr lang="en-US" sz="3200" dirty="0" smtClean="0">
                <a:solidFill>
                  <a:srgbClr val="000000"/>
                </a:solidFill>
                <a:latin typeface="Calibri"/>
              </a:rPr>
              <a:t>it</a:t>
            </a:r>
            <a:r>
              <a:rPr lang="en-US" sz="3200" dirty="0">
                <a:solidFill>
                  <a:srgbClr val="000000"/>
                </a:solidFill>
                <a:latin typeface="Calibri"/>
              </a:rPr>
              <a:t>, </a:t>
            </a:r>
            <a:r>
              <a:rPr lang="en-US" sz="3200" dirty="0" err="1">
                <a:solidFill>
                  <a:srgbClr val="000000"/>
                </a:solidFill>
                <a:latin typeface="Calibri"/>
              </a:rPr>
              <a:t>atunci</a:t>
            </a:r>
            <a:r>
              <a:rPr lang="en-US" sz="3200" dirty="0">
                <a:solidFill>
                  <a:srgbClr val="000000"/>
                </a:solidFill>
                <a:latin typeface="Calibri"/>
              </a:rPr>
              <a:t> </a:t>
            </a:r>
            <a:r>
              <a:rPr lang="en-US" sz="3200" dirty="0" err="1">
                <a:solidFill>
                  <a:srgbClr val="000000"/>
                </a:solidFill>
                <a:latin typeface="Calibri"/>
              </a:rPr>
              <a:t>este</a:t>
            </a:r>
            <a:r>
              <a:rPr lang="en-US" sz="3200" dirty="0">
                <a:solidFill>
                  <a:srgbClr val="000000"/>
                </a:solidFill>
                <a:latin typeface="Calibri"/>
              </a:rPr>
              <a:t> </a:t>
            </a:r>
            <a:r>
              <a:rPr lang="en-US" sz="3200" dirty="0" smtClean="0">
                <a:solidFill>
                  <a:srgbClr val="000000"/>
                </a:solidFill>
                <a:latin typeface="Calibri"/>
              </a:rPr>
              <a:t>r</a:t>
            </a:r>
            <a:r>
              <a:rPr lang="ro-RO" sz="3200" dirty="0" smtClean="0">
                <a:solidFill>
                  <a:srgbClr val="000000"/>
                </a:solidFill>
                <a:latin typeface="Calibri"/>
              </a:rPr>
              <a:t>ă</a:t>
            </a:r>
            <a:r>
              <a:rPr lang="en-US" sz="3200" dirty="0" smtClean="0">
                <a:solidFill>
                  <a:srgbClr val="000000"/>
                </a:solidFill>
                <a:latin typeface="Calibri"/>
              </a:rPr>
              <a:t>u</a:t>
            </a:r>
            <a:r>
              <a:rPr lang="en-US" sz="3200" dirty="0">
                <a:solidFill>
                  <a:srgbClr val="000000"/>
                </a:solidFill>
                <a:latin typeface="Calibri"/>
              </a:rPr>
              <a:t>. </a:t>
            </a:r>
            <a:r>
              <a:rPr lang="en-US" sz="3200" dirty="0" err="1" smtClean="0">
                <a:solidFill>
                  <a:srgbClr val="000000"/>
                </a:solidFill>
                <a:latin typeface="Calibri"/>
              </a:rPr>
              <a:t>Deci</a:t>
            </a:r>
            <a:r>
              <a:rPr lang="ro-RO" sz="3200" dirty="0" smtClean="0">
                <a:solidFill>
                  <a:srgbClr val="000000"/>
                </a:solidFill>
                <a:latin typeface="Calibri"/>
              </a:rPr>
              <a:t>, </a:t>
            </a:r>
            <a:r>
              <a:rPr lang="en-US" sz="3200" dirty="0" smtClean="0">
                <a:solidFill>
                  <a:srgbClr val="000000"/>
                </a:solidFill>
                <a:latin typeface="Calibri"/>
              </a:rPr>
              <a:t>pre</a:t>
            </a:r>
            <a:r>
              <a:rPr lang="ro-RO" sz="3200" dirty="0" smtClean="0">
                <a:solidFill>
                  <a:srgbClr val="000000"/>
                </a:solidFill>
                <a:latin typeface="Calibri"/>
              </a:rPr>
              <a:t>ș</a:t>
            </a:r>
            <a:r>
              <a:rPr lang="en-US" sz="3200" dirty="0" err="1" smtClean="0">
                <a:solidFill>
                  <a:srgbClr val="000000"/>
                </a:solidFill>
                <a:latin typeface="Calibri"/>
              </a:rPr>
              <a:t>edintele</a:t>
            </a:r>
            <a:r>
              <a:rPr lang="en-US" sz="3200" dirty="0" smtClean="0">
                <a:solidFill>
                  <a:srgbClr val="000000"/>
                </a:solidFill>
                <a:latin typeface="Calibri"/>
              </a:rPr>
              <a:t> </a:t>
            </a:r>
            <a:r>
              <a:rPr lang="en-US" sz="3200" dirty="0" err="1">
                <a:solidFill>
                  <a:srgbClr val="000000"/>
                </a:solidFill>
                <a:latin typeface="Calibri"/>
              </a:rPr>
              <a:t>este</a:t>
            </a:r>
            <a:r>
              <a:rPr lang="en-US" sz="3200" dirty="0">
                <a:solidFill>
                  <a:srgbClr val="000000"/>
                </a:solidFill>
                <a:latin typeface="Calibri"/>
              </a:rPr>
              <a:t> </a:t>
            </a:r>
            <a:r>
              <a:rPr lang="en-US" sz="3200" dirty="0" err="1">
                <a:solidFill>
                  <a:srgbClr val="000000"/>
                </a:solidFill>
                <a:latin typeface="Calibri"/>
              </a:rPr>
              <a:t>ori</a:t>
            </a:r>
            <a:r>
              <a:rPr lang="en-US" sz="3200" dirty="0">
                <a:solidFill>
                  <a:srgbClr val="000000"/>
                </a:solidFill>
                <a:latin typeface="Calibri"/>
              </a:rPr>
              <a:t> </a:t>
            </a:r>
            <a:r>
              <a:rPr lang="en-US" sz="3200" dirty="0" smtClean="0">
                <a:solidFill>
                  <a:srgbClr val="000000"/>
                </a:solidFill>
                <a:latin typeface="Calibri"/>
              </a:rPr>
              <a:t>r</a:t>
            </a:r>
            <a:r>
              <a:rPr lang="ro-RO" sz="3200" dirty="0" smtClean="0">
                <a:solidFill>
                  <a:srgbClr val="000000"/>
                </a:solidFill>
                <a:latin typeface="Calibri"/>
              </a:rPr>
              <a:t>ă</a:t>
            </a:r>
            <a:r>
              <a:rPr lang="en-US" sz="3200" dirty="0" smtClean="0">
                <a:solidFill>
                  <a:srgbClr val="000000"/>
                </a:solidFill>
                <a:latin typeface="Calibri"/>
              </a:rPr>
              <a:t>u</a:t>
            </a:r>
            <a:r>
              <a:rPr lang="en-US" sz="3200" dirty="0">
                <a:solidFill>
                  <a:srgbClr val="000000"/>
                </a:solidFill>
                <a:latin typeface="Calibri"/>
              </a:rPr>
              <a:t>, </a:t>
            </a:r>
            <a:r>
              <a:rPr lang="en-US" sz="3200" dirty="0" err="1">
                <a:solidFill>
                  <a:srgbClr val="000000"/>
                </a:solidFill>
                <a:latin typeface="Calibri"/>
              </a:rPr>
              <a:t>ori</a:t>
            </a:r>
            <a:r>
              <a:rPr lang="en-US" sz="3200" dirty="0">
                <a:solidFill>
                  <a:srgbClr val="000000"/>
                </a:solidFill>
                <a:latin typeface="Calibri"/>
              </a:rPr>
              <a:t> </a:t>
            </a:r>
            <a:r>
              <a:rPr lang="en-US" sz="3200" dirty="0" err="1">
                <a:solidFill>
                  <a:srgbClr val="000000"/>
                </a:solidFill>
                <a:latin typeface="Calibri"/>
              </a:rPr>
              <a:t>nebun</a:t>
            </a:r>
            <a:r>
              <a:rPr lang="en-US" sz="3200" dirty="0">
                <a:solidFill>
                  <a:srgbClr val="000000"/>
                </a:solidFill>
                <a:latin typeface="Calibri"/>
              </a:rPr>
              <a:t>.</a:t>
            </a:r>
            <a:endParaRPr dirty="0"/>
          </a:p>
          <a:p>
            <a:pPr>
              <a:lnSpc>
                <a:spcPct val="100000"/>
              </a:lnSpc>
            </a:pPr>
            <a:endParaRPr dirty="0"/>
          </a:p>
          <a:p>
            <a:pPr>
              <a:lnSpc>
                <a:spcPct val="100000"/>
              </a:lnSpc>
            </a:pPr>
            <a:endParaRPr dirty="0"/>
          </a:p>
          <a:p>
            <a:pPr>
              <a:lnSpc>
                <a:spcPct val="100000"/>
              </a:lnSpc>
            </a:pPr>
            <a:endParaRPr dirty="0"/>
          </a:p>
          <a:p>
            <a:pPr>
              <a:lnSpc>
                <a:spcPct val="100000"/>
              </a:lnSpc>
            </a:pPr>
            <a:endParaRPr dirty="0"/>
          </a:p>
          <a:p>
            <a:pPr>
              <a:lnSpc>
                <a:spcPct val="100000"/>
              </a:lnSpc>
            </a:pPr>
            <a:endParaRPr dirty="0"/>
          </a:p>
          <a:p>
            <a:pPr>
              <a:lnSpc>
                <a:spcPct val="100000"/>
              </a:lnSpc>
            </a:pPr>
            <a:endParaRPr dirty="0"/>
          </a:p>
        </p:txBody>
      </p:sp>
    </p:spTree>
    <p:extLst>
      <p:ext uri="{BB962C8B-B14F-4D97-AF65-F5344CB8AC3E}">
        <p14:creationId xmlns:p14="http://schemas.microsoft.com/office/powerpoint/2010/main" val="784096853"/>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CustomShape 1"/>
          <p:cNvSpPr/>
          <p:nvPr/>
        </p:nvSpPr>
        <p:spPr>
          <a:xfrm flipH="1">
            <a:off x="380880" y="1600200"/>
            <a:ext cx="3352320" cy="4343040"/>
          </a:xfrm>
          <a:prstGeom prst="rect">
            <a:avLst/>
          </a:prstGeom>
          <a:solidFill>
            <a:srgbClr val="B9CDE5"/>
          </a:solidFill>
          <a:ln w="25560">
            <a:solidFill>
              <a:srgbClr val="3A5F8B"/>
            </a:solidFill>
            <a:round/>
          </a:ln>
        </p:spPr>
      </p:sp>
      <p:sp>
        <p:nvSpPr>
          <p:cNvPr id="170" name="TextShape 2"/>
          <p:cNvSpPr txBox="1"/>
          <p:nvPr/>
        </p:nvSpPr>
        <p:spPr>
          <a:xfrm>
            <a:off x="457200" y="274680"/>
            <a:ext cx="8229240" cy="1142640"/>
          </a:xfrm>
          <a:prstGeom prst="rect">
            <a:avLst/>
          </a:prstGeom>
        </p:spPr>
        <p:txBody>
          <a:bodyPr anchor="ctr"/>
          <a:lstStyle/>
          <a:p>
            <a:pPr algn="ctr">
              <a:lnSpc>
                <a:spcPct val="100000"/>
              </a:lnSpc>
            </a:pPr>
            <a:r>
              <a:rPr lang="en-US" sz="4400">
                <a:solidFill>
                  <a:srgbClr val="000000"/>
                </a:solidFill>
                <a:latin typeface="Calibri"/>
              </a:rPr>
              <a:t>Tipuri de argumente</a:t>
            </a:r>
            <a:endParaRPr/>
          </a:p>
        </p:txBody>
      </p:sp>
      <p:sp>
        <p:nvSpPr>
          <p:cNvPr id="171" name="TextShape 3"/>
          <p:cNvSpPr txBox="1"/>
          <p:nvPr/>
        </p:nvSpPr>
        <p:spPr>
          <a:xfrm>
            <a:off x="457200" y="1600200"/>
            <a:ext cx="3352320" cy="4525560"/>
          </a:xfrm>
          <a:prstGeom prst="rect">
            <a:avLst/>
          </a:prstGeom>
        </p:spPr>
        <p:txBody>
          <a:bodyPr/>
          <a:lstStyle/>
          <a:p>
            <a:pPr>
              <a:lnSpc>
                <a:spcPct val="100000"/>
              </a:lnSpc>
            </a:pPr>
            <a:r>
              <a:rPr lang="en-US" sz="3200" b="1" u="sng" dirty="0" err="1">
                <a:solidFill>
                  <a:srgbClr val="000000"/>
                </a:solidFill>
                <a:latin typeface="Calibri"/>
              </a:rPr>
              <a:t>Dilema</a:t>
            </a:r>
            <a:r>
              <a:rPr lang="en-US" sz="3200" b="1" u="sng" dirty="0">
                <a:solidFill>
                  <a:srgbClr val="000000"/>
                </a:solidFill>
                <a:latin typeface="Calibri"/>
              </a:rPr>
              <a:t> </a:t>
            </a:r>
            <a:r>
              <a:rPr lang="en-US" sz="3200" b="1" u="sng" dirty="0" err="1" smtClean="0">
                <a:solidFill>
                  <a:srgbClr val="000000"/>
                </a:solidFill>
                <a:latin typeface="Calibri"/>
              </a:rPr>
              <a:t>constructiv</a:t>
            </a:r>
            <a:r>
              <a:rPr lang="ro-RO" sz="3200" b="1" u="sng" dirty="0" smtClean="0">
                <a:solidFill>
                  <a:srgbClr val="000000"/>
                </a:solidFill>
                <a:latin typeface="Calibri"/>
              </a:rPr>
              <a:t>ă</a:t>
            </a:r>
            <a:endParaRPr dirty="0"/>
          </a:p>
          <a:p>
            <a:pPr>
              <a:lnSpc>
                <a:spcPct val="100000"/>
              </a:lnSpc>
            </a:pPr>
            <a:r>
              <a:rPr lang="en-US" sz="3200" b="1" dirty="0">
                <a:solidFill>
                  <a:srgbClr val="000000"/>
                </a:solidFill>
                <a:latin typeface="Calibri"/>
              </a:rPr>
              <a:t>Forma </a:t>
            </a:r>
            <a:r>
              <a:rPr lang="en-US" sz="3200" b="1" dirty="0" smtClean="0">
                <a:solidFill>
                  <a:srgbClr val="000000"/>
                </a:solidFill>
                <a:latin typeface="Calibri"/>
              </a:rPr>
              <a:t>logic</a:t>
            </a:r>
            <a:r>
              <a:rPr lang="ro-RO" sz="3200" b="1" dirty="0">
                <a:solidFill>
                  <a:srgbClr val="000000"/>
                </a:solidFill>
                <a:latin typeface="Calibri"/>
              </a:rPr>
              <a:t>ă</a:t>
            </a:r>
            <a:r>
              <a:rPr lang="en-US" sz="3200" b="1" dirty="0" smtClean="0">
                <a:solidFill>
                  <a:srgbClr val="000000"/>
                </a:solidFill>
                <a:latin typeface="Calibri"/>
              </a:rPr>
              <a:t>:</a:t>
            </a:r>
            <a:endParaRPr dirty="0"/>
          </a:p>
          <a:p>
            <a:pPr>
              <a:lnSpc>
                <a:spcPct val="100000"/>
              </a:lnSpc>
            </a:pPr>
            <a:r>
              <a:rPr lang="en-US" sz="3200" dirty="0" err="1">
                <a:solidFill>
                  <a:srgbClr val="000000"/>
                </a:solidFill>
                <a:latin typeface="Calibri"/>
              </a:rPr>
              <a:t>Premisa</a:t>
            </a:r>
            <a:r>
              <a:rPr lang="en-US" sz="3200" dirty="0">
                <a:solidFill>
                  <a:srgbClr val="000000"/>
                </a:solidFill>
                <a:latin typeface="Calibri"/>
              </a:rPr>
              <a:t> 1: A </a:t>
            </a:r>
            <a:r>
              <a:rPr lang="en-US" sz="3200" dirty="0" err="1">
                <a:solidFill>
                  <a:srgbClr val="000000"/>
                </a:solidFill>
                <a:latin typeface="Calibri"/>
              </a:rPr>
              <a:t>sau</a:t>
            </a:r>
            <a:r>
              <a:rPr lang="en-US" sz="3200" dirty="0">
                <a:solidFill>
                  <a:srgbClr val="000000"/>
                </a:solidFill>
                <a:latin typeface="Calibri"/>
              </a:rPr>
              <a:t> B</a:t>
            </a:r>
            <a:endParaRPr dirty="0"/>
          </a:p>
          <a:p>
            <a:pPr>
              <a:lnSpc>
                <a:spcPct val="100000"/>
              </a:lnSpc>
            </a:pPr>
            <a:r>
              <a:rPr lang="en-US" sz="3200" dirty="0" err="1">
                <a:solidFill>
                  <a:srgbClr val="000000"/>
                </a:solidFill>
                <a:latin typeface="Calibri"/>
              </a:rPr>
              <a:t>Premisa</a:t>
            </a:r>
            <a:r>
              <a:rPr lang="en-US" sz="3200" dirty="0">
                <a:solidFill>
                  <a:srgbClr val="000000"/>
                </a:solidFill>
                <a:latin typeface="Calibri"/>
              </a:rPr>
              <a:t> 2: A -&gt; C</a:t>
            </a:r>
            <a:endParaRPr dirty="0"/>
          </a:p>
          <a:p>
            <a:pPr>
              <a:lnSpc>
                <a:spcPct val="100000"/>
              </a:lnSpc>
            </a:pPr>
            <a:r>
              <a:rPr lang="en-US" sz="3200" dirty="0" err="1">
                <a:solidFill>
                  <a:srgbClr val="000000"/>
                </a:solidFill>
                <a:latin typeface="Calibri"/>
              </a:rPr>
              <a:t>Premisa</a:t>
            </a:r>
            <a:r>
              <a:rPr lang="en-US" sz="3200" dirty="0">
                <a:solidFill>
                  <a:srgbClr val="000000"/>
                </a:solidFill>
                <a:latin typeface="Calibri"/>
              </a:rPr>
              <a:t> 3: B -&gt; D</a:t>
            </a:r>
            <a:endParaRPr dirty="0"/>
          </a:p>
          <a:p>
            <a:pPr>
              <a:lnSpc>
                <a:spcPct val="100000"/>
              </a:lnSpc>
            </a:pPr>
            <a:r>
              <a:rPr lang="en-US" sz="3200" dirty="0" err="1">
                <a:solidFill>
                  <a:srgbClr val="000000"/>
                </a:solidFill>
                <a:latin typeface="Calibri"/>
              </a:rPr>
              <a:t>Concluzie</a:t>
            </a:r>
            <a:r>
              <a:rPr lang="en-US" sz="3200" dirty="0">
                <a:solidFill>
                  <a:srgbClr val="000000"/>
                </a:solidFill>
                <a:latin typeface="Calibri"/>
              </a:rPr>
              <a:t>: C </a:t>
            </a:r>
            <a:r>
              <a:rPr lang="en-US" sz="3200" dirty="0" err="1">
                <a:solidFill>
                  <a:srgbClr val="000000"/>
                </a:solidFill>
                <a:latin typeface="Calibri"/>
              </a:rPr>
              <a:t>sau</a:t>
            </a:r>
            <a:r>
              <a:rPr lang="en-US" sz="3200" dirty="0">
                <a:solidFill>
                  <a:srgbClr val="000000"/>
                </a:solidFill>
                <a:latin typeface="Calibri"/>
              </a:rPr>
              <a:t> D</a:t>
            </a:r>
            <a:endParaRPr dirty="0"/>
          </a:p>
        </p:txBody>
      </p:sp>
      <p:sp>
        <p:nvSpPr>
          <p:cNvPr id="172" name="CustomShape 4"/>
          <p:cNvSpPr/>
          <p:nvPr/>
        </p:nvSpPr>
        <p:spPr>
          <a:xfrm>
            <a:off x="3733920" y="1523880"/>
            <a:ext cx="4952520" cy="4754160"/>
          </a:xfrm>
          <a:prstGeom prst="rect">
            <a:avLst/>
          </a:prstGeom>
          <a:noFill/>
          <a:ln>
            <a:noFill/>
          </a:ln>
        </p:spPr>
        <p:txBody>
          <a:bodyPr/>
          <a:lstStyle/>
          <a:p>
            <a:pPr>
              <a:lnSpc>
                <a:spcPct val="100000"/>
              </a:lnSpc>
            </a:pPr>
            <a:r>
              <a:rPr lang="en-US" sz="3200" b="1" dirty="0" err="1">
                <a:solidFill>
                  <a:srgbClr val="000000"/>
                </a:solidFill>
                <a:latin typeface="Calibri"/>
              </a:rPr>
              <a:t>Exemplu</a:t>
            </a:r>
            <a:r>
              <a:rPr lang="en-US" sz="3200" b="1" dirty="0">
                <a:solidFill>
                  <a:srgbClr val="000000"/>
                </a:solidFill>
                <a:latin typeface="Calibri"/>
              </a:rPr>
              <a:t>:</a:t>
            </a:r>
            <a:endParaRPr dirty="0"/>
          </a:p>
          <a:p>
            <a:pPr>
              <a:lnSpc>
                <a:spcPct val="100000"/>
              </a:lnSpc>
            </a:pPr>
            <a:r>
              <a:rPr lang="en-US" sz="3200" dirty="0" smtClean="0">
                <a:solidFill>
                  <a:srgbClr val="000000"/>
                </a:solidFill>
                <a:latin typeface="Calibri"/>
              </a:rPr>
              <a:t>Pre</a:t>
            </a:r>
            <a:r>
              <a:rPr lang="ro-RO" sz="3200" dirty="0" smtClean="0">
                <a:solidFill>
                  <a:srgbClr val="000000"/>
                </a:solidFill>
                <a:latin typeface="Calibri"/>
              </a:rPr>
              <a:t>ș</a:t>
            </a:r>
            <a:r>
              <a:rPr lang="en-US" sz="3200" dirty="0" err="1" smtClean="0">
                <a:solidFill>
                  <a:srgbClr val="000000"/>
                </a:solidFill>
                <a:latin typeface="Calibri"/>
              </a:rPr>
              <a:t>edintele</a:t>
            </a:r>
            <a:r>
              <a:rPr lang="en-US" sz="3200" dirty="0" smtClean="0">
                <a:solidFill>
                  <a:srgbClr val="000000"/>
                </a:solidFill>
                <a:latin typeface="Calibri"/>
              </a:rPr>
              <a:t> </a:t>
            </a:r>
            <a:r>
              <a:rPr lang="en-US" sz="3200" dirty="0" err="1">
                <a:solidFill>
                  <a:srgbClr val="000000"/>
                </a:solidFill>
                <a:latin typeface="Calibri"/>
              </a:rPr>
              <a:t>este</a:t>
            </a:r>
            <a:r>
              <a:rPr lang="en-US" sz="3200" dirty="0">
                <a:solidFill>
                  <a:srgbClr val="000000"/>
                </a:solidFill>
                <a:latin typeface="Calibri"/>
              </a:rPr>
              <a:t> </a:t>
            </a:r>
            <a:r>
              <a:rPr lang="en-US" sz="3200" dirty="0" err="1">
                <a:solidFill>
                  <a:srgbClr val="000000"/>
                </a:solidFill>
                <a:latin typeface="Calibri"/>
              </a:rPr>
              <a:t>ori</a:t>
            </a:r>
            <a:r>
              <a:rPr lang="en-US" sz="3200" dirty="0">
                <a:solidFill>
                  <a:srgbClr val="000000"/>
                </a:solidFill>
                <a:latin typeface="Calibri"/>
              </a:rPr>
              <a:t> </a:t>
            </a:r>
            <a:r>
              <a:rPr lang="en-US" sz="3200" dirty="0" err="1">
                <a:solidFill>
                  <a:srgbClr val="000000"/>
                </a:solidFill>
                <a:latin typeface="Calibri"/>
              </a:rPr>
              <a:t>nebun</a:t>
            </a:r>
            <a:r>
              <a:rPr lang="en-US" sz="3200" dirty="0">
                <a:solidFill>
                  <a:srgbClr val="000000"/>
                </a:solidFill>
                <a:latin typeface="Calibri"/>
              </a:rPr>
              <a:t>, </a:t>
            </a:r>
            <a:r>
              <a:rPr lang="en-US" sz="3200" dirty="0" err="1">
                <a:solidFill>
                  <a:srgbClr val="000000"/>
                </a:solidFill>
                <a:latin typeface="Calibri"/>
              </a:rPr>
              <a:t>ori</a:t>
            </a:r>
            <a:r>
              <a:rPr lang="en-US" sz="3200" dirty="0">
                <a:solidFill>
                  <a:srgbClr val="000000"/>
                </a:solidFill>
                <a:latin typeface="Calibri"/>
              </a:rPr>
              <a:t> </a:t>
            </a:r>
            <a:r>
              <a:rPr lang="en-US" sz="3200" dirty="0" smtClean="0">
                <a:solidFill>
                  <a:srgbClr val="000000"/>
                </a:solidFill>
                <a:latin typeface="Calibri"/>
              </a:rPr>
              <a:t>r</a:t>
            </a:r>
            <a:r>
              <a:rPr lang="ro-RO" sz="3200" dirty="0" smtClean="0">
                <a:solidFill>
                  <a:srgbClr val="000000"/>
                </a:solidFill>
                <a:latin typeface="Calibri"/>
              </a:rPr>
              <a:t>ă</a:t>
            </a:r>
            <a:r>
              <a:rPr lang="en-US" sz="3200" dirty="0" smtClean="0">
                <a:solidFill>
                  <a:srgbClr val="000000"/>
                </a:solidFill>
                <a:latin typeface="Calibri"/>
              </a:rPr>
              <a:t>u</a:t>
            </a:r>
            <a:r>
              <a:rPr lang="en-US" sz="3200" dirty="0">
                <a:solidFill>
                  <a:srgbClr val="000000"/>
                </a:solidFill>
                <a:latin typeface="Calibri"/>
              </a:rPr>
              <a:t>. De </a:t>
            </a:r>
            <a:r>
              <a:rPr lang="en-US" sz="3200" dirty="0" err="1">
                <a:solidFill>
                  <a:srgbClr val="000000"/>
                </a:solidFill>
                <a:latin typeface="Calibri"/>
              </a:rPr>
              <a:t>ce</a:t>
            </a:r>
            <a:r>
              <a:rPr lang="en-US" sz="3200" dirty="0">
                <a:solidFill>
                  <a:srgbClr val="000000"/>
                </a:solidFill>
                <a:latin typeface="Calibri"/>
              </a:rPr>
              <a:t>? </a:t>
            </a:r>
            <a:r>
              <a:rPr lang="en-US" sz="3200" dirty="0" err="1">
                <a:solidFill>
                  <a:srgbClr val="000000"/>
                </a:solidFill>
                <a:latin typeface="Calibri"/>
              </a:rPr>
              <a:t>Cineva</a:t>
            </a:r>
            <a:r>
              <a:rPr lang="en-US" sz="3200" dirty="0">
                <a:solidFill>
                  <a:srgbClr val="000000"/>
                </a:solidFill>
                <a:latin typeface="Calibri"/>
              </a:rPr>
              <a:t> </a:t>
            </a:r>
            <a:r>
              <a:rPr lang="en-US" sz="3200" dirty="0" err="1">
                <a:solidFill>
                  <a:srgbClr val="000000"/>
                </a:solidFill>
                <a:latin typeface="Calibri"/>
              </a:rPr>
              <a:t>poate</a:t>
            </a:r>
            <a:r>
              <a:rPr lang="en-US" sz="3200" dirty="0">
                <a:solidFill>
                  <a:srgbClr val="000000"/>
                </a:solidFill>
                <a:latin typeface="Calibri"/>
              </a:rPr>
              <a:t> </a:t>
            </a:r>
            <a:r>
              <a:rPr lang="en-US" sz="3200" dirty="0" err="1">
                <a:solidFill>
                  <a:srgbClr val="000000"/>
                </a:solidFill>
                <a:latin typeface="Calibri"/>
              </a:rPr>
              <a:t>ori</a:t>
            </a:r>
            <a:r>
              <a:rPr lang="en-US" sz="3200" dirty="0">
                <a:solidFill>
                  <a:srgbClr val="000000"/>
                </a:solidFill>
                <a:latin typeface="Calibri"/>
              </a:rPr>
              <a:t> </a:t>
            </a:r>
            <a:r>
              <a:rPr lang="en-US" sz="3200" dirty="0" smtClean="0">
                <a:solidFill>
                  <a:srgbClr val="000000"/>
                </a:solidFill>
                <a:latin typeface="Calibri"/>
              </a:rPr>
              <a:t>s</a:t>
            </a:r>
            <a:r>
              <a:rPr lang="ro-RO" sz="3200" dirty="0" smtClean="0">
                <a:solidFill>
                  <a:srgbClr val="000000"/>
                </a:solidFill>
                <a:latin typeface="Calibri"/>
              </a:rPr>
              <a:t>ă</a:t>
            </a:r>
            <a:r>
              <a:rPr lang="en-US" sz="3200" dirty="0" smtClean="0">
                <a:solidFill>
                  <a:srgbClr val="000000"/>
                </a:solidFill>
                <a:latin typeface="Calibri"/>
              </a:rPr>
              <a:t> spun</a:t>
            </a:r>
            <a:r>
              <a:rPr lang="ro-RO" sz="3200" dirty="0" smtClean="0">
                <a:solidFill>
                  <a:srgbClr val="000000"/>
                </a:solidFill>
                <a:latin typeface="Calibri"/>
              </a:rPr>
              <a:t>ă</a:t>
            </a:r>
            <a:r>
              <a:rPr lang="en-US" sz="3200" dirty="0" smtClean="0">
                <a:solidFill>
                  <a:srgbClr val="000000"/>
                </a:solidFill>
                <a:latin typeface="Calibri"/>
              </a:rPr>
              <a:t> </a:t>
            </a:r>
            <a:r>
              <a:rPr lang="en-US" sz="3200" dirty="0" err="1" smtClean="0">
                <a:solidFill>
                  <a:srgbClr val="000000"/>
                </a:solidFill>
                <a:latin typeface="Calibri"/>
              </a:rPr>
              <a:t>adev</a:t>
            </a:r>
            <a:r>
              <a:rPr lang="ro-RO" sz="3200" dirty="0" smtClean="0">
                <a:solidFill>
                  <a:srgbClr val="000000"/>
                </a:solidFill>
                <a:latin typeface="Calibri"/>
              </a:rPr>
              <a:t>ă</a:t>
            </a:r>
            <a:r>
              <a:rPr lang="en-US" sz="3200" dirty="0" err="1" smtClean="0">
                <a:solidFill>
                  <a:srgbClr val="000000"/>
                </a:solidFill>
                <a:latin typeface="Calibri"/>
              </a:rPr>
              <a:t>rul</a:t>
            </a:r>
            <a:r>
              <a:rPr lang="en-US" sz="3200" dirty="0">
                <a:solidFill>
                  <a:srgbClr val="000000"/>
                </a:solidFill>
                <a:latin typeface="Calibri"/>
              </a:rPr>
              <a:t>, </a:t>
            </a:r>
            <a:r>
              <a:rPr lang="en-US" sz="3200" dirty="0" err="1">
                <a:solidFill>
                  <a:srgbClr val="000000"/>
                </a:solidFill>
                <a:latin typeface="Calibri"/>
              </a:rPr>
              <a:t>ori</a:t>
            </a:r>
            <a:r>
              <a:rPr lang="en-US" sz="3200" dirty="0">
                <a:solidFill>
                  <a:srgbClr val="000000"/>
                </a:solidFill>
                <a:latin typeface="Calibri"/>
              </a:rPr>
              <a:t> </a:t>
            </a:r>
            <a:r>
              <a:rPr lang="en-US" sz="3200" dirty="0" smtClean="0">
                <a:solidFill>
                  <a:srgbClr val="000000"/>
                </a:solidFill>
                <a:latin typeface="Calibri"/>
              </a:rPr>
              <a:t>s</a:t>
            </a:r>
            <a:r>
              <a:rPr lang="ro-RO" sz="3200" dirty="0" smtClean="0">
                <a:solidFill>
                  <a:srgbClr val="000000"/>
                </a:solidFill>
                <a:latin typeface="Calibri"/>
              </a:rPr>
              <a:t>ă</a:t>
            </a:r>
            <a:r>
              <a:rPr lang="en-US" sz="3200" dirty="0" smtClean="0">
                <a:solidFill>
                  <a:srgbClr val="000000"/>
                </a:solidFill>
                <a:latin typeface="Calibri"/>
              </a:rPr>
              <a:t> mint</a:t>
            </a:r>
            <a:r>
              <a:rPr lang="ro-RO" sz="3200" dirty="0" smtClean="0">
                <a:solidFill>
                  <a:srgbClr val="000000"/>
                </a:solidFill>
                <a:latin typeface="Calibri"/>
              </a:rPr>
              <a:t>ă</a:t>
            </a:r>
            <a:r>
              <a:rPr lang="en-US" sz="3200" dirty="0" smtClean="0">
                <a:solidFill>
                  <a:srgbClr val="000000"/>
                </a:solidFill>
                <a:latin typeface="Calibri"/>
              </a:rPr>
              <a:t>. </a:t>
            </a:r>
            <a:r>
              <a:rPr lang="en-US" sz="3200" dirty="0">
                <a:solidFill>
                  <a:srgbClr val="000000"/>
                </a:solidFill>
                <a:latin typeface="Calibri"/>
              </a:rPr>
              <a:t>Dar </a:t>
            </a:r>
            <a:r>
              <a:rPr lang="en-US" sz="3200" dirty="0" smtClean="0">
                <a:solidFill>
                  <a:srgbClr val="000000"/>
                </a:solidFill>
                <a:latin typeface="Calibri"/>
              </a:rPr>
              <a:t>s</a:t>
            </a:r>
            <a:r>
              <a:rPr lang="ro-RO" sz="3200" dirty="0" smtClean="0">
                <a:solidFill>
                  <a:srgbClr val="000000"/>
                </a:solidFill>
                <a:latin typeface="Calibri"/>
              </a:rPr>
              <a:t>ă</a:t>
            </a:r>
            <a:r>
              <a:rPr lang="en-US" sz="3200" dirty="0" smtClean="0">
                <a:solidFill>
                  <a:srgbClr val="000000"/>
                </a:solidFill>
                <a:latin typeface="Calibri"/>
              </a:rPr>
              <a:t> </a:t>
            </a:r>
            <a:r>
              <a:rPr lang="en-US" sz="3200" dirty="0" err="1">
                <a:solidFill>
                  <a:srgbClr val="000000"/>
                </a:solidFill>
                <a:latin typeface="Calibri"/>
              </a:rPr>
              <a:t>spui</a:t>
            </a:r>
            <a:r>
              <a:rPr lang="en-US" sz="3200" dirty="0">
                <a:solidFill>
                  <a:srgbClr val="000000"/>
                </a:solidFill>
                <a:latin typeface="Calibri"/>
              </a:rPr>
              <a:t> </a:t>
            </a:r>
            <a:r>
              <a:rPr lang="en-US" sz="3200" dirty="0" err="1">
                <a:solidFill>
                  <a:srgbClr val="000000"/>
                </a:solidFill>
                <a:latin typeface="Calibri"/>
              </a:rPr>
              <a:t>lucrurilor</a:t>
            </a:r>
            <a:r>
              <a:rPr lang="en-US" sz="3200" dirty="0">
                <a:solidFill>
                  <a:srgbClr val="000000"/>
                </a:solidFill>
                <a:latin typeface="Calibri"/>
              </a:rPr>
              <a:t> </a:t>
            </a:r>
            <a:r>
              <a:rPr lang="en-US" sz="3200" dirty="0" err="1">
                <a:solidFill>
                  <a:srgbClr val="000000"/>
                </a:solidFill>
                <a:latin typeface="Calibri"/>
              </a:rPr>
              <a:t>pe</a:t>
            </a:r>
            <a:r>
              <a:rPr lang="en-US" sz="3200" dirty="0">
                <a:solidFill>
                  <a:srgbClr val="000000"/>
                </a:solidFill>
                <a:latin typeface="Calibri"/>
              </a:rPr>
              <a:t> </a:t>
            </a:r>
            <a:r>
              <a:rPr lang="en-US" sz="3200" dirty="0" err="1">
                <a:solidFill>
                  <a:srgbClr val="000000"/>
                </a:solidFill>
                <a:latin typeface="Calibri"/>
              </a:rPr>
              <a:t>nume</a:t>
            </a:r>
            <a:r>
              <a:rPr lang="en-US" sz="3200" dirty="0">
                <a:solidFill>
                  <a:srgbClr val="000000"/>
                </a:solidFill>
                <a:latin typeface="Calibri"/>
              </a:rPr>
              <a:t>, </a:t>
            </a:r>
            <a:r>
              <a:rPr lang="ro-RO" sz="3200" dirty="0" smtClean="0">
                <a:solidFill>
                  <a:srgbClr val="000000"/>
                </a:solidFill>
                <a:latin typeface="Calibri"/>
              </a:rPr>
              <a:t>î</a:t>
            </a:r>
            <a:r>
              <a:rPr lang="en-US" sz="3200" dirty="0" smtClean="0">
                <a:solidFill>
                  <a:srgbClr val="000000"/>
                </a:solidFill>
                <a:latin typeface="Calibri"/>
              </a:rPr>
              <a:t>n </a:t>
            </a:r>
            <a:r>
              <a:rPr lang="en-US" sz="3200" dirty="0" err="1">
                <a:solidFill>
                  <a:srgbClr val="000000"/>
                </a:solidFill>
                <a:latin typeface="Calibri"/>
              </a:rPr>
              <a:t>felul</a:t>
            </a:r>
            <a:r>
              <a:rPr lang="en-US" sz="3200" dirty="0">
                <a:solidFill>
                  <a:srgbClr val="000000"/>
                </a:solidFill>
                <a:latin typeface="Calibri"/>
              </a:rPr>
              <a:t> </a:t>
            </a:r>
            <a:r>
              <a:rPr lang="en-US" sz="3200" dirty="0" err="1">
                <a:solidFill>
                  <a:srgbClr val="000000"/>
                </a:solidFill>
                <a:latin typeface="Calibri"/>
              </a:rPr>
              <a:t>acesta</a:t>
            </a:r>
            <a:r>
              <a:rPr lang="en-US" sz="3200" dirty="0">
                <a:solidFill>
                  <a:srgbClr val="000000"/>
                </a:solidFill>
                <a:latin typeface="Calibri"/>
              </a:rPr>
              <a:t>, </a:t>
            </a:r>
            <a:r>
              <a:rPr lang="ro-RO" sz="3200" dirty="0">
                <a:solidFill>
                  <a:srgbClr val="000000"/>
                </a:solidFill>
                <a:latin typeface="Calibri"/>
              </a:rPr>
              <a:t>î</a:t>
            </a:r>
            <a:r>
              <a:rPr lang="en-US" sz="3200" dirty="0" err="1" smtClean="0">
                <a:solidFill>
                  <a:srgbClr val="000000"/>
                </a:solidFill>
                <a:latin typeface="Calibri"/>
              </a:rPr>
              <a:t>nseamn</a:t>
            </a:r>
            <a:r>
              <a:rPr lang="ro-RO" sz="3200" dirty="0" smtClean="0">
                <a:solidFill>
                  <a:srgbClr val="000000"/>
                </a:solidFill>
                <a:latin typeface="Calibri"/>
              </a:rPr>
              <a:t>ă</a:t>
            </a:r>
            <a:r>
              <a:rPr lang="en-US" sz="3200" dirty="0" smtClean="0">
                <a:solidFill>
                  <a:srgbClr val="000000"/>
                </a:solidFill>
                <a:latin typeface="Calibri"/>
              </a:rPr>
              <a:t> s</a:t>
            </a:r>
            <a:r>
              <a:rPr lang="ro-RO" sz="3200" dirty="0" smtClean="0">
                <a:solidFill>
                  <a:srgbClr val="000000"/>
                </a:solidFill>
                <a:latin typeface="Calibri"/>
              </a:rPr>
              <a:t>ă</a:t>
            </a:r>
            <a:r>
              <a:rPr lang="en-US" sz="3200" dirty="0" smtClean="0">
                <a:solidFill>
                  <a:srgbClr val="000000"/>
                </a:solidFill>
                <a:latin typeface="Calibri"/>
              </a:rPr>
              <a:t> </a:t>
            </a:r>
            <a:r>
              <a:rPr lang="en-US" sz="3200" dirty="0" err="1">
                <a:solidFill>
                  <a:srgbClr val="000000"/>
                </a:solidFill>
                <a:latin typeface="Calibri"/>
              </a:rPr>
              <a:t>fii</a:t>
            </a:r>
            <a:r>
              <a:rPr lang="en-US" sz="3200" dirty="0">
                <a:solidFill>
                  <a:srgbClr val="000000"/>
                </a:solidFill>
                <a:latin typeface="Calibri"/>
              </a:rPr>
              <a:t> </a:t>
            </a:r>
            <a:r>
              <a:rPr lang="en-US" sz="3200" dirty="0" err="1">
                <a:solidFill>
                  <a:srgbClr val="000000"/>
                </a:solidFill>
                <a:latin typeface="Calibri"/>
              </a:rPr>
              <a:t>nebun</a:t>
            </a:r>
            <a:r>
              <a:rPr lang="en-US" sz="3200" dirty="0">
                <a:solidFill>
                  <a:srgbClr val="000000"/>
                </a:solidFill>
                <a:latin typeface="Calibri"/>
              </a:rPr>
              <a:t>. Dar, </a:t>
            </a:r>
            <a:r>
              <a:rPr lang="ro-RO" sz="3200" dirty="0" smtClean="0">
                <a:solidFill>
                  <a:srgbClr val="000000"/>
                </a:solidFill>
                <a:latin typeface="Calibri"/>
              </a:rPr>
              <a:t>î</a:t>
            </a:r>
            <a:r>
              <a:rPr lang="en-US" sz="3200" dirty="0" smtClean="0">
                <a:solidFill>
                  <a:srgbClr val="000000"/>
                </a:solidFill>
                <a:latin typeface="Calibri"/>
              </a:rPr>
              <a:t>n </a:t>
            </a:r>
            <a:r>
              <a:rPr lang="en-US" sz="3200" dirty="0" err="1">
                <a:solidFill>
                  <a:srgbClr val="000000"/>
                </a:solidFill>
                <a:latin typeface="Calibri"/>
              </a:rPr>
              <a:t>cazul</a:t>
            </a:r>
            <a:r>
              <a:rPr lang="en-US" sz="3200" dirty="0">
                <a:solidFill>
                  <a:srgbClr val="000000"/>
                </a:solidFill>
                <a:latin typeface="Calibri"/>
              </a:rPr>
              <a:t> </a:t>
            </a:r>
            <a:r>
              <a:rPr lang="ro-RO" sz="3200" dirty="0" smtClean="0">
                <a:solidFill>
                  <a:srgbClr val="000000"/>
                </a:solidFill>
                <a:latin typeface="Calibri"/>
              </a:rPr>
              <a:t>î</a:t>
            </a:r>
            <a:r>
              <a:rPr lang="en-US" sz="3200" dirty="0" smtClean="0">
                <a:solidFill>
                  <a:srgbClr val="000000"/>
                </a:solidFill>
                <a:latin typeface="Calibri"/>
              </a:rPr>
              <a:t>n </a:t>
            </a:r>
            <a:r>
              <a:rPr lang="en-US" sz="3200" dirty="0">
                <a:solidFill>
                  <a:srgbClr val="000000"/>
                </a:solidFill>
                <a:latin typeface="Calibri"/>
              </a:rPr>
              <a:t>care ne-a </a:t>
            </a:r>
            <a:r>
              <a:rPr lang="en-US" sz="3200" dirty="0" smtClean="0">
                <a:solidFill>
                  <a:srgbClr val="000000"/>
                </a:solidFill>
                <a:latin typeface="Calibri"/>
              </a:rPr>
              <a:t>min</a:t>
            </a:r>
            <a:r>
              <a:rPr lang="ro-RO" sz="3200" dirty="0" smtClean="0">
                <a:solidFill>
                  <a:srgbClr val="000000"/>
                </a:solidFill>
                <a:latin typeface="Calibri"/>
              </a:rPr>
              <a:t>ț</a:t>
            </a:r>
            <a:r>
              <a:rPr lang="en-US" sz="3200" dirty="0" smtClean="0">
                <a:solidFill>
                  <a:srgbClr val="000000"/>
                </a:solidFill>
                <a:latin typeface="Calibri"/>
              </a:rPr>
              <a:t>it</a:t>
            </a:r>
            <a:r>
              <a:rPr lang="en-US" sz="3200" dirty="0">
                <a:solidFill>
                  <a:srgbClr val="000000"/>
                </a:solidFill>
                <a:latin typeface="Calibri"/>
              </a:rPr>
              <a:t>, </a:t>
            </a:r>
            <a:r>
              <a:rPr lang="en-US" sz="3200" dirty="0" err="1">
                <a:solidFill>
                  <a:srgbClr val="000000"/>
                </a:solidFill>
                <a:latin typeface="Calibri"/>
              </a:rPr>
              <a:t>este</a:t>
            </a:r>
            <a:r>
              <a:rPr lang="en-US" sz="3200" dirty="0">
                <a:solidFill>
                  <a:srgbClr val="000000"/>
                </a:solidFill>
                <a:latin typeface="Calibri"/>
              </a:rPr>
              <a:t> </a:t>
            </a:r>
            <a:r>
              <a:rPr lang="ro-RO" sz="3200" dirty="0" smtClean="0">
                <a:solidFill>
                  <a:srgbClr val="000000"/>
                </a:solidFill>
                <a:latin typeface="Calibri"/>
              </a:rPr>
              <a:t>î</a:t>
            </a:r>
            <a:r>
              <a:rPr lang="en-US" sz="3200" dirty="0" smtClean="0">
                <a:solidFill>
                  <a:srgbClr val="000000"/>
                </a:solidFill>
                <a:latin typeface="Calibri"/>
              </a:rPr>
              <a:t>n </a:t>
            </a:r>
            <a:r>
              <a:rPr lang="en-US" sz="3200" dirty="0">
                <a:solidFill>
                  <a:srgbClr val="000000"/>
                </a:solidFill>
                <a:latin typeface="Calibri"/>
              </a:rPr>
              <a:t>mod </a:t>
            </a:r>
            <a:r>
              <a:rPr lang="en-US" sz="3200" dirty="0" err="1">
                <a:solidFill>
                  <a:srgbClr val="000000"/>
                </a:solidFill>
                <a:latin typeface="Calibri"/>
              </a:rPr>
              <a:t>clar</a:t>
            </a:r>
            <a:r>
              <a:rPr lang="en-US" sz="3200" dirty="0">
                <a:solidFill>
                  <a:srgbClr val="000000"/>
                </a:solidFill>
                <a:latin typeface="Calibri"/>
              </a:rPr>
              <a:t> o </a:t>
            </a:r>
            <a:r>
              <a:rPr lang="en-US" sz="3200" dirty="0" err="1">
                <a:solidFill>
                  <a:srgbClr val="000000"/>
                </a:solidFill>
                <a:latin typeface="Calibri"/>
              </a:rPr>
              <a:t>persoana</a:t>
            </a:r>
            <a:r>
              <a:rPr lang="en-US" sz="3200" dirty="0">
                <a:solidFill>
                  <a:srgbClr val="000000"/>
                </a:solidFill>
                <a:latin typeface="Calibri"/>
              </a:rPr>
              <a:t> </a:t>
            </a:r>
            <a:r>
              <a:rPr lang="en-US" sz="3200" dirty="0" err="1">
                <a:solidFill>
                  <a:srgbClr val="000000"/>
                </a:solidFill>
                <a:latin typeface="Calibri"/>
              </a:rPr>
              <a:t>rea</a:t>
            </a:r>
            <a:r>
              <a:rPr lang="en-US" sz="3200" dirty="0">
                <a:solidFill>
                  <a:srgbClr val="000000"/>
                </a:solidFill>
                <a:latin typeface="Calibri"/>
              </a:rPr>
              <a:t>.</a:t>
            </a:r>
            <a:endParaRPr dirty="0"/>
          </a:p>
          <a:p>
            <a:pPr>
              <a:lnSpc>
                <a:spcPct val="100000"/>
              </a:lnSpc>
            </a:pPr>
            <a:endParaRPr dirty="0"/>
          </a:p>
          <a:p>
            <a:pPr>
              <a:lnSpc>
                <a:spcPct val="100000"/>
              </a:lnSpc>
            </a:pPr>
            <a:endParaRPr dirty="0"/>
          </a:p>
          <a:p>
            <a:pPr>
              <a:lnSpc>
                <a:spcPct val="100000"/>
              </a:lnSpc>
            </a:pPr>
            <a:endParaRPr dirty="0"/>
          </a:p>
          <a:p>
            <a:pPr>
              <a:lnSpc>
                <a:spcPct val="100000"/>
              </a:lnSpc>
            </a:pPr>
            <a:endParaRPr dirty="0"/>
          </a:p>
          <a:p>
            <a:pPr>
              <a:lnSpc>
                <a:spcPct val="100000"/>
              </a:lnSpc>
            </a:pPr>
            <a:endParaRPr dirty="0"/>
          </a:p>
          <a:p>
            <a:pPr>
              <a:lnSpc>
                <a:spcPct val="100000"/>
              </a:lnSpc>
            </a:pPr>
            <a:endParaRPr dirty="0"/>
          </a:p>
        </p:txBody>
      </p:sp>
    </p:spTree>
    <p:extLst>
      <p:ext uri="{BB962C8B-B14F-4D97-AF65-F5344CB8AC3E}">
        <p14:creationId xmlns:p14="http://schemas.microsoft.com/office/powerpoint/2010/main" val="772511326"/>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CustomShape 1"/>
          <p:cNvSpPr/>
          <p:nvPr/>
        </p:nvSpPr>
        <p:spPr>
          <a:xfrm flipH="1">
            <a:off x="380880" y="1600200"/>
            <a:ext cx="3352320" cy="4343040"/>
          </a:xfrm>
          <a:prstGeom prst="rect">
            <a:avLst/>
          </a:prstGeom>
          <a:solidFill>
            <a:srgbClr val="B9CDE5"/>
          </a:solidFill>
          <a:ln w="25560">
            <a:solidFill>
              <a:srgbClr val="3A5F8B"/>
            </a:solidFill>
            <a:round/>
          </a:ln>
        </p:spPr>
      </p:sp>
      <p:sp>
        <p:nvSpPr>
          <p:cNvPr id="174" name="TextShape 2"/>
          <p:cNvSpPr txBox="1"/>
          <p:nvPr/>
        </p:nvSpPr>
        <p:spPr>
          <a:xfrm>
            <a:off x="457200" y="274680"/>
            <a:ext cx="8229240" cy="1142640"/>
          </a:xfrm>
          <a:prstGeom prst="rect">
            <a:avLst/>
          </a:prstGeom>
        </p:spPr>
        <p:txBody>
          <a:bodyPr anchor="ctr"/>
          <a:lstStyle/>
          <a:p>
            <a:pPr algn="ctr">
              <a:lnSpc>
                <a:spcPct val="100000"/>
              </a:lnSpc>
            </a:pPr>
            <a:r>
              <a:rPr lang="en-US" sz="4400">
                <a:solidFill>
                  <a:srgbClr val="000000"/>
                </a:solidFill>
                <a:latin typeface="Calibri"/>
              </a:rPr>
              <a:t>Tipuri de argumente</a:t>
            </a:r>
            <a:endParaRPr/>
          </a:p>
        </p:txBody>
      </p:sp>
      <p:sp>
        <p:nvSpPr>
          <p:cNvPr id="175" name="TextShape 3"/>
          <p:cNvSpPr txBox="1"/>
          <p:nvPr/>
        </p:nvSpPr>
        <p:spPr>
          <a:xfrm>
            <a:off x="457200" y="1600200"/>
            <a:ext cx="3352320" cy="4525560"/>
          </a:xfrm>
          <a:prstGeom prst="rect">
            <a:avLst/>
          </a:prstGeom>
        </p:spPr>
        <p:txBody>
          <a:bodyPr/>
          <a:lstStyle/>
          <a:p>
            <a:pPr>
              <a:lnSpc>
                <a:spcPct val="100000"/>
              </a:lnSpc>
            </a:pPr>
            <a:r>
              <a:rPr lang="en-US" sz="3200" b="1" u="sng" dirty="0" err="1">
                <a:solidFill>
                  <a:srgbClr val="000000"/>
                </a:solidFill>
                <a:latin typeface="Calibri"/>
              </a:rPr>
              <a:t>Reducerea</a:t>
            </a:r>
            <a:r>
              <a:rPr lang="en-US" sz="3200" b="1" u="sng" dirty="0">
                <a:solidFill>
                  <a:srgbClr val="000000"/>
                </a:solidFill>
                <a:latin typeface="Calibri"/>
              </a:rPr>
              <a:t> la absurd</a:t>
            </a:r>
            <a:endParaRPr dirty="0"/>
          </a:p>
          <a:p>
            <a:pPr>
              <a:lnSpc>
                <a:spcPct val="100000"/>
              </a:lnSpc>
            </a:pPr>
            <a:r>
              <a:rPr lang="en-US" sz="3200" b="1" dirty="0">
                <a:solidFill>
                  <a:srgbClr val="000000"/>
                </a:solidFill>
                <a:latin typeface="Calibri"/>
              </a:rPr>
              <a:t>Forma </a:t>
            </a:r>
            <a:r>
              <a:rPr lang="en-US" sz="3200" b="1" dirty="0" err="1">
                <a:solidFill>
                  <a:srgbClr val="000000"/>
                </a:solidFill>
                <a:latin typeface="Calibri"/>
              </a:rPr>
              <a:t>logica</a:t>
            </a:r>
            <a:r>
              <a:rPr lang="en-US" sz="3200" b="1" dirty="0">
                <a:solidFill>
                  <a:srgbClr val="000000"/>
                </a:solidFill>
                <a:latin typeface="Calibri"/>
              </a:rPr>
              <a:t>:</a:t>
            </a:r>
            <a:endParaRPr dirty="0"/>
          </a:p>
          <a:p>
            <a:pPr>
              <a:lnSpc>
                <a:spcPct val="100000"/>
              </a:lnSpc>
            </a:pPr>
            <a:r>
              <a:rPr lang="en-US" sz="3200" dirty="0" err="1">
                <a:solidFill>
                  <a:srgbClr val="000000"/>
                </a:solidFill>
                <a:latin typeface="Calibri"/>
              </a:rPr>
              <a:t>Premisa</a:t>
            </a:r>
            <a:r>
              <a:rPr lang="en-US" sz="3200" dirty="0">
                <a:solidFill>
                  <a:srgbClr val="000000"/>
                </a:solidFill>
                <a:latin typeface="Calibri"/>
              </a:rPr>
              <a:t> 1: </a:t>
            </a:r>
            <a:r>
              <a:rPr lang="en-US" sz="3200" dirty="0" smtClean="0">
                <a:solidFill>
                  <a:srgbClr val="000000"/>
                </a:solidFill>
                <a:latin typeface="Calibri"/>
              </a:rPr>
              <a:t>A -&gt; B</a:t>
            </a:r>
            <a:endParaRPr dirty="0"/>
          </a:p>
          <a:p>
            <a:pPr>
              <a:lnSpc>
                <a:spcPct val="100000"/>
              </a:lnSpc>
            </a:pPr>
            <a:r>
              <a:rPr lang="en-US" sz="3200" dirty="0" err="1">
                <a:solidFill>
                  <a:srgbClr val="000000"/>
                </a:solidFill>
                <a:latin typeface="Calibri"/>
              </a:rPr>
              <a:t>Premisa</a:t>
            </a:r>
            <a:r>
              <a:rPr lang="en-US" sz="3200" dirty="0">
                <a:solidFill>
                  <a:srgbClr val="000000"/>
                </a:solidFill>
                <a:latin typeface="Calibri"/>
              </a:rPr>
              <a:t> 2: B = </a:t>
            </a:r>
            <a:r>
              <a:rPr lang="en-US" sz="3200" dirty="0" err="1">
                <a:solidFill>
                  <a:srgbClr val="000000"/>
                </a:solidFill>
                <a:latin typeface="Calibri"/>
              </a:rPr>
              <a:t>fals</a:t>
            </a:r>
            <a:endParaRPr dirty="0"/>
          </a:p>
          <a:p>
            <a:pPr>
              <a:lnSpc>
                <a:spcPct val="100000"/>
              </a:lnSpc>
            </a:pPr>
            <a:r>
              <a:rPr lang="en-US" sz="3200" dirty="0" err="1">
                <a:solidFill>
                  <a:srgbClr val="000000"/>
                </a:solidFill>
                <a:latin typeface="Calibri"/>
              </a:rPr>
              <a:t>Concluzia</a:t>
            </a:r>
            <a:r>
              <a:rPr lang="en-US" sz="3200" dirty="0">
                <a:solidFill>
                  <a:srgbClr val="000000"/>
                </a:solidFill>
                <a:latin typeface="Calibri"/>
              </a:rPr>
              <a:t>: A = </a:t>
            </a:r>
            <a:r>
              <a:rPr lang="en-US" sz="3200" dirty="0" err="1">
                <a:solidFill>
                  <a:srgbClr val="000000"/>
                </a:solidFill>
                <a:latin typeface="Calibri"/>
              </a:rPr>
              <a:t>fals</a:t>
            </a:r>
            <a:endParaRPr dirty="0"/>
          </a:p>
        </p:txBody>
      </p:sp>
      <p:sp>
        <p:nvSpPr>
          <p:cNvPr id="176" name="CustomShape 4"/>
          <p:cNvSpPr/>
          <p:nvPr/>
        </p:nvSpPr>
        <p:spPr>
          <a:xfrm>
            <a:off x="3733920" y="1523880"/>
            <a:ext cx="4952520" cy="4754160"/>
          </a:xfrm>
          <a:prstGeom prst="rect">
            <a:avLst/>
          </a:prstGeom>
          <a:noFill/>
          <a:ln>
            <a:noFill/>
          </a:ln>
        </p:spPr>
        <p:txBody>
          <a:bodyPr/>
          <a:lstStyle/>
          <a:p>
            <a:pPr>
              <a:lnSpc>
                <a:spcPct val="100000"/>
              </a:lnSpc>
            </a:pPr>
            <a:r>
              <a:rPr lang="en-US" sz="3200" b="1" dirty="0" err="1">
                <a:solidFill>
                  <a:srgbClr val="000000"/>
                </a:solidFill>
                <a:latin typeface="Calibri"/>
              </a:rPr>
              <a:t>Exemplu</a:t>
            </a:r>
            <a:r>
              <a:rPr lang="en-US" sz="3200" b="1" dirty="0">
                <a:solidFill>
                  <a:srgbClr val="000000"/>
                </a:solidFill>
                <a:latin typeface="Calibri"/>
              </a:rPr>
              <a:t>:</a:t>
            </a:r>
            <a:endParaRPr dirty="0"/>
          </a:p>
          <a:p>
            <a:pPr>
              <a:lnSpc>
                <a:spcPct val="100000"/>
              </a:lnSpc>
            </a:pPr>
            <a:endParaRPr dirty="0"/>
          </a:p>
          <a:p>
            <a:pPr>
              <a:lnSpc>
                <a:spcPct val="100000"/>
              </a:lnSpc>
            </a:pPr>
            <a:r>
              <a:rPr lang="en-US" sz="3200" dirty="0">
                <a:solidFill>
                  <a:srgbClr val="000000"/>
                </a:solidFill>
                <a:latin typeface="Calibri"/>
              </a:rPr>
              <a:t>Este </a:t>
            </a:r>
            <a:r>
              <a:rPr lang="en-US" sz="3200" dirty="0" err="1">
                <a:solidFill>
                  <a:srgbClr val="000000"/>
                </a:solidFill>
                <a:latin typeface="Calibri"/>
              </a:rPr>
              <a:t>dreptul</a:t>
            </a:r>
            <a:r>
              <a:rPr lang="en-US" sz="3200" dirty="0">
                <a:solidFill>
                  <a:srgbClr val="000000"/>
                </a:solidFill>
                <a:latin typeface="Calibri"/>
              </a:rPr>
              <a:t> la </a:t>
            </a:r>
            <a:r>
              <a:rPr lang="en-US" sz="3200" dirty="0" smtClean="0">
                <a:solidFill>
                  <a:srgbClr val="000000"/>
                </a:solidFill>
                <a:latin typeface="Calibri"/>
              </a:rPr>
              <a:t>via</a:t>
            </a:r>
            <a:r>
              <a:rPr lang="ro-RO" sz="3200" dirty="0" smtClean="0">
                <a:solidFill>
                  <a:srgbClr val="000000"/>
                </a:solidFill>
                <a:latin typeface="Calibri"/>
              </a:rPr>
              <a:t>ță</a:t>
            </a:r>
            <a:r>
              <a:rPr lang="en-US" sz="3200" dirty="0" smtClean="0">
                <a:solidFill>
                  <a:srgbClr val="000000"/>
                </a:solidFill>
                <a:latin typeface="Calibri"/>
              </a:rPr>
              <a:t> </a:t>
            </a:r>
            <a:r>
              <a:rPr lang="en-US" sz="3200" dirty="0" err="1">
                <a:solidFill>
                  <a:srgbClr val="000000"/>
                </a:solidFill>
                <a:latin typeface="Calibri"/>
              </a:rPr>
              <a:t>absolut</a:t>
            </a:r>
            <a:r>
              <a:rPr lang="en-US" sz="3200" dirty="0">
                <a:solidFill>
                  <a:srgbClr val="000000"/>
                </a:solidFill>
                <a:latin typeface="Calibri"/>
              </a:rPr>
              <a:t> (nu </a:t>
            </a:r>
            <a:r>
              <a:rPr lang="en-US" sz="3200" dirty="0" err="1">
                <a:solidFill>
                  <a:srgbClr val="000000"/>
                </a:solidFill>
                <a:latin typeface="Calibri"/>
              </a:rPr>
              <a:t>trebuie</a:t>
            </a:r>
            <a:r>
              <a:rPr lang="en-US" sz="3200" dirty="0">
                <a:solidFill>
                  <a:srgbClr val="000000"/>
                </a:solidFill>
                <a:latin typeface="Calibri"/>
              </a:rPr>
              <a:t> </a:t>
            </a:r>
            <a:r>
              <a:rPr lang="ro-RO" sz="3200" dirty="0" smtClean="0">
                <a:solidFill>
                  <a:srgbClr val="000000"/>
                </a:solidFill>
                <a:latin typeface="Calibri"/>
              </a:rPr>
              <a:t>î</a:t>
            </a:r>
            <a:r>
              <a:rPr lang="en-US" sz="3200" dirty="0" err="1" smtClean="0">
                <a:solidFill>
                  <a:srgbClr val="000000"/>
                </a:solidFill>
                <a:latin typeface="Calibri"/>
              </a:rPr>
              <a:t>nc</a:t>
            </a:r>
            <a:r>
              <a:rPr lang="ro-RO" sz="3200" dirty="0" smtClean="0">
                <a:solidFill>
                  <a:srgbClr val="000000"/>
                </a:solidFill>
                <a:latin typeface="Calibri"/>
              </a:rPr>
              <a:t>ă</a:t>
            </a:r>
            <a:r>
              <a:rPr lang="en-US" sz="3200" dirty="0" err="1" smtClean="0">
                <a:solidFill>
                  <a:srgbClr val="000000"/>
                </a:solidFill>
                <a:latin typeface="Calibri"/>
              </a:rPr>
              <a:t>lcat</a:t>
            </a:r>
            <a:r>
              <a:rPr lang="en-US" sz="3200" dirty="0" smtClean="0">
                <a:solidFill>
                  <a:srgbClr val="000000"/>
                </a:solidFill>
                <a:latin typeface="Calibri"/>
              </a:rPr>
              <a:t> </a:t>
            </a:r>
            <a:r>
              <a:rPr lang="ro-RO" sz="3200" dirty="0" smtClean="0">
                <a:solidFill>
                  <a:srgbClr val="000000"/>
                </a:solidFill>
                <a:latin typeface="Calibri"/>
              </a:rPr>
              <a:t>î</a:t>
            </a:r>
            <a:r>
              <a:rPr lang="en-US" sz="3200" dirty="0" smtClean="0">
                <a:solidFill>
                  <a:srgbClr val="000000"/>
                </a:solidFill>
                <a:latin typeface="Calibri"/>
              </a:rPr>
              <a:t>n </a:t>
            </a:r>
            <a:r>
              <a:rPr lang="en-US" sz="3200" dirty="0" err="1">
                <a:solidFill>
                  <a:srgbClr val="000000"/>
                </a:solidFill>
                <a:latin typeface="Calibri"/>
              </a:rPr>
              <a:t>absolut</a:t>
            </a:r>
            <a:r>
              <a:rPr lang="en-US" sz="3200" dirty="0">
                <a:solidFill>
                  <a:srgbClr val="000000"/>
                </a:solidFill>
                <a:latin typeface="Calibri"/>
              </a:rPr>
              <a:t> </a:t>
            </a:r>
            <a:r>
              <a:rPr lang="en-US" sz="3200" dirty="0" err="1">
                <a:solidFill>
                  <a:srgbClr val="000000"/>
                </a:solidFill>
                <a:latin typeface="Calibri"/>
              </a:rPr>
              <a:t>niciun</a:t>
            </a:r>
            <a:r>
              <a:rPr lang="en-US" sz="3200" dirty="0">
                <a:solidFill>
                  <a:srgbClr val="000000"/>
                </a:solidFill>
                <a:latin typeface="Calibri"/>
              </a:rPr>
              <a:t> </a:t>
            </a:r>
            <a:r>
              <a:rPr lang="en-US" sz="3200" dirty="0" err="1">
                <a:solidFill>
                  <a:srgbClr val="000000"/>
                </a:solidFill>
                <a:latin typeface="Calibri"/>
              </a:rPr>
              <a:t>caz</a:t>
            </a:r>
            <a:r>
              <a:rPr lang="en-US" sz="3200" dirty="0">
                <a:solidFill>
                  <a:srgbClr val="000000"/>
                </a:solidFill>
                <a:latin typeface="Calibri"/>
              </a:rPr>
              <a:t>)? </a:t>
            </a:r>
            <a:endParaRPr dirty="0"/>
          </a:p>
          <a:p>
            <a:pPr>
              <a:lnSpc>
                <a:spcPct val="100000"/>
              </a:lnSpc>
            </a:pPr>
            <a:r>
              <a:rPr lang="en-US" sz="3200" dirty="0">
                <a:solidFill>
                  <a:srgbClr val="000000"/>
                </a:solidFill>
                <a:latin typeface="Calibri"/>
              </a:rPr>
              <a:t>A </a:t>
            </a:r>
            <a:r>
              <a:rPr lang="en-US" sz="3200" dirty="0" smtClean="0">
                <a:solidFill>
                  <a:srgbClr val="000000"/>
                </a:solidFill>
                <a:latin typeface="Calibri"/>
              </a:rPr>
              <a:t>min</a:t>
            </a:r>
            <a:r>
              <a:rPr lang="ro-RO" sz="3200" dirty="0" smtClean="0">
                <a:solidFill>
                  <a:srgbClr val="000000"/>
                </a:solidFill>
                <a:latin typeface="Calibri"/>
              </a:rPr>
              <a:t>ț</a:t>
            </a:r>
            <a:r>
              <a:rPr lang="en-US" sz="3200" dirty="0" err="1" smtClean="0">
                <a:solidFill>
                  <a:srgbClr val="000000"/>
                </a:solidFill>
                <a:latin typeface="Calibri"/>
              </a:rPr>
              <a:t>i</a:t>
            </a:r>
            <a:r>
              <a:rPr lang="en-US" sz="3200" dirty="0" smtClean="0">
                <a:solidFill>
                  <a:srgbClr val="000000"/>
                </a:solidFill>
                <a:latin typeface="Calibri"/>
              </a:rPr>
              <a:t> </a:t>
            </a:r>
            <a:r>
              <a:rPr lang="en-US" sz="3200" dirty="0" err="1">
                <a:solidFill>
                  <a:srgbClr val="000000"/>
                </a:solidFill>
                <a:latin typeface="Calibri"/>
              </a:rPr>
              <a:t>este</a:t>
            </a:r>
            <a:r>
              <a:rPr lang="en-US" sz="3200" dirty="0">
                <a:solidFill>
                  <a:srgbClr val="000000"/>
                </a:solidFill>
                <a:latin typeface="Calibri"/>
              </a:rPr>
              <a:t> </a:t>
            </a:r>
            <a:r>
              <a:rPr lang="ro-RO" sz="3200" dirty="0" err="1" smtClean="0">
                <a:solidFill>
                  <a:srgbClr val="000000"/>
                </a:solidFill>
                <a:latin typeface="Calibri"/>
              </a:rPr>
              <a:t>î</a:t>
            </a:r>
            <a:r>
              <a:rPr lang="en-US" sz="3200" dirty="0" err="1" smtClean="0">
                <a:solidFill>
                  <a:srgbClr val="000000"/>
                </a:solidFill>
                <a:latin typeface="Calibri"/>
              </a:rPr>
              <a:t>ntotdeauna</a:t>
            </a:r>
            <a:r>
              <a:rPr lang="en-US" sz="3200" dirty="0" smtClean="0">
                <a:solidFill>
                  <a:srgbClr val="000000"/>
                </a:solidFill>
                <a:latin typeface="Calibri"/>
              </a:rPr>
              <a:t> </a:t>
            </a:r>
            <a:r>
              <a:rPr lang="en-US" sz="3200" dirty="0" err="1">
                <a:solidFill>
                  <a:srgbClr val="000000"/>
                </a:solidFill>
                <a:latin typeface="Calibri"/>
              </a:rPr>
              <a:t>ceva</a:t>
            </a:r>
            <a:r>
              <a:rPr lang="en-US" sz="3200" dirty="0">
                <a:solidFill>
                  <a:srgbClr val="000000"/>
                </a:solidFill>
                <a:latin typeface="Calibri"/>
              </a:rPr>
              <a:t> </a:t>
            </a:r>
            <a:r>
              <a:rPr lang="en-US" sz="3200" dirty="0" err="1">
                <a:solidFill>
                  <a:srgbClr val="000000"/>
                </a:solidFill>
                <a:latin typeface="Calibri"/>
              </a:rPr>
              <a:t>imoral</a:t>
            </a:r>
            <a:r>
              <a:rPr lang="en-US" sz="3200" dirty="0">
                <a:solidFill>
                  <a:srgbClr val="000000"/>
                </a:solidFill>
                <a:latin typeface="Calibri"/>
              </a:rPr>
              <a:t>?</a:t>
            </a:r>
            <a:endParaRPr dirty="0"/>
          </a:p>
          <a:p>
            <a:pPr>
              <a:lnSpc>
                <a:spcPct val="100000"/>
              </a:lnSpc>
            </a:pPr>
            <a:endParaRPr dirty="0"/>
          </a:p>
          <a:p>
            <a:pPr>
              <a:lnSpc>
                <a:spcPct val="100000"/>
              </a:lnSpc>
            </a:pPr>
            <a:endParaRPr dirty="0"/>
          </a:p>
          <a:p>
            <a:pPr>
              <a:lnSpc>
                <a:spcPct val="100000"/>
              </a:lnSpc>
            </a:pPr>
            <a:endParaRPr dirty="0"/>
          </a:p>
          <a:p>
            <a:pPr>
              <a:lnSpc>
                <a:spcPct val="100000"/>
              </a:lnSpc>
            </a:pPr>
            <a:endParaRPr dirty="0"/>
          </a:p>
          <a:p>
            <a:pPr>
              <a:lnSpc>
                <a:spcPct val="100000"/>
              </a:lnSpc>
            </a:pPr>
            <a:endParaRPr dirty="0"/>
          </a:p>
          <a:p>
            <a:pPr>
              <a:lnSpc>
                <a:spcPct val="100000"/>
              </a:lnSpc>
            </a:pPr>
            <a:endParaRPr dirty="0"/>
          </a:p>
          <a:p>
            <a:pPr>
              <a:lnSpc>
                <a:spcPct val="100000"/>
              </a:lnSpc>
            </a:pPr>
            <a:endParaRPr dirty="0"/>
          </a:p>
          <a:p>
            <a:pPr>
              <a:lnSpc>
                <a:spcPct val="100000"/>
              </a:lnSpc>
            </a:pPr>
            <a:endParaRPr dirty="0"/>
          </a:p>
          <a:p>
            <a:pPr>
              <a:lnSpc>
                <a:spcPct val="100000"/>
              </a:lnSpc>
            </a:pPr>
            <a:endParaRPr dirty="0"/>
          </a:p>
        </p:txBody>
      </p:sp>
    </p:spTree>
    <p:extLst>
      <p:ext uri="{BB962C8B-B14F-4D97-AF65-F5344CB8AC3E}">
        <p14:creationId xmlns:p14="http://schemas.microsoft.com/office/powerpoint/2010/main" val="368687742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To do</a:t>
            </a:r>
            <a:endParaRPr lang="en-US" dirty="0"/>
          </a:p>
        </p:txBody>
      </p:sp>
      <p:sp>
        <p:nvSpPr>
          <p:cNvPr id="3" name="Content Placeholder 2"/>
          <p:cNvSpPr>
            <a:spLocks noGrp="1"/>
          </p:cNvSpPr>
          <p:nvPr>
            <p:ph idx="1"/>
          </p:nvPr>
        </p:nvSpPr>
        <p:spPr/>
        <p:txBody>
          <a:bodyPr/>
          <a:lstStyle/>
          <a:p>
            <a:r>
              <a:rPr lang="ro-RO" dirty="0" smtClean="0"/>
              <a:t>Alegeți un serial/film/roman favorit și încercați să identificați minim trei argumente. Delimitați premisele de concluzie. </a:t>
            </a:r>
            <a:endParaRPr lang="en-US" dirty="0"/>
          </a:p>
        </p:txBody>
      </p:sp>
    </p:spTree>
    <p:extLst>
      <p:ext uri="{BB962C8B-B14F-4D97-AF65-F5344CB8AC3E}">
        <p14:creationId xmlns:p14="http://schemas.microsoft.com/office/powerpoint/2010/main" val="396132280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39D590126743D4393C709EC945A6BF9" ma:contentTypeVersion="2" ma:contentTypeDescription="Create a new document." ma:contentTypeScope="" ma:versionID="3fd8f9ad48887dd15c2655f439383f05">
  <xsd:schema xmlns:xsd="http://www.w3.org/2001/XMLSchema" xmlns:xs="http://www.w3.org/2001/XMLSchema" xmlns:p="http://schemas.microsoft.com/office/2006/metadata/properties" xmlns:ns2="a1ecb7db-cf33-47bc-bb3d-9cea59386585" targetNamespace="http://schemas.microsoft.com/office/2006/metadata/properties" ma:root="true" ma:fieldsID="74146b37bfb8eb2e698a148e17100a0b" ns2:_="">
    <xsd:import namespace="a1ecb7db-cf33-47bc-bb3d-9cea59386585"/>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ecb7db-cf33-47bc-bb3d-9cea593865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F3B3E66-C566-4CCE-940B-95B26FF0B7A7}"/>
</file>

<file path=customXml/itemProps2.xml><?xml version="1.0" encoding="utf-8"?>
<ds:datastoreItem xmlns:ds="http://schemas.openxmlformats.org/officeDocument/2006/customXml" ds:itemID="{EABFACAD-F431-4087-8300-A9C10E3F0975}"/>
</file>

<file path=customXml/itemProps3.xml><?xml version="1.0" encoding="utf-8"?>
<ds:datastoreItem xmlns:ds="http://schemas.openxmlformats.org/officeDocument/2006/customXml" ds:itemID="{A24E895A-4AA7-40E7-BAF7-B9F67080CFBC}"/>
</file>

<file path=docProps/app.xml><?xml version="1.0" encoding="utf-8"?>
<Properties xmlns="http://schemas.openxmlformats.org/officeDocument/2006/extended-properties" xmlns:vt="http://schemas.openxmlformats.org/officeDocument/2006/docPropsVTypes">
  <Template/>
  <TotalTime>175</TotalTime>
  <Words>3533</Words>
  <Application>Microsoft Office PowerPoint</Application>
  <PresentationFormat>On-screen Show (4:3)</PresentationFormat>
  <Paragraphs>576</Paragraphs>
  <Slides>61</Slides>
  <Notes>1</Notes>
  <HiddenSlides>0</HiddenSlides>
  <MMClips>0</MMClips>
  <ScaleCrop>false</ScaleCrop>
  <HeadingPairs>
    <vt:vector size="4" baseType="variant">
      <vt:variant>
        <vt:lpstr>Theme</vt:lpstr>
      </vt:variant>
      <vt:variant>
        <vt:i4>1</vt:i4>
      </vt:variant>
      <vt:variant>
        <vt:lpstr>Slide Titles</vt:lpstr>
      </vt:variant>
      <vt:variant>
        <vt:i4>61</vt:i4>
      </vt:variant>
    </vt:vector>
  </HeadingPairs>
  <TitlesOfParts>
    <vt:vector size="62" baseType="lpstr">
      <vt:lpstr>Clarity</vt:lpstr>
      <vt:lpstr>Curs 4</vt:lpstr>
      <vt:lpstr>Argument</vt:lpstr>
      <vt:lpstr>PowerPoint Presentation</vt:lpstr>
      <vt:lpstr>But why?</vt:lpstr>
      <vt:lpstr>PowerPoint Presentation</vt:lpstr>
      <vt:lpstr>Consistență - Completitudine</vt:lpstr>
      <vt:lpstr>Dar în viața de zi cu zi?</vt:lpstr>
      <vt:lpstr>Consistență – Inconsistență</vt:lpstr>
      <vt:lpstr>PowerPoint Presentation</vt:lpstr>
      <vt:lpstr>PowerPoint Presentation</vt:lpstr>
      <vt:lpstr>PowerPoint Presentation</vt:lpstr>
      <vt:lpstr>Enunțuri (declarative)</vt:lpstr>
      <vt:lpstr>Indicatori pentru premise și concluzii</vt:lpstr>
      <vt:lpstr>Reprezintă următoarele exemple argumente?</vt:lpstr>
      <vt:lpstr>Astăzi este 12 septembrie. Ieri a fost 11 septembrie.</vt:lpstr>
      <vt:lpstr>Argument vs. Explicație</vt:lpstr>
      <vt:lpstr>Argument? Explicație?</vt:lpstr>
      <vt:lpstr>Dacă - Atunci</vt:lpstr>
      <vt:lpstr>Spot the difference(s)</vt:lpstr>
      <vt:lpstr>Raționament deductiv</vt:lpstr>
      <vt:lpstr>Raționament inductiv</vt:lpstr>
      <vt:lpstr>Identificați tipurile de raționamente</vt:lpstr>
      <vt:lpstr>Raționament deductiv imediat</vt:lpstr>
      <vt:lpstr>Raționament deductiv mediat</vt:lpstr>
      <vt:lpstr>Argumente</vt:lpstr>
      <vt:lpstr>PowerPoint Presentation</vt:lpstr>
      <vt:lpstr>PowerPoint Presentation</vt:lpstr>
      <vt:lpstr>PowerPoint Presentation</vt:lpstr>
      <vt:lpstr>Necesar/ Suficient</vt:lpstr>
      <vt:lpstr>PowerPoint Presentation</vt:lpstr>
      <vt:lpstr>PowerPoint Presentation</vt:lpstr>
      <vt:lpstr>PowerPoint Presentation</vt:lpstr>
      <vt:lpstr>Elemente de logică matematică</vt:lpstr>
      <vt:lpstr>Condițional</vt:lpstr>
      <vt:lpstr>PowerPoint Presentation</vt:lpstr>
      <vt:lpstr>PowerPoint Presentation</vt:lpstr>
      <vt:lpstr>Simbolizarea argumentelor</vt:lpstr>
      <vt:lpstr>Simbolizarea argumentelor (1)</vt:lpstr>
      <vt:lpstr>PowerPoint Presentation</vt:lpstr>
      <vt:lpstr>(1)</vt:lpstr>
      <vt:lpstr>Simbolizarea argumentelor (2)</vt:lpstr>
      <vt:lpstr>(2)</vt:lpstr>
      <vt:lpstr>Simbolizarea argumentelor (3)</vt:lpstr>
      <vt:lpstr>(3)</vt:lpstr>
      <vt:lpstr>Simbolizarea argumentelor (4)</vt:lpstr>
      <vt:lpstr>(4)</vt:lpstr>
      <vt:lpstr>PowerPoint Presentation</vt:lpstr>
      <vt:lpstr>Negaţia</vt:lpstr>
      <vt:lpstr>Conjuncţia, Disjuncţia, Condiţionalul, Bicondiţionalul</vt:lpstr>
      <vt:lpstr>PowerPoint Presentation</vt:lpstr>
      <vt:lpstr>Clasificarea formulelor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To do</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Argumentarea</dc:title>
  <dc:creator>ADMINX</dc:creator>
  <cp:lastModifiedBy>ADMINX</cp:lastModifiedBy>
  <cp:revision>12</cp:revision>
  <dcterms:created xsi:type="dcterms:W3CDTF">2020-11-11T17:39:54Z</dcterms:created>
  <dcterms:modified xsi:type="dcterms:W3CDTF">2020-11-17T11:32:58Z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0x010100239D590126743D4393C709EC945A6BF9</vt:lpwstr>
  </property>
</Properties>
</file>