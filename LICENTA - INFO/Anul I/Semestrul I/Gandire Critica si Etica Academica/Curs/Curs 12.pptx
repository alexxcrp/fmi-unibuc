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4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35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45296-925D-4A7F-A642-AA239B710D42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5B49A0-43F0-41BB-B339-E71331C12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4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61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-14227175" y="-11796713"/>
            <a:ext cx="16656050" cy="124920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7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74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81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0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29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33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94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8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03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59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15313" cy="11287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15313" cy="4511675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14D01F-26C5-4DC9-9A53-66436F863346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3294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8907F2-7FD0-4697-BDD5-039251D8128E}" type="datetimeFigureOut">
              <a:rPr lang="en-US" smtClean="0"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F1B7E-ABAC-430A-A2EB-99D8A64DA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80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 dirty="0" smtClean="0"/>
              <a:t>Noțiuni de etică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dirty="0" smtClean="0"/>
              <a:t>Curs 12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6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Etica fericirii generale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0000" lnSpcReduction="20000"/>
          </a:bodyPr>
          <a:lstStyle/>
          <a:p>
            <a:pPr>
              <a:buFontTx/>
              <a:buChar char="-"/>
            </a:pPr>
            <a:r>
              <a:rPr lang="ro-RO" dirty="0" smtClean="0"/>
              <a:t>Evaluăm moralitatea unei acțiuni în funcție de consecințele ei!</a:t>
            </a:r>
          </a:p>
          <a:p>
            <a:pPr>
              <a:buFontTx/>
              <a:buChar char="-"/>
            </a:pPr>
            <a:r>
              <a:rPr lang="ro-RO" dirty="0" smtClean="0"/>
              <a:t>Scopul moral ultim al oricărei acțiuni = fericirea generală:</a:t>
            </a:r>
          </a:p>
          <a:p>
            <a:pPr>
              <a:buFontTx/>
              <a:buChar char="-"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Principiul utilității</a:t>
            </a:r>
            <a:r>
              <a:rPr lang="ro-RO" dirty="0" smtClean="0"/>
              <a:t>: o acțiune este morală dacă produce cea mai mare cantitate de fericire pentru cel mai mare număr de oameni.</a:t>
            </a:r>
          </a:p>
          <a:p>
            <a:pPr>
              <a:buNone/>
            </a:pPr>
            <a:r>
              <a:rPr lang="ro-RO" dirty="0" smtClean="0"/>
              <a:t>	</a:t>
            </a:r>
          </a:p>
          <a:p>
            <a:pPr>
              <a:buNone/>
            </a:pPr>
            <a:r>
              <a:rPr lang="ro-RO" dirty="0"/>
              <a:t>	</a:t>
            </a:r>
            <a:r>
              <a:rPr lang="ro-RO" dirty="0" smtClean="0"/>
              <a:t>Proponent principal: John Stuart Mill (1806 – 1873).</a:t>
            </a:r>
          </a:p>
          <a:p>
            <a:pPr>
              <a:buFontTx/>
              <a:buChar char="-"/>
            </a:pPr>
            <a:endParaRPr lang="ro-RO" dirty="0"/>
          </a:p>
          <a:p>
            <a:pPr>
              <a:buFontTx/>
              <a:buChar char="-"/>
            </a:pPr>
            <a:endParaRPr lang="ro-RO" dirty="0"/>
          </a:p>
          <a:p>
            <a:pPr>
              <a:buNone/>
            </a:pPr>
            <a:r>
              <a:rPr lang="ro-RO" b="1" dirty="0" smtClean="0"/>
              <a:t>Avantaj</a:t>
            </a:r>
            <a:r>
              <a:rPr lang="ro-RO" dirty="0" smtClean="0"/>
              <a:t>: Este foarte ușor să comparăm moralitatea acțiunilor: acțiunea A este mai bună decât acțiunea B dacă A produce mai multă fericire unui număr mai mare de oameni decât acțiunea B.</a:t>
            </a:r>
          </a:p>
          <a:p>
            <a:pPr>
              <a:buNone/>
            </a:pPr>
            <a:r>
              <a:rPr lang="ro-RO" dirty="0" smtClean="0"/>
              <a:t>-- Avem un răspuns simplu la problema tramvaiului.</a:t>
            </a:r>
          </a:p>
          <a:p>
            <a:pPr>
              <a:buNone/>
            </a:pPr>
            <a:r>
              <a:rPr lang="ro-RO" b="1" dirty="0" smtClean="0"/>
              <a:t>Dezavantaj</a:t>
            </a:r>
            <a:r>
              <a:rPr lang="ro-RO" dirty="0" smtClean="0"/>
              <a:t>: Cum puteam cuantifica fericirea? Ce este o unitate de fericire (plăcere)?</a:t>
            </a:r>
          </a:p>
          <a:p>
            <a:pPr>
              <a:buFontTx/>
              <a:buChar char="-"/>
            </a:pPr>
            <a:endParaRPr lang="ro-RO" dirty="0" smtClean="0"/>
          </a:p>
          <a:p>
            <a:pPr>
              <a:buFontTx/>
              <a:buChar char="-"/>
            </a:pPr>
            <a:endParaRPr lang="ro-RO" dirty="0" smtClean="0"/>
          </a:p>
        </p:txBody>
      </p:sp>
    </p:spTree>
    <p:extLst>
      <p:ext uri="{BB962C8B-B14F-4D97-AF65-F5344CB8AC3E}">
        <p14:creationId xmlns:p14="http://schemas.microsoft.com/office/powerpoint/2010/main" val="2006724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dirty="0" smtClean="0"/>
              <a:t>Utilitarism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98951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200" dirty="0" smtClean="0">
                <a:latin typeface="Times New Roman" pitchFamily="16" charset="0"/>
              </a:rPr>
              <a:t>Faptul că o acţiune este corectă sau incorectă depinde de consecinţele sale </a:t>
            </a: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200" dirty="0" smtClean="0">
                <a:latin typeface="Times New Roman" pitchFamily="16" charset="0"/>
              </a:rPr>
              <a:t>	− consecinţele pot fi evaluate din mai multe puncte de vedere</a:t>
            </a: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200" dirty="0" smtClean="0">
              <a:latin typeface="Times New Roman" pitchFamily="16" charset="0"/>
            </a:endParaRP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200" dirty="0" smtClean="0">
                <a:latin typeface="Times New Roman" pitchFamily="16" charset="0"/>
              </a:rPr>
              <a:t>	 − utilitarismul – consecinţele evaluate din punctul de vedere al utilității  </a:t>
            </a: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200" dirty="0" smtClean="0">
              <a:latin typeface="Times New Roman" pitchFamily="16" charset="0"/>
            </a:endParaRP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200" dirty="0" smtClean="0">
                <a:latin typeface="Times New Roman" pitchFamily="16" charset="0"/>
              </a:rPr>
              <a:t>	 − utilitarism – acţiunea corectă este cea care maximizează utilitatea.</a:t>
            </a:r>
          </a:p>
          <a:p>
            <a:pPr marL="595313" indent="-595313" eaLnBrk="1" hangingPunct="1">
              <a:lnSpc>
                <a:spcPct val="90000"/>
              </a:lnSpc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200" dirty="0" smtClean="0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6029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6096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</a:rPr>
              <a:t>Utilitate pozitivă – plăcere</a:t>
            </a:r>
          </a:p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>
                <a:latin typeface="Times New Roman" pitchFamily="16" charset="0"/>
              </a:rPr>
              <a:t>U</a:t>
            </a:r>
            <a:r>
              <a:rPr lang="ro-RO" dirty="0" smtClean="0">
                <a:latin typeface="Times New Roman" pitchFamily="16" charset="0"/>
              </a:rPr>
              <a:t>tilitate negativă – durere</a:t>
            </a:r>
          </a:p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dirty="0" smtClean="0">
              <a:latin typeface="Times New Roman" pitchFamily="16" charset="0"/>
            </a:endParaRPr>
          </a:p>
          <a:p>
            <a:pPr>
              <a:lnSpc>
                <a:spcPct val="90000"/>
              </a:lnSpc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  <a:cs typeface="Times New Roman" pitchFamily="16" charset="0"/>
              </a:rPr>
              <a:t> Decizia utilitaristă</a:t>
            </a:r>
          </a:p>
          <a:p>
            <a:pPr marL="595313" indent="-595313" algn="just">
              <a:spcBef>
                <a:spcPct val="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a.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Identifică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toate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variantele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 de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acțiune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 </a:t>
            </a:r>
            <a:r>
              <a:rPr lang="en-US" dirty="0" err="1" smtClean="0">
                <a:latin typeface="Times New Roman" pitchFamily="16" charset="0"/>
                <a:cs typeface="Times New Roman" pitchFamily="16" charset="0"/>
              </a:rPr>
              <a:t>posibile</a:t>
            </a:r>
            <a:r>
              <a:rPr lang="en-US" dirty="0" smtClean="0">
                <a:latin typeface="Times New Roman" pitchFamily="16" charset="0"/>
                <a:cs typeface="Times New Roman" pitchFamily="16" charset="0"/>
              </a:rPr>
              <a:t>.</a:t>
            </a:r>
          </a:p>
          <a:p>
            <a:pPr marL="595313" indent="-595313" algn="just">
              <a:spcBef>
                <a:spcPct val="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  <a:cs typeface="Times New Roman" pitchFamily="16" charset="0"/>
              </a:rPr>
              <a:t>b. Identifică toate părțile afectate de acțiunile posibile.</a:t>
            </a:r>
          </a:p>
          <a:p>
            <a:pPr marL="595313" indent="-595313" algn="just">
              <a:spcBef>
                <a:spcPct val="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  <a:cs typeface="Times New Roman" pitchFamily="16" charset="0"/>
              </a:rPr>
              <a:t>c. Determină cum e afectată fiecare parte (negativ sau pozitiv).</a:t>
            </a:r>
          </a:p>
          <a:p>
            <a:pPr marL="595313" indent="-595313" algn="just">
              <a:spcBef>
                <a:spcPct val="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>
                <a:latin typeface="Times New Roman" pitchFamily="16" charset="0"/>
                <a:cs typeface="Times New Roman" pitchFamily="16" charset="0"/>
              </a:rPr>
              <a:t>d. În măsura în care e posibil, încearcă să estimezi care acțiune aduce utilitate maximă.</a:t>
            </a:r>
            <a:r>
              <a:rPr lang="ro-RO" dirty="0" smtClean="0">
                <a:latin typeface="Times New Roman" pitchFamily="16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58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mtClean="0"/>
              <a:t>Exemplu</a:t>
            </a:r>
            <a:r>
              <a:rPr lang="en-US" smtClean="0"/>
              <a:t> utilitarism</a:t>
            </a:r>
          </a:p>
        </p:txBody>
      </p:sp>
      <p:graphicFrame>
        <p:nvGraphicFramePr>
          <p:cNvPr id="7170" name="Group 2"/>
          <p:cNvGraphicFramePr>
            <a:graphicFrameLocks noGrp="1"/>
          </p:cNvGraphicFramePr>
          <p:nvPr/>
        </p:nvGraphicFramePr>
        <p:xfrm>
          <a:off x="1143000" y="1524000"/>
          <a:ext cx="7315200" cy="4521387"/>
        </p:xfrm>
        <a:graphic>
          <a:graphicData uri="http://schemas.openxmlformats.org/drawingml/2006/table">
            <a:tbl>
              <a:tblPr/>
              <a:tblGrid>
                <a:gridCol w="1557566"/>
                <a:gridCol w="1368514"/>
                <a:gridCol w="1463040"/>
                <a:gridCol w="1463040"/>
                <a:gridCol w="1463040"/>
              </a:tblGrid>
              <a:tr h="388543">
                <a:tc rowSpan="2" gridSpan="2"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ro-RO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Persoane afectate</a:t>
                      </a:r>
                    </a:p>
                  </a:txBody>
                  <a:tcPr marL="45720" marR="4572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8118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P</a:t>
                      </a:r>
                      <a:r>
                        <a:rPr kumimoji="0" lang="ro-RO" sz="20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1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(</a:t>
                      </a: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agentul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 ac</a:t>
                      </a: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ţiunii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)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2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-30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30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Times New Roman" pitchFamily="16" charset="0"/>
                        </a:rPr>
                        <a:t>3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-3000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Times New Roman" pitchFamily="16" charset="0"/>
                      </a:endParaRP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817">
                <a:tc rowSpan="3"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ro-RO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Acţiuni</a:t>
                      </a: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posibile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A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-1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2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6" charset="0"/>
                        <a:cs typeface="Arial" charset="0"/>
                      </a:endParaRPr>
                    </a:p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3</a:t>
                      </a:r>
                    </a:p>
                  </a:txBody>
                  <a:tcPr marL="45720" marR="457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5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B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1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1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1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85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C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6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-2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57000"/>
                        </a:lnSpc>
                        <a:spcBef>
                          <a:spcPts val="7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457200" algn="l"/>
                          <a:tab pos="914400" algn="l"/>
                          <a:tab pos="1371600" algn="l"/>
                          <a:tab pos="1828800" algn="l"/>
                          <a:tab pos="2286000" algn="l"/>
                          <a:tab pos="2743200" algn="l"/>
                          <a:tab pos="3200400" algn="l"/>
                          <a:tab pos="3657600" algn="l"/>
                          <a:tab pos="4114800" algn="l"/>
                          <a:tab pos="4572000" algn="l"/>
                          <a:tab pos="5029200" algn="l"/>
                          <a:tab pos="5486400" algn="l"/>
                          <a:tab pos="5943600" algn="l"/>
                          <a:tab pos="6400800" algn="l"/>
                          <a:tab pos="6858000" algn="l"/>
                          <a:tab pos="7315200" algn="l"/>
                          <a:tab pos="7772400" algn="l"/>
                          <a:tab pos="8229600" algn="l"/>
                          <a:tab pos="8686800" algn="l"/>
                          <a:tab pos="9144000" algn="l"/>
                        </a:tabLst>
                      </a:pPr>
                      <a:r>
                        <a:rPr kumimoji="0" lang="ro-RO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6" charset="0"/>
                          <a:cs typeface="Arial" charset="0"/>
                        </a:rPr>
                        <a:t>-2</a:t>
                      </a:r>
                    </a:p>
                  </a:txBody>
                  <a:tcPr marL="45720" marR="4572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3985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Critici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31788">
              <a:lnSpc>
                <a:spcPct val="80000"/>
              </a:lnSpc>
              <a:spcBef>
                <a:spcPts val="70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Dificultatea de a cunoaşte exact consecinţele.</a:t>
            </a:r>
          </a:p>
          <a:p>
            <a:pPr indent="-331788" algn="just">
              <a:lnSpc>
                <a:spcPct val="80000"/>
              </a:lnSpc>
              <a:spcBef>
                <a:spcPts val="70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dirty="0" smtClean="0"/>
              <a:t>Ex.: </a:t>
            </a:r>
            <a:r>
              <a:rPr lang="en-US" dirty="0" smtClean="0"/>
              <a:t>De </a:t>
            </a:r>
            <a:r>
              <a:rPr lang="en-US" dirty="0" err="1" smtClean="0"/>
              <a:t>pildă</a:t>
            </a:r>
            <a:r>
              <a:rPr lang="en-US" dirty="0" smtClean="0"/>
              <a:t>, un </a:t>
            </a:r>
            <a:r>
              <a:rPr lang="en-US" dirty="0" err="1" smtClean="0"/>
              <a:t>angajat</a:t>
            </a:r>
            <a:r>
              <a:rPr lang="en-US" dirty="0" smtClean="0"/>
              <a:t> </a:t>
            </a:r>
            <a:r>
              <a:rPr lang="en-US" dirty="0" err="1" smtClean="0"/>
              <a:t>ştie</a:t>
            </a:r>
            <a:r>
              <a:rPr lang="en-US" dirty="0" smtClean="0"/>
              <a:t> </a:t>
            </a:r>
            <a:r>
              <a:rPr lang="en-US" dirty="0" err="1" smtClean="0"/>
              <a:t>că</a:t>
            </a:r>
            <a:r>
              <a:rPr lang="en-US" dirty="0" smtClean="0"/>
              <a:t> </a:t>
            </a:r>
            <a:r>
              <a:rPr lang="en-US" dirty="0" err="1" smtClean="0"/>
              <a:t>unul</a:t>
            </a:r>
            <a:r>
              <a:rPr lang="en-US" dirty="0" smtClean="0"/>
              <a:t> </a:t>
            </a:r>
            <a:r>
              <a:rPr lang="en-US" dirty="0" err="1" smtClean="0"/>
              <a:t>dintre</a:t>
            </a:r>
            <a:r>
              <a:rPr lang="en-US" dirty="0" smtClean="0"/>
              <a:t> </a:t>
            </a:r>
            <a:r>
              <a:rPr lang="en-US" dirty="0" err="1" smtClean="0"/>
              <a:t>colegii</a:t>
            </a:r>
            <a:r>
              <a:rPr lang="en-US" dirty="0" smtClean="0"/>
              <a:t> </a:t>
            </a:r>
            <a:r>
              <a:rPr lang="en-US" dirty="0" err="1" smtClean="0"/>
              <a:t>săi</a:t>
            </a:r>
            <a:r>
              <a:rPr lang="en-US" dirty="0" smtClean="0"/>
              <a:t> nu </a:t>
            </a:r>
            <a:r>
              <a:rPr lang="en-US" dirty="0" err="1" smtClean="0"/>
              <a:t>respectă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mod constant </a:t>
            </a:r>
            <a:r>
              <a:rPr lang="en-US" dirty="0" err="1" smtClean="0"/>
              <a:t>anumite</a:t>
            </a:r>
            <a:r>
              <a:rPr lang="en-US" dirty="0" smtClean="0"/>
              <a:t> </a:t>
            </a:r>
            <a:r>
              <a:rPr lang="en-US" dirty="0" err="1" smtClean="0"/>
              <a:t>proceduri</a:t>
            </a:r>
            <a:r>
              <a:rPr lang="en-US" dirty="0" smtClean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procesul</a:t>
            </a:r>
            <a:r>
              <a:rPr lang="en-US" dirty="0" smtClean="0"/>
              <a:t> de </a:t>
            </a:r>
            <a:r>
              <a:rPr lang="en-US" dirty="0" err="1" smtClean="0"/>
              <a:t>producţie</a:t>
            </a:r>
            <a:r>
              <a:rPr lang="en-US" dirty="0" smtClean="0"/>
              <a:t>, </a:t>
            </a:r>
            <a:r>
              <a:rPr lang="en-US" dirty="0" err="1" smtClean="0"/>
              <a:t>ceea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însă</a:t>
            </a:r>
            <a:r>
              <a:rPr lang="en-US" dirty="0" smtClean="0"/>
              <a:t> nu a </a:t>
            </a:r>
            <a:r>
              <a:rPr lang="en-US" dirty="0" err="1" smtClean="0"/>
              <a:t>adus</a:t>
            </a:r>
            <a:r>
              <a:rPr lang="en-US" dirty="0" smtClean="0"/>
              <a:t> </a:t>
            </a:r>
            <a:r>
              <a:rPr lang="en-US" dirty="0" err="1" smtClean="0"/>
              <a:t>până</a:t>
            </a:r>
            <a:r>
              <a:rPr lang="en-US" dirty="0" smtClean="0"/>
              <a:t> </a:t>
            </a:r>
            <a:r>
              <a:rPr lang="en-US" dirty="0" err="1" smtClean="0"/>
              <a:t>acum</a:t>
            </a:r>
            <a:r>
              <a:rPr lang="en-US" dirty="0" smtClean="0"/>
              <a:t> </a:t>
            </a:r>
            <a:r>
              <a:rPr lang="en-US" dirty="0" err="1" smtClean="0"/>
              <a:t>consecinţe</a:t>
            </a:r>
            <a:r>
              <a:rPr lang="en-US" dirty="0" smtClean="0"/>
              <a:t> negative. </a:t>
            </a:r>
            <a:r>
              <a:rPr lang="en-US" dirty="0" err="1" smtClean="0"/>
              <a:t>Ar</a:t>
            </a:r>
            <a:r>
              <a:rPr lang="en-US" dirty="0" smtClean="0"/>
              <a:t> </a:t>
            </a:r>
            <a:r>
              <a:rPr lang="en-US" dirty="0" err="1" smtClean="0"/>
              <a:t>trebui</a:t>
            </a:r>
            <a:r>
              <a:rPr lang="en-US" dirty="0" smtClean="0"/>
              <a:t> </a:t>
            </a:r>
            <a:r>
              <a:rPr lang="en-US" dirty="0" err="1" smtClean="0"/>
              <a:t>respectivul</a:t>
            </a:r>
            <a:r>
              <a:rPr lang="en-US" dirty="0" smtClean="0"/>
              <a:t> </a:t>
            </a:r>
            <a:r>
              <a:rPr lang="en-US" dirty="0" err="1" smtClean="0"/>
              <a:t>angajat</a:t>
            </a:r>
            <a:r>
              <a:rPr lang="en-US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 err="1" smtClean="0"/>
              <a:t>îşi</a:t>
            </a:r>
            <a:r>
              <a:rPr lang="en-US" dirty="0" smtClean="0"/>
              <a:t> </a:t>
            </a:r>
            <a:r>
              <a:rPr lang="en-US" dirty="0" err="1" smtClean="0"/>
              <a:t>sesizeze</a:t>
            </a:r>
            <a:r>
              <a:rPr lang="en-US" dirty="0" smtClean="0"/>
              <a:t> </a:t>
            </a:r>
            <a:r>
              <a:rPr lang="en-US" dirty="0" err="1" smtClean="0"/>
              <a:t>şeful</a:t>
            </a:r>
            <a:r>
              <a:rPr lang="en-US" dirty="0" smtClean="0"/>
              <a:t> direct? </a:t>
            </a:r>
            <a:r>
              <a:rPr lang="ro-RO" dirty="0" smtClean="0"/>
              <a:t>Problemă: Nu poate ști consecințele: ce se va întâmpla </a:t>
            </a:r>
            <a:r>
              <a:rPr lang="en-US" dirty="0" err="1" smtClean="0"/>
              <a:t>dac</a:t>
            </a:r>
            <a:r>
              <a:rPr lang="ro-RO" dirty="0" smtClean="0"/>
              <a:t>ă</a:t>
            </a:r>
            <a:r>
              <a:rPr lang="en-US" dirty="0" smtClean="0"/>
              <a:t> </a:t>
            </a:r>
            <a:r>
              <a:rPr lang="ro-RO" dirty="0" smtClean="0"/>
              <a:t>îşi </a:t>
            </a:r>
            <a:r>
              <a:rPr lang="en-US" dirty="0" err="1" smtClean="0"/>
              <a:t>sesizea</a:t>
            </a:r>
            <a:r>
              <a:rPr lang="ro-RO" dirty="0" smtClean="0"/>
              <a:t>ză şeful? Dar dacă nu sesizează?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88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Critici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334000"/>
          </a:xfrm>
        </p:spPr>
        <p:txBody>
          <a:bodyPr>
            <a:normAutofit lnSpcReduction="10000"/>
          </a:bodyPr>
          <a:lstStyle/>
          <a:p>
            <a:r>
              <a:rPr lang="ro-RO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Dificultatea cuantificării.</a:t>
            </a:r>
          </a:p>
          <a:p>
            <a:pPr marL="468312" indent="-457200">
              <a:lnSpc>
                <a:spcPct val="90000"/>
              </a:lnSpc>
              <a:spcBef>
                <a:spcPct val="0"/>
              </a:spcBef>
              <a:tabLst>
                <a:tab pos="606425" algn="l"/>
                <a:tab pos="719138" algn="l"/>
                <a:tab pos="1176338" algn="l"/>
                <a:tab pos="1633538" algn="l"/>
                <a:tab pos="2090738" algn="l"/>
                <a:tab pos="2547938" algn="l"/>
                <a:tab pos="3005138" algn="l"/>
                <a:tab pos="3462338" algn="l"/>
                <a:tab pos="3919538" algn="l"/>
                <a:tab pos="4376738" algn="l"/>
                <a:tab pos="4833938" algn="l"/>
                <a:tab pos="5291138" algn="l"/>
                <a:tab pos="5748338" algn="l"/>
                <a:tab pos="6205538" algn="l"/>
                <a:tab pos="6662738" algn="l"/>
                <a:tab pos="7119938" algn="l"/>
                <a:tab pos="7577138" algn="l"/>
                <a:tab pos="8034338" algn="l"/>
                <a:tab pos="8491538" algn="l"/>
                <a:tab pos="8948738" algn="l"/>
                <a:tab pos="9405938" algn="l"/>
              </a:tabLst>
            </a:pPr>
            <a:r>
              <a:rPr lang="ro-RO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Problema comparației interpersonale a utilității. </a:t>
            </a:r>
          </a:p>
          <a:p>
            <a:pPr marL="606425" indent="-595313">
              <a:lnSpc>
                <a:spcPct val="90000"/>
              </a:lnSpc>
              <a:spcBef>
                <a:spcPct val="0"/>
              </a:spcBef>
              <a:buNone/>
              <a:tabLst>
                <a:tab pos="606425" algn="l"/>
                <a:tab pos="719138" algn="l"/>
                <a:tab pos="1176338" algn="l"/>
                <a:tab pos="1633538" algn="l"/>
                <a:tab pos="2090738" algn="l"/>
                <a:tab pos="2547938" algn="l"/>
                <a:tab pos="3005138" algn="l"/>
                <a:tab pos="3462338" algn="l"/>
                <a:tab pos="3919538" algn="l"/>
                <a:tab pos="4376738" algn="l"/>
                <a:tab pos="4833938" algn="l"/>
                <a:tab pos="5291138" algn="l"/>
                <a:tab pos="5748338" algn="l"/>
                <a:tab pos="6205538" algn="l"/>
                <a:tab pos="6662738" algn="l"/>
                <a:tab pos="7119938" algn="l"/>
                <a:tab pos="7577138" algn="l"/>
                <a:tab pos="8034338" algn="l"/>
                <a:tab pos="8491538" algn="l"/>
                <a:tab pos="8948738" algn="l"/>
                <a:tab pos="9405938" algn="l"/>
              </a:tabLst>
            </a:pPr>
            <a:r>
              <a:rPr lang="ro-RO" dirty="0" smtClean="0"/>
              <a:t>Daunele sunt aduse unor indivizi diferiţi: angajatului neatent şi, poate, consumatorilor. Cum pot fi comparate utilitățile aduse unor indivizi diferiți? Cine ar trebui să atribuie aceste utilități? </a:t>
            </a:r>
          </a:p>
          <a:p>
            <a:pPr marL="606425" indent="-595313">
              <a:lnSpc>
                <a:spcPct val="90000"/>
              </a:lnSpc>
              <a:spcBef>
                <a:spcPct val="0"/>
              </a:spcBef>
              <a:tabLst>
                <a:tab pos="606425" algn="l"/>
                <a:tab pos="719138" algn="l"/>
                <a:tab pos="1176338" algn="l"/>
                <a:tab pos="1633538" algn="l"/>
                <a:tab pos="2090738" algn="l"/>
                <a:tab pos="2547938" algn="l"/>
                <a:tab pos="3005138" algn="l"/>
                <a:tab pos="3462338" algn="l"/>
                <a:tab pos="3919538" algn="l"/>
                <a:tab pos="4376738" algn="l"/>
                <a:tab pos="4833938" algn="l"/>
                <a:tab pos="5291138" algn="l"/>
                <a:tab pos="5748338" algn="l"/>
                <a:tab pos="6205538" algn="l"/>
                <a:tab pos="6662738" algn="l"/>
                <a:tab pos="7119938" algn="l"/>
                <a:tab pos="7577138" algn="l"/>
                <a:tab pos="8034338" algn="l"/>
                <a:tab pos="8491538" algn="l"/>
                <a:tab pos="8948738" algn="l"/>
                <a:tab pos="9405938" algn="l"/>
              </a:tabLst>
            </a:pPr>
            <a:r>
              <a:rPr lang="ro-RO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Utilitarismul nu ia în considerare drepturile celor afectați.</a:t>
            </a:r>
          </a:p>
          <a:p>
            <a:pPr marL="606425" indent="-595313">
              <a:lnSpc>
                <a:spcPct val="90000"/>
              </a:lnSpc>
              <a:spcBef>
                <a:spcPct val="0"/>
              </a:spcBef>
              <a:buNone/>
              <a:tabLst>
                <a:tab pos="606425" algn="l"/>
                <a:tab pos="719138" algn="l"/>
                <a:tab pos="1176338" algn="l"/>
                <a:tab pos="1633538" algn="l"/>
                <a:tab pos="2090738" algn="l"/>
                <a:tab pos="2547938" algn="l"/>
                <a:tab pos="3005138" algn="l"/>
                <a:tab pos="3462338" algn="l"/>
                <a:tab pos="3919538" algn="l"/>
                <a:tab pos="4376738" algn="l"/>
                <a:tab pos="4833938" algn="l"/>
                <a:tab pos="5291138" algn="l"/>
                <a:tab pos="5748338" algn="l"/>
                <a:tab pos="6205538" algn="l"/>
                <a:tab pos="6662738" algn="l"/>
                <a:tab pos="7119938" algn="l"/>
                <a:tab pos="7577138" algn="l"/>
                <a:tab pos="8034338" algn="l"/>
                <a:tab pos="8491538" algn="l"/>
                <a:tab pos="8948738" algn="l"/>
                <a:tab pos="9405938" algn="l"/>
              </a:tabLst>
            </a:pPr>
            <a:r>
              <a:rPr lang="ro-RO" dirty="0" smtClean="0"/>
              <a:t>În unele cazuri, acțiunea care aduce utilitate maximă încalcă drepturile uneia dintre părți. Este acest lucru acceptabil?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7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/>
          </a:bodyPr>
          <a:lstStyle/>
          <a:p>
            <a:pPr indent="-334963" algn="just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dirty="0" smtClean="0"/>
              <a:t>Un </a:t>
            </a:r>
            <a:r>
              <a:rPr lang="en-US" dirty="0" err="1" smtClean="0"/>
              <a:t>șef</a:t>
            </a:r>
            <a:r>
              <a:rPr lang="en-US" dirty="0" smtClean="0"/>
              <a:t> de </a:t>
            </a:r>
            <a:r>
              <a:rPr lang="en-US" dirty="0" err="1" smtClean="0"/>
              <a:t>departament</a:t>
            </a:r>
            <a:r>
              <a:rPr lang="en-US" dirty="0" smtClean="0"/>
              <a:t> </a:t>
            </a:r>
            <a:r>
              <a:rPr lang="en-US" dirty="0" err="1" smtClean="0"/>
              <a:t>află</a:t>
            </a:r>
            <a:r>
              <a:rPr lang="en-US" dirty="0" smtClean="0"/>
              <a:t> </a:t>
            </a:r>
            <a:r>
              <a:rPr lang="en-US" dirty="0" err="1" smtClean="0"/>
              <a:t>că</a:t>
            </a:r>
            <a:r>
              <a:rPr lang="en-US" dirty="0" smtClean="0"/>
              <a:t> </a:t>
            </a:r>
            <a:r>
              <a:rPr lang="en-US" dirty="0" err="1" smtClean="0"/>
              <a:t>unul</a:t>
            </a:r>
            <a:r>
              <a:rPr lang="en-US" dirty="0" smtClean="0"/>
              <a:t> </a:t>
            </a:r>
            <a:r>
              <a:rPr lang="en-US" dirty="0" err="1" smtClean="0"/>
              <a:t>dintre</a:t>
            </a:r>
            <a:r>
              <a:rPr lang="en-US" dirty="0" smtClean="0"/>
              <a:t> </a:t>
            </a:r>
            <a:r>
              <a:rPr lang="en-US" dirty="0" err="1" smtClean="0"/>
              <a:t>angajați</a:t>
            </a:r>
            <a:r>
              <a:rPr lang="en-US" dirty="0" smtClean="0"/>
              <a:t> a </a:t>
            </a:r>
            <a:r>
              <a:rPr lang="en-US" dirty="0" err="1" smtClean="0"/>
              <a:t>făcut</a:t>
            </a:r>
            <a:r>
              <a:rPr lang="en-US" dirty="0" smtClean="0"/>
              <a:t> o </a:t>
            </a:r>
            <a:r>
              <a:rPr lang="en-US" dirty="0" err="1" smtClean="0"/>
              <a:t>greșeală</a:t>
            </a:r>
            <a:r>
              <a:rPr lang="en-US" dirty="0" smtClean="0"/>
              <a:t>. </a:t>
            </a:r>
            <a:r>
              <a:rPr lang="en-US" dirty="0" err="1" smtClean="0"/>
              <a:t>Presat</a:t>
            </a:r>
            <a:r>
              <a:rPr lang="en-US" dirty="0" smtClean="0"/>
              <a:t> de </a:t>
            </a:r>
            <a:r>
              <a:rPr lang="en-US" dirty="0" err="1" smtClean="0"/>
              <a:t>șeful</a:t>
            </a:r>
            <a:r>
              <a:rPr lang="en-US" dirty="0" smtClean="0"/>
              <a:t> </a:t>
            </a:r>
            <a:r>
              <a:rPr lang="en-US" dirty="0" err="1" smtClean="0"/>
              <a:t>său</a:t>
            </a:r>
            <a:r>
              <a:rPr lang="en-US" dirty="0" smtClean="0"/>
              <a:t>, </a:t>
            </a:r>
            <a:r>
              <a:rPr lang="en-US" dirty="0" err="1" smtClean="0"/>
              <a:t>trebuie</a:t>
            </a:r>
            <a:r>
              <a:rPr lang="en-US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 err="1" smtClean="0"/>
              <a:t>sancționeze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cineva</a:t>
            </a:r>
            <a:r>
              <a:rPr lang="en-US" dirty="0" smtClean="0"/>
              <a:t>. </a:t>
            </a:r>
            <a:r>
              <a:rPr lang="en-US" dirty="0" err="1" smtClean="0"/>
              <a:t>Vrea</a:t>
            </a:r>
            <a:r>
              <a:rPr lang="en-US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 err="1" smtClean="0"/>
              <a:t>aplice</a:t>
            </a:r>
            <a:r>
              <a:rPr lang="en-US" dirty="0" smtClean="0"/>
              <a:t> </a:t>
            </a:r>
            <a:r>
              <a:rPr lang="en-US" dirty="0" err="1" smtClean="0"/>
              <a:t>cea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ușoară</a:t>
            </a:r>
            <a:r>
              <a:rPr lang="en-US" dirty="0" smtClean="0"/>
              <a:t> </a:t>
            </a:r>
            <a:r>
              <a:rPr lang="en-US" dirty="0" err="1" smtClean="0"/>
              <a:t>sancțiune</a:t>
            </a:r>
            <a:r>
              <a:rPr lang="en-US" dirty="0" smtClean="0"/>
              <a:t>. Din </a:t>
            </a:r>
            <a:r>
              <a:rPr lang="en-US" dirty="0" err="1" smtClean="0"/>
              <a:t>păcate</a:t>
            </a:r>
            <a:r>
              <a:rPr lang="en-US" dirty="0" smtClean="0"/>
              <a:t>, </a:t>
            </a:r>
            <a:r>
              <a:rPr lang="en-US" dirty="0" err="1" smtClean="0"/>
              <a:t>află</a:t>
            </a:r>
            <a:r>
              <a:rPr lang="en-US" dirty="0" smtClean="0"/>
              <a:t> </a:t>
            </a:r>
            <a:r>
              <a:rPr lang="en-US" dirty="0" err="1" smtClean="0"/>
              <a:t>că</a:t>
            </a:r>
            <a:r>
              <a:rPr lang="en-US" dirty="0" smtClean="0"/>
              <a:t> </a:t>
            </a:r>
            <a:r>
              <a:rPr lang="en-US" dirty="0" err="1" smtClean="0"/>
              <a:t>cel</a:t>
            </a:r>
            <a:r>
              <a:rPr lang="en-US" dirty="0" smtClean="0"/>
              <a:t> care a </a:t>
            </a:r>
            <a:r>
              <a:rPr lang="en-US" dirty="0" err="1" smtClean="0"/>
              <a:t>făcut</a:t>
            </a:r>
            <a:r>
              <a:rPr lang="en-US" dirty="0" smtClean="0"/>
              <a:t> </a:t>
            </a:r>
            <a:r>
              <a:rPr lang="en-US" dirty="0" err="1" smtClean="0"/>
              <a:t>greșeala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un </a:t>
            </a:r>
            <a:r>
              <a:rPr lang="en-US" dirty="0" err="1" smtClean="0"/>
              <a:t>angajat</a:t>
            </a:r>
            <a:r>
              <a:rPr lang="en-US" dirty="0" smtClean="0"/>
              <a:t> cu </a:t>
            </a:r>
            <a:r>
              <a:rPr lang="en-US" dirty="0" err="1" smtClean="0"/>
              <a:t>probleme</a:t>
            </a:r>
            <a:r>
              <a:rPr lang="en-US" dirty="0" smtClean="0"/>
              <a:t> </a:t>
            </a:r>
            <a:r>
              <a:rPr lang="en-US" dirty="0" err="1" smtClean="0"/>
              <a:t>familiale</a:t>
            </a:r>
            <a:r>
              <a:rPr lang="en-US" dirty="0" smtClean="0"/>
              <a:t>. Este a </a:t>
            </a:r>
            <a:r>
              <a:rPr lang="en-US" dirty="0" err="1" smtClean="0"/>
              <a:t>doua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greșeală</a:t>
            </a:r>
            <a:r>
              <a:rPr lang="en-US" dirty="0" smtClean="0"/>
              <a:t>, </a:t>
            </a:r>
            <a:r>
              <a:rPr lang="en-US" dirty="0" err="1" smtClean="0"/>
              <a:t>iar</a:t>
            </a:r>
            <a:r>
              <a:rPr lang="en-US" dirty="0" smtClean="0"/>
              <a:t> </a:t>
            </a:r>
            <a:r>
              <a:rPr lang="en-US" dirty="0" err="1" smtClean="0"/>
              <a:t>managerul</a:t>
            </a:r>
            <a:r>
              <a:rPr lang="en-US" dirty="0" smtClean="0"/>
              <a:t>  </a:t>
            </a:r>
            <a:r>
              <a:rPr lang="en-US" dirty="0" err="1" smtClean="0"/>
              <a:t>îl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concedia</a:t>
            </a:r>
            <a:r>
              <a:rPr lang="en-US" dirty="0" smtClean="0"/>
              <a:t>. </a:t>
            </a:r>
            <a:r>
              <a:rPr lang="en-US" dirty="0" err="1" smtClean="0"/>
              <a:t>Managerul</a:t>
            </a:r>
            <a:r>
              <a:rPr lang="en-US" dirty="0" smtClean="0"/>
              <a:t> </a:t>
            </a:r>
            <a:r>
              <a:rPr lang="en-US" dirty="0" err="1" smtClean="0"/>
              <a:t>vrea</a:t>
            </a:r>
            <a:r>
              <a:rPr lang="en-US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 err="1" smtClean="0"/>
              <a:t>îl</a:t>
            </a:r>
            <a:r>
              <a:rPr lang="en-US" dirty="0" smtClean="0"/>
              <a:t> </a:t>
            </a:r>
            <a:r>
              <a:rPr lang="en-US" dirty="0" err="1" smtClean="0"/>
              <a:t>pedepsească</a:t>
            </a:r>
            <a:r>
              <a:rPr lang="en-US" dirty="0" smtClean="0"/>
              <a:t> </a:t>
            </a:r>
            <a:r>
              <a:rPr lang="en-US" dirty="0" err="1" smtClean="0"/>
              <a:t>pe</a:t>
            </a:r>
            <a:r>
              <a:rPr lang="en-US" dirty="0" smtClean="0"/>
              <a:t> </a:t>
            </a:r>
            <a:r>
              <a:rPr lang="en-US" dirty="0" err="1" smtClean="0"/>
              <a:t>cel</a:t>
            </a:r>
            <a:r>
              <a:rPr lang="en-US" dirty="0" smtClean="0"/>
              <a:t> </a:t>
            </a:r>
            <a:r>
              <a:rPr lang="en-US" dirty="0" err="1" smtClean="0"/>
              <a:t>nevinovat</a:t>
            </a:r>
            <a:r>
              <a:rPr lang="en-US" dirty="0" smtClean="0"/>
              <a:t>. Este </a:t>
            </a:r>
            <a:r>
              <a:rPr lang="en-US" dirty="0" err="1" smtClean="0"/>
              <a:t>corect</a:t>
            </a:r>
            <a:r>
              <a:rPr lang="en-US" dirty="0" smtClean="0"/>
              <a:t> din </a:t>
            </a:r>
            <a:r>
              <a:rPr lang="en-US" dirty="0" err="1" smtClean="0"/>
              <a:t>punct</a:t>
            </a:r>
            <a:r>
              <a:rPr lang="en-US" dirty="0" smtClean="0"/>
              <a:t> de </a:t>
            </a:r>
            <a:r>
              <a:rPr lang="en-US" dirty="0" err="1" smtClean="0"/>
              <a:t>vedere</a:t>
            </a:r>
            <a:r>
              <a:rPr lang="en-US" dirty="0" smtClean="0"/>
              <a:t> moral?</a:t>
            </a:r>
          </a:p>
          <a:p>
            <a:pPr indent="-334963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dirty="0" smtClean="0"/>
              <a:t>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20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334963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dirty="0" smtClean="0"/>
              <a:t>Utilitarism – este corect, pentru că va maximiza utilitatea</a:t>
            </a:r>
          </a:p>
          <a:p>
            <a:pPr indent="-334963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dirty="0" smtClean="0"/>
          </a:p>
          <a:p>
            <a:pPr indent="-334963">
              <a:lnSpc>
                <a:spcPct val="90000"/>
              </a:lnSpc>
              <a:spcBef>
                <a:spcPct val="0"/>
              </a:spcBef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dirty="0" smtClean="0"/>
              <a:t>  Dar în acest caz, dreptul angajatului nevinovat va fi încălcat.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40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190500"/>
            <a:ext cx="8229600" cy="1312863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4000" smtClean="0"/>
              <a:t>Utilitarismul acţional vs. utilitarismul regulii</a:t>
            </a: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91075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spcBef>
                <a:spcPts val="70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Situaţie: un om sărac fură de la unul bogat.</a:t>
            </a:r>
          </a:p>
          <a:p>
            <a:pPr marL="0" indent="0" eaLnBrk="1" hangingPunct="1">
              <a:lnSpc>
                <a:spcPct val="80000"/>
              </a:lnSpc>
              <a:spcBef>
                <a:spcPts val="700"/>
              </a:spcBef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400" dirty="0" smtClean="0">
              <a:latin typeface="Times New Roman" pitchFamily="16" charset="0"/>
            </a:endParaRPr>
          </a:p>
          <a:p>
            <a:pPr>
              <a:lnSpc>
                <a:spcPct val="80000"/>
              </a:lnSpc>
              <a:spcBef>
                <a:spcPts val="700"/>
              </a:spcBef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Trebuie să ţinem cont de toate consecinţele aplicării unei reguli de acest tip. </a:t>
            </a:r>
          </a:p>
          <a:p>
            <a:pPr>
              <a:lnSpc>
                <a:spcPct val="80000"/>
              </a:lnSpc>
              <a:spcBef>
                <a:spcPts val="700"/>
              </a:spcBef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400" dirty="0">
              <a:latin typeface="Times New Roman" pitchFamily="16" charset="0"/>
            </a:endParaRP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>
                <a:latin typeface="Times New Roman" pitchFamily="16" charset="0"/>
              </a:rPr>
              <a:t> </a:t>
            </a:r>
            <a:r>
              <a:rPr lang="ro-RO" sz="2400" dirty="0" smtClean="0">
                <a:latin typeface="Times New Roman" pitchFamily="16" charset="0"/>
              </a:rPr>
              <a:t>Par a exista două tipuri de utilitarism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buClrTx/>
              <a:buFont typeface="Wingdings" pitchFamily="2" charset="2"/>
              <a:buChar char="q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	utilitarismul acţional – calculul utilităţii pentru fiecare acţiune.</a:t>
            </a:r>
          </a:p>
          <a:p>
            <a:pPr eaLnBrk="1" hangingPunct="1">
              <a:lnSpc>
                <a:spcPct val="80000"/>
              </a:lnSpc>
              <a:spcBef>
                <a:spcPts val="700"/>
              </a:spcBef>
              <a:buClrTx/>
              <a:buFont typeface="Wingdings" pitchFamily="2" charset="2"/>
              <a:buChar char="q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	utilitarismul regulii – calculul utilităţii aduse de aplicarea generală în societate a respectivei reguli (Acționează conform regulii care, aplicată general în societate, aduce utilitate maximă).</a:t>
            </a:r>
          </a:p>
          <a:p>
            <a:pPr marL="595313" indent="-595313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sz="2400" dirty="0" smtClean="0">
                <a:latin typeface="Times New Roman" pitchFamily="16" charset="0"/>
              </a:rPr>
              <a:t>    </a:t>
            </a:r>
          </a:p>
          <a:p>
            <a:pPr marL="595313" indent="-595313" algn="just" eaLnBrk="1" hangingPunct="1">
              <a:spcBef>
                <a:spcPct val="0"/>
              </a:spcBef>
              <a:buClrTx/>
              <a:buFontTx/>
              <a:buNone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sz="2400" dirty="0" smtClean="0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7913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mtClean="0"/>
              <a:t>Deontologism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marL="595313" indent="-595313" eaLnBrk="1" hangingPunct="1">
              <a:buFont typeface="Times New Roman" pitchFamily="16" charset="0"/>
              <a:buAutoNum type="arabicPeriod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/>
              <a:t>O acţiune este corectă dacă este în acord cu un set de datorii morale. </a:t>
            </a:r>
          </a:p>
          <a:p>
            <a:pPr marL="595313" indent="-595313" eaLnBrk="1" hangingPunct="1">
              <a:buFont typeface="Times New Roman" pitchFamily="16" charset="0"/>
              <a:buAutoNum type="arabicPeriod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endParaRPr lang="ro-RO" dirty="0" smtClean="0"/>
          </a:p>
          <a:p>
            <a:pPr marL="595313" indent="-595313" eaLnBrk="1" hangingPunct="1">
              <a:buFont typeface="Times New Roman" pitchFamily="16" charset="0"/>
              <a:buAutoNum type="arabicPeriod"/>
              <a:tabLst>
                <a:tab pos="595313" algn="l"/>
                <a:tab pos="708025" algn="l"/>
                <a:tab pos="1165225" algn="l"/>
                <a:tab pos="1622425" algn="l"/>
                <a:tab pos="2079625" algn="l"/>
                <a:tab pos="2536825" algn="l"/>
                <a:tab pos="2994025" algn="l"/>
                <a:tab pos="3451225" algn="l"/>
                <a:tab pos="3908425" algn="l"/>
                <a:tab pos="4365625" algn="l"/>
                <a:tab pos="4822825" algn="l"/>
                <a:tab pos="5280025" algn="l"/>
                <a:tab pos="5737225" algn="l"/>
                <a:tab pos="6194425" algn="l"/>
                <a:tab pos="6651625" algn="l"/>
                <a:tab pos="7108825" algn="l"/>
                <a:tab pos="7566025" algn="l"/>
                <a:tab pos="8023225" algn="l"/>
                <a:tab pos="8480425" algn="l"/>
                <a:tab pos="8937625" algn="l"/>
                <a:tab pos="9394825" algn="l"/>
              </a:tabLst>
            </a:pPr>
            <a:r>
              <a:rPr lang="ro-RO" dirty="0" smtClean="0"/>
              <a:t>Consecinţele acţiunii nu sunt relevante. </a:t>
            </a:r>
          </a:p>
        </p:txBody>
      </p:sp>
    </p:spTree>
    <p:extLst>
      <p:ext uri="{BB962C8B-B14F-4D97-AF65-F5344CB8AC3E}">
        <p14:creationId xmlns:p14="http://schemas.microsoft.com/office/powerpoint/2010/main" val="18038679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2800" b="1" dirty="0" smtClean="0">
                <a:latin typeface="Times New Roman" pitchFamily="16" charset="0"/>
              </a:rPr>
              <a:t>Kantianismul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905000"/>
            <a:ext cx="8228012" cy="4572000"/>
          </a:xfrm>
        </p:spPr>
        <p:txBody>
          <a:bodyPr/>
          <a:lstStyle/>
          <a:p>
            <a:pPr marL="482600" indent="-457200" eaLnBrk="1" hangingPunct="1">
              <a:buClrTx/>
              <a:buFontTx/>
              <a:buAutoNum type="arabicPeriod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>
                <a:solidFill>
                  <a:srgbClr val="C00000"/>
                </a:solidFill>
              </a:rPr>
              <a:t>Intenţia este relevantă</a:t>
            </a:r>
            <a:r>
              <a:rPr lang="ro-RO" sz="2400" dirty="0" smtClean="0"/>
              <a:t>, consecințele nu. </a:t>
            </a:r>
          </a:p>
          <a:p>
            <a:pPr marL="482600" indent="-457200" eaLnBrk="1" hangingPunct="1">
              <a:buClrTx/>
              <a:buFontTx/>
              <a:buAutoNum type="arabicPeriod"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400" dirty="0" smtClean="0"/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2. </a:t>
            </a:r>
            <a:r>
              <a:rPr lang="ro-RO" sz="2400" dirty="0" smtClean="0">
                <a:solidFill>
                  <a:srgbClr val="C00000"/>
                </a:solidFill>
              </a:rPr>
              <a:t>Universalitatea </a:t>
            </a:r>
            <a:r>
              <a:rPr lang="ro-RO" sz="2400" dirty="0" smtClean="0"/>
              <a:t>(Imperativul categoric – prima formulare): Acționează conform unei maxime care ai putea dori să devină lege universală, fără ca acest lucru să conducă la contradicție.</a:t>
            </a:r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400" dirty="0" smtClean="0"/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3. </a:t>
            </a:r>
            <a:r>
              <a:rPr lang="ro-RO" sz="2400" dirty="0" smtClean="0">
                <a:solidFill>
                  <a:srgbClr val="C00000"/>
                </a:solidFill>
              </a:rPr>
              <a:t>Respectarea oamenilor </a:t>
            </a:r>
            <a:r>
              <a:rPr lang="ro-RO" sz="2400" dirty="0" smtClean="0"/>
              <a:t>(imperativul categoric – formularea a doua): Acționează astfel  încât să tratezi umanitatea, în persoana ta sau în persoana celorlalți, și ca scop în sine, nu numai ca mijloc.</a:t>
            </a:r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400" dirty="0" smtClean="0"/>
          </a:p>
        </p:txBody>
      </p:sp>
    </p:spTree>
    <p:extLst>
      <p:ext uri="{BB962C8B-B14F-4D97-AF65-F5344CB8AC3E}">
        <p14:creationId xmlns:p14="http://schemas.microsoft.com/office/powerpoint/2010/main" val="31581065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715962"/>
          </a:xfrm>
        </p:spPr>
        <p:txBody>
          <a:bodyPr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dirty="0" smtClean="0"/>
              <a:t>Intenția este relevantă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058863"/>
            <a:ext cx="8228012" cy="61261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1</a:t>
            </a:r>
            <a:r>
              <a:rPr lang="ro-RO" sz="2200" dirty="0" smtClean="0">
                <a:solidFill>
                  <a:srgbClr val="C00000"/>
                </a:solidFill>
              </a:rPr>
              <a:t>. Intenția este relevantă, consecințele nu.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 </a:t>
            </a:r>
            <a:r>
              <a:rPr lang="ro-RO" sz="2200" b="1" dirty="0" smtClean="0"/>
              <a:t>O acțiune poate fi morală chiar atunci când consecințele sunt negative.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Ex.: Spui adevărul și rezultatul este rău (de exemplu îi spui șefului cine a făcut o greșeală, iar respectivul este concediat).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- utilitarism: să evaluăm consecințele și poate cea mai bună soluție este să nu spunem adevărul.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- Kant: acțiunea ta este corectă dpdv moral: spui adevărul și respecți o datorie, consecințele nu sunt relevante.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2. </a:t>
            </a:r>
            <a:r>
              <a:rPr lang="ro-RO" sz="2200" dirty="0" smtClean="0">
                <a:solidFill>
                  <a:srgbClr val="C00000"/>
                </a:solidFill>
              </a:rPr>
              <a:t>Trebuie să își respecți datoriile morale în toate situațiile și nu trebuie să faci excepții pentru a crește utilitatea totală.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- în unele cazuri excepțiile par acceptabile deoarece cresc utilitatea totală.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Ex.: Într-o companie este în vigoare o regulă, iar un angajat crede că încălcarea ei va conduce la avantaje semnificative.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- utilitarism (cel puțin al acțiunii): poți încălca regula.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- Kant: nu trebuie să încalci regula pentru a crește utilitatea.      </a:t>
            </a:r>
          </a:p>
        </p:txBody>
      </p:sp>
    </p:spTree>
    <p:extLst>
      <p:ext uri="{BB962C8B-B14F-4D97-AF65-F5344CB8AC3E}">
        <p14:creationId xmlns:p14="http://schemas.microsoft.com/office/powerpoint/2010/main" val="24075001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715962"/>
          </a:xfrm>
        </p:spPr>
        <p:txBody>
          <a:bodyPr>
            <a:normAutofit fontScale="90000"/>
          </a:bodyPr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dirty="0" smtClean="0"/>
              <a:t>Intenția este relevantă (II)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058863"/>
            <a:ext cx="8228012" cy="55673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3. </a:t>
            </a:r>
            <a:r>
              <a:rPr lang="ro-RO" sz="2200" dirty="0" smtClean="0">
                <a:solidFill>
                  <a:srgbClr val="C00000"/>
                </a:solidFill>
              </a:rPr>
              <a:t>Exact aceeași acțiune poate fi morală (și demnă de laudă) sau nu, depinzând de intenția agentului.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200" dirty="0" smtClean="0">
              <a:solidFill>
                <a:srgbClr val="C00000"/>
              </a:solidFill>
            </a:endParaRP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Exemplu: un comerciant vinde numai produse bune și sigure, ...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200" dirty="0" smtClean="0"/>
              <a:t>       − utilitarism (și teoria interesului rațional): comerciantul acționează în mod moral.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200" dirty="0" smtClean="0"/>
          </a:p>
          <a:p>
            <a:pPr indent="-317500" algn="just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− Kant: </a:t>
            </a:r>
            <a:r>
              <a:rPr lang="en-US" sz="2200" dirty="0" err="1" smtClean="0"/>
              <a:t>comerciantul</a:t>
            </a:r>
            <a:r>
              <a:rPr lang="en-US" sz="2200" dirty="0" smtClean="0"/>
              <a:t> </a:t>
            </a:r>
            <a:r>
              <a:rPr lang="en-US" sz="2200" dirty="0" err="1" smtClean="0"/>
              <a:t>acționează</a:t>
            </a:r>
            <a:r>
              <a:rPr lang="en-US" sz="2200" dirty="0" smtClean="0"/>
              <a:t> </a:t>
            </a:r>
            <a:r>
              <a:rPr lang="en-US" sz="2200" dirty="0" err="1" smtClean="0"/>
              <a:t>morală</a:t>
            </a:r>
            <a:r>
              <a:rPr lang="en-US" sz="2200" dirty="0" smtClean="0"/>
              <a:t> </a:t>
            </a:r>
            <a:r>
              <a:rPr lang="en-US" sz="2200" dirty="0" err="1" smtClean="0"/>
              <a:t>numai</a:t>
            </a:r>
            <a:r>
              <a:rPr lang="en-US" sz="2200" dirty="0" smtClean="0"/>
              <a:t> </a:t>
            </a:r>
            <a:r>
              <a:rPr lang="en-US" sz="2200" dirty="0" err="1" smtClean="0"/>
              <a:t>dacă</a:t>
            </a:r>
            <a:r>
              <a:rPr lang="en-US" sz="2200" dirty="0" smtClean="0"/>
              <a:t> </a:t>
            </a:r>
            <a:r>
              <a:rPr lang="en-US" sz="2200" dirty="0" err="1" smtClean="0"/>
              <a:t>intenția</a:t>
            </a:r>
            <a:r>
              <a:rPr lang="en-US" sz="2200" dirty="0" smtClean="0"/>
              <a:t> </a:t>
            </a:r>
            <a:r>
              <a:rPr lang="en-US" sz="2200" dirty="0" err="1" smtClean="0"/>
              <a:t>sa</a:t>
            </a:r>
            <a:r>
              <a:rPr lang="en-US" sz="2200" dirty="0" smtClean="0"/>
              <a:t> nu </a:t>
            </a:r>
            <a:r>
              <a:rPr lang="en-US" sz="2200" dirty="0" err="1" smtClean="0"/>
              <a:t>este</a:t>
            </a:r>
            <a:r>
              <a:rPr lang="en-US" sz="2200" dirty="0" smtClean="0"/>
              <a:t> </a:t>
            </a:r>
            <a:r>
              <a:rPr lang="en-US" sz="2200" dirty="0" err="1" smtClean="0"/>
              <a:t>aceea</a:t>
            </a:r>
            <a:r>
              <a:rPr lang="en-US" sz="2200" dirty="0" smtClean="0"/>
              <a:t> de a c</a:t>
            </a:r>
            <a:r>
              <a:rPr lang="ro-RO" sz="2200" dirty="0"/>
              <a:t>â</a:t>
            </a:r>
            <a:r>
              <a:rPr lang="en-US" sz="2200" dirty="0" err="1" smtClean="0"/>
              <a:t>știga</a:t>
            </a:r>
            <a:r>
              <a:rPr lang="en-US" sz="2200" dirty="0" smtClean="0"/>
              <a:t> </a:t>
            </a:r>
            <a:r>
              <a:rPr lang="en-US" sz="2200" dirty="0" err="1" smtClean="0"/>
              <a:t>reputație</a:t>
            </a:r>
            <a:r>
              <a:rPr lang="en-US" sz="2200" dirty="0" smtClean="0"/>
              <a:t>, </a:t>
            </a:r>
            <a:r>
              <a:rPr lang="en-US" sz="2200" dirty="0" err="1" smtClean="0"/>
              <a:t>pentru</a:t>
            </a:r>
            <a:r>
              <a:rPr lang="en-US" sz="2200" dirty="0" smtClean="0"/>
              <a:t> a </a:t>
            </a:r>
            <a:r>
              <a:rPr lang="en-US" sz="2200" dirty="0" err="1" smtClean="0"/>
              <a:t>avea</a:t>
            </a:r>
            <a:r>
              <a:rPr lang="en-US" sz="2200" dirty="0" smtClean="0"/>
              <a:t> </a:t>
            </a:r>
            <a:r>
              <a:rPr lang="en-US" sz="2200" dirty="0" err="1" smtClean="0"/>
              <a:t>mai</a:t>
            </a:r>
            <a:r>
              <a:rPr lang="en-US" sz="2200" dirty="0" smtClean="0"/>
              <a:t> </a:t>
            </a:r>
            <a:r>
              <a:rPr lang="en-US" sz="2200" dirty="0" err="1" smtClean="0"/>
              <a:t>mulți</a:t>
            </a:r>
            <a:r>
              <a:rPr lang="en-US" sz="2200" dirty="0" smtClean="0"/>
              <a:t> </a:t>
            </a:r>
            <a:r>
              <a:rPr lang="en-US" sz="2200" dirty="0" err="1" smtClean="0"/>
              <a:t>clienți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profit </a:t>
            </a:r>
            <a:r>
              <a:rPr lang="en-US" sz="2200" dirty="0" err="1" smtClean="0"/>
              <a:t>mai</a:t>
            </a:r>
            <a:r>
              <a:rPr lang="en-US" sz="2200" dirty="0" smtClean="0"/>
              <a:t> mare. </a:t>
            </a:r>
            <a:r>
              <a:rPr lang="en-US" sz="2200" dirty="0" err="1" smtClean="0"/>
              <a:t>Dacă</a:t>
            </a:r>
            <a:r>
              <a:rPr lang="en-US" sz="2200" dirty="0" smtClean="0"/>
              <a:t> </a:t>
            </a:r>
            <a:r>
              <a:rPr lang="en-US" sz="2200" dirty="0" err="1" smtClean="0"/>
              <a:t>așa</a:t>
            </a:r>
            <a:r>
              <a:rPr lang="en-US" sz="2200" dirty="0" smtClean="0"/>
              <a:t> se </a:t>
            </a:r>
            <a:r>
              <a:rPr lang="en-US" sz="2200" dirty="0" err="1" smtClean="0"/>
              <a:t>întâmplă</a:t>
            </a:r>
            <a:r>
              <a:rPr lang="en-US" sz="2200" dirty="0" smtClean="0"/>
              <a:t>, </a:t>
            </a:r>
            <a:r>
              <a:rPr lang="en-US" sz="2200" dirty="0" err="1" smtClean="0"/>
              <a:t>atunci</a:t>
            </a:r>
            <a:r>
              <a:rPr lang="en-US" sz="2200" dirty="0" smtClean="0"/>
              <a:t> </a:t>
            </a:r>
            <a:r>
              <a:rPr lang="en-US" sz="2200" dirty="0" err="1" smtClean="0"/>
              <a:t>comerciantul</a:t>
            </a:r>
            <a:r>
              <a:rPr lang="en-US" sz="2200" dirty="0" smtClean="0"/>
              <a:t> </a:t>
            </a:r>
            <a:r>
              <a:rPr lang="en-US" sz="2200" dirty="0" err="1" smtClean="0"/>
              <a:t>acționează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mod </a:t>
            </a:r>
            <a:r>
              <a:rPr lang="en-US" sz="2200" dirty="0" err="1" smtClean="0"/>
              <a:t>interesat</a:t>
            </a:r>
            <a:endParaRPr lang="en-US" sz="2200" dirty="0" smtClean="0"/>
          </a:p>
          <a:p>
            <a:pPr indent="-317500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  </a:t>
            </a:r>
            <a:r>
              <a:rPr lang="ro-RO" sz="22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65051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mtClean="0"/>
              <a:t>Intenția este relevantă (III)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290638"/>
            <a:ext cx="8228012" cy="5946775"/>
          </a:xfrm>
        </p:spPr>
        <p:txBody>
          <a:bodyPr/>
          <a:lstStyle/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 A acționa din datorie/ conform datoriei (Exemplu: Am găsit un portofel plin cu bani și mă gândesc dacă să îl returnez proprietarului)</a:t>
            </a:r>
          </a:p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− a acționa conform datoriei și din datorie: să returnez portofelul, chiar dacă sunt sigur că nu voi fi văzut sau prins dacă îl iau → </a:t>
            </a:r>
            <a:r>
              <a:rPr lang="ro-RO" sz="2400" b="1" dirty="0" smtClean="0"/>
              <a:t>acțiune</a:t>
            </a:r>
            <a:r>
              <a:rPr lang="ro-RO" sz="2400" dirty="0" smtClean="0"/>
              <a:t> </a:t>
            </a:r>
            <a:r>
              <a:rPr lang="en-US" sz="2400" b="1" dirty="0" err="1" smtClean="0"/>
              <a:t>morală</a:t>
            </a:r>
            <a:r>
              <a:rPr lang="en-US" sz="2400" b="1" dirty="0" smtClean="0"/>
              <a:t>.</a:t>
            </a:r>
          </a:p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− a acționa conform datoriei, dar nu din datorie: a returna portofelul, deoarece cineva m-ar putea vedea → </a:t>
            </a:r>
            <a:r>
              <a:rPr lang="ro-RO" sz="2400" b="1" dirty="0" smtClean="0"/>
              <a:t>nu este o acțiune morală și demnă de laudă. </a:t>
            </a:r>
          </a:p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− a nu acționa nici conform datoriei, nici din datorie: să iau portofelul, pentru că am nevoie de bani. → </a:t>
            </a:r>
            <a:r>
              <a:rPr lang="ro-RO" sz="2400" b="1" dirty="0" smtClean="0"/>
              <a:t>acțiune</a:t>
            </a:r>
            <a:r>
              <a:rPr lang="ro-RO" sz="2400" dirty="0" smtClean="0"/>
              <a:t> </a:t>
            </a:r>
            <a:r>
              <a:rPr lang="en-US" sz="2400" b="1" dirty="0" err="1" smtClean="0"/>
              <a:t>imorală</a:t>
            </a:r>
            <a:endParaRPr lang="en-US" sz="2400" b="1" dirty="0" smtClean="0"/>
          </a:p>
          <a:p>
            <a:pPr indent="-317500" algn="just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400" dirty="0" smtClean="0"/>
              <a:t>− a nu acționa conform datoriei, dar din datorie: să nu dau înapoi portofelul, pentru că eu cred că acest lucru este corect  → </a:t>
            </a:r>
            <a:r>
              <a:rPr lang="en-US" sz="2400" b="1" dirty="0" err="1" smtClean="0"/>
              <a:t>caz</a:t>
            </a:r>
            <a:r>
              <a:rPr lang="en-US" sz="2400" b="1" dirty="0" smtClean="0"/>
              <a:t> complex, nu </a:t>
            </a:r>
            <a:r>
              <a:rPr lang="en-US" sz="2400" b="1" dirty="0" err="1" smtClean="0"/>
              <a:t>este</a:t>
            </a:r>
            <a:r>
              <a:rPr lang="en-US" sz="2400" b="1" dirty="0" smtClean="0"/>
              <a:t> o </a:t>
            </a:r>
            <a:r>
              <a:rPr lang="en-US" sz="2400" b="1" dirty="0" err="1" smtClean="0"/>
              <a:t>acțiune</a:t>
            </a:r>
            <a:r>
              <a:rPr lang="en-US" sz="2400" b="1" dirty="0" smtClean="0"/>
              <a:t> </a:t>
            </a:r>
            <a:r>
              <a:rPr lang="en-US" sz="2400" b="1" dirty="0" err="1" smtClean="0"/>
              <a:t>morală</a:t>
            </a:r>
            <a:r>
              <a:rPr lang="en-US" sz="2400" b="1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400" dirty="0" smtClean="0"/>
              <a:t> </a:t>
            </a:r>
            <a:r>
              <a:rPr lang="ro-RO" sz="2400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44742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mtClean="0"/>
              <a:t>Probleme</a:t>
            </a: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153025"/>
          </a:xfrm>
        </p:spPr>
        <p:txBody>
          <a:bodyPr>
            <a:normAutofit lnSpcReduction="10000"/>
          </a:bodyPr>
          <a:lstStyle/>
          <a:p>
            <a:pPr indent="-319088" algn="just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1. </a:t>
            </a:r>
            <a:r>
              <a:rPr lang="ro-RO" sz="2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6" charset="0"/>
              </a:rPr>
              <a:t>Care datorie este mai importantă </a:t>
            </a:r>
          </a:p>
          <a:p>
            <a:pPr indent="-319088" algn="just" eaLnBrk="1" hangingPunct="1"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Directorul unei companii este pe cale să încheie un contract pentru a începe o afacere, dar ulterior află ceva și își dă seama că desfășurarea afacerii ar afecta mediul. Ar trebui să renunțe? 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 1. Conflict între datorii: datoria de a nu afecta mediul (derivată din datoria de a nu afecta în mod negativ oamenii) vs. datoria de a respecta angajamentele  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ro-RO" sz="2600" dirty="0" smtClean="0">
              <a:latin typeface="Times New Roman" pitchFamily="16" charset="0"/>
            </a:endParaRP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2. </a:t>
            </a:r>
            <a:r>
              <a:rPr lang="ro-RO" sz="2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6" charset="0"/>
              </a:rPr>
              <a:t>Limitele unei datorii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    ex.: ce implică datoria de </a:t>
            </a:r>
            <a:r>
              <a:rPr lang="en-US" sz="2600" dirty="0" smtClean="0">
                <a:latin typeface="Times New Roman" pitchFamily="16" charset="0"/>
              </a:rPr>
              <a:t>a </a:t>
            </a:r>
            <a:r>
              <a:rPr lang="ro-RO" sz="2600" dirty="0" smtClean="0">
                <a:latin typeface="Times New Roman" pitchFamily="16" charset="0"/>
              </a:rPr>
              <a:t>spune adevărul?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</a:t>
            </a:r>
          </a:p>
          <a:p>
            <a:pPr indent="-319088" eaLnBrk="1" hangingPunct="1">
              <a:lnSpc>
                <a:spcPct val="80000"/>
              </a:lnSpc>
              <a:spcBef>
                <a:spcPts val="70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ro-RO" sz="2600" dirty="0" smtClean="0">
                <a:latin typeface="Times New Roman" pitchFamily="1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51483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2800" b="1" dirty="0" smtClean="0">
                <a:latin typeface="Times New Roman" pitchFamily="16" charset="0"/>
              </a:rPr>
              <a:t>Problema 1</a:t>
            </a:r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100138"/>
            <a:ext cx="8228012" cy="55673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</a:t>
            </a:r>
            <a:r>
              <a:rPr lang="en-US" sz="2200" dirty="0" err="1" smtClean="0"/>
              <a:t>Ești</a:t>
            </a:r>
            <a:r>
              <a:rPr lang="en-US" sz="2200" dirty="0" smtClean="0"/>
              <a:t> </a:t>
            </a:r>
            <a:r>
              <a:rPr lang="en-US" sz="2200" dirty="0" err="1" smtClean="0"/>
              <a:t>într</a:t>
            </a:r>
            <a:r>
              <a:rPr lang="en-US" sz="2200" dirty="0" smtClean="0"/>
              <a:t>-o </a:t>
            </a:r>
            <a:r>
              <a:rPr lang="en-US" sz="2200" dirty="0" err="1" smtClean="0"/>
              <a:t>comisie</a:t>
            </a:r>
            <a:r>
              <a:rPr lang="en-US" sz="2200" dirty="0" smtClean="0"/>
              <a:t> de concurs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vrei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î</a:t>
            </a:r>
            <a:r>
              <a:rPr lang="ro-RO" sz="2200" dirty="0" smtClean="0"/>
              <a:t>ț</a:t>
            </a:r>
            <a:r>
              <a:rPr lang="en-US" sz="2200" dirty="0" smtClean="0"/>
              <a:t>i </a:t>
            </a:r>
            <a:r>
              <a:rPr lang="en-US" sz="2200" dirty="0" err="1" smtClean="0"/>
              <a:t>ajuți</a:t>
            </a:r>
            <a:r>
              <a:rPr lang="en-US" sz="2200" dirty="0" smtClean="0"/>
              <a:t> un </a:t>
            </a:r>
            <a:r>
              <a:rPr lang="en-US" sz="2200" dirty="0" err="1" smtClean="0"/>
              <a:t>prieten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c</a:t>
            </a:r>
            <a:r>
              <a:rPr lang="ro-RO" sz="2200" dirty="0"/>
              <a:t>â</a:t>
            </a:r>
            <a:r>
              <a:rPr lang="en-US" sz="2200" dirty="0" err="1" smtClean="0"/>
              <a:t>știge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fața</a:t>
            </a:r>
            <a:r>
              <a:rPr lang="en-US" sz="2200" dirty="0" smtClean="0"/>
              <a:t> </a:t>
            </a:r>
            <a:r>
              <a:rPr lang="en-US" sz="2200" dirty="0" err="1" smtClean="0"/>
              <a:t>unui</a:t>
            </a:r>
            <a:r>
              <a:rPr lang="en-US" sz="2200" dirty="0" smtClean="0"/>
              <a:t> </a:t>
            </a:r>
            <a:r>
              <a:rPr lang="en-US" sz="2200" dirty="0" err="1" smtClean="0"/>
              <a:t>contracandidat</a:t>
            </a:r>
            <a:r>
              <a:rPr lang="en-US" sz="2200" dirty="0" smtClean="0"/>
              <a:t> </a:t>
            </a:r>
            <a:r>
              <a:rPr lang="en-US" sz="2200" dirty="0" err="1" smtClean="0"/>
              <a:t>mai</a:t>
            </a:r>
            <a:r>
              <a:rPr lang="en-US" sz="2200" dirty="0" smtClean="0"/>
              <a:t> </a:t>
            </a:r>
            <a:r>
              <a:rPr lang="en-US" sz="2200" dirty="0" err="1" smtClean="0"/>
              <a:t>calificat</a:t>
            </a:r>
            <a:r>
              <a:rPr lang="en-US" sz="2200" dirty="0" smtClean="0"/>
              <a:t>. Este </a:t>
            </a:r>
            <a:r>
              <a:rPr lang="en-US" sz="2200" dirty="0" err="1" smtClean="0"/>
              <a:t>acest</a:t>
            </a:r>
            <a:r>
              <a:rPr lang="en-US" sz="2200" dirty="0" smtClean="0"/>
              <a:t> </a:t>
            </a:r>
            <a:r>
              <a:rPr lang="en-US" sz="2200" dirty="0" err="1" smtClean="0"/>
              <a:t>lucru</a:t>
            </a:r>
            <a:r>
              <a:rPr lang="en-US" sz="2200" dirty="0" smtClean="0"/>
              <a:t> </a:t>
            </a:r>
            <a:r>
              <a:rPr lang="en-US" sz="2200" dirty="0" err="1" smtClean="0"/>
              <a:t>corect</a:t>
            </a:r>
            <a:r>
              <a:rPr lang="en-US" sz="2200" dirty="0" smtClean="0"/>
              <a:t>?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Maxima ta: </a:t>
            </a:r>
            <a:r>
              <a:rPr lang="en-US" sz="2200" dirty="0" err="1" smtClean="0"/>
              <a:t>Ajută-ți</a:t>
            </a:r>
            <a:r>
              <a:rPr lang="en-US" sz="2200" dirty="0" smtClean="0"/>
              <a:t> </a:t>
            </a:r>
            <a:r>
              <a:rPr lang="en-US" sz="2200" dirty="0" err="1" smtClean="0"/>
              <a:t>prietenul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câștige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toate</a:t>
            </a:r>
            <a:r>
              <a:rPr lang="en-US" sz="2200" dirty="0" smtClean="0"/>
              <a:t> </a:t>
            </a:r>
            <a:r>
              <a:rPr lang="en-US" sz="2200" dirty="0" err="1" smtClean="0"/>
              <a:t>situațiile</a:t>
            </a:r>
            <a:r>
              <a:rPr lang="en-US" sz="2200" dirty="0" smtClean="0"/>
              <a:t> (</a:t>
            </a:r>
            <a:r>
              <a:rPr lang="en-US" sz="2200" dirty="0" err="1" smtClean="0"/>
              <a:t>chiar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c</a:t>
            </a:r>
            <a:r>
              <a:rPr lang="ro-RO" sz="2200" dirty="0"/>
              <a:t>â</a:t>
            </a:r>
            <a:r>
              <a:rPr lang="en-US" sz="2200" dirty="0" err="1" smtClean="0"/>
              <a:t>știge</a:t>
            </a:r>
            <a:r>
              <a:rPr lang="en-US" sz="2200" dirty="0" smtClean="0"/>
              <a:t> </a:t>
            </a:r>
            <a:r>
              <a:rPr lang="en-US" sz="2200" dirty="0" err="1" smtClean="0"/>
              <a:t>ceva</a:t>
            </a:r>
            <a:r>
              <a:rPr lang="en-US" sz="2200" dirty="0" smtClean="0"/>
              <a:t> </a:t>
            </a:r>
            <a:r>
              <a:rPr lang="en-US" sz="2200" dirty="0" err="1" smtClean="0"/>
              <a:t>ce</a:t>
            </a:r>
            <a:r>
              <a:rPr lang="en-US" sz="2200" dirty="0" smtClean="0"/>
              <a:t> nu </a:t>
            </a:r>
            <a:r>
              <a:rPr lang="en-US" sz="2200" dirty="0" err="1" smtClean="0"/>
              <a:t>merită</a:t>
            </a:r>
            <a:r>
              <a:rPr lang="en-US" sz="2200" dirty="0" smtClean="0"/>
              <a:t>).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err="1" smtClean="0"/>
              <a:t>Intenția</a:t>
            </a:r>
            <a:r>
              <a:rPr lang="en-US" sz="2200" dirty="0" smtClean="0"/>
              <a:t> ta </a:t>
            </a:r>
            <a:r>
              <a:rPr lang="en-US" sz="2200" dirty="0" err="1" smtClean="0"/>
              <a:t>este</a:t>
            </a:r>
            <a:r>
              <a:rPr lang="en-US" sz="2200" dirty="0" smtClean="0"/>
              <a:t> </a:t>
            </a:r>
            <a:r>
              <a:rPr lang="en-US" sz="2200" dirty="0" err="1" smtClean="0"/>
              <a:t>bună</a:t>
            </a:r>
            <a:r>
              <a:rPr lang="en-US" sz="2200" dirty="0" smtClean="0"/>
              <a:t>, </a:t>
            </a:r>
            <a:r>
              <a:rPr lang="en-US" sz="2200" dirty="0" err="1" smtClean="0"/>
              <a:t>să</a:t>
            </a:r>
            <a:r>
              <a:rPr lang="en-US" sz="2200" dirty="0" smtClean="0"/>
              <a:t> î</a:t>
            </a:r>
            <a:r>
              <a:rPr lang="ro-RO" sz="2200" dirty="0"/>
              <a:t>ț</a:t>
            </a:r>
            <a:r>
              <a:rPr lang="en-US" sz="2200" dirty="0" smtClean="0"/>
              <a:t>i </a:t>
            </a:r>
            <a:r>
              <a:rPr lang="en-US" sz="2200" dirty="0" err="1" smtClean="0"/>
              <a:t>ajuți</a:t>
            </a:r>
            <a:r>
              <a:rPr lang="en-US" sz="2200" dirty="0" smtClean="0"/>
              <a:t> </a:t>
            </a:r>
            <a:r>
              <a:rPr lang="en-US" sz="2200" dirty="0" err="1" smtClean="0"/>
              <a:t>prietenul</a:t>
            </a:r>
            <a:r>
              <a:rPr lang="en-US" sz="2200" dirty="0" smtClean="0"/>
              <a:t>, </a:t>
            </a:r>
            <a:r>
              <a:rPr lang="en-US" sz="2200" dirty="0" err="1" smtClean="0"/>
              <a:t>deci</a:t>
            </a:r>
            <a:r>
              <a:rPr lang="en-US" sz="2200" dirty="0" smtClean="0"/>
              <a:t> </a:t>
            </a:r>
            <a:r>
              <a:rPr lang="en-US" sz="2200" dirty="0" err="1" smtClean="0"/>
              <a:t>acțiunea</a:t>
            </a:r>
            <a:r>
              <a:rPr lang="en-US" sz="2200" dirty="0" smtClean="0"/>
              <a:t> e </a:t>
            </a:r>
            <a:r>
              <a:rPr lang="en-US" sz="2200" dirty="0" err="1" smtClean="0"/>
              <a:t>corectă</a:t>
            </a:r>
            <a:r>
              <a:rPr lang="en-US" sz="2200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err="1" smtClean="0"/>
              <a:t>Testul</a:t>
            </a:r>
            <a:r>
              <a:rPr lang="en-US" sz="2200" dirty="0" smtClean="0"/>
              <a:t> </a:t>
            </a:r>
            <a:r>
              <a:rPr lang="en-US" sz="2200" dirty="0" err="1" smtClean="0"/>
              <a:t>universaliz</a:t>
            </a:r>
            <a:r>
              <a:rPr lang="ro-RO" sz="2200" dirty="0" smtClean="0"/>
              <a:t>ă</a:t>
            </a:r>
            <a:r>
              <a:rPr lang="en-US" sz="2200" dirty="0" err="1" smtClean="0"/>
              <a:t>rii</a:t>
            </a:r>
            <a:r>
              <a:rPr lang="en-US" sz="2200" dirty="0" smtClean="0"/>
              <a:t>: 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i) Maxima nu </a:t>
            </a:r>
            <a:r>
              <a:rPr lang="en-US" sz="2200" dirty="0" err="1" smtClean="0"/>
              <a:t>poate</a:t>
            </a:r>
            <a:r>
              <a:rPr lang="en-US" sz="2200" dirty="0" smtClean="0"/>
              <a:t> fi </a:t>
            </a:r>
            <a:r>
              <a:rPr lang="en-US" sz="2200" dirty="0" err="1" smtClean="0"/>
              <a:t>universalizată</a:t>
            </a:r>
            <a:r>
              <a:rPr lang="en-US" sz="2200" dirty="0" smtClean="0"/>
              <a:t>: </a:t>
            </a:r>
            <a:r>
              <a:rPr lang="en-US" sz="2200" dirty="0" err="1" smtClean="0"/>
              <a:t>Cel</a:t>
            </a:r>
            <a:r>
              <a:rPr lang="en-US" sz="2200" dirty="0" smtClean="0"/>
              <a:t> </a:t>
            </a:r>
            <a:r>
              <a:rPr lang="en-US" sz="2200" dirty="0" err="1" smtClean="0"/>
              <a:t>puțin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anumite</a:t>
            </a:r>
            <a:r>
              <a:rPr lang="en-US" sz="2200" dirty="0" smtClean="0"/>
              <a:t> </a:t>
            </a:r>
            <a:r>
              <a:rPr lang="en-US" sz="2200" dirty="0" err="1" smtClean="0"/>
              <a:t>situații</a:t>
            </a:r>
            <a:r>
              <a:rPr lang="en-US" sz="2200" dirty="0" smtClean="0"/>
              <a:t>, </a:t>
            </a:r>
            <a:r>
              <a:rPr lang="en-US" sz="2200" dirty="0" err="1" smtClean="0"/>
              <a:t>doi</a:t>
            </a:r>
            <a:r>
              <a:rPr lang="en-US" sz="2200" dirty="0" smtClean="0"/>
              <a:t> </a:t>
            </a:r>
            <a:r>
              <a:rPr lang="en-US" sz="2200" dirty="0" err="1" smtClean="0"/>
              <a:t>membri</a:t>
            </a:r>
            <a:r>
              <a:rPr lang="en-US" sz="2200" dirty="0" smtClean="0"/>
              <a:t> </a:t>
            </a:r>
            <a:r>
              <a:rPr lang="en-US" sz="2200" dirty="0" err="1" smtClean="0"/>
              <a:t>ai</a:t>
            </a:r>
            <a:r>
              <a:rPr lang="en-US" sz="2200" dirty="0" smtClean="0"/>
              <a:t> </a:t>
            </a:r>
            <a:r>
              <a:rPr lang="en-US" sz="2200" dirty="0" err="1" smtClean="0"/>
              <a:t>comisiei</a:t>
            </a:r>
            <a:r>
              <a:rPr lang="en-US" sz="2200" dirty="0" smtClean="0"/>
              <a:t> </a:t>
            </a:r>
            <a:r>
              <a:rPr lang="en-US" sz="2200" dirty="0" err="1" smtClean="0"/>
              <a:t>doresc</a:t>
            </a:r>
            <a:r>
              <a:rPr lang="en-US" sz="2200" dirty="0" smtClean="0"/>
              <a:t> </a:t>
            </a:r>
            <a:r>
              <a:rPr lang="en-US" sz="2200" dirty="0" err="1" smtClean="0"/>
              <a:t>acest</a:t>
            </a:r>
            <a:r>
              <a:rPr lang="en-US" sz="2200" dirty="0" smtClean="0"/>
              <a:t> </a:t>
            </a:r>
            <a:r>
              <a:rPr lang="en-US" sz="2200" dirty="0" err="1" smtClean="0"/>
              <a:t>lucru</a:t>
            </a:r>
            <a:r>
              <a:rPr lang="en-US" sz="2200" dirty="0" smtClean="0"/>
              <a:t>: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își</a:t>
            </a:r>
            <a:r>
              <a:rPr lang="en-US" sz="2200" dirty="0" smtClean="0"/>
              <a:t> </a:t>
            </a:r>
            <a:r>
              <a:rPr lang="en-US" sz="2200" dirty="0" err="1" smtClean="0"/>
              <a:t>ajute</a:t>
            </a:r>
            <a:r>
              <a:rPr lang="en-US" sz="2200" dirty="0" smtClean="0"/>
              <a:t> </a:t>
            </a:r>
            <a:r>
              <a:rPr lang="en-US" sz="2200" dirty="0" err="1" smtClean="0"/>
              <a:t>prietenul</a:t>
            </a:r>
            <a:r>
              <a:rPr lang="en-US" sz="2200" dirty="0" smtClean="0"/>
              <a:t>, </a:t>
            </a:r>
            <a:r>
              <a:rPr lang="en-US" sz="2200" dirty="0" err="1" smtClean="0"/>
              <a:t>ceea</a:t>
            </a:r>
            <a:r>
              <a:rPr lang="en-US" sz="2200" dirty="0" smtClean="0"/>
              <a:t> </a:t>
            </a:r>
            <a:r>
              <a:rPr lang="en-US" sz="2200" dirty="0" err="1" smtClean="0"/>
              <a:t>ce</a:t>
            </a:r>
            <a:r>
              <a:rPr lang="en-US" sz="2200" dirty="0" smtClean="0"/>
              <a:t> </a:t>
            </a:r>
            <a:r>
              <a:rPr lang="en-US" sz="2200" dirty="0" err="1" smtClean="0"/>
              <a:t>ar</a:t>
            </a:r>
            <a:r>
              <a:rPr lang="en-US" sz="2200" dirty="0" smtClean="0"/>
              <a:t> fi </a:t>
            </a:r>
            <a:r>
              <a:rPr lang="en-US" sz="2200" dirty="0" err="1" smtClean="0"/>
              <a:t>imposibil</a:t>
            </a:r>
            <a:r>
              <a:rPr lang="en-US" sz="2200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ii) </a:t>
            </a:r>
            <a:r>
              <a:rPr lang="en-US" sz="2200" dirty="0" err="1" smtClean="0"/>
              <a:t>Reversibilitatea</a:t>
            </a:r>
            <a:r>
              <a:rPr lang="en-US" sz="2200" dirty="0" smtClean="0"/>
              <a:t>: </a:t>
            </a:r>
            <a:r>
              <a:rPr lang="en-US" sz="2200" dirty="0" err="1" smtClean="0"/>
              <a:t>dacă</a:t>
            </a:r>
            <a:r>
              <a:rPr lang="en-US" sz="2200" dirty="0" smtClean="0"/>
              <a:t> </a:t>
            </a:r>
            <a:r>
              <a:rPr lang="en-US" sz="2200" dirty="0" err="1" smtClean="0"/>
              <a:t>ai</a:t>
            </a:r>
            <a:r>
              <a:rPr lang="en-US" sz="2200" dirty="0" smtClean="0"/>
              <a:t> fi un </a:t>
            </a:r>
            <a:r>
              <a:rPr lang="en-US" sz="2200" dirty="0" err="1" smtClean="0"/>
              <a:t>candidat</a:t>
            </a:r>
            <a:r>
              <a:rPr lang="en-US" sz="2200" dirty="0" smtClean="0"/>
              <a:t> </a:t>
            </a:r>
            <a:r>
              <a:rPr lang="en-US" sz="2200" dirty="0" err="1" smtClean="0"/>
              <a:t>nefericit</a:t>
            </a:r>
            <a:r>
              <a:rPr lang="en-US" sz="2200" dirty="0" smtClean="0"/>
              <a:t> care </a:t>
            </a:r>
            <a:r>
              <a:rPr lang="en-US" sz="2200" dirty="0" err="1" smtClean="0"/>
              <a:t>ar</a:t>
            </a:r>
            <a:r>
              <a:rPr lang="en-US" sz="2200" dirty="0" smtClean="0"/>
              <a:t> </a:t>
            </a:r>
            <a:r>
              <a:rPr lang="en-US" sz="2200" dirty="0" err="1" smtClean="0"/>
              <a:t>concura</a:t>
            </a:r>
            <a:r>
              <a:rPr lang="en-US" sz="2200" dirty="0" smtClean="0"/>
              <a:t> </a:t>
            </a:r>
            <a:r>
              <a:rPr lang="en-US" sz="2200" dirty="0" err="1" smtClean="0"/>
              <a:t>împotriva</a:t>
            </a:r>
            <a:r>
              <a:rPr lang="en-US" sz="2200" dirty="0" smtClean="0"/>
              <a:t> </a:t>
            </a:r>
            <a:r>
              <a:rPr lang="en-US" sz="2200" dirty="0" err="1" smtClean="0"/>
              <a:t>unui</a:t>
            </a:r>
            <a:r>
              <a:rPr lang="en-US" sz="2200" dirty="0" smtClean="0"/>
              <a:t> </a:t>
            </a:r>
            <a:r>
              <a:rPr lang="en-US" sz="2200" dirty="0" err="1" smtClean="0"/>
              <a:t>candidat</a:t>
            </a:r>
            <a:r>
              <a:rPr lang="en-US" sz="2200" dirty="0" smtClean="0"/>
              <a:t> cu </a:t>
            </a:r>
            <a:r>
              <a:rPr lang="en-US" sz="2200" dirty="0" err="1" smtClean="0"/>
              <a:t>prie</a:t>
            </a:r>
            <a:r>
              <a:rPr lang="ro-RO" sz="2200" dirty="0" smtClean="0"/>
              <a:t>t</a:t>
            </a:r>
            <a:r>
              <a:rPr lang="en-US" sz="2200" dirty="0" err="1" smtClean="0"/>
              <a:t>ni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comisie</a:t>
            </a:r>
            <a:r>
              <a:rPr lang="en-US" sz="2200" dirty="0" smtClean="0"/>
              <a:t>, nu </a:t>
            </a:r>
            <a:r>
              <a:rPr lang="en-US" sz="2200" dirty="0" err="1" smtClean="0"/>
              <a:t>ai</a:t>
            </a:r>
            <a:r>
              <a:rPr lang="en-US" sz="2200" dirty="0" smtClean="0"/>
              <a:t> </a:t>
            </a:r>
            <a:r>
              <a:rPr lang="en-US" sz="2200" dirty="0" err="1" smtClean="0"/>
              <a:t>dori</a:t>
            </a:r>
            <a:r>
              <a:rPr lang="en-US" sz="2200" dirty="0" smtClean="0"/>
              <a:t> </a:t>
            </a:r>
            <a:r>
              <a:rPr lang="en-US" sz="2200" dirty="0" err="1" smtClean="0"/>
              <a:t>acest</a:t>
            </a:r>
            <a:r>
              <a:rPr lang="en-US" sz="2200" dirty="0" smtClean="0"/>
              <a:t> </a:t>
            </a:r>
            <a:r>
              <a:rPr lang="en-US" sz="2200" dirty="0" err="1" smtClean="0"/>
              <a:t>lucru</a:t>
            </a:r>
            <a:r>
              <a:rPr lang="en-US" sz="2200" dirty="0" smtClean="0"/>
              <a:t>.  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690848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2800" b="1" smtClean="0">
                <a:latin typeface="Times New Roman" pitchFamily="16" charset="0"/>
              </a:rPr>
              <a:t>Problema 2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100138"/>
            <a:ext cx="8228012" cy="55673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</a:t>
            </a:r>
            <a:r>
              <a:rPr lang="en-US" sz="2200" dirty="0" err="1" smtClean="0"/>
              <a:t>Ești</a:t>
            </a:r>
            <a:r>
              <a:rPr lang="en-US" sz="2200" dirty="0" smtClean="0"/>
              <a:t> un </a:t>
            </a:r>
            <a:r>
              <a:rPr lang="en-US" sz="2200" dirty="0" err="1" smtClean="0"/>
              <a:t>angajat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afli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s-a </a:t>
            </a:r>
            <a:r>
              <a:rPr lang="en-US" sz="2200" dirty="0" err="1" smtClean="0"/>
              <a:t>întâmplat</a:t>
            </a:r>
            <a:r>
              <a:rPr lang="en-US" sz="2200" dirty="0" smtClean="0"/>
              <a:t> un accident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fabrica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care </a:t>
            </a:r>
            <a:r>
              <a:rPr lang="en-US" sz="2200" dirty="0" err="1" smtClean="0"/>
              <a:t>lucrezi</a:t>
            </a:r>
            <a:r>
              <a:rPr lang="en-US" sz="2200" dirty="0" smtClean="0"/>
              <a:t>. </a:t>
            </a:r>
            <a:r>
              <a:rPr lang="en-US" sz="2200" dirty="0" err="1" smtClean="0"/>
              <a:t>Managerii</a:t>
            </a:r>
            <a:r>
              <a:rPr lang="en-US" sz="2200" dirty="0" smtClean="0"/>
              <a:t> </a:t>
            </a:r>
            <a:r>
              <a:rPr lang="en-US" sz="2200" dirty="0" err="1" smtClean="0"/>
              <a:t>vor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ascundă</a:t>
            </a:r>
            <a:r>
              <a:rPr lang="en-US" sz="2200" dirty="0" smtClean="0"/>
              <a:t> </a:t>
            </a:r>
            <a:r>
              <a:rPr lang="en-US" sz="2200" dirty="0" err="1" smtClean="0"/>
              <a:t>accidentul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știi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</a:t>
            </a:r>
            <a:r>
              <a:rPr lang="en-US" sz="2200" dirty="0" err="1" smtClean="0"/>
              <a:t>dacă</a:t>
            </a:r>
            <a:r>
              <a:rPr lang="en-US" sz="2200" dirty="0" smtClean="0"/>
              <a:t> se </a:t>
            </a:r>
            <a:r>
              <a:rPr lang="en-US" sz="2200" dirty="0" err="1" smtClean="0"/>
              <a:t>află</a:t>
            </a:r>
            <a:r>
              <a:rPr lang="en-US" sz="2200" dirty="0" smtClean="0"/>
              <a:t> </a:t>
            </a:r>
            <a:r>
              <a:rPr lang="en-US" sz="2200" dirty="0" err="1" smtClean="0"/>
              <a:t>fabrica</a:t>
            </a:r>
            <a:r>
              <a:rPr lang="en-US" sz="2200" dirty="0" smtClean="0"/>
              <a:t> </a:t>
            </a:r>
            <a:r>
              <a:rPr lang="en-US" sz="2200" dirty="0" err="1" smtClean="0"/>
              <a:t>va</a:t>
            </a:r>
            <a:r>
              <a:rPr lang="en-US" sz="2200" dirty="0" smtClean="0"/>
              <a:t> fi </a:t>
            </a:r>
            <a:r>
              <a:rPr lang="en-US" sz="2200" dirty="0" err="1" smtClean="0"/>
              <a:t>închisă</a:t>
            </a:r>
            <a:r>
              <a:rPr lang="en-US" sz="2200" dirty="0" smtClean="0"/>
              <a:t>. 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err="1" smtClean="0"/>
              <a:t>Ce</a:t>
            </a:r>
            <a:r>
              <a:rPr lang="en-US" sz="2200" dirty="0" smtClean="0"/>
              <a:t> </a:t>
            </a:r>
            <a:r>
              <a:rPr lang="en-US" sz="2200" dirty="0" err="1" smtClean="0"/>
              <a:t>trebuie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faci</a:t>
            </a:r>
            <a:r>
              <a:rPr lang="en-US" sz="2200" dirty="0" smtClean="0"/>
              <a:t>?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- </a:t>
            </a:r>
            <a:r>
              <a:rPr lang="en-US" sz="2200" dirty="0" err="1" smtClean="0"/>
              <a:t>utilitarism</a:t>
            </a:r>
            <a:r>
              <a:rPr lang="en-US" sz="2200" dirty="0" smtClean="0"/>
              <a:t>: </a:t>
            </a:r>
            <a:r>
              <a:rPr lang="en-US" sz="2200" dirty="0" err="1" smtClean="0"/>
              <a:t>trebuie</a:t>
            </a:r>
            <a:r>
              <a:rPr lang="en-US" sz="2200" dirty="0" smtClean="0"/>
              <a:t> evaluate </a:t>
            </a:r>
            <a:r>
              <a:rPr lang="ro-RO" sz="2200" dirty="0" smtClean="0"/>
              <a:t>consecințele</a:t>
            </a:r>
            <a:r>
              <a:rPr lang="en-US" sz="2200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- Kant: </a:t>
            </a:r>
            <a:r>
              <a:rPr lang="en-US" sz="2200" dirty="0" err="1" smtClean="0"/>
              <a:t>trebuie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raportezi</a:t>
            </a:r>
            <a:r>
              <a:rPr lang="en-US" sz="2200" dirty="0" smtClean="0"/>
              <a:t>, </a:t>
            </a:r>
            <a:r>
              <a:rPr lang="en-US" sz="2200" dirty="0" err="1" smtClean="0"/>
              <a:t>pentru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</a:t>
            </a:r>
            <a:r>
              <a:rPr lang="en-US" sz="2200" dirty="0" err="1" smtClean="0"/>
              <a:t>aceasta</a:t>
            </a:r>
            <a:r>
              <a:rPr lang="en-US" sz="2200" dirty="0" smtClean="0"/>
              <a:t> e </a:t>
            </a:r>
            <a:r>
              <a:rPr lang="en-US" sz="2200" dirty="0" err="1" smtClean="0"/>
              <a:t>datoria</a:t>
            </a:r>
            <a:r>
              <a:rPr lang="en-US" sz="2200" dirty="0" smtClean="0"/>
              <a:t> ta. </a:t>
            </a:r>
            <a:r>
              <a:rPr lang="en-US" sz="2200" dirty="0" err="1" smtClean="0"/>
              <a:t>Consecințele</a:t>
            </a:r>
            <a:r>
              <a:rPr lang="en-US" sz="2200" dirty="0" smtClean="0"/>
              <a:t> nu </a:t>
            </a:r>
            <a:r>
              <a:rPr lang="en-US" sz="2200" dirty="0" err="1" smtClean="0"/>
              <a:t>sunt</a:t>
            </a:r>
            <a:r>
              <a:rPr lang="en-US" sz="2200" dirty="0" smtClean="0"/>
              <a:t> </a:t>
            </a:r>
            <a:r>
              <a:rPr lang="en-US" sz="2200" dirty="0" err="1" smtClean="0"/>
              <a:t>relevante</a:t>
            </a:r>
            <a:r>
              <a:rPr lang="en-US" sz="2200" dirty="0" smtClean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22228068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8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8013" cy="1141412"/>
          </a:xfrm>
        </p:spPr>
        <p:txBody>
          <a:bodyPr/>
          <a:lstStyle/>
          <a:p>
            <a:pPr eaLnBrk="1" hangingPunct="1"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ro-RO" sz="2800" b="1" smtClean="0">
                <a:latin typeface="Times New Roman" pitchFamily="16" charset="0"/>
              </a:rPr>
              <a:t>Problema 3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8163" y="1100138"/>
            <a:ext cx="8228012" cy="5567362"/>
          </a:xfrm>
        </p:spPr>
        <p:txBody>
          <a:bodyPr/>
          <a:lstStyle/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</a:t>
            </a:r>
            <a:r>
              <a:rPr lang="en-US" sz="2200" dirty="0" err="1" smtClean="0"/>
              <a:t>Ești</a:t>
            </a:r>
            <a:r>
              <a:rPr lang="en-US" sz="2200" dirty="0" smtClean="0"/>
              <a:t> </a:t>
            </a:r>
            <a:r>
              <a:rPr lang="en-US" sz="2200" dirty="0" err="1" smtClean="0"/>
              <a:t>directorul</a:t>
            </a:r>
            <a:r>
              <a:rPr lang="en-US" sz="2200" dirty="0" smtClean="0"/>
              <a:t> </a:t>
            </a:r>
            <a:r>
              <a:rPr lang="en-US" sz="2200" dirty="0" err="1" smtClean="0"/>
              <a:t>unui</a:t>
            </a:r>
            <a:r>
              <a:rPr lang="en-US" sz="2200" dirty="0" smtClean="0"/>
              <a:t> </a:t>
            </a:r>
            <a:r>
              <a:rPr lang="en-US" sz="2200" dirty="0" err="1" smtClean="0"/>
              <a:t>departament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unul</a:t>
            </a:r>
            <a:r>
              <a:rPr lang="en-US" sz="2200" dirty="0" smtClean="0"/>
              <a:t> </a:t>
            </a:r>
            <a:r>
              <a:rPr lang="en-US" sz="2200" dirty="0" err="1" smtClean="0"/>
              <a:t>dintre</a:t>
            </a:r>
            <a:r>
              <a:rPr lang="en-US" sz="2200" dirty="0" smtClean="0"/>
              <a:t> </a:t>
            </a:r>
            <a:r>
              <a:rPr lang="en-US" sz="2200" dirty="0" err="1" smtClean="0"/>
              <a:t>angajații</a:t>
            </a:r>
            <a:r>
              <a:rPr lang="en-US" sz="2200" dirty="0" smtClean="0"/>
              <a:t> </a:t>
            </a:r>
            <a:r>
              <a:rPr lang="en-US" sz="2200" dirty="0" err="1" smtClean="0"/>
              <a:t>tăi</a:t>
            </a:r>
            <a:r>
              <a:rPr lang="en-US" sz="2200" dirty="0" smtClean="0"/>
              <a:t> face o </a:t>
            </a:r>
            <a:r>
              <a:rPr lang="en-US" sz="2200" dirty="0" err="1" smtClean="0"/>
              <a:t>greșeală</a:t>
            </a:r>
            <a:r>
              <a:rPr lang="en-US" sz="2200" dirty="0" smtClean="0"/>
              <a:t>. </a:t>
            </a:r>
            <a:r>
              <a:rPr lang="en-US" sz="2200" dirty="0" err="1" smtClean="0"/>
              <a:t>Trebuie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aplici</a:t>
            </a:r>
            <a:r>
              <a:rPr lang="en-US" sz="2200" dirty="0" smtClean="0"/>
              <a:t> o </a:t>
            </a:r>
            <a:r>
              <a:rPr lang="en-US" sz="2200" dirty="0" err="1" smtClean="0"/>
              <a:t>sancțiune</a:t>
            </a:r>
            <a:r>
              <a:rPr lang="en-US" sz="2200" dirty="0" smtClean="0"/>
              <a:t>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vrei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o </a:t>
            </a:r>
            <a:r>
              <a:rPr lang="en-US" sz="2200" dirty="0" err="1" smtClean="0"/>
              <a:t>aplici</a:t>
            </a:r>
            <a:r>
              <a:rPr lang="en-US" sz="2200" dirty="0" smtClean="0"/>
              <a:t> </a:t>
            </a:r>
            <a:r>
              <a:rPr lang="en-US" sz="2200" dirty="0" err="1" smtClean="0"/>
              <a:t>pe</a:t>
            </a:r>
            <a:r>
              <a:rPr lang="en-US" sz="2200" dirty="0" smtClean="0"/>
              <a:t> </a:t>
            </a:r>
            <a:r>
              <a:rPr lang="en-US" sz="2200" dirty="0" err="1" smtClean="0"/>
              <a:t>cea</a:t>
            </a:r>
            <a:r>
              <a:rPr lang="en-US" sz="2200" dirty="0" smtClean="0"/>
              <a:t> </a:t>
            </a:r>
            <a:r>
              <a:rPr lang="en-US" sz="2200" dirty="0" err="1" smtClean="0"/>
              <a:t>mai</a:t>
            </a:r>
            <a:r>
              <a:rPr lang="en-US" sz="2200" dirty="0" smtClean="0"/>
              <a:t> </a:t>
            </a:r>
            <a:r>
              <a:rPr lang="en-US" sz="2200" dirty="0" err="1" smtClean="0"/>
              <a:t>ușoară</a:t>
            </a:r>
            <a:r>
              <a:rPr lang="en-US" sz="2200" dirty="0" smtClean="0"/>
              <a:t>. Din </a:t>
            </a:r>
            <a:r>
              <a:rPr lang="en-US" sz="2200" dirty="0" err="1" smtClean="0"/>
              <a:t>păcate</a:t>
            </a:r>
            <a:r>
              <a:rPr lang="en-US" sz="2200" dirty="0" smtClean="0"/>
              <a:t>, </a:t>
            </a:r>
            <a:r>
              <a:rPr lang="en-US" sz="2200" dirty="0" err="1" smtClean="0"/>
              <a:t>afli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</a:t>
            </a:r>
            <a:r>
              <a:rPr lang="en-US" sz="2200" dirty="0" err="1" smtClean="0"/>
              <a:t>cel</a:t>
            </a:r>
            <a:r>
              <a:rPr lang="en-US" sz="2200" dirty="0" smtClean="0"/>
              <a:t> </a:t>
            </a:r>
            <a:r>
              <a:rPr lang="en-US" sz="2200" dirty="0" err="1" smtClean="0"/>
              <a:t>vinovat</a:t>
            </a:r>
            <a:r>
              <a:rPr lang="en-US" sz="2200" dirty="0" smtClean="0"/>
              <a:t> a </a:t>
            </a:r>
            <a:r>
              <a:rPr lang="en-US" sz="2200" dirty="0" err="1" smtClean="0"/>
              <a:t>mai</a:t>
            </a:r>
            <a:r>
              <a:rPr lang="en-US" sz="2200" dirty="0" smtClean="0"/>
              <a:t> </a:t>
            </a:r>
            <a:r>
              <a:rPr lang="en-US" sz="2200" dirty="0" err="1" smtClean="0"/>
              <a:t>făcut</a:t>
            </a:r>
            <a:r>
              <a:rPr lang="en-US" sz="2200" dirty="0" smtClean="0"/>
              <a:t> o </a:t>
            </a:r>
            <a:r>
              <a:rPr lang="en-US" sz="2200" dirty="0" err="1" smtClean="0"/>
              <a:t>greșeală</a:t>
            </a:r>
            <a:r>
              <a:rPr lang="en-US" sz="2200" dirty="0" smtClean="0"/>
              <a:t> mare </a:t>
            </a:r>
            <a:r>
              <a:rPr lang="en-US" sz="2200" dirty="0" err="1" smtClean="0"/>
              <a:t>și</a:t>
            </a:r>
            <a:r>
              <a:rPr lang="en-US" sz="2200" dirty="0" smtClean="0"/>
              <a:t> </a:t>
            </a:r>
            <a:r>
              <a:rPr lang="en-US" sz="2200" dirty="0" err="1" smtClean="0"/>
              <a:t>va</a:t>
            </a:r>
            <a:r>
              <a:rPr lang="en-US" sz="2200" dirty="0" smtClean="0"/>
              <a:t> fi </a:t>
            </a:r>
            <a:r>
              <a:rPr lang="en-US" sz="2200" dirty="0" err="1" smtClean="0"/>
              <a:t>probabil</a:t>
            </a:r>
            <a:r>
              <a:rPr lang="en-US" sz="2200" dirty="0" smtClean="0"/>
              <a:t> </a:t>
            </a:r>
            <a:r>
              <a:rPr lang="en-US" sz="2200" dirty="0" err="1" smtClean="0"/>
              <a:t>concediat</a:t>
            </a:r>
            <a:r>
              <a:rPr lang="en-US" sz="2200" dirty="0" smtClean="0"/>
              <a:t>. </a:t>
            </a:r>
            <a:r>
              <a:rPr lang="en-US" sz="2200" dirty="0" err="1" smtClean="0"/>
              <a:t>Vrei</a:t>
            </a:r>
            <a:r>
              <a:rPr lang="en-US" sz="2200" dirty="0" smtClean="0"/>
              <a:t> </a:t>
            </a:r>
            <a:r>
              <a:rPr lang="en-US" sz="2200" dirty="0" err="1" smtClean="0"/>
              <a:t>să</a:t>
            </a:r>
            <a:r>
              <a:rPr lang="en-US" sz="2200" dirty="0" smtClean="0"/>
              <a:t> </a:t>
            </a:r>
            <a:r>
              <a:rPr lang="en-US" sz="2200" dirty="0" err="1" smtClean="0"/>
              <a:t>pedepsești</a:t>
            </a:r>
            <a:r>
              <a:rPr lang="en-US" sz="2200" dirty="0" smtClean="0"/>
              <a:t> un </a:t>
            </a:r>
            <a:r>
              <a:rPr lang="en-US" sz="2200" dirty="0" err="1" smtClean="0"/>
              <a:t>om</a:t>
            </a:r>
            <a:r>
              <a:rPr lang="en-US" sz="2200" dirty="0" smtClean="0"/>
              <a:t> </a:t>
            </a:r>
            <a:r>
              <a:rPr lang="en-US" sz="2200" dirty="0" err="1" smtClean="0"/>
              <a:t>nevinovat</a:t>
            </a:r>
            <a:r>
              <a:rPr lang="en-US" sz="2200" dirty="0" smtClean="0"/>
              <a:t> care are o imagine </a:t>
            </a:r>
            <a:r>
              <a:rPr lang="en-US" sz="2200" dirty="0" err="1" smtClean="0"/>
              <a:t>bună</a:t>
            </a:r>
            <a:r>
              <a:rPr lang="en-US" sz="2200" dirty="0" smtClean="0"/>
              <a:t>. </a:t>
            </a:r>
            <a:r>
              <a:rPr lang="en-US" sz="2200" dirty="0" err="1" smtClean="0"/>
              <a:t>Ar</a:t>
            </a:r>
            <a:r>
              <a:rPr lang="en-US" sz="2200" dirty="0" smtClean="0"/>
              <a:t> fi </a:t>
            </a:r>
            <a:r>
              <a:rPr lang="en-US" sz="2200" dirty="0" err="1" smtClean="0"/>
              <a:t>corect</a:t>
            </a:r>
            <a:r>
              <a:rPr lang="en-US" sz="2200" dirty="0" smtClean="0"/>
              <a:t>?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endParaRPr lang="en-US" sz="2200" dirty="0" smtClean="0"/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 </a:t>
            </a:r>
            <a:r>
              <a:rPr lang="en-US" sz="2200" dirty="0" err="1" smtClean="0"/>
              <a:t>Aplicare</a:t>
            </a:r>
            <a:r>
              <a:rPr lang="en-US" sz="2200" dirty="0" smtClean="0"/>
              <a:t> </a:t>
            </a:r>
            <a:r>
              <a:rPr lang="en-US" sz="2200" dirty="0" err="1" smtClean="0"/>
              <a:t>greșită</a:t>
            </a:r>
            <a:r>
              <a:rPr lang="en-US" sz="2200" dirty="0" smtClean="0"/>
              <a:t>: da, </a:t>
            </a:r>
            <a:r>
              <a:rPr lang="en-US" sz="2200" dirty="0" err="1" smtClean="0"/>
              <a:t>intenția</a:t>
            </a:r>
            <a:r>
              <a:rPr lang="en-US" sz="2200" dirty="0" smtClean="0"/>
              <a:t> </a:t>
            </a:r>
            <a:r>
              <a:rPr lang="en-US" sz="2200" dirty="0" err="1" smtClean="0"/>
              <a:t>este</a:t>
            </a:r>
            <a:r>
              <a:rPr lang="en-US" sz="2200" dirty="0" smtClean="0"/>
              <a:t> </a:t>
            </a:r>
            <a:r>
              <a:rPr lang="en-US" sz="2200" dirty="0" err="1" smtClean="0"/>
              <a:t>bună</a:t>
            </a:r>
            <a:r>
              <a:rPr lang="en-US" sz="2200" dirty="0" smtClean="0"/>
              <a:t>.</a:t>
            </a:r>
          </a:p>
          <a:p>
            <a:pPr indent="-317500" eaLnBrk="1" hangingPunct="1">
              <a:spcBef>
                <a:spcPct val="0"/>
              </a:spcBef>
              <a:buClrTx/>
              <a:buFontTx/>
              <a:buNone/>
              <a:tabLst>
                <a:tab pos="342900" algn="l"/>
                <a:tab pos="455613" algn="l"/>
                <a:tab pos="912813" algn="l"/>
                <a:tab pos="1370013" algn="l"/>
                <a:tab pos="1827213" algn="l"/>
                <a:tab pos="2284413" algn="l"/>
                <a:tab pos="2741613" algn="l"/>
                <a:tab pos="3198813" algn="l"/>
                <a:tab pos="3656013" algn="l"/>
                <a:tab pos="4113213" algn="l"/>
                <a:tab pos="4570413" algn="l"/>
                <a:tab pos="5027613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US" sz="2200" dirty="0" smtClean="0"/>
              <a:t>    </a:t>
            </a:r>
            <a:r>
              <a:rPr lang="en-US" sz="2200" dirty="0" err="1" smtClean="0"/>
              <a:t>Aplicare</a:t>
            </a:r>
            <a:r>
              <a:rPr lang="en-US" sz="2200" dirty="0" smtClean="0"/>
              <a:t> </a:t>
            </a:r>
            <a:r>
              <a:rPr lang="en-US" sz="2200" dirty="0" err="1" smtClean="0"/>
              <a:t>corectă</a:t>
            </a:r>
            <a:r>
              <a:rPr lang="en-US" sz="2200" dirty="0" smtClean="0"/>
              <a:t>: Nu, </a:t>
            </a:r>
            <a:r>
              <a:rPr lang="en-US" sz="2200" dirty="0" err="1" smtClean="0"/>
              <a:t>pentru</a:t>
            </a:r>
            <a:r>
              <a:rPr lang="en-US" sz="2200" dirty="0" smtClean="0"/>
              <a:t> </a:t>
            </a:r>
            <a:r>
              <a:rPr lang="en-US" sz="2200" dirty="0" err="1" smtClean="0"/>
              <a:t>că</a:t>
            </a:r>
            <a:r>
              <a:rPr lang="en-US" sz="2200" dirty="0" smtClean="0"/>
              <a:t> l-</a:t>
            </a:r>
            <a:r>
              <a:rPr lang="en-US" sz="2200" dirty="0" err="1" smtClean="0"/>
              <a:t>ai</a:t>
            </a:r>
            <a:r>
              <a:rPr lang="en-US" sz="2200" dirty="0" smtClean="0"/>
              <a:t> </a:t>
            </a:r>
            <a:r>
              <a:rPr lang="en-US" sz="2200" dirty="0" err="1" smtClean="0"/>
              <a:t>folosi</a:t>
            </a:r>
            <a:r>
              <a:rPr lang="en-US" sz="2200" dirty="0" smtClean="0"/>
              <a:t> </a:t>
            </a:r>
            <a:r>
              <a:rPr lang="en-US" sz="2200" dirty="0" err="1" smtClean="0"/>
              <a:t>pe</a:t>
            </a:r>
            <a:r>
              <a:rPr lang="en-US" sz="2200" dirty="0" smtClean="0"/>
              <a:t> </a:t>
            </a:r>
            <a:r>
              <a:rPr lang="en-US" sz="2200" dirty="0" err="1" smtClean="0"/>
              <a:t>cel</a:t>
            </a:r>
            <a:r>
              <a:rPr lang="en-US" sz="2200" dirty="0" smtClean="0"/>
              <a:t> </a:t>
            </a:r>
            <a:r>
              <a:rPr lang="en-US" sz="2200" dirty="0" err="1" smtClean="0"/>
              <a:t>nevinovat</a:t>
            </a:r>
            <a:r>
              <a:rPr lang="en-US" sz="2200" dirty="0" smtClean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avantajul</a:t>
            </a:r>
            <a:r>
              <a:rPr lang="en-US" sz="2200" dirty="0" smtClean="0"/>
              <a:t> </a:t>
            </a:r>
            <a:r>
              <a:rPr lang="en-US" sz="2200" dirty="0" err="1" smtClean="0"/>
              <a:t>celui</a:t>
            </a:r>
            <a:r>
              <a:rPr lang="en-US" sz="2200" dirty="0" smtClean="0"/>
              <a:t> </a:t>
            </a:r>
            <a:r>
              <a:rPr lang="en-US" sz="2200" dirty="0" err="1" smtClean="0"/>
              <a:t>vinovat</a:t>
            </a:r>
            <a:r>
              <a:rPr lang="en-US" sz="2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16176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Batman vs. The Joker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De ce nu îl ucide Batman pe Joker?</a:t>
            </a:r>
          </a:p>
          <a:p>
            <a:r>
              <a:rPr lang="ro-RO" dirty="0" smtClean="0"/>
              <a:t>E utilitarist sau deontologist?</a:t>
            </a:r>
          </a:p>
          <a:p>
            <a:endParaRPr lang="ro-RO" dirty="0"/>
          </a:p>
          <a:p>
            <a:endParaRPr lang="ro-RO" dirty="0" smtClean="0"/>
          </a:p>
          <a:p>
            <a:r>
              <a:rPr lang="ro-RO" dirty="0" smtClean="0"/>
              <a:t>Dacă ai fi Batman, ce ai face?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653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Etica vieții virtuoase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8768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ro-RO" dirty="0" smtClean="0"/>
              <a:t>Punct de plecare: existența unor persoane cu un comportament exemplar din punct de vedere moral (Socrate, Dalai Lama, Gandhi etc.).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Raționament (ideea de bază)</a:t>
            </a:r>
            <a:r>
              <a:rPr lang="ro-RO" dirty="0" smtClean="0"/>
              <a:t>:</a:t>
            </a:r>
            <a:endParaRPr lang="ro-RO" dirty="0"/>
          </a:p>
          <a:p>
            <a:pPr>
              <a:buNone/>
            </a:pPr>
            <a:r>
              <a:rPr lang="ro-RO" dirty="0" smtClean="0"/>
              <a:t>(1) X este o persoană virtuoasă. </a:t>
            </a:r>
          </a:p>
          <a:p>
            <a:pPr>
              <a:buNone/>
            </a:pPr>
            <a:r>
              <a:rPr lang="ro-RO" dirty="0" smtClean="0"/>
              <a:t>(2) Dacă X realizează acțiunea A, atunci A este o acțiune bună</a:t>
            </a:r>
          </a:p>
          <a:p>
            <a:pPr>
              <a:buNone/>
            </a:pPr>
            <a:r>
              <a:rPr lang="ro-RO" dirty="0" smtClean="0"/>
              <a:t>(3) Dacă vreau ca acțiunea mea B să fie bună, trebuie să fiu o persoană asemănătoare lui X.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b="1" dirty="0" smtClean="0"/>
              <a:t>Observație</a:t>
            </a:r>
            <a:r>
              <a:rPr lang="ro-RO" dirty="0" smtClean="0"/>
              <a:t>: calitatea morală a acțiunii decurge din calitatea caracterului persoanei respective (caracterul virtuos).</a:t>
            </a:r>
          </a:p>
          <a:p>
            <a:pPr>
              <a:buNone/>
            </a:pPr>
            <a:endParaRPr lang="ro-RO" dirty="0"/>
          </a:p>
          <a:p>
            <a:pPr>
              <a:buNone/>
            </a:pPr>
            <a:r>
              <a:rPr lang="ro-RO" dirty="0" smtClean="0"/>
              <a:t>Atunci: cum mă pot asigura că sunt o persoană virtuoasă? Căpătând:</a:t>
            </a:r>
          </a:p>
          <a:p>
            <a:pPr>
              <a:buNone/>
            </a:pPr>
            <a:r>
              <a:rPr lang="ro-RO" dirty="0" smtClean="0"/>
              <a:t>(1) virtuți morale: curajul, cumpătarea, mărinimia</a:t>
            </a:r>
          </a:p>
          <a:p>
            <a:pPr>
              <a:buNone/>
            </a:pPr>
            <a:r>
              <a:rPr lang="ro-RO" dirty="0" smtClean="0"/>
              <a:t>(2) virtuți intelectuale: înțelepciunea, inteligența, discernământul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b="1" dirty="0" smtClean="0"/>
              <a:t>Probleme</a:t>
            </a:r>
            <a:r>
              <a:rPr lang="ro-RO" dirty="0" smtClean="0"/>
              <a:t>: lista este completă și corectă? Circularitate?</a:t>
            </a:r>
            <a:endParaRPr lang="ro-RO" dirty="0"/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89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62000"/>
            <a:ext cx="68580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5439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Etica academică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Ce trăsături considerați a fi esențiale pentru a caracteriza un profesor ca fiind „bun” (dpdv moral)?</a:t>
            </a:r>
          </a:p>
          <a:p>
            <a:r>
              <a:rPr lang="ro-RO" dirty="0" smtClean="0"/>
              <a:t>Dar un student?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24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Valori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AutoNum type="arabicPeriod"/>
            </a:pPr>
            <a:r>
              <a:rPr lang="ro-RO" dirty="0" smtClean="0"/>
              <a:t>Libertatea academică</a:t>
            </a:r>
          </a:p>
          <a:p>
            <a:pPr marL="514350" indent="-514350">
              <a:buAutoNum type="arabicPeriod"/>
            </a:pPr>
            <a:r>
              <a:rPr lang="ro-RO" dirty="0" smtClean="0"/>
              <a:t>Autonomia personală</a:t>
            </a:r>
          </a:p>
          <a:p>
            <a:pPr marL="514350" indent="-514350">
              <a:buAutoNum type="arabicPeriod"/>
            </a:pPr>
            <a:r>
              <a:rPr lang="ro-RO" dirty="0" smtClean="0"/>
              <a:t>Meritul</a:t>
            </a:r>
          </a:p>
          <a:p>
            <a:pPr marL="514350" indent="-514350">
              <a:buAutoNum type="arabicPeriod"/>
            </a:pPr>
            <a:r>
              <a:rPr lang="ro-RO" dirty="0" smtClean="0"/>
              <a:t>Profesionalismul</a:t>
            </a:r>
          </a:p>
          <a:p>
            <a:pPr marL="514350" indent="-514350">
              <a:buAutoNum type="arabicPeriod"/>
            </a:pPr>
            <a:r>
              <a:rPr lang="ro-RO" dirty="0" smtClean="0"/>
              <a:t>Dreptatea și echitatea</a:t>
            </a:r>
          </a:p>
          <a:p>
            <a:pPr marL="514350" indent="-514350">
              <a:buAutoNum type="arabicPeriod"/>
            </a:pPr>
            <a:r>
              <a:rPr lang="ro-RO" dirty="0" smtClean="0"/>
              <a:t>Onestitatea și corectitudinea intelectuală</a:t>
            </a:r>
          </a:p>
          <a:p>
            <a:pPr marL="514350" indent="-514350">
              <a:buAutoNum type="arabicPeriod"/>
            </a:pPr>
            <a:r>
              <a:rPr lang="ro-RO" dirty="0" smtClean="0"/>
              <a:t>Transparența</a:t>
            </a:r>
          </a:p>
          <a:p>
            <a:pPr marL="514350" indent="-514350">
              <a:buAutoNum type="arabicPeriod"/>
            </a:pPr>
            <a:r>
              <a:rPr lang="ro-RO" dirty="0" smtClean="0"/>
              <a:t>Responsabilitatea</a:t>
            </a:r>
          </a:p>
          <a:p>
            <a:pPr marL="514350" indent="-514350">
              <a:buAutoNum type="arabicPeriod"/>
            </a:pPr>
            <a:r>
              <a:rPr lang="ro-RO" dirty="0" smtClean="0"/>
              <a:t>Respectul și toleranța</a:t>
            </a:r>
          </a:p>
          <a:p>
            <a:pPr marL="514350" indent="-514350">
              <a:buAutoNum type="arabicPeriod"/>
            </a:pPr>
            <a:r>
              <a:rPr lang="ro-RO" dirty="0" smtClean="0"/>
              <a:t>Bunăvoința și grija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346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Ethos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5029200"/>
          </a:xfrm>
        </p:spPr>
        <p:txBody>
          <a:bodyPr/>
          <a:lstStyle/>
          <a:p>
            <a:r>
              <a:rPr lang="ro-RO" dirty="0" smtClean="0"/>
              <a:t>(Gr.) </a:t>
            </a:r>
          </a:p>
          <a:p>
            <a:r>
              <a:rPr lang="en-US" dirty="0" smtClean="0"/>
              <a:t>‘</a:t>
            </a:r>
            <a:r>
              <a:rPr lang="ro-RO" dirty="0" smtClean="0"/>
              <a:t>character</a:t>
            </a:r>
            <a:r>
              <a:rPr lang="en-US" dirty="0" smtClean="0"/>
              <a:t>’</a:t>
            </a:r>
            <a:endParaRPr lang="ro-RO" dirty="0" smtClean="0"/>
          </a:p>
          <a:p>
            <a:pPr algn="just"/>
            <a:r>
              <a:rPr lang="ro-RO" dirty="0" smtClean="0"/>
              <a:t>Studiul sistematic al conceptelor evaluative morale (bine, rău, corect, incorect)  și a principiilor generale care justifică aplicarea acestor concepte</a:t>
            </a:r>
          </a:p>
          <a:p>
            <a:pPr algn="r">
              <a:buFont typeface="Wingdings" pitchFamily="-111" charset="2"/>
              <a:buNone/>
            </a:pPr>
            <a:endParaRPr lang="ro-RO" sz="2400" dirty="0" smtClean="0"/>
          </a:p>
          <a:p>
            <a:pPr algn="r">
              <a:buFont typeface="Wingdings" pitchFamily="-111" charset="2"/>
              <a:buNone/>
            </a:pPr>
            <a:endParaRPr lang="ro-RO" sz="2400" dirty="0"/>
          </a:p>
          <a:p>
            <a:pPr algn="r">
              <a:buFont typeface="Wingdings" pitchFamily="-111" charset="2"/>
              <a:buNone/>
            </a:pPr>
            <a:r>
              <a:rPr lang="en-US" sz="2400" dirty="0" smtClean="0"/>
              <a:t>Joan E. </a:t>
            </a:r>
            <a:r>
              <a:rPr lang="en-US" sz="2400" dirty="0" err="1" smtClean="0"/>
              <a:t>Sieber</a:t>
            </a:r>
            <a:endParaRPr lang="en-US" sz="2400" dirty="0" smtClean="0"/>
          </a:p>
          <a:p>
            <a:pPr algn="r">
              <a:buFont typeface="Wingdings" pitchFamily="-111" charset="2"/>
              <a:buNone/>
            </a:pPr>
            <a:r>
              <a:rPr lang="en-US" sz="2400" dirty="0" smtClean="0"/>
              <a:t>Planning Ethically Responsible Research, p. 3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88248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157658"/>
              </p:ext>
            </p:extLst>
          </p:nvPr>
        </p:nvGraphicFramePr>
        <p:xfrm>
          <a:off x="228600" y="228600"/>
          <a:ext cx="8686800" cy="647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43400"/>
                <a:gridCol w="4343400"/>
              </a:tblGrid>
              <a:tr h="1619250"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Etica descriptivă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Etica prescriptivă</a:t>
                      </a:r>
                      <a:endParaRPr lang="en-US" dirty="0"/>
                    </a:p>
                  </a:txBody>
                  <a:tcPr/>
                </a:tc>
              </a:tr>
              <a:tr h="1619250"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Descrie</a:t>
                      </a:r>
                      <a:r>
                        <a:rPr lang="ro-RO" baseline="0" dirty="0" smtClean="0"/>
                        <a:t> de ce există credințe morale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Argumentează</a:t>
                      </a:r>
                      <a:r>
                        <a:rPr lang="ro-RO" baseline="0" dirty="0" smtClean="0"/>
                        <a:t> ce principii morale ar trebui să fie urmate</a:t>
                      </a:r>
                      <a:endParaRPr lang="en-US" dirty="0"/>
                    </a:p>
                  </a:txBody>
                  <a:tcPr/>
                </a:tc>
              </a:tr>
              <a:tr h="16192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Care </a:t>
                      </a:r>
                      <a:r>
                        <a:rPr lang="ro-RO" dirty="0" smtClean="0"/>
                        <a:t>sunt credințele morale ale oamenilor (într-un anumit moment al timpului și un anumit spațiu)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Încearcă să răspundă</a:t>
                      </a:r>
                      <a:r>
                        <a:rPr lang="ro-RO" baseline="0" dirty="0" smtClean="0"/>
                        <a:t> la întrebarea: ce este bine și rău?</a:t>
                      </a:r>
                      <a:endParaRPr lang="en-US" dirty="0"/>
                    </a:p>
                  </a:txBody>
                  <a:tcPr/>
                </a:tc>
              </a:tr>
              <a:tr h="1619250"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Ce</a:t>
                      </a:r>
                      <a:r>
                        <a:rPr lang="ro-RO" baseline="0" dirty="0" smtClean="0"/>
                        <a:t> crede cultura x că este bine / rău?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Cum ar trebui să mă comport? Ce virtuți</a:t>
                      </a:r>
                      <a:r>
                        <a:rPr lang="ro-RO" baseline="0" dirty="0" smtClean="0"/>
                        <a:t> ar trebui să urmăresc?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078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ro-RO" dirty="0" smtClean="0"/>
              <a:t>Cum abordăm o problemă de etică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698850"/>
              </p:ext>
            </p:extLst>
          </p:nvPr>
        </p:nvGraphicFramePr>
        <p:xfrm>
          <a:off x="304800" y="838200"/>
          <a:ext cx="8229600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2567722"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O</a:t>
                      </a:r>
                      <a:r>
                        <a:rPr lang="ro-RO" baseline="0" dirty="0" smtClean="0"/>
                        <a:t> abordare deductivă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smtClean="0"/>
                        <a:t>Bazată pe principii</a:t>
                      </a:r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O abordare inductivă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smtClean="0"/>
                        <a:t>Bazată pe cazuri</a:t>
                      </a:r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223478"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Porniți</a:t>
                      </a:r>
                      <a:r>
                        <a:rPr lang="ro-RO" baseline="0" dirty="0" smtClean="0"/>
                        <a:t> de la o teorie etică (Kant, Mill)</a:t>
                      </a:r>
                    </a:p>
                    <a:p>
                      <a:pPr algn="ctr"/>
                      <a:endParaRPr lang="ro-RO" baseline="0" dirty="0" smtClean="0"/>
                    </a:p>
                    <a:p>
                      <a:pPr algn="ctr"/>
                      <a:r>
                        <a:rPr lang="ro-RO" baseline="0" dirty="0" smtClean="0"/>
                        <a:t>Continuați cu un principiu </a:t>
                      </a:r>
                    </a:p>
                    <a:p>
                      <a:pPr algn="ctr"/>
                      <a:endParaRPr lang="ro-RO" baseline="0" dirty="0" smtClean="0"/>
                    </a:p>
                    <a:p>
                      <a:pPr algn="ctr"/>
                      <a:r>
                        <a:rPr lang="ro-RO" baseline="0" dirty="0" smtClean="0"/>
                        <a:t>Reguli</a:t>
                      </a:r>
                    </a:p>
                    <a:p>
                      <a:pPr algn="ctr"/>
                      <a:endParaRPr lang="ro-RO" baseline="0" dirty="0" smtClean="0"/>
                    </a:p>
                    <a:p>
                      <a:pPr algn="ctr"/>
                      <a:r>
                        <a:rPr lang="ro-RO" baseline="0" dirty="0" smtClean="0"/>
                        <a:t>Judecăți (evaluări)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De</a:t>
                      </a:r>
                      <a:r>
                        <a:rPr lang="en-US" dirty="0" smtClean="0"/>
                        <a:t>c</a:t>
                      </a:r>
                      <a:r>
                        <a:rPr lang="ro-RO" dirty="0" smtClean="0"/>
                        <a:t>i</a:t>
                      </a:r>
                      <a:r>
                        <a:rPr lang="en-US" dirty="0" smtClean="0"/>
                        <a:t>z</a:t>
                      </a:r>
                      <a:r>
                        <a:rPr lang="ro-RO" dirty="0" smtClean="0"/>
                        <a:t>cii anterioare (în</a:t>
                      </a:r>
                      <a:r>
                        <a:rPr lang="ro-RO" baseline="0" dirty="0" smtClean="0"/>
                        <a:t> cazuri similare)</a:t>
                      </a:r>
                    </a:p>
                    <a:p>
                      <a:pPr algn="ctr"/>
                      <a:endParaRPr lang="ro-RO" baseline="0" dirty="0" smtClean="0"/>
                    </a:p>
                    <a:p>
                      <a:pPr algn="ctr"/>
                      <a:r>
                        <a:rPr lang="ro-RO" baseline="0" dirty="0" smtClean="0"/>
                        <a:t>Analiza și combinarea deciziilor anterioare pentru a realiza o nouă judecată (evaluare)</a:t>
                      </a:r>
                    </a:p>
                    <a:p>
                      <a:pPr algn="ctr"/>
                      <a:endParaRPr lang="ro-RO" baseline="0" dirty="0" smtClean="0"/>
                    </a:p>
                    <a:p>
                      <a:pPr algn="ctr"/>
                      <a:r>
                        <a:rPr lang="ro-RO" baseline="0" dirty="0" smtClean="0"/>
                        <a:t>Judecățile reflectă reguli</a:t>
                      </a:r>
                    </a:p>
                    <a:p>
                      <a:pPr algn="ctr"/>
                      <a:endParaRPr lang="ro-RO" baseline="0" dirty="0" smtClean="0"/>
                    </a:p>
                    <a:p>
                      <a:pPr algn="ctr"/>
                      <a:r>
                        <a:rPr lang="ro-RO" baseline="0" dirty="0" smtClean="0"/>
                        <a:t>Regulile reflectă principii</a:t>
                      </a:r>
                    </a:p>
                    <a:p>
                      <a:pPr algn="ctr"/>
                      <a:endParaRPr lang="ro-RO" baseline="0" dirty="0" smtClean="0"/>
                    </a:p>
                    <a:p>
                      <a:pPr algn="ctr"/>
                      <a:r>
                        <a:rPr lang="ro-RO" baseline="0" dirty="0" smtClean="0"/>
                        <a:t>Principiile trimit la o teorie etică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2286000" y="37338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299855" y="41910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299855" y="4724400"/>
            <a:ext cx="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502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908525"/>
              </p:ext>
            </p:extLst>
          </p:nvPr>
        </p:nvGraphicFramePr>
        <p:xfrm>
          <a:off x="457200" y="27709"/>
          <a:ext cx="8153400" cy="652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/>
                <a:gridCol w="4076700"/>
              </a:tblGrid>
              <a:tr h="1432670"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O</a:t>
                      </a:r>
                      <a:r>
                        <a:rPr lang="ro-RO" baseline="0" dirty="0" smtClean="0"/>
                        <a:t> abordare deductivă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smtClean="0"/>
                        <a:t>Bazată pe principii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dirty="0" smtClean="0"/>
                        <a:t>O abordare inductivă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dirty="0" smtClean="0"/>
                        <a:t>Bazată pe cazuri</a:t>
                      </a:r>
                      <a:endParaRPr lang="en-US" dirty="0" smtClean="0"/>
                    </a:p>
                  </a:txBody>
                  <a:tcPr/>
                </a:tc>
              </a:tr>
              <a:tr h="3202951">
                <a:tc>
                  <a:txBody>
                    <a:bodyPr/>
                    <a:lstStyle/>
                    <a:p>
                      <a:r>
                        <a:rPr lang="ro-RO" dirty="0" smtClean="0"/>
                        <a:t>Teorie:</a:t>
                      </a:r>
                      <a:r>
                        <a:rPr lang="ro-RO" baseline="0" dirty="0" smtClean="0"/>
                        <a:t> Kant </a:t>
                      </a:r>
                      <a:r>
                        <a:rPr lang="ro-RO" dirty="0" smtClean="0"/>
                        <a:t>:</a:t>
                      </a:r>
                      <a:r>
                        <a:rPr lang="ro-RO" baseline="0" dirty="0" smtClean="0"/>
                        <a:t>  Tratează umanitatea ca scop în sine și nu ca mijloc</a:t>
                      </a:r>
                    </a:p>
                    <a:p>
                      <a:endParaRPr lang="ro-RO" baseline="0" dirty="0" smtClean="0"/>
                    </a:p>
                    <a:p>
                      <a:r>
                        <a:rPr lang="ro-RO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Principiu: Pacea este o valoare care merită urmărită.</a:t>
                      </a:r>
                    </a:p>
                    <a:p>
                      <a:endParaRPr lang="ro-RO" baseline="0" dirty="0" smtClean="0"/>
                    </a:p>
                    <a:p>
                      <a:r>
                        <a:rPr lang="ro-RO" dirty="0" smtClean="0"/>
                        <a:t>Regulă:</a:t>
                      </a:r>
                      <a:r>
                        <a:rPr lang="ro-RO" baseline="0" dirty="0" smtClean="0"/>
                        <a:t> Evită violența!</a:t>
                      </a:r>
                    </a:p>
                    <a:p>
                      <a:endParaRPr lang="ro-RO" baseline="0" dirty="0" smtClean="0"/>
                    </a:p>
                    <a:p>
                      <a:r>
                        <a:rPr lang="ro-RO" baseline="0" dirty="0" smtClean="0"/>
                        <a:t>Judecată: Ar trebui să fiu împotriva războiului.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o-RO" dirty="0" smtClean="0"/>
                        <a:t>Decizii anterioare:</a:t>
                      </a:r>
                      <a:r>
                        <a:rPr lang="ro-RO" baseline="0" dirty="0" smtClean="0"/>
                        <a:t> am încercat să evităm războiul (ne-am mutat) – consecințe negative: am pierdut bani, am pierdut oameni dragi</a:t>
                      </a:r>
                    </a:p>
                    <a:p>
                      <a:endParaRPr lang="ro-RO" baseline="0" dirty="0" smtClean="0"/>
                    </a:p>
                    <a:p>
                      <a:r>
                        <a:rPr lang="ro-RO" baseline="0" dirty="0" smtClean="0"/>
                        <a:t> Judecată: Trebuie să ne protejăm</a:t>
                      </a:r>
                    </a:p>
                    <a:p>
                      <a:endParaRPr lang="ro-RO" baseline="0" dirty="0" smtClean="0"/>
                    </a:p>
                    <a:p>
                      <a:r>
                        <a:rPr lang="ro-RO" baseline="0" dirty="0" smtClean="0"/>
                        <a:t>Regulă: Înrolează-te în armată! </a:t>
                      </a:r>
                    </a:p>
                    <a:p>
                      <a:endParaRPr lang="ro-RO" baseline="0" dirty="0" smtClean="0"/>
                    </a:p>
                    <a:p>
                      <a:r>
                        <a:rPr lang="ro-RO" baseline="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Principiu: Familia și comunitatea trebuie protejate</a:t>
                      </a:r>
                    </a:p>
                    <a:p>
                      <a:endParaRPr lang="ro-RO" baseline="0" dirty="0" smtClean="0"/>
                    </a:p>
                    <a:p>
                      <a:r>
                        <a:rPr lang="ro-RO" baseline="0" dirty="0" smtClean="0"/>
                        <a:t>Teorie: Kant/Utilitarism</a:t>
                      </a:r>
                    </a:p>
                  </a:txBody>
                  <a:tcPr/>
                </a:tc>
              </a:tr>
              <a:tr h="1432670">
                <a:tc gridSpan="2">
                  <a:txBody>
                    <a:bodyPr/>
                    <a:lstStyle/>
                    <a:p>
                      <a:pPr algn="ctr"/>
                      <a:r>
                        <a:rPr lang="ro-RO" b="1" dirty="0" smtClean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CONFLICT!</a:t>
                      </a:r>
                      <a:endParaRPr lang="en-US" b="1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6179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Now what?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De cele mai multe ori, în cazul unor conflicte, vom realiza că principiile noastre sunt în raport de opoziție.</a:t>
            </a:r>
          </a:p>
          <a:p>
            <a:r>
              <a:rPr lang="ro-RO" dirty="0" smtClean="0"/>
              <a:t>Uneori există posibilitatea să le modificăm astfel încât ele să devină coerente.</a:t>
            </a:r>
          </a:p>
          <a:p>
            <a:r>
              <a:rPr lang="ro-RO" dirty="0" smtClean="0"/>
              <a:t>În cele mai multe cazuri, însă, ele ar trebui ierarhizate (ceea ce e destul de complicat)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432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 lnSpcReduction="10000"/>
          </a:bodyPr>
          <a:lstStyle/>
          <a:p>
            <a:r>
              <a:rPr lang="vi-VN" dirty="0" smtClean="0"/>
              <a:t>Descoperi </a:t>
            </a:r>
            <a:r>
              <a:rPr lang="vi-VN" dirty="0"/>
              <a:t>o moleculă-minune, foarte puternică, care poate fi folosită atât la tratarea, cât și la răspândirea cancerului. Dacă publici rezultatele, ele ar putea fi ușor folosite pentru a produce arme biologice letale. Pe de altă parte, aceleași rezultate ar duce la apariția unor tratamente ieftine, accesibile tuturor. Ce faci? </a:t>
            </a:r>
          </a:p>
          <a:p>
            <a:r>
              <a:rPr lang="vi-VN" dirty="0"/>
              <a:t>Crezi că obligația morală de a face publice rezultatele științei se aplică și în acest caz?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079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smtClean="0"/>
              <a:t>Principiul precauției și cercetările riscante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vi-VN" dirty="0">
                <a:solidFill>
                  <a:srgbClr val="000000"/>
                </a:solidFill>
                <a:latin typeface="Calibri" pitchFamily="34" charset="0"/>
              </a:rPr>
              <a:t>Are cercetătorul datoria morală să se abțină, spre exemplu, de la a publica rezultate care pot să pună mijloace de distrugere masive în mâna unor actori, statali sau non-statali, rău intenționați? </a:t>
            </a:r>
            <a:endParaRPr lang="ro-RO" dirty="0" smtClean="0">
              <a:solidFill>
                <a:srgbClr val="000000"/>
              </a:solidFill>
              <a:latin typeface="Calibri" pitchFamily="34" charset="0"/>
            </a:endParaRPr>
          </a:p>
          <a:p>
            <a:pPr algn="just"/>
            <a:endParaRPr lang="ro-RO" dirty="0" smtClean="0">
              <a:solidFill>
                <a:srgbClr val="000000"/>
              </a:solidFill>
              <a:latin typeface="Calibri" pitchFamily="34" charset="0"/>
            </a:endParaRPr>
          </a:p>
          <a:p>
            <a:pPr algn="just"/>
            <a:r>
              <a:rPr lang="vi-VN" dirty="0">
                <a:latin typeface="Calibri" pitchFamily="34" charset="0"/>
              </a:rPr>
              <a:t>Iar în cazul în care acele rezultate sunt folosite destructiv, poartă cercetătorul o responsabilitate pentru </a:t>
            </a:r>
            <a:r>
              <a:rPr lang="vi-VN" dirty="0" smtClean="0">
                <a:latin typeface="Calibri" pitchFamily="34" charset="0"/>
              </a:rPr>
              <a:t>efectel</a:t>
            </a:r>
            <a:r>
              <a:rPr lang="ro-RO" dirty="0" smtClean="0">
                <a:latin typeface="Calibri" pitchFamily="34" charset="0"/>
              </a:rPr>
              <a:t>e provocate?</a:t>
            </a:r>
          </a:p>
          <a:p>
            <a:pPr algn="just"/>
            <a:endParaRPr lang="ro-RO" dirty="0">
              <a:latin typeface="Calibri" pitchFamily="34" charset="0"/>
            </a:endParaRPr>
          </a:p>
          <a:p>
            <a:pPr marL="0" lvl="0" indent="0" algn="just">
              <a:spcBef>
                <a:spcPts val="0"/>
              </a:spcBef>
              <a:buNone/>
            </a:pPr>
            <a:r>
              <a:rPr lang="ro-RO" sz="1800" dirty="0">
                <a:solidFill>
                  <a:prstClr val="black"/>
                </a:solidFill>
              </a:rPr>
              <a:t>E. Socaciu, C. Vică, E. Mihailov, T. Gibea, V. Mureșan, &amp; M. Constantinescu, </a:t>
            </a:r>
            <a:r>
              <a:rPr lang="ro-RO" sz="1800" i="1" dirty="0">
                <a:solidFill>
                  <a:prstClr val="black"/>
                </a:solidFill>
              </a:rPr>
              <a:t>Etică și integritate academică</a:t>
            </a:r>
            <a:r>
              <a:rPr lang="ro-RO" sz="1800" dirty="0">
                <a:solidFill>
                  <a:prstClr val="black"/>
                </a:solidFill>
              </a:rPr>
              <a:t> , București: Editura Universității din București, p. </a:t>
            </a:r>
            <a:r>
              <a:rPr lang="ro-RO" sz="1800" dirty="0" smtClean="0">
                <a:solidFill>
                  <a:prstClr val="black"/>
                </a:solidFill>
              </a:rPr>
              <a:t>105</a:t>
            </a:r>
            <a:endParaRPr lang="en-US" sz="1800" dirty="0">
              <a:solidFill>
                <a:prstClr val="black"/>
              </a:solidFill>
            </a:endParaRPr>
          </a:p>
          <a:p>
            <a:pPr algn="just"/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220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Principiul precauției și cercetările riscante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b="1" dirty="0" smtClean="0"/>
              <a:t>Incertitudine</a:t>
            </a:r>
            <a:r>
              <a:rPr lang="ro-RO" dirty="0" smtClean="0"/>
              <a:t>: în programele de cercetare ample este imposibil să anticipăm/urmărim toate rezultatele finale sau efectele acestora</a:t>
            </a:r>
          </a:p>
          <a:p>
            <a:r>
              <a:rPr lang="ro-RO" dirty="0" smtClean="0"/>
              <a:t>Uneori nu avem materialele (tehnologia) necesară pentru a realiza toate predicțiile/acuratețea acestora</a:t>
            </a:r>
          </a:p>
          <a:p>
            <a:r>
              <a:rPr lang="ro-RO" dirty="0" smtClean="0"/>
              <a:t>Efectele/rezultatele pe termen lung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77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Principiul precauției și cercetările riscante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 smtClean="0"/>
              <a:t>Ce ar trebui să facem?</a:t>
            </a:r>
          </a:p>
          <a:p>
            <a:endParaRPr lang="ro-RO" dirty="0"/>
          </a:p>
          <a:p>
            <a:pPr marL="0" lvl="0" indent="0" algn="just">
              <a:spcBef>
                <a:spcPts val="0"/>
              </a:spcBef>
              <a:buNone/>
            </a:pPr>
            <a:r>
              <a:rPr lang="ro-RO" b="1" dirty="0" smtClean="0">
                <a:solidFill>
                  <a:srgbClr val="FF0000"/>
                </a:solidFill>
              </a:rPr>
              <a:t>Principiul precauției: </a:t>
            </a:r>
            <a:r>
              <a:rPr lang="ro-RO" dirty="0" smtClean="0"/>
              <a:t>o transpunere instituțională a </a:t>
            </a:r>
            <a:r>
              <a:rPr lang="en-US" dirty="0" err="1" smtClean="0"/>
              <a:t>prescripției</a:t>
            </a:r>
            <a:r>
              <a:rPr lang="en-US" dirty="0" smtClean="0"/>
              <a:t> </a:t>
            </a:r>
            <a:r>
              <a:rPr lang="en-US" dirty="0" err="1" smtClean="0"/>
              <a:t>hipocratice</a:t>
            </a:r>
            <a:r>
              <a:rPr lang="en-US" dirty="0" smtClean="0"/>
              <a:t>.</a:t>
            </a:r>
            <a:r>
              <a:rPr lang="ro-RO" dirty="0" smtClean="0"/>
              <a:t> </a:t>
            </a:r>
            <a:r>
              <a:rPr lang="ro-RO" sz="1700" dirty="0" smtClean="0">
                <a:solidFill>
                  <a:prstClr val="black"/>
                </a:solidFill>
              </a:rPr>
              <a:t>(E. </a:t>
            </a:r>
            <a:r>
              <a:rPr lang="ro-RO" sz="1700" dirty="0">
                <a:solidFill>
                  <a:prstClr val="black"/>
                </a:solidFill>
              </a:rPr>
              <a:t>Socaciu, C. Vică, E. Mihailov, T. Gibea, V. Mureșan, &amp; M. Constantinescu, </a:t>
            </a:r>
            <a:r>
              <a:rPr lang="ro-RO" sz="1700" i="1" dirty="0">
                <a:solidFill>
                  <a:prstClr val="black"/>
                </a:solidFill>
              </a:rPr>
              <a:t>Etică și integritate academică</a:t>
            </a:r>
            <a:r>
              <a:rPr lang="ro-RO" sz="1700" dirty="0">
                <a:solidFill>
                  <a:prstClr val="black"/>
                </a:solidFill>
              </a:rPr>
              <a:t> , București: Editura Universității din București, p. </a:t>
            </a:r>
            <a:r>
              <a:rPr lang="ro-RO" sz="1700" dirty="0" smtClean="0">
                <a:solidFill>
                  <a:prstClr val="black"/>
                </a:solidFill>
              </a:rPr>
              <a:t>106)</a:t>
            </a:r>
            <a:endParaRPr lang="en-US" sz="1700" dirty="0">
              <a:solidFill>
                <a:prstClr val="black"/>
              </a:solidFill>
            </a:endParaRPr>
          </a:p>
          <a:p>
            <a:pPr algn="just"/>
            <a:endParaRPr lang="ro-RO" dirty="0" smtClean="0"/>
          </a:p>
          <a:p>
            <a:endParaRPr lang="ro-RO" dirty="0"/>
          </a:p>
          <a:p>
            <a:pPr marL="0" indent="0">
              <a:buNone/>
            </a:pPr>
            <a:r>
              <a:rPr lang="ro-RO" dirty="0" smtClean="0"/>
              <a:t>„</a:t>
            </a:r>
            <a:r>
              <a:rPr lang="en-US" dirty="0" err="1"/>
              <a:t>primum</a:t>
            </a:r>
            <a:r>
              <a:rPr lang="en-US" dirty="0"/>
              <a:t> non </a:t>
            </a:r>
            <a:r>
              <a:rPr lang="en-US" dirty="0" err="1" smtClean="0"/>
              <a:t>nocere</a:t>
            </a:r>
            <a:r>
              <a:rPr lang="ro-RO" dirty="0" smtClean="0"/>
              <a:t>” (înainte de toate, nu face rău!)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6972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smtClean="0"/>
              <a:t>Principiul precauției</a:t>
            </a:r>
            <a:br>
              <a:rPr lang="ro-RO" dirty="0" smtClean="0"/>
            </a:br>
            <a:r>
              <a:rPr lang="ro-RO" dirty="0" smtClean="0"/>
              <a:t>Critici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05400"/>
          </a:xfrm>
        </p:spPr>
        <p:txBody>
          <a:bodyPr>
            <a:normAutofit lnSpcReduction="10000"/>
          </a:bodyPr>
          <a:lstStyle/>
          <a:p>
            <a:r>
              <a:rPr lang="ro-RO" dirty="0" smtClean="0"/>
              <a:t>Drobul de sare – stoparea sau încetinirea procesului științific/tehnologic</a:t>
            </a:r>
          </a:p>
          <a:p>
            <a:r>
              <a:rPr lang="ro-RO" dirty="0" smtClean="0"/>
              <a:t>Mult prea general și vag</a:t>
            </a:r>
          </a:p>
          <a:p>
            <a:r>
              <a:rPr lang="ro-RO" dirty="0" smtClean="0"/>
              <a:t>Nu oferă informații clare despre CUM să procedăm într-un anumit moment</a:t>
            </a:r>
          </a:p>
          <a:p>
            <a:endParaRPr lang="ro-RO" dirty="0"/>
          </a:p>
          <a:p>
            <a:r>
              <a:rPr lang="ro-RO" dirty="0" smtClean="0"/>
              <a:t>În ciuda acestor critici, Principiul a început să fie adoptat.</a:t>
            </a:r>
          </a:p>
          <a:p>
            <a:r>
              <a:rPr lang="ro-RO" dirty="0" smtClean="0"/>
              <a:t>Care este părerea voastră cu privire la criticile acestui Principiu?</a:t>
            </a:r>
          </a:p>
        </p:txBody>
      </p:sp>
    </p:spTree>
    <p:extLst>
      <p:ext uri="{BB962C8B-B14F-4D97-AF65-F5344CB8AC3E}">
        <p14:creationId xmlns:p14="http://schemas.microsoft.com/office/powerpoint/2010/main" val="14874483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33401"/>
            <a:ext cx="7772399" cy="5372894"/>
          </a:xfrm>
        </p:spPr>
      </p:pic>
      <p:sp>
        <p:nvSpPr>
          <p:cNvPr id="5" name="Rectangle 4"/>
          <p:cNvSpPr/>
          <p:nvPr/>
        </p:nvSpPr>
        <p:spPr>
          <a:xfrm>
            <a:off x="519545" y="6096000"/>
            <a:ext cx="7924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ro-RO" dirty="0">
                <a:solidFill>
                  <a:prstClr val="black"/>
                </a:solidFill>
              </a:rPr>
              <a:t>(E. Socaciu, C. Vică, E. Mihailov, T. Gibea, V. Mureșan, &amp; M. Constantinescu, </a:t>
            </a:r>
            <a:r>
              <a:rPr lang="ro-RO" i="1" dirty="0">
                <a:solidFill>
                  <a:prstClr val="black"/>
                </a:solidFill>
              </a:rPr>
              <a:t>Etică și integritate academică</a:t>
            </a:r>
            <a:r>
              <a:rPr lang="ro-RO" dirty="0">
                <a:solidFill>
                  <a:prstClr val="black"/>
                </a:solidFill>
              </a:rPr>
              <a:t> , București: Editura Universității din București, p. </a:t>
            </a:r>
            <a:r>
              <a:rPr lang="ro-RO" dirty="0" smtClean="0">
                <a:solidFill>
                  <a:prstClr val="black"/>
                </a:solidFill>
              </a:rPr>
              <a:t>107)</a:t>
            </a:r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554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3E6573EBEF95419FE5CDD911A166BF" ma:contentTypeVersion="2" ma:contentTypeDescription="Create a new document." ma:contentTypeScope="" ma:versionID="af8772857c8577c6f39c3966c4db86f2">
  <xsd:schema xmlns:xsd="http://www.w3.org/2001/XMLSchema" xmlns:xs="http://www.w3.org/2001/XMLSchema" xmlns:p="http://schemas.microsoft.com/office/2006/metadata/properties" xmlns:ns2="d06dbadc-5ebd-4821-b299-ce6b9eaad42b" targetNamespace="http://schemas.microsoft.com/office/2006/metadata/properties" ma:root="true" ma:fieldsID="4b8ab12f56004d35a3ac51f67fb975e2" ns2:_="">
    <xsd:import namespace="d06dbadc-5ebd-4821-b299-ce6b9eaad4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6dbadc-5ebd-4821-b299-ce6b9eaad4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F0971C-D633-4CE9-9534-4AD036994415}"/>
</file>

<file path=customXml/itemProps2.xml><?xml version="1.0" encoding="utf-8"?>
<ds:datastoreItem xmlns:ds="http://schemas.openxmlformats.org/officeDocument/2006/customXml" ds:itemID="{DC90862A-0D36-4890-878D-267CBCAAD2C3}"/>
</file>

<file path=customXml/itemProps3.xml><?xml version="1.0" encoding="utf-8"?>
<ds:datastoreItem xmlns:ds="http://schemas.openxmlformats.org/officeDocument/2006/customXml" ds:itemID="{48B1E9AD-1A7F-4CE3-8F93-1E39E0C49F05}"/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2339</Words>
  <Application>Microsoft Office PowerPoint</Application>
  <PresentationFormat>On-screen Show (4:3)</PresentationFormat>
  <Paragraphs>275</Paragraphs>
  <Slides>35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Noțiuni de etică</vt:lpstr>
      <vt:lpstr>Etica fericirii generale</vt:lpstr>
      <vt:lpstr>Utilitarism</vt:lpstr>
      <vt:lpstr>PowerPoint Presentation</vt:lpstr>
      <vt:lpstr>Exemplu utilitarism</vt:lpstr>
      <vt:lpstr>Critici</vt:lpstr>
      <vt:lpstr>Critici</vt:lpstr>
      <vt:lpstr>PowerPoint Presentation</vt:lpstr>
      <vt:lpstr>PowerPoint Presentation</vt:lpstr>
      <vt:lpstr>Utilitarismul acţional vs. utilitarismul regulii</vt:lpstr>
      <vt:lpstr>Deontologism</vt:lpstr>
      <vt:lpstr>Kantianismul</vt:lpstr>
      <vt:lpstr>Intenția este relevantă</vt:lpstr>
      <vt:lpstr>Intenția este relevantă (II)</vt:lpstr>
      <vt:lpstr>Intenția este relevantă (III)</vt:lpstr>
      <vt:lpstr>Probleme</vt:lpstr>
      <vt:lpstr>Problema 1</vt:lpstr>
      <vt:lpstr>Problema 2</vt:lpstr>
      <vt:lpstr>Problema 3</vt:lpstr>
      <vt:lpstr>Batman vs. The Joker</vt:lpstr>
      <vt:lpstr>Etica vieții virtuoase</vt:lpstr>
      <vt:lpstr>PowerPoint Presentation</vt:lpstr>
      <vt:lpstr>Etica academică</vt:lpstr>
      <vt:lpstr>Valori</vt:lpstr>
      <vt:lpstr>Ethos</vt:lpstr>
      <vt:lpstr>PowerPoint Presentation</vt:lpstr>
      <vt:lpstr>Cum abordăm o problemă de etică</vt:lpstr>
      <vt:lpstr>PowerPoint Presentation</vt:lpstr>
      <vt:lpstr>Now what?</vt:lpstr>
      <vt:lpstr>PowerPoint Presentation</vt:lpstr>
      <vt:lpstr>Principiul precauției și cercetările riscante</vt:lpstr>
      <vt:lpstr>Principiul precauției și cercetările riscante</vt:lpstr>
      <vt:lpstr>Principiul precauției și cercetările riscante</vt:lpstr>
      <vt:lpstr>Principiul precauției Critici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Noțiuni de etică</dc:title>
  <dc:creator>ADMINX</dc:creator>
  <cp:lastModifiedBy>ADMINX</cp:lastModifiedBy>
  <cp:revision>1</cp:revision>
  <dcterms:created xsi:type="dcterms:W3CDTF">2021-01-04T15:06:29Z</dcterms:created>
  <dcterms:modified xsi:type="dcterms:W3CDTF">2021-01-04T15:15:20Z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0x010100F33E6573EBEF95419FE5CDD911A166BF</vt:lpwstr>
  </property>
</Properties>
</file>