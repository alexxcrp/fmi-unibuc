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8" r:id="rId4"/>
    <p:sldId id="257" r:id="rId5"/>
    <p:sldId id="272" r:id="rId6"/>
    <p:sldId id="273" r:id="rId7"/>
    <p:sldId id="274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9" r:id="rId21"/>
    <p:sldId id="270" r:id="rId22"/>
    <p:sldId id="276" r:id="rId23"/>
    <p:sldId id="275" r:id="rId24"/>
    <p:sldId id="27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2F15-4ABF-4B8A-82E3-34E0D235D74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A7DE-6452-4C7D-8919-6470023E8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6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2F15-4ABF-4B8A-82E3-34E0D235D74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A7DE-6452-4C7D-8919-6470023E8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19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2F15-4ABF-4B8A-82E3-34E0D235D74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A7DE-6452-4C7D-8919-6470023E8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7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2F15-4ABF-4B8A-82E3-34E0D235D74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A7DE-6452-4C7D-8919-6470023E8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70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2F15-4ABF-4B8A-82E3-34E0D235D74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A7DE-6452-4C7D-8919-6470023E8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67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2F15-4ABF-4B8A-82E3-34E0D235D74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A7DE-6452-4C7D-8919-6470023E8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2F15-4ABF-4B8A-82E3-34E0D235D74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A7DE-6452-4C7D-8919-6470023E8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75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2F15-4ABF-4B8A-82E3-34E0D235D74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A7DE-6452-4C7D-8919-6470023E8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2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2F15-4ABF-4B8A-82E3-34E0D235D74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A7DE-6452-4C7D-8919-6470023E8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7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2F15-4ABF-4B8A-82E3-34E0D235D74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A7DE-6452-4C7D-8919-6470023E8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2F15-4ABF-4B8A-82E3-34E0D235D74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A7DE-6452-4C7D-8919-6470023E8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34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92F15-4ABF-4B8A-82E3-34E0D235D74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6A7DE-6452-4C7D-8919-6470023E8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9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 smtClean="0"/>
              <a:t>Definiții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 smtClean="0"/>
              <a:t>Curs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3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Definiții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>
            <a:normAutofit/>
          </a:bodyPr>
          <a:lstStyle/>
          <a:p>
            <a:r>
              <a:rPr lang="ro-RO" dirty="0" smtClean="0">
                <a:latin typeface="+mj-lt"/>
              </a:rPr>
              <a:t>Pătratul este rombul cu unghiuri drepte.</a:t>
            </a:r>
          </a:p>
          <a:p>
            <a:r>
              <a:rPr lang="ro-RO" dirty="0" smtClean="0">
                <a:latin typeface="+mj-lt"/>
              </a:rPr>
              <a:t>Pătratul nu este dreptunghi.</a:t>
            </a:r>
          </a:p>
          <a:p>
            <a:r>
              <a:rPr lang="ro-RO" dirty="0" smtClean="0">
                <a:latin typeface="+mj-lt"/>
              </a:rPr>
              <a:t>Acesta este un pătrat </a:t>
            </a:r>
            <a:r>
              <a:rPr lang="ro-RO" dirty="0" smtClean="0">
                <a:latin typeface="+mj-lt"/>
                <a:cs typeface="Arial"/>
              </a:rPr>
              <a:t>□.</a:t>
            </a:r>
          </a:p>
          <a:p>
            <a:r>
              <a:rPr lang="ro-RO" dirty="0" smtClean="0">
                <a:latin typeface="+mj-lt"/>
                <a:cs typeface="Arial"/>
              </a:rPr>
              <a:t>Pătratul reprezintă unirea a patru linii.</a:t>
            </a:r>
          </a:p>
          <a:p>
            <a:r>
              <a:rPr lang="ro-RO" dirty="0" smtClean="0">
                <a:latin typeface="+mj-lt"/>
                <a:cs typeface="Arial"/>
              </a:rPr>
              <a:t>Pătratul este dreptunghiul cu laturi egale de 3 cm.</a:t>
            </a:r>
          </a:p>
          <a:p>
            <a:r>
              <a:rPr lang="ro-RO" dirty="0" smtClean="0">
                <a:latin typeface="+mj-lt"/>
                <a:cs typeface="Arial"/>
              </a:rPr>
              <a:t>Pătratul reprezintă muzica perfecțiunii matematice.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890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828800"/>
            <a:ext cx="5715000" cy="3534569"/>
          </a:xfrm>
        </p:spPr>
      </p:pic>
    </p:spTree>
    <p:extLst>
      <p:ext uri="{BB962C8B-B14F-4D97-AF65-F5344CB8AC3E}">
        <p14:creationId xmlns:p14="http://schemas.microsoft.com/office/powerpoint/2010/main" val="111315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Extensiune</a:t>
            </a:r>
            <a:r>
              <a:rPr lang="en-US" dirty="0" smtClean="0"/>
              <a:t> vs. </a:t>
            </a:r>
            <a:r>
              <a:rPr lang="ro-RO" dirty="0" err="1"/>
              <a:t>I</a:t>
            </a:r>
            <a:r>
              <a:rPr lang="en-US" dirty="0" err="1" smtClean="0"/>
              <a:t>nten</a:t>
            </a:r>
            <a:r>
              <a:rPr lang="ro-RO" dirty="0" smtClean="0"/>
              <a:t>siune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err="1" smtClean="0"/>
              <a:t>Exemple</a:t>
            </a:r>
            <a:r>
              <a:rPr lang="en-US" dirty="0" smtClean="0"/>
              <a:t> de </a:t>
            </a:r>
            <a:r>
              <a:rPr lang="en-US" dirty="0" err="1" smtClean="0"/>
              <a:t>termeni</a:t>
            </a:r>
            <a:r>
              <a:rPr lang="en-US" dirty="0" smtClean="0"/>
              <a:t>: </a:t>
            </a:r>
            <a:r>
              <a:rPr lang="en-US" dirty="0" err="1" smtClean="0"/>
              <a:t>orice</a:t>
            </a:r>
            <a:r>
              <a:rPr lang="en-US" dirty="0" smtClean="0"/>
              <a:t> </a:t>
            </a:r>
            <a:r>
              <a:rPr lang="en-US" dirty="0" err="1" smtClean="0"/>
              <a:t>nume</a:t>
            </a:r>
            <a:r>
              <a:rPr lang="en-US" dirty="0" smtClean="0"/>
              <a:t> </a:t>
            </a:r>
            <a:r>
              <a:rPr lang="en-US" dirty="0" err="1" smtClean="0"/>
              <a:t>propriu</a:t>
            </a:r>
            <a:r>
              <a:rPr lang="en-US" dirty="0" smtClean="0"/>
              <a:t>, “</a:t>
            </a:r>
            <a:r>
              <a:rPr lang="en-US" dirty="0" err="1" smtClean="0"/>
              <a:t>ap</a:t>
            </a:r>
            <a:r>
              <a:rPr lang="ro-RO" dirty="0" smtClean="0"/>
              <a:t>ă</a:t>
            </a:r>
            <a:r>
              <a:rPr lang="en-US" dirty="0" smtClean="0"/>
              <a:t>”, “</a:t>
            </a:r>
            <a:r>
              <a:rPr lang="en-US" dirty="0" err="1" smtClean="0"/>
              <a:t>ro</a:t>
            </a:r>
            <a:r>
              <a:rPr lang="ro-RO" dirty="0" smtClean="0"/>
              <a:t>șu</a:t>
            </a:r>
            <a:r>
              <a:rPr lang="en-US" dirty="0" smtClean="0"/>
              <a:t>”, “</a:t>
            </a:r>
            <a:r>
              <a:rPr lang="ro-RO" dirty="0" smtClean="0"/>
              <a:t>persoanele ce au înființat compania Google</a:t>
            </a:r>
            <a:r>
              <a:rPr lang="en-US" dirty="0" smtClean="0"/>
              <a:t>”</a:t>
            </a:r>
            <a:r>
              <a:rPr lang="ro-RO" dirty="0" smtClean="0"/>
              <a:t>, </a:t>
            </a:r>
            <a:r>
              <a:rPr lang="en-US" dirty="0" smtClean="0"/>
              <a:t>“</a:t>
            </a:r>
            <a:r>
              <a:rPr lang="en-US" dirty="0" err="1" smtClean="0"/>
              <a:t>Statele</a:t>
            </a:r>
            <a:r>
              <a:rPr lang="en-US" dirty="0" smtClean="0"/>
              <a:t> Unite ale </a:t>
            </a:r>
            <a:r>
              <a:rPr lang="en-US" dirty="0" err="1" smtClean="0"/>
              <a:t>Americii</a:t>
            </a:r>
            <a:r>
              <a:rPr lang="en-US" dirty="0" smtClean="0"/>
              <a:t>”</a:t>
            </a:r>
            <a:endParaRPr lang="ro-RO" dirty="0" smtClean="0"/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ro-RO" dirty="0" smtClean="0"/>
              <a:t>Distincție: Extensiune vs. Intensiune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ro-RO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Extensiunea unui termen </a:t>
            </a:r>
            <a:r>
              <a:rPr lang="ro-RO" dirty="0" smtClean="0"/>
              <a:t>= </a:t>
            </a:r>
            <a:r>
              <a:rPr lang="ro-RO" dirty="0" smtClean="0">
                <a:solidFill>
                  <a:srgbClr val="FF0000"/>
                </a:solidFill>
              </a:rPr>
              <a:t>mulțimea</a:t>
            </a:r>
            <a:r>
              <a:rPr lang="ro-RO" dirty="0" smtClean="0"/>
              <a:t> </a:t>
            </a:r>
            <a:r>
              <a:rPr lang="ro-RO" dirty="0" smtClean="0">
                <a:solidFill>
                  <a:srgbClr val="00B050"/>
                </a:solidFill>
              </a:rPr>
              <a:t>lucrurilor</a:t>
            </a:r>
            <a:r>
              <a:rPr lang="ro-RO" dirty="0" smtClean="0"/>
              <a:t> cărora li se aplică termenul respectiv.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ro-RO" dirty="0" smtClean="0"/>
              <a:t>Ext(</a:t>
            </a:r>
            <a:r>
              <a:rPr lang="en-US" dirty="0" smtClean="0"/>
              <a:t>“r</a:t>
            </a:r>
            <a:r>
              <a:rPr lang="ro-RO" dirty="0" smtClean="0"/>
              <a:t>oșu</a:t>
            </a:r>
            <a:r>
              <a:rPr lang="en-US" dirty="0" smtClean="0"/>
              <a:t>”</a:t>
            </a:r>
            <a:r>
              <a:rPr lang="ro-RO" dirty="0" smtClean="0"/>
              <a:t>)=mulțimea tuturor lucrurilor roșii</a:t>
            </a:r>
          </a:p>
          <a:p>
            <a:pPr>
              <a:buNone/>
            </a:pPr>
            <a:r>
              <a:rPr lang="en-US" dirty="0" smtClean="0"/>
              <a:t>Ext(“</a:t>
            </a:r>
            <a:r>
              <a:rPr lang="en-US" dirty="0" err="1" smtClean="0"/>
              <a:t>num</a:t>
            </a:r>
            <a:r>
              <a:rPr lang="ro-RO" dirty="0" smtClean="0"/>
              <a:t>ăr prim</a:t>
            </a:r>
            <a:r>
              <a:rPr lang="en-US" dirty="0" smtClean="0"/>
              <a:t>”)=?</a:t>
            </a:r>
          </a:p>
          <a:p>
            <a:pPr>
              <a:buNone/>
            </a:pPr>
            <a:r>
              <a:rPr lang="ro-RO" dirty="0" smtClean="0"/>
              <a:t>Ext(</a:t>
            </a:r>
            <a:r>
              <a:rPr lang="en-US" dirty="0" smtClean="0"/>
              <a:t>“Alan Turing”</a:t>
            </a:r>
            <a:r>
              <a:rPr lang="ro-RO" dirty="0" smtClean="0"/>
              <a:t>)</a:t>
            </a:r>
            <a:r>
              <a:rPr lang="en-US" dirty="0" smtClean="0"/>
              <a:t>=?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Intensiunea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unui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termen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>= </a:t>
            </a:r>
            <a:r>
              <a:rPr lang="ro-RO" dirty="0" smtClean="0"/>
              <a:t>înțelesul acestuia </a:t>
            </a:r>
            <a:r>
              <a:rPr lang="en-US" dirty="0" smtClean="0"/>
              <a:t>= </a:t>
            </a:r>
            <a:r>
              <a:rPr lang="ro-RO" dirty="0" smtClean="0"/>
              <a:t>o mulțime de proprietăți asociate cu respectivul termen (</a:t>
            </a:r>
            <a:r>
              <a:rPr lang="en-US" dirty="0" smtClean="0"/>
              <a:t>= </a:t>
            </a:r>
            <a:r>
              <a:rPr lang="ro-RO" dirty="0" smtClean="0"/>
              <a:t>o descriere a acestuia).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ro-RO" dirty="0" smtClean="0"/>
              <a:t>Int(</a:t>
            </a:r>
            <a:r>
              <a:rPr lang="en-US" dirty="0" smtClean="0"/>
              <a:t>“</a:t>
            </a:r>
            <a:r>
              <a:rPr lang="en-US" dirty="0" err="1" smtClean="0"/>
              <a:t>num</a:t>
            </a:r>
            <a:r>
              <a:rPr lang="ro-RO" dirty="0" smtClean="0"/>
              <a:t>ăr prim</a:t>
            </a:r>
            <a:r>
              <a:rPr lang="en-US" dirty="0" smtClean="0"/>
              <a:t>”)</a:t>
            </a:r>
            <a:r>
              <a:rPr lang="ro-RO" dirty="0" smtClean="0"/>
              <a:t> = </a:t>
            </a:r>
            <a:r>
              <a:rPr lang="en-US" dirty="0" smtClean="0"/>
              <a:t>?</a:t>
            </a:r>
            <a:endParaRPr lang="ro-RO" dirty="0" smtClean="0"/>
          </a:p>
          <a:p>
            <a:pPr>
              <a:buNone/>
            </a:pPr>
            <a:r>
              <a:rPr lang="ro-RO" dirty="0" smtClean="0"/>
              <a:t>Int</a:t>
            </a:r>
            <a:r>
              <a:rPr lang="en-US" dirty="0" smtClean="0"/>
              <a:t>(”Alan Turing”) = ?</a:t>
            </a:r>
            <a:endParaRPr lang="ro-RO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40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 smtClean="0"/>
              <a:t>Raportul dintre extensiune și intensiune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o-RO" dirty="0" smtClean="0"/>
              <a:t>Având termenii </a:t>
            </a:r>
            <a:r>
              <a:rPr lang="ro-RO" i="1" dirty="0" smtClean="0"/>
              <a:t>student </a:t>
            </a:r>
            <a:r>
              <a:rPr lang="ro-RO" dirty="0" smtClean="0"/>
              <a:t>și </a:t>
            </a:r>
            <a:r>
              <a:rPr lang="ro-RO" i="1" dirty="0" smtClean="0"/>
              <a:t>student la FMI </a:t>
            </a:r>
            <a:r>
              <a:rPr lang="ro-RO" dirty="0" smtClean="0"/>
              <a:t> determinați care dintre cei doi termeni are intensiunea mai mare. </a:t>
            </a:r>
          </a:p>
          <a:p>
            <a:pPr algn="just"/>
            <a:r>
              <a:rPr lang="ro-RO" dirty="0" smtClean="0"/>
              <a:t>Luând în considerare aceeași pereche de termeni determinați care termen are extensiunea mai mare.</a:t>
            </a:r>
          </a:p>
          <a:p>
            <a:endParaRPr lang="ro-RO" dirty="0"/>
          </a:p>
          <a:p>
            <a:pPr algn="just"/>
            <a:r>
              <a:rPr lang="ro-RO" dirty="0" smtClean="0"/>
              <a:t>Dacă la termenul </a:t>
            </a:r>
            <a:r>
              <a:rPr lang="ro-RO" i="1" dirty="0" smtClean="0"/>
              <a:t>ființă</a:t>
            </a:r>
            <a:r>
              <a:rPr lang="ro-RO" dirty="0" smtClean="0"/>
              <a:t> se adaugă calitatea de </a:t>
            </a:r>
            <a:r>
              <a:rPr lang="ro-RO" i="1" dirty="0" smtClean="0"/>
              <a:t>a fi rațională</a:t>
            </a:r>
            <a:r>
              <a:rPr lang="ro-RO" dirty="0" smtClean="0"/>
              <a:t> ce se întâmplă cu intensiunea termenului? Dar cu extensiunea?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32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Legea variației inverse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 smtClean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 smtClean="0"/>
              <a:t>Mărimea extensiunii variază invers proporțional cu mărimea intensiunii.</a:t>
            </a:r>
          </a:p>
          <a:p>
            <a:pPr marL="0" indent="0">
              <a:buNone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5411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Cum definim?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Definim apelând la intensiune sau la extensiune?</a:t>
            </a:r>
          </a:p>
          <a:p>
            <a:endParaRPr lang="ro-RO" dirty="0"/>
          </a:p>
          <a:p>
            <a:endParaRPr lang="ro-RO" dirty="0" smtClean="0"/>
          </a:p>
          <a:p>
            <a:r>
              <a:rPr lang="ro-RO" dirty="0" smtClean="0"/>
              <a:t>Puteți da exemple?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50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Defini</a:t>
            </a:r>
            <a:r>
              <a:rPr lang="ro-RO" dirty="0" smtClean="0"/>
              <a:t>ții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384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o-RO" dirty="0" smtClean="0"/>
              <a:t>Structură:</a:t>
            </a:r>
          </a:p>
          <a:p>
            <a:pPr>
              <a:buNone/>
            </a:pPr>
            <a:endParaRPr lang="ro-RO" dirty="0"/>
          </a:p>
          <a:p>
            <a:pPr>
              <a:buNone/>
            </a:pPr>
            <a:r>
              <a:rPr lang="ro-RO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Definiendum</a:t>
            </a:r>
            <a:r>
              <a:rPr lang="ro-RO" dirty="0" smtClean="0"/>
              <a:t> = termenul de definit (DEFINIT)</a:t>
            </a:r>
          </a:p>
          <a:p>
            <a:pPr>
              <a:buNone/>
            </a:pPr>
            <a:r>
              <a:rPr lang="ro-RO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Definiens</a:t>
            </a:r>
            <a:r>
              <a:rPr lang="ro-RO" dirty="0" smtClean="0"/>
              <a:t> = expresia prin care definim (DEFINITOR)</a:t>
            </a:r>
          </a:p>
          <a:p>
            <a:pPr>
              <a:buNone/>
            </a:pPr>
            <a:endParaRPr lang="ro-RO" dirty="0"/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endParaRPr lang="ro-RO" dirty="0"/>
          </a:p>
          <a:p>
            <a:pPr>
              <a:buNone/>
            </a:pPr>
            <a:r>
              <a:rPr lang="ro-RO" dirty="0" smtClean="0"/>
              <a:t>! Relația dintre definit și definitor trebuie să fie una de </a:t>
            </a:r>
            <a:r>
              <a:rPr lang="ro-RO" dirty="0" smtClean="0">
                <a:solidFill>
                  <a:srgbClr val="FF0000"/>
                </a:solidFill>
              </a:rPr>
              <a:t>IDENTITATE.</a:t>
            </a:r>
          </a:p>
          <a:p>
            <a:pPr>
              <a:buNone/>
            </a:pPr>
            <a:endParaRPr lang="ro-RO" dirty="0"/>
          </a:p>
        </p:txBody>
      </p:sp>
      <p:sp>
        <p:nvSpPr>
          <p:cNvPr id="4" name="Rectangle 3"/>
          <p:cNvSpPr/>
          <p:nvPr/>
        </p:nvSpPr>
        <p:spPr>
          <a:xfrm>
            <a:off x="451981" y="4253630"/>
            <a:ext cx="7239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o-RO" sz="3600" dirty="0" smtClean="0"/>
              <a:t>Celibatar =</a:t>
            </a:r>
            <a:r>
              <a:rPr lang="en-US" sz="2400" dirty="0" smtClean="0"/>
              <a:t>def</a:t>
            </a:r>
            <a:r>
              <a:rPr lang="ro-RO" sz="3600" dirty="0" smtClean="0"/>
              <a:t> bărbat necăsătorit</a:t>
            </a:r>
            <a:endParaRPr lang="en-US" sz="3600" dirty="0" smtClean="0"/>
          </a:p>
          <a:p>
            <a:pPr>
              <a:buNone/>
            </a:pPr>
            <a:endParaRPr lang="en-US" sz="3600" dirty="0" smtClean="0"/>
          </a:p>
          <a:p>
            <a:pPr>
              <a:buNone/>
            </a:pPr>
            <a:endParaRPr lang="en-US" sz="3600" dirty="0"/>
          </a:p>
        </p:txBody>
      </p:sp>
      <p:sp>
        <p:nvSpPr>
          <p:cNvPr id="5" name="Oval 4"/>
          <p:cNvSpPr/>
          <p:nvPr/>
        </p:nvSpPr>
        <p:spPr>
          <a:xfrm>
            <a:off x="7124700" y="1219200"/>
            <a:ext cx="1447800" cy="160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503090" y="1834634"/>
            <a:ext cx="69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/>
              <a:t>A,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033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r>
              <a:rPr lang="ro-RO" dirty="0" smtClean="0"/>
              <a:t>În cadrul unei definiții, definitorul exprimă proprietățiile ESENȚIALE ale definitului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0" y="1676400"/>
            <a:ext cx="59055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730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4343400"/>
            <a:ext cx="1676400" cy="457200"/>
          </a:xfrm>
        </p:spPr>
        <p:txBody>
          <a:bodyPr>
            <a:normAutofit fontScale="90000"/>
          </a:bodyPr>
          <a:lstStyle/>
          <a:p>
            <a:r>
              <a:rPr lang="ro-RO" sz="2800" dirty="0" smtClean="0"/>
              <a:t>Ext.(avion)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32004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arenBoth"/>
            </a:pPr>
            <a:r>
              <a:rPr lang="ro-RO" dirty="0" smtClean="0"/>
              <a:t>Definiții prea largi</a:t>
            </a:r>
          </a:p>
          <a:p>
            <a:pPr marL="514350" indent="-514350">
              <a:buFontTx/>
              <a:buChar char="-"/>
            </a:pPr>
            <a:r>
              <a:rPr lang="ro-RO" dirty="0" smtClean="0"/>
              <a:t>Expresia prin care definim (</a:t>
            </a:r>
            <a:r>
              <a:rPr lang="ro-RO" dirty="0" smtClean="0">
                <a:solidFill>
                  <a:srgbClr val="FF0000"/>
                </a:solidFill>
              </a:rPr>
              <a:t>definiens</a:t>
            </a:r>
            <a:r>
              <a:rPr lang="ro-RO" dirty="0" smtClean="0"/>
              <a:t>) se aplică unor obiecte cărora nu li se aplică termenul de definit (</a:t>
            </a:r>
            <a:r>
              <a:rPr lang="ro-RO" dirty="0" smtClean="0">
                <a:solidFill>
                  <a:srgbClr val="FF0000"/>
                </a:solidFill>
              </a:rPr>
              <a:t>definiendum</a:t>
            </a:r>
            <a:r>
              <a:rPr lang="ro-RO" dirty="0" smtClean="0"/>
              <a:t>)</a:t>
            </a:r>
          </a:p>
          <a:p>
            <a:pPr marL="514350" indent="-514350">
              <a:buFontTx/>
              <a:buChar char="-"/>
            </a:pPr>
            <a:r>
              <a:rPr lang="ro-RO" dirty="0" smtClean="0"/>
              <a:t>Cu alte cuvinte: extensiunea definiendum-ului este strict inclusă extensiunii definiens-ului.</a:t>
            </a:r>
          </a:p>
          <a:p>
            <a:pPr marL="514350" indent="-514350">
              <a:buNone/>
            </a:pPr>
            <a:r>
              <a:rPr lang="ro-RO" dirty="0" smtClean="0"/>
              <a:t>Exemplu: avion = aparat de zbor</a:t>
            </a:r>
          </a:p>
        </p:txBody>
      </p:sp>
      <p:sp>
        <p:nvSpPr>
          <p:cNvPr id="4" name="Oval 3"/>
          <p:cNvSpPr/>
          <p:nvPr/>
        </p:nvSpPr>
        <p:spPr>
          <a:xfrm>
            <a:off x="2362200" y="4038600"/>
            <a:ext cx="32004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971800" y="4495800"/>
            <a:ext cx="1752600" cy="990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5" idx="6"/>
          </p:cNvCxnSpPr>
          <p:nvPr/>
        </p:nvCxnSpPr>
        <p:spPr>
          <a:xfrm flipV="1">
            <a:off x="4724400" y="4572000"/>
            <a:ext cx="1295400" cy="4191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6096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Tipuri de definiții</a:t>
            </a:r>
            <a:endParaRPr lang="en-US" sz="4400" dirty="0" smtClean="0"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ERONATE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1600200" y="5105400"/>
            <a:ext cx="762000" cy="228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533400" y="5410200"/>
            <a:ext cx="1905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Ext.(aparat de zbor)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029200" y="5334000"/>
            <a:ext cx="914400" cy="457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 txBox="1">
            <a:spLocks/>
          </p:cNvSpPr>
          <p:nvPr/>
        </p:nvSpPr>
        <p:spPr>
          <a:xfrm>
            <a:off x="5791200" y="5638800"/>
            <a:ext cx="16764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elicopter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5069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Tipuri de definiții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ERONATE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3124200"/>
          </a:xfrm>
        </p:spPr>
        <p:txBody>
          <a:bodyPr>
            <a:normAutofit fontScale="85000" lnSpcReduction="10000"/>
          </a:bodyPr>
          <a:lstStyle/>
          <a:p>
            <a:r>
              <a:rPr lang="ro-RO" dirty="0" smtClean="0"/>
              <a:t>Definiții prea înguste</a:t>
            </a:r>
            <a:endParaRPr lang="ro-RO" dirty="0"/>
          </a:p>
          <a:p>
            <a:pPr>
              <a:buNone/>
            </a:pPr>
            <a:r>
              <a:rPr lang="ro-RO" dirty="0" smtClean="0">
                <a:solidFill>
                  <a:srgbClr val="FF0000"/>
                </a:solidFill>
              </a:rPr>
              <a:t>Definiendum-ul</a:t>
            </a:r>
            <a:r>
              <a:rPr lang="ro-RO" dirty="0" smtClean="0"/>
              <a:t> (termenul de definit) se aplică mai multor lucruri decât </a:t>
            </a:r>
            <a:r>
              <a:rPr lang="ro-RO" dirty="0" smtClean="0">
                <a:solidFill>
                  <a:srgbClr val="FF0000"/>
                </a:solidFill>
              </a:rPr>
              <a:t>definiens-ul</a:t>
            </a:r>
            <a:r>
              <a:rPr lang="ro-RO" dirty="0" smtClean="0"/>
              <a:t> (expresia prin care definim).</a:t>
            </a:r>
          </a:p>
          <a:p>
            <a:pPr>
              <a:buNone/>
            </a:pPr>
            <a:r>
              <a:rPr lang="ro-RO" dirty="0" smtClean="0"/>
              <a:t>Sau: extensiunea definiendum-ului include strict extensiunea definiens-ului.</a:t>
            </a:r>
          </a:p>
          <a:p>
            <a:pPr>
              <a:buNone/>
            </a:pPr>
            <a:r>
              <a:rPr lang="ro-RO" dirty="0" smtClean="0"/>
              <a:t>Exemplu: religie = sistem de credințe ce include venerarea unui creator al Universului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24600" y="3962400"/>
            <a:ext cx="2514600" cy="1676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Ext.(sistem</a:t>
            </a:r>
            <a:r>
              <a:rPr kumimoji="0" lang="ro-RO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 credințe ce include venerarea unui creator al Universului</a:t>
            </a:r>
            <a:r>
              <a:rPr kumimoji="0" lang="ro-RO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2590800" y="4495800"/>
            <a:ext cx="32004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200400" y="4953000"/>
            <a:ext cx="1752600" cy="990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6" idx="6"/>
          </p:cNvCxnSpPr>
          <p:nvPr/>
        </p:nvCxnSpPr>
        <p:spPr>
          <a:xfrm flipV="1">
            <a:off x="4953000" y="5029200"/>
            <a:ext cx="1295400" cy="4191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828800" y="5562600"/>
            <a:ext cx="762000" cy="228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762000" y="5867400"/>
            <a:ext cx="1905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Ext.(religie)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419600" y="5562600"/>
            <a:ext cx="1752600" cy="762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6096000" y="6096000"/>
            <a:ext cx="16764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2800" dirty="0">
                <a:latin typeface="+mj-lt"/>
                <a:ea typeface="+mj-ea"/>
                <a:cs typeface="+mj-cs"/>
              </a:rPr>
              <a:t>c</a:t>
            </a:r>
            <a:r>
              <a:rPr kumimoji="0" lang="ro-RO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reștinism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1828800" y="4876800"/>
            <a:ext cx="1143000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 txBox="1">
            <a:spLocks/>
          </p:cNvSpPr>
          <p:nvPr/>
        </p:nvSpPr>
        <p:spPr>
          <a:xfrm>
            <a:off x="457200" y="4343400"/>
            <a:ext cx="16764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2800" dirty="0" smtClean="0">
                <a:latin typeface="+mj-lt"/>
                <a:ea typeface="+mj-ea"/>
                <a:cs typeface="+mj-cs"/>
              </a:rPr>
              <a:t>daoism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26083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810000" y="3581400"/>
            <a:ext cx="2895600" cy="1905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 smtClean="0"/>
              <a:t>Tipuri de definiții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ERONATE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>
            <a:normAutofit fontScale="85000" lnSpcReduction="20000"/>
          </a:bodyPr>
          <a:lstStyle/>
          <a:p>
            <a:r>
              <a:rPr lang="ro-RO" dirty="0" smtClean="0"/>
              <a:t>Definiții prea largi și prea înguste</a:t>
            </a:r>
          </a:p>
          <a:p>
            <a:pPr>
              <a:buNone/>
            </a:pPr>
            <a:r>
              <a:rPr lang="ro-RO" dirty="0" smtClean="0"/>
              <a:t>Exemplu: curajos = persoană ce nu fuge din calea</a:t>
            </a:r>
            <a:r>
              <a:rPr lang="en-US" dirty="0" smtClean="0"/>
              <a:t> </a:t>
            </a:r>
            <a:r>
              <a:rPr lang="ro-RO" dirty="0" smtClean="0"/>
              <a:t>pericolului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905000" y="3657600"/>
            <a:ext cx="2590800" cy="1905000"/>
          </a:xfrm>
          <a:prstGeom prst="ellipse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1295400" y="4191000"/>
            <a:ext cx="608014" cy="4313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6400800" y="3505200"/>
            <a:ext cx="533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381000" y="3657600"/>
            <a:ext cx="16764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2800" dirty="0" smtClean="0">
                <a:latin typeface="+mj-lt"/>
                <a:ea typeface="+mj-ea"/>
                <a:cs typeface="+mj-cs"/>
              </a:rPr>
              <a:t>curajos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648200" y="2895600"/>
            <a:ext cx="4343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2800" dirty="0" smtClean="0">
                <a:latin typeface="+mj-lt"/>
                <a:ea typeface="+mj-ea"/>
                <a:cs typeface="+mj-cs"/>
              </a:rPr>
              <a:t>Persoană ce nu fuge din calea pericolului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73868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Tipuri de Definiții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 numCol="3">
            <a:normAutofit fontScale="92500" lnSpcReduction="10000"/>
          </a:bodyPr>
          <a:lstStyle/>
          <a:p>
            <a:r>
              <a:rPr lang="ro-RO" dirty="0" smtClean="0">
                <a:solidFill>
                  <a:srgbClr val="FF0000"/>
                </a:solidFill>
              </a:rPr>
              <a:t>Lexicale</a:t>
            </a:r>
          </a:p>
          <a:p>
            <a:pPr marL="0" indent="0">
              <a:buNone/>
            </a:pPr>
            <a:r>
              <a:rPr lang="ro-RO" dirty="0" smtClean="0"/>
              <a:t>Pătratul = df. Rombul cu unghiuri drepte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 smtClean="0"/>
          </a:p>
          <a:p>
            <a:endParaRPr lang="ro-RO" dirty="0" smtClean="0"/>
          </a:p>
          <a:p>
            <a:endParaRPr lang="ro-RO" dirty="0"/>
          </a:p>
          <a:p>
            <a:endParaRPr lang="ro-RO" dirty="0" smtClean="0"/>
          </a:p>
          <a:p>
            <a:r>
              <a:rPr lang="ro-RO" dirty="0" smtClean="0">
                <a:solidFill>
                  <a:srgbClr val="FF0000"/>
                </a:solidFill>
              </a:rPr>
              <a:t>Stipulative</a:t>
            </a:r>
          </a:p>
          <a:p>
            <a:pPr marL="0" indent="0">
              <a:buNone/>
            </a:pPr>
            <a:r>
              <a:rPr lang="ro-RO" dirty="0" smtClean="0"/>
              <a:t>OZN =df. Obiect zburător neidentificat</a:t>
            </a:r>
          </a:p>
          <a:p>
            <a:endParaRPr lang="ro-RO" dirty="0" smtClean="0"/>
          </a:p>
          <a:p>
            <a:endParaRPr lang="ro-RO" dirty="0"/>
          </a:p>
          <a:p>
            <a:endParaRPr lang="ro-RO" dirty="0" smtClean="0"/>
          </a:p>
          <a:p>
            <a:endParaRPr lang="ro-RO" dirty="0" smtClean="0"/>
          </a:p>
          <a:p>
            <a:endParaRPr lang="ro-RO" dirty="0"/>
          </a:p>
          <a:p>
            <a:r>
              <a:rPr lang="ro-RO" dirty="0" smtClean="0">
                <a:solidFill>
                  <a:srgbClr val="FF0000"/>
                </a:solidFill>
              </a:rPr>
              <a:t>De Precizare</a:t>
            </a:r>
          </a:p>
          <a:p>
            <a:pPr marL="0" indent="0">
              <a:buNone/>
            </a:pPr>
            <a:r>
              <a:rPr lang="ro-RO" dirty="0" smtClean="0"/>
              <a:t>Reducerea de 50% se acordă bătrânilor. </a:t>
            </a:r>
          </a:p>
          <a:p>
            <a:pPr marL="0" indent="0">
              <a:buNone/>
            </a:pPr>
            <a:r>
              <a:rPr lang="ro-RO" dirty="0" smtClean="0"/>
              <a:t>Prin bătrân se înțelege persoană cu vârsta de 65 de ani sau mai mult.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60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o-RO" dirty="0" smtClean="0"/>
              <a:t>Tipuri de definiții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o-RO" b="1" dirty="0" smtClean="0"/>
              <a:t>I. Definiții lexicale</a:t>
            </a:r>
          </a:p>
          <a:p>
            <a:pPr>
              <a:buFontTx/>
              <a:buChar char="-"/>
            </a:pPr>
            <a:r>
              <a:rPr lang="ro-RO" dirty="0" smtClean="0"/>
              <a:t>Descriu înțelesul unui termen.</a:t>
            </a:r>
          </a:p>
          <a:p>
            <a:pPr>
              <a:buNone/>
            </a:pPr>
            <a:r>
              <a:rPr lang="ro-RO" dirty="0" smtClean="0"/>
              <a:t>Exemplu:</a:t>
            </a:r>
          </a:p>
          <a:p>
            <a:pPr>
              <a:buNone/>
            </a:pPr>
            <a:r>
              <a:rPr lang="en-US" dirty="0" smtClean="0"/>
              <a:t>“</a:t>
            </a:r>
            <a:r>
              <a:rPr lang="ro-RO" dirty="0" smtClean="0"/>
              <a:t>Un număr prim este un număr natural mai mare decât 1 și care se divide doar cu 1 sau cu el însuși.</a:t>
            </a:r>
            <a:r>
              <a:rPr lang="en-US" dirty="0" smtClean="0"/>
              <a:t>”</a:t>
            </a:r>
            <a:endParaRPr lang="ro-RO" dirty="0" smtClean="0"/>
          </a:p>
          <a:p>
            <a:pPr>
              <a:buNone/>
            </a:pPr>
            <a:r>
              <a:rPr lang="en-US" dirty="0" smtClean="0"/>
              <a:t>“F.M.I. </a:t>
            </a:r>
            <a:r>
              <a:rPr lang="ro-RO" dirty="0" smtClean="0"/>
              <a:t>î</a:t>
            </a:r>
            <a:r>
              <a:rPr lang="en-US" dirty="0" err="1" smtClean="0"/>
              <a:t>nseamn</a:t>
            </a:r>
            <a:r>
              <a:rPr lang="ro-RO" dirty="0" smtClean="0"/>
              <a:t>ă </a:t>
            </a:r>
            <a:r>
              <a:rPr lang="en-US" dirty="0" smtClean="0"/>
              <a:t>‘</a:t>
            </a:r>
            <a:r>
              <a:rPr lang="ro-RO" dirty="0" smtClean="0"/>
              <a:t>Fondul Monetar Internațional</a:t>
            </a:r>
            <a:r>
              <a:rPr lang="en-US" dirty="0" smtClean="0"/>
              <a:t>’”</a:t>
            </a:r>
            <a:endParaRPr lang="ro-RO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Condi</a:t>
            </a:r>
            <a:r>
              <a:rPr lang="ro-RO" b="1" dirty="0" smtClean="0">
                <a:solidFill>
                  <a:srgbClr val="FF0000"/>
                </a:solidFill>
              </a:rPr>
              <a:t>ții de corectitudine </a:t>
            </a:r>
            <a:r>
              <a:rPr lang="ro-RO" dirty="0" smtClean="0"/>
              <a:t>pentru definițiile lexicale:</a:t>
            </a:r>
          </a:p>
          <a:p>
            <a:pPr marL="514350" indent="-514350">
              <a:buAutoNum type="arabicParenBoth"/>
            </a:pPr>
            <a:r>
              <a:rPr lang="ro-RO" dirty="0" smtClean="0"/>
              <a:t>Def. trebuie să nu fie prea largi.</a:t>
            </a:r>
          </a:p>
          <a:p>
            <a:pPr marL="514350" indent="-514350">
              <a:buAutoNum type="arabicParenBoth"/>
            </a:pPr>
            <a:r>
              <a:rPr lang="ro-RO" dirty="0" smtClean="0"/>
              <a:t>Def. trebuie să nu fie prea înguste.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430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o-RO" dirty="0" smtClean="0"/>
              <a:t>Tipuri de definiții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>
              <a:buNone/>
            </a:pPr>
            <a:r>
              <a:rPr lang="ro-RO" b="1" dirty="0" smtClean="0"/>
              <a:t>II. Definiții stipulative</a:t>
            </a:r>
          </a:p>
          <a:p>
            <a:pPr>
              <a:buFontTx/>
              <a:buChar char="-"/>
            </a:pPr>
            <a:r>
              <a:rPr lang="ro-RO" dirty="0" smtClean="0"/>
              <a:t>Definiții folosite pentru a introduce în uz noi înțelesuri ale unui termen.</a:t>
            </a:r>
          </a:p>
          <a:p>
            <a:pPr>
              <a:buFontTx/>
              <a:buChar char="-"/>
            </a:pPr>
            <a:r>
              <a:rPr lang="ro-RO" dirty="0" smtClean="0"/>
              <a:t>Des întâlnite în știință: 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en-US" dirty="0" smtClean="0"/>
              <a:t>“</a:t>
            </a:r>
            <a:r>
              <a:rPr lang="en-US" dirty="0" err="1" smtClean="0"/>
              <a:t>vom</a:t>
            </a:r>
            <a:r>
              <a:rPr lang="en-US" dirty="0" smtClean="0"/>
              <a:t> </a:t>
            </a:r>
            <a:r>
              <a:rPr lang="en-US" dirty="0" err="1" smtClean="0"/>
              <a:t>numi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Neptun</a:t>
            </a:r>
            <a:r>
              <a:rPr lang="en-US" dirty="0" smtClean="0"/>
              <a:t> </a:t>
            </a:r>
            <a:r>
              <a:rPr lang="en-US" dirty="0" err="1" smtClean="0"/>
              <a:t>acea</a:t>
            </a:r>
            <a:r>
              <a:rPr lang="en-US" dirty="0" smtClean="0"/>
              <a:t> planet</a:t>
            </a:r>
            <a:r>
              <a:rPr lang="ro-RO" dirty="0" smtClean="0"/>
              <a:t>ă a cărei existență explică </a:t>
            </a:r>
            <a:r>
              <a:rPr lang="en-US" dirty="0" smtClean="0"/>
              <a:t>perturb</a:t>
            </a:r>
            <a:r>
              <a:rPr lang="ro-RO" dirty="0" smtClean="0"/>
              <a:t>ările în orbita lui Uranus</a:t>
            </a:r>
            <a:r>
              <a:rPr lang="en-US" dirty="0" smtClean="0"/>
              <a:t>”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94397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o-RO" dirty="0" smtClean="0"/>
              <a:t>Tipuri de definiții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o-RO" b="1" dirty="0" smtClean="0"/>
              <a:t>III. Definiții utile pentru a face extensiunile anumitor termeni mai precise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(1) Ne </a:t>
            </a:r>
            <a:r>
              <a:rPr lang="en-US" dirty="0" err="1" smtClean="0"/>
              <a:t>ajut</a:t>
            </a:r>
            <a:r>
              <a:rPr lang="ro-RO" dirty="0" smtClean="0"/>
              <a:t>ă să fixăm temporar extensiunile termenilor vagi.</a:t>
            </a:r>
            <a:endParaRPr lang="en-US" dirty="0"/>
          </a:p>
          <a:p>
            <a:pPr>
              <a:buNone/>
            </a:pPr>
            <a:r>
              <a:rPr lang="en-US" dirty="0" smtClean="0"/>
              <a:t>“</a:t>
            </a:r>
            <a:r>
              <a:rPr lang="en-US" b="1" dirty="0" err="1" smtClean="0">
                <a:solidFill>
                  <a:srgbClr val="FF0000"/>
                </a:solidFill>
              </a:rPr>
              <a:t>Copiilor</a:t>
            </a:r>
            <a:r>
              <a:rPr lang="en-US" b="1" dirty="0" smtClean="0"/>
              <a:t> </a:t>
            </a:r>
            <a:r>
              <a:rPr lang="en-US" dirty="0" smtClean="0"/>
              <a:t>le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interzis</a:t>
            </a:r>
            <a:r>
              <a:rPr lang="en-US" dirty="0" smtClean="0"/>
              <a:t> </a:t>
            </a:r>
            <a:r>
              <a:rPr lang="en-US" dirty="0" err="1" smtClean="0"/>
              <a:t>accesul</a:t>
            </a:r>
            <a:r>
              <a:rPr lang="en-US" dirty="0" smtClean="0"/>
              <a:t> </a:t>
            </a:r>
            <a:r>
              <a:rPr lang="ro-RO" dirty="0" smtClean="0"/>
              <a:t>în acest parc.</a:t>
            </a:r>
            <a:r>
              <a:rPr lang="en-US" dirty="0" smtClean="0"/>
              <a:t>”</a:t>
            </a:r>
            <a:endParaRPr lang="ro-RO" dirty="0" smtClean="0"/>
          </a:p>
          <a:p>
            <a:pPr>
              <a:buNone/>
            </a:pPr>
            <a:r>
              <a:rPr lang="ro-RO" dirty="0" smtClean="0"/>
              <a:t>Prin </a:t>
            </a:r>
            <a:r>
              <a:rPr lang="ro-RO" i="1" dirty="0" smtClean="0"/>
              <a:t>copil</a:t>
            </a:r>
            <a:r>
              <a:rPr lang="ro-RO" dirty="0" smtClean="0"/>
              <a:t> se înțelege persoană până la 15 ani.</a:t>
            </a:r>
          </a:p>
          <a:p>
            <a:pPr>
              <a:buNone/>
            </a:pPr>
            <a:r>
              <a:rPr lang="ro-RO" dirty="0" smtClean="0"/>
              <a:t>(2) Ne ajută să fixăm temporar extensiunile termenilor ambigui.</a:t>
            </a:r>
          </a:p>
          <a:p>
            <a:pPr>
              <a:buNone/>
            </a:pPr>
            <a:r>
              <a:rPr lang="en-US" dirty="0" smtClean="0"/>
              <a:t>“</a:t>
            </a:r>
            <a:r>
              <a:rPr lang="en-US" dirty="0" err="1" smtClean="0"/>
              <a:t>Animalele</a:t>
            </a:r>
            <a:r>
              <a:rPr lang="en-US" dirty="0" smtClean="0"/>
              <a:t> nu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dotate</a:t>
            </a:r>
            <a:r>
              <a:rPr lang="en-US" dirty="0" smtClean="0"/>
              <a:t> cu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limbaj</a:t>
            </a:r>
            <a:r>
              <a:rPr lang="en-US" dirty="0" smtClean="0"/>
              <a:t>”</a:t>
            </a:r>
            <a:endParaRPr lang="ro-RO" dirty="0" smtClean="0"/>
          </a:p>
          <a:p>
            <a:pPr>
              <a:buNone/>
            </a:pPr>
            <a:r>
              <a:rPr lang="ro-RO" dirty="0" smtClean="0"/>
              <a:t>Prin </a:t>
            </a:r>
            <a:r>
              <a:rPr lang="ro-RO" i="1" dirty="0" smtClean="0"/>
              <a:t>limbaj</a:t>
            </a:r>
            <a:r>
              <a:rPr lang="ro-RO" dirty="0" smtClean="0"/>
              <a:t> se înțelege ...?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177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Cum definim corect?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838200"/>
            <a:ext cx="8153400" cy="5410200"/>
          </a:xfrm>
        </p:spPr>
      </p:pic>
    </p:spTree>
    <p:extLst>
      <p:ext uri="{BB962C8B-B14F-4D97-AF65-F5344CB8AC3E}">
        <p14:creationId xmlns:p14="http://schemas.microsoft.com/office/powerpoint/2010/main" val="1577283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o-RO" dirty="0" smtClean="0"/>
              <a:t>Criterii pentru a crea definiții bune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458200" cy="56388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arenBoth"/>
            </a:pPr>
            <a:r>
              <a:rPr lang="ro-RO" b="1" dirty="0" smtClean="0"/>
              <a:t>Raport de identitate (sa nu fie prea larga sau prea ingusta)</a:t>
            </a:r>
            <a:endParaRPr lang="ro-RO" dirty="0" smtClean="0"/>
          </a:p>
          <a:p>
            <a:pPr marL="514350" indent="-514350">
              <a:buNone/>
            </a:pPr>
            <a:r>
              <a:rPr lang="ro-RO" b="1" dirty="0" smtClean="0"/>
              <a:t>(2) Evitați definițiile circulare </a:t>
            </a:r>
            <a:r>
              <a:rPr lang="ro-RO" b="1" dirty="0" smtClean="0">
                <a:sym typeface="Wingdings" pitchFamily="2" charset="2"/>
              </a:rPr>
              <a:t></a:t>
            </a:r>
            <a:endParaRPr lang="ro-RO" b="1" dirty="0" smtClean="0"/>
          </a:p>
          <a:p>
            <a:pPr marL="514350" indent="-514350">
              <a:buNone/>
            </a:pPr>
            <a:r>
              <a:rPr lang="ro-RO" dirty="0" smtClean="0"/>
              <a:t>Exemplu: Timpul este o cantitate măsurată cu ajutorul ceasului.</a:t>
            </a:r>
          </a:p>
          <a:p>
            <a:pPr marL="514350" indent="-514350">
              <a:buNone/>
            </a:pPr>
            <a:r>
              <a:rPr lang="ro-RO" b="1" dirty="0" smtClean="0"/>
              <a:t>(3) Evitați exprimările metaforice!</a:t>
            </a:r>
          </a:p>
          <a:p>
            <a:pPr marL="514350" indent="-514350">
              <a:buNone/>
            </a:pPr>
            <a:r>
              <a:rPr lang="ro-RO" dirty="0" smtClean="0"/>
              <a:t>Exemplu: </a:t>
            </a:r>
            <a:r>
              <a:rPr lang="en-US" dirty="0" smtClean="0"/>
              <a:t>“</a:t>
            </a:r>
            <a:r>
              <a:rPr lang="en-US" dirty="0" err="1" smtClean="0"/>
              <a:t>analiza</a:t>
            </a:r>
            <a:r>
              <a:rPr lang="en-US" dirty="0" smtClean="0"/>
              <a:t> </a:t>
            </a:r>
            <a:r>
              <a:rPr lang="en-US" dirty="0" err="1" smtClean="0"/>
              <a:t>matematic</a:t>
            </a:r>
            <a:r>
              <a:rPr lang="ro-RO" dirty="0" smtClean="0"/>
              <a:t>ă este simfonia infinitului</a:t>
            </a:r>
            <a:r>
              <a:rPr lang="en-US" dirty="0" smtClean="0"/>
              <a:t>”</a:t>
            </a:r>
            <a:r>
              <a:rPr lang="ro-RO" dirty="0" smtClean="0"/>
              <a:t> (D. Hilbert, matematician).</a:t>
            </a:r>
          </a:p>
          <a:p>
            <a:pPr marL="514350" indent="-514350">
              <a:buNone/>
            </a:pPr>
            <a:r>
              <a:rPr lang="ro-RO" dirty="0" smtClean="0"/>
              <a:t>(4) </a:t>
            </a:r>
            <a:r>
              <a:rPr lang="ro-RO" b="1" dirty="0" smtClean="0"/>
              <a:t>Evitați definițiile persuasive </a:t>
            </a:r>
            <a:r>
              <a:rPr lang="ro-RO" dirty="0" smtClean="0"/>
              <a:t>= nu folosiți termeni care au conotații puternic pozitive sau negative.</a:t>
            </a:r>
          </a:p>
          <a:p>
            <a:pPr marL="514350" indent="-514350">
              <a:buNone/>
            </a:pPr>
            <a:r>
              <a:rPr lang="ro-RO" dirty="0" smtClean="0"/>
              <a:t>Exemplu: </a:t>
            </a:r>
            <a:r>
              <a:rPr lang="en-US" dirty="0" smtClean="0"/>
              <a:t>“</a:t>
            </a:r>
            <a:r>
              <a:rPr lang="en-US" dirty="0" err="1" smtClean="0"/>
              <a:t>democra</a:t>
            </a:r>
            <a:r>
              <a:rPr lang="ro-RO" dirty="0" smtClean="0"/>
              <a:t>ția este dictatura majorității</a:t>
            </a:r>
            <a:r>
              <a:rPr lang="en-US" dirty="0" smtClean="0"/>
              <a:t>/</a:t>
            </a:r>
            <a:r>
              <a:rPr lang="en-US" dirty="0" err="1" smtClean="0"/>
              <a:t>gloatei</a:t>
            </a:r>
            <a:r>
              <a:rPr lang="en-US" dirty="0" smtClean="0"/>
              <a:t> </a:t>
            </a:r>
            <a:r>
              <a:rPr lang="en-US" dirty="0" err="1" smtClean="0"/>
              <a:t>needucate</a:t>
            </a:r>
            <a:r>
              <a:rPr lang="en-US" dirty="0" smtClean="0"/>
              <a:t>”, “</a:t>
            </a:r>
            <a:r>
              <a:rPr lang="en-US" dirty="0" err="1" smtClean="0"/>
              <a:t>avortul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terminarea</a:t>
            </a:r>
            <a:r>
              <a:rPr lang="en-US" dirty="0" smtClean="0"/>
              <a:t> </a:t>
            </a:r>
            <a:r>
              <a:rPr lang="en-US" dirty="0" err="1" smtClean="0"/>
              <a:t>sarcinii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uciderea</a:t>
            </a:r>
            <a:r>
              <a:rPr lang="en-US" dirty="0" smtClean="0"/>
              <a:t> f</a:t>
            </a:r>
            <a:r>
              <a:rPr lang="ro-RO" dirty="0" smtClean="0"/>
              <a:t>ătului</a:t>
            </a:r>
            <a:r>
              <a:rPr lang="en-US" dirty="0" smtClean="0"/>
              <a:t>”</a:t>
            </a:r>
            <a:r>
              <a:rPr lang="ro-RO" dirty="0" smtClean="0"/>
              <a:t>.</a:t>
            </a:r>
          </a:p>
          <a:p>
            <a:pPr marL="514350" indent="-514350">
              <a:buNone/>
            </a:pPr>
            <a:r>
              <a:rPr lang="ro-RO" dirty="0" smtClean="0"/>
              <a:t>(5) Elemente esentiale ale termenului definit</a:t>
            </a:r>
            <a:endParaRPr lang="ro-RO" dirty="0" smtClean="0"/>
          </a:p>
          <a:p>
            <a:pPr marL="514350" indent="-514350">
              <a:buNone/>
            </a:pPr>
            <a:endParaRPr lang="ro-RO" dirty="0" smtClean="0"/>
          </a:p>
          <a:p>
            <a:pPr marL="514350" indent="-514350">
              <a:buAutoNum type="arabicParenBoth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535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marL="0" indent="0">
              <a:buNone/>
            </a:pPr>
            <a:r>
              <a:rPr lang="ro-RO" dirty="0" smtClean="0"/>
              <a:t>! Termenii pozitivi trebuie definiți fără apel la negație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 smtClean="0"/>
              <a:t>Omul=df. Animalul fără coadă și coarne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 smtClean="0"/>
              <a:t>! Termenii negativi trebuie definiți apelând la negație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 smtClean="0"/>
              <a:t>Orb=df. Ființă care nu vede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053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927"/>
            <a:ext cx="5410200" cy="34290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810000"/>
            <a:ext cx="47625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19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o-RO" dirty="0" smtClean="0"/>
              <a:t>Tehnici de definire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arenBoth"/>
            </a:pPr>
            <a:r>
              <a:rPr lang="ro-RO" dirty="0" smtClean="0"/>
              <a:t>Definirea prin sinonime</a:t>
            </a:r>
          </a:p>
          <a:p>
            <a:pPr marL="514350" indent="-514350">
              <a:buAutoNum type="arabicParenBoth"/>
            </a:pPr>
            <a:r>
              <a:rPr lang="ro-RO" dirty="0" smtClean="0"/>
              <a:t>Definirea prin ostensiune </a:t>
            </a:r>
          </a:p>
          <a:p>
            <a:pPr marL="514350" indent="-514350">
              <a:buAutoNum type="arabicParenBoth"/>
            </a:pPr>
            <a:r>
              <a:rPr lang="ro-RO" dirty="0" smtClean="0"/>
              <a:t>Definirea prin gen proxim și diferență specifică</a:t>
            </a:r>
          </a:p>
          <a:p>
            <a:pPr marL="514350" indent="-514350">
              <a:buNone/>
            </a:pPr>
            <a:endParaRPr lang="ro-RO" dirty="0"/>
          </a:p>
          <a:p>
            <a:pPr marL="514350" indent="-514350">
              <a:buAutoNum type="alphaLcParenBoth"/>
            </a:pPr>
            <a:r>
              <a:rPr lang="ro-RO" dirty="0" smtClean="0"/>
              <a:t>Identificăm cea mai largă categorie de obiecte căreia i se aplică termenul</a:t>
            </a:r>
          </a:p>
          <a:p>
            <a:pPr marL="514350" indent="-514350">
              <a:buAutoNum type="alphaLcParenBoth"/>
            </a:pPr>
            <a:r>
              <a:rPr lang="ro-RO" dirty="0" smtClean="0"/>
              <a:t>Eliminăm obiectele cărora nu li se aplică.</a:t>
            </a:r>
          </a:p>
          <a:p>
            <a:pPr marL="514350" indent="-514350">
              <a:buNone/>
            </a:pPr>
            <a:endParaRPr lang="ro-RO" dirty="0" smtClean="0"/>
          </a:p>
          <a:p>
            <a:pPr marL="514350" indent="-514350">
              <a:buNone/>
            </a:pPr>
            <a:r>
              <a:rPr lang="ro-RO" dirty="0" smtClean="0"/>
              <a:t>Exemple: 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	</a:t>
            </a:r>
            <a:r>
              <a:rPr lang="ro-RO" dirty="0" smtClean="0"/>
              <a:t>catâr = animal obținut ca urmare a încrucișării între un măgar și o iapă, 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	</a:t>
            </a:r>
            <a:r>
              <a:rPr lang="ro-RO" dirty="0" smtClean="0"/>
              <a:t>om</a:t>
            </a:r>
            <a:r>
              <a:rPr lang="en-US" dirty="0" smtClean="0"/>
              <a:t> </a:t>
            </a:r>
            <a:r>
              <a:rPr lang="ro-RO" dirty="0" smtClean="0"/>
              <a:t>=</a:t>
            </a:r>
            <a:r>
              <a:rPr lang="en-US" dirty="0" smtClean="0"/>
              <a:t> </a:t>
            </a:r>
            <a:r>
              <a:rPr lang="ro-RO" dirty="0" smtClean="0"/>
              <a:t>biped fără pene.</a:t>
            </a:r>
          </a:p>
          <a:p>
            <a:pPr marL="514350" indent="-514350">
              <a:buNone/>
            </a:pPr>
            <a:endParaRPr lang="ro-RO" dirty="0" smtClean="0"/>
          </a:p>
          <a:p>
            <a:pPr marL="514350" indent="-514350">
              <a:buNone/>
            </a:pPr>
            <a:endParaRPr lang="ro-RO" dirty="0"/>
          </a:p>
          <a:p>
            <a:pPr marL="514350" indent="-51435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87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o-RO" dirty="0" smtClean="0"/>
              <a:t>Construiți o definiție prin gen proxim și diferență specifică.</a:t>
            </a:r>
          </a:p>
          <a:p>
            <a:endParaRPr lang="ro-RO" dirty="0" smtClean="0"/>
          </a:p>
          <a:p>
            <a:endParaRPr lang="ro-RO" dirty="0" smtClean="0"/>
          </a:p>
          <a:p>
            <a:endParaRPr lang="ro-RO" dirty="0" smtClean="0"/>
          </a:p>
          <a:p>
            <a:endParaRPr lang="en-US" dirty="0" smtClean="0"/>
          </a:p>
          <a:p>
            <a:r>
              <a:rPr lang="ro-RO" dirty="0" smtClean="0"/>
              <a:t>Construiți o definiție pentru un termen la alegere care să încalce cel puțin 3 reguli ale definiței.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724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o-RO" sz="2800" dirty="0" smtClean="0"/>
              <a:t>Decideți dacă următoarele definiții sunt corecte </a:t>
            </a:r>
            <a:br>
              <a:rPr lang="ro-RO" sz="2800" dirty="0" smtClean="0"/>
            </a:br>
            <a:r>
              <a:rPr lang="ro-RO" sz="2800" dirty="0" smtClean="0"/>
              <a:t>Dacă sunt corecte determinați dacă sunt definiții prin sinonime, ostensiune sau gen proxim/diferență specifică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0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ro-RO" dirty="0" smtClean="0"/>
              <a:t>Speranța este substanța spre care tind lucrurile.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ro-RO" dirty="0" smtClean="0"/>
              <a:t>Iubirea este modul naturii de a păcăli oamenii să se reproducă.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ro-RO" dirty="0" smtClean="0"/>
              <a:t>Religia este un substantiv. Fiica Speranței și Fricii, care explică Ignoranței natura Necunoscutului.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ro-RO" dirty="0" smtClean="0"/>
              <a:t>Justiția este calitatea de a fi just.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ro-RO" dirty="0" smtClean="0"/>
              <a:t>Păsările sunt animale cu pene care pot zbura.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ro-RO" dirty="0" smtClean="0"/>
              <a:t>Omul este o trestie cugetătoare.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ro-RO" dirty="0" smtClean="0"/>
              <a:t>Sportul este activitatea sportivului.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ro-RO" dirty="0" smtClean="0"/>
              <a:t>Gustul este lucrul despre care nu se discută.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ro-RO" dirty="0" smtClean="0"/>
              <a:t>Asasinatul este omorul deliberat al ființei umane.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ro-RO" dirty="0" smtClean="0"/>
              <a:t>Hexagonul este o figură înscrisă în plan care are șase laturi egale și șase unghiuri egale.</a:t>
            </a:r>
          </a:p>
          <a:p>
            <a:pPr marL="514350" lvl="0" indent="-514350">
              <a:buFont typeface="+mj-lt"/>
              <a:buAutoNum type="arabicPeriod"/>
            </a:pPr>
            <a:r>
              <a:rPr lang="ro-RO" dirty="0" smtClean="0"/>
              <a:t>Poeții sunt cei precum Mihai Eminescu, Tudor Arghezi, Ion Barbu, etc.</a:t>
            </a:r>
          </a:p>
          <a:p>
            <a:pPr marL="514350" lvl="0" indent="-514350">
              <a:buFont typeface="+mj-lt"/>
              <a:buAutoNum type="arabicPeriod"/>
            </a:pPr>
            <a:r>
              <a:rPr lang="ro-RO" dirty="0" smtClean="0"/>
              <a:t>Acesta este un cerc </a:t>
            </a:r>
            <a:r>
              <a:rPr lang="ro-RO" dirty="0" smtClean="0">
                <a:latin typeface="Arial"/>
                <a:cs typeface="Arial"/>
              </a:rPr>
              <a:t>○.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100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Next time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707" y="20782"/>
            <a:ext cx="6509657" cy="46981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82"/>
            <a:ext cx="8229600" cy="66086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o-RO" dirty="0" smtClean="0"/>
              <a:t> </a:t>
            </a:r>
          </a:p>
          <a:p>
            <a:endParaRPr lang="ro-RO" dirty="0"/>
          </a:p>
          <a:p>
            <a:endParaRPr lang="ro-RO" dirty="0" smtClean="0"/>
          </a:p>
          <a:p>
            <a:endParaRPr lang="ro-RO" dirty="0" smtClean="0"/>
          </a:p>
          <a:p>
            <a:endParaRPr lang="ro-RO" dirty="0"/>
          </a:p>
          <a:p>
            <a:endParaRPr lang="ro-RO" dirty="0" smtClean="0"/>
          </a:p>
          <a:p>
            <a:endParaRPr lang="ro-RO" dirty="0"/>
          </a:p>
          <a:p>
            <a:endParaRPr lang="ro-RO" dirty="0" smtClean="0"/>
          </a:p>
          <a:p>
            <a:r>
              <a:rPr lang="ro-RO" dirty="0" smtClean="0"/>
              <a:t>To do:</a:t>
            </a:r>
          </a:p>
          <a:p>
            <a:r>
              <a:rPr lang="ro-RO" dirty="0" smtClean="0"/>
              <a:t>Cum stabiliți valoarea de adevăr </a:t>
            </a:r>
            <a:r>
              <a:rPr lang="ro-RO" smtClean="0"/>
              <a:t>a unui </a:t>
            </a:r>
            <a:r>
              <a:rPr lang="ro-RO" dirty="0" smtClean="0"/>
              <a:t>enunț? </a:t>
            </a:r>
          </a:p>
          <a:p>
            <a:pPr marL="0" indent="0">
              <a:buNone/>
            </a:pPr>
            <a:r>
              <a:rPr lang="ro-RO" dirty="0" smtClean="0"/>
              <a:t>(Exemplu: Afară plouă.; 2+2=4; Această propoziție e adevărată.)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26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9D590126743D4393C709EC945A6BF9" ma:contentTypeVersion="2" ma:contentTypeDescription="Create a new document." ma:contentTypeScope="" ma:versionID="3fd8f9ad48887dd15c2655f439383f05">
  <xsd:schema xmlns:xsd="http://www.w3.org/2001/XMLSchema" xmlns:xs="http://www.w3.org/2001/XMLSchema" xmlns:p="http://schemas.microsoft.com/office/2006/metadata/properties" xmlns:ns2="a1ecb7db-cf33-47bc-bb3d-9cea59386585" targetNamespace="http://schemas.microsoft.com/office/2006/metadata/properties" ma:root="true" ma:fieldsID="74146b37bfb8eb2e698a148e17100a0b" ns2:_="">
    <xsd:import namespace="a1ecb7db-cf33-47bc-bb3d-9cea593865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ecb7db-cf33-47bc-bb3d-9cea593865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AE8841-FFA9-48E5-B596-080BA02E76E8}"/>
</file>

<file path=customXml/itemProps2.xml><?xml version="1.0" encoding="utf-8"?>
<ds:datastoreItem xmlns:ds="http://schemas.openxmlformats.org/officeDocument/2006/customXml" ds:itemID="{F3BBB81A-1B22-4706-A65D-DFE726C0C209}"/>
</file>

<file path=customXml/itemProps3.xml><?xml version="1.0" encoding="utf-8"?>
<ds:datastoreItem xmlns:ds="http://schemas.openxmlformats.org/officeDocument/2006/customXml" ds:itemID="{011A54E7-7799-4DC3-A75F-2FB6D21C17BF}"/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1059</Words>
  <Application>Microsoft Office PowerPoint</Application>
  <PresentationFormat>On-screen Show (4:3)</PresentationFormat>
  <Paragraphs>175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Definiții</vt:lpstr>
      <vt:lpstr>Definiții</vt:lpstr>
      <vt:lpstr>PowerPoint Presentation</vt:lpstr>
      <vt:lpstr>Extensiune vs. Intensiune</vt:lpstr>
      <vt:lpstr>Raportul dintre extensiune și intensiune</vt:lpstr>
      <vt:lpstr>Legea variației inverse</vt:lpstr>
      <vt:lpstr>Cum definim?</vt:lpstr>
      <vt:lpstr>Definiții</vt:lpstr>
      <vt:lpstr>PowerPoint Presentation</vt:lpstr>
      <vt:lpstr>Ext.(avion)</vt:lpstr>
      <vt:lpstr>Tipuri de definiții ERONATE</vt:lpstr>
      <vt:lpstr>Tipuri de definiții ERONATE</vt:lpstr>
      <vt:lpstr>Tipuri de Definiții</vt:lpstr>
      <vt:lpstr>Tipuri de definiții</vt:lpstr>
      <vt:lpstr>Tipuri de definiții</vt:lpstr>
      <vt:lpstr>Tipuri de definiții</vt:lpstr>
      <vt:lpstr>Cum definim corect?</vt:lpstr>
      <vt:lpstr>Criterii pentru a crea definiții bune</vt:lpstr>
      <vt:lpstr>PowerPoint Presentation</vt:lpstr>
      <vt:lpstr>PowerPoint Presentation</vt:lpstr>
      <vt:lpstr>Tehnici de definire</vt:lpstr>
      <vt:lpstr>PowerPoint Presentation</vt:lpstr>
      <vt:lpstr>Decideți dacă următoarele definiții sunt corecte  Dacă sunt corecte determinați dacă sunt definiții prin sinonime, ostensiune sau gen proxim/diferență specifică</vt:lpstr>
      <vt:lpstr>Next time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Definiții</dc:title>
  <dc:creator>ADMINX</dc:creator>
  <cp:lastModifiedBy>ADMINX</cp:lastModifiedBy>
  <cp:revision>9</cp:revision>
  <dcterms:created xsi:type="dcterms:W3CDTF">2020-10-12T17:24:51Z</dcterms:created>
  <dcterms:modified xsi:type="dcterms:W3CDTF">2020-10-13T08:07:14Z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0x010100239D590126743D4393C709EC945A6BF9</vt:lpwstr>
  </property>
</Properties>
</file>