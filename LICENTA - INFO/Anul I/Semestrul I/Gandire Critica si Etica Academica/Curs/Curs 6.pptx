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5.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4.xml" ContentType="application/vnd.openxmlformats-officedocument.presentationml.slide+xml"/>
  <Override PartName="/ppt/slides/slide38.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9" r:id="rId7"/>
    <p:sldId id="275" r:id="rId8"/>
    <p:sldId id="276" r:id="rId9"/>
    <p:sldId id="261" r:id="rId10"/>
    <p:sldId id="262" r:id="rId11"/>
    <p:sldId id="277" r:id="rId12"/>
    <p:sldId id="263" r:id="rId13"/>
    <p:sldId id="264" r:id="rId14"/>
    <p:sldId id="265" r:id="rId15"/>
    <p:sldId id="266" r:id="rId16"/>
    <p:sldId id="267" r:id="rId17"/>
    <p:sldId id="268" r:id="rId18"/>
    <p:sldId id="269" r:id="rId19"/>
    <p:sldId id="270" r:id="rId20"/>
    <p:sldId id="271" r:id="rId21"/>
    <p:sldId id="272" r:id="rId22"/>
    <p:sldId id="278" r:id="rId23"/>
    <p:sldId id="273" r:id="rId24"/>
    <p:sldId id="281" r:id="rId25"/>
    <p:sldId id="282" r:id="rId26"/>
    <p:sldId id="283" r:id="rId27"/>
    <p:sldId id="284" r:id="rId28"/>
    <p:sldId id="286" r:id="rId29"/>
    <p:sldId id="290" r:id="rId30"/>
    <p:sldId id="291" r:id="rId31"/>
    <p:sldId id="292" r:id="rId32"/>
    <p:sldId id="296" r:id="rId33"/>
    <p:sldId id="293" r:id="rId34"/>
    <p:sldId id="294" r:id="rId35"/>
    <p:sldId id="295" r:id="rId36"/>
    <p:sldId id="297" r:id="rId37"/>
    <p:sldId id="298" r:id="rId38"/>
    <p:sldId id="299"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D754BA-34B5-4187-8A1F-B85F79523CBE}" type="datetimeFigureOut">
              <a:rPr lang="en-US" smtClean="0"/>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880640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D754BA-34B5-4187-8A1F-B85F79523CBE}" type="datetimeFigureOut">
              <a:rPr lang="en-US" smtClean="0"/>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942504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D754BA-34B5-4187-8A1F-B85F79523CBE}" type="datetimeFigureOut">
              <a:rPr lang="en-US" smtClean="0"/>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525344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D754BA-34B5-4187-8A1F-B85F79523CBE}" type="datetimeFigureOut">
              <a:rPr lang="en-US" smtClean="0"/>
              <a:t>11/24/2020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3485530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D754BA-34B5-4187-8A1F-B85F79523CBE}" type="datetimeFigureOut">
              <a:rPr lang="en-US" smtClean="0"/>
              <a:t>11/24/2020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93516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D754BA-34B5-4187-8A1F-B85F79523CBE}" type="datetimeFigureOut">
              <a:rPr lang="en-US" smtClean="0"/>
              <a:t>11/24/2020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3387682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D754BA-34B5-4187-8A1F-B85F79523CBE}" type="datetimeFigureOut">
              <a:rPr lang="en-US" smtClean="0"/>
              <a:t>11/24/2020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3180443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D754BA-34B5-4187-8A1F-B85F79523CBE}" type="datetimeFigureOut">
              <a:rPr lang="en-US" smtClean="0"/>
              <a:t>11/24/2020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1406298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D754BA-34B5-4187-8A1F-B85F79523CBE}" type="datetimeFigureOut">
              <a:rPr lang="en-US" smtClean="0"/>
              <a:t>11/24/2020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292882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D754BA-34B5-4187-8A1F-B85F79523CBE}" type="datetimeFigureOut">
              <a:rPr lang="en-US" smtClean="0"/>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1253517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D754BA-34B5-4187-8A1F-B85F79523CBE}" type="datetimeFigureOut">
              <a:rPr lang="en-US" smtClean="0"/>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B9451-8AE3-48DB-B72C-30511BF919BE}" type="slidenum">
              <a:rPr lang="en-US" smtClean="0"/>
              <a:t>‹#›</a:t>
            </a:fld>
            <a:endParaRPr lang="en-US"/>
          </a:p>
        </p:txBody>
      </p:sp>
    </p:spTree>
    <p:extLst>
      <p:ext uri="{BB962C8B-B14F-4D97-AF65-F5344CB8AC3E}">
        <p14:creationId xmlns:p14="http://schemas.microsoft.com/office/powerpoint/2010/main" val="3380797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D754BA-34B5-4187-8A1F-B85F79523CBE}" type="datetimeFigureOut">
              <a:rPr lang="en-US" smtClean="0"/>
              <a:t>11/24/2020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B9451-8AE3-48DB-B72C-30511BF919BE}" type="slidenum">
              <a:rPr lang="en-US" smtClean="0"/>
              <a:t>‹#›</a:t>
            </a:fld>
            <a:endParaRPr lang="en-US"/>
          </a:p>
        </p:txBody>
      </p:sp>
    </p:spTree>
    <p:extLst>
      <p:ext uri="{BB962C8B-B14F-4D97-AF65-F5344CB8AC3E}">
        <p14:creationId xmlns:p14="http://schemas.microsoft.com/office/powerpoint/2010/main" val="378592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Local%20Settings/Temp/Temporary%20Directory%201%20for%20Sesiune%20Sibiu%20AID.zip/1%20start.ppsx"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chicagomanualofstyle.org/tools_citationguide.htm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owlcation.com/academia/100-Debate-Topics" TargetMode="External"/><Relationship Id="rId2" Type="http://schemas.openxmlformats.org/officeDocument/2006/relationships/hyperlink" Target="https://blog.prepscholar.com/good-debate-topics" TargetMode="External"/><Relationship Id="rId1" Type="http://schemas.openxmlformats.org/officeDocument/2006/relationships/slideLayout" Target="../slideLayouts/slideLayout2.xml"/><Relationship Id="rId4" Type="http://schemas.openxmlformats.org/officeDocument/2006/relationships/hyperlink" Target="https://www.5staressays.com/blog/speech-and-debate/debate-topic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mailto:paulapompilia@yahoo.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Plagiatul</a:t>
            </a:r>
            <a:endParaRPr lang="en-US" dirty="0"/>
          </a:p>
        </p:txBody>
      </p:sp>
      <p:sp>
        <p:nvSpPr>
          <p:cNvPr id="3" name="Subtitle 2"/>
          <p:cNvSpPr>
            <a:spLocks noGrp="1"/>
          </p:cNvSpPr>
          <p:nvPr>
            <p:ph type="subTitle" idx="1"/>
          </p:nvPr>
        </p:nvSpPr>
        <p:spPr/>
        <p:txBody>
          <a:bodyPr/>
          <a:lstStyle/>
          <a:p>
            <a:r>
              <a:rPr lang="en-US" dirty="0" smtClean="0"/>
              <a:t>Curs 6</a:t>
            </a:r>
            <a:endParaRPr lang="en-US" dirty="0"/>
          </a:p>
        </p:txBody>
      </p:sp>
    </p:spTree>
    <p:extLst>
      <p:ext uri="{BB962C8B-B14F-4D97-AF65-F5344CB8AC3E}">
        <p14:creationId xmlns:p14="http://schemas.microsoft.com/office/powerpoint/2010/main" val="254001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Plagiatul</a:t>
            </a:r>
            <a:endParaRPr lang="en-US" dirty="0"/>
          </a:p>
        </p:txBody>
      </p:sp>
      <p:sp>
        <p:nvSpPr>
          <p:cNvPr id="3" name="Content Placeholder 2"/>
          <p:cNvSpPr>
            <a:spLocks noGrp="1"/>
          </p:cNvSpPr>
          <p:nvPr>
            <p:ph idx="1"/>
          </p:nvPr>
        </p:nvSpPr>
        <p:spPr/>
        <p:txBody>
          <a:bodyPr>
            <a:normAutofit fontScale="85000" lnSpcReduction="20000"/>
          </a:bodyPr>
          <a:lstStyle/>
          <a:p>
            <a:r>
              <a:rPr lang="vi-VN" dirty="0" smtClean="0"/>
              <a:t>Legea nr. 206/2004 privind buna conduită în cercetarea științifică, dezvoltarea tehnologică și inovare, art. 4, alin. (1), lit. d) : </a:t>
            </a:r>
          </a:p>
          <a:p>
            <a:endParaRPr lang="vi-VN" dirty="0" smtClean="0"/>
          </a:p>
          <a:p>
            <a:endParaRPr lang="vi-VN" dirty="0" smtClean="0"/>
          </a:p>
          <a:p>
            <a:pPr algn="just"/>
            <a:r>
              <a:rPr lang="vi-VN" dirty="0" smtClean="0"/>
              <a:t>“Plagiatul - expunerea într-o operă scrisă sau o comunicare orală, inclusiv în format electronic, a unor texte, expresii, idei, demonstrații, date, ipoteze, teorii, rezultate ori metode științifice extrase din opere scrise, inclusiv în format electronic, ale altor autori, fără a menționa acest lucru și fără a face trimitere la sursele originale”</a:t>
            </a:r>
          </a:p>
          <a:p>
            <a:endParaRPr lang="en-US" dirty="0"/>
          </a:p>
        </p:txBody>
      </p:sp>
    </p:spTree>
    <p:extLst>
      <p:ext uri="{BB962C8B-B14F-4D97-AF65-F5344CB8AC3E}">
        <p14:creationId xmlns:p14="http://schemas.microsoft.com/office/powerpoint/2010/main" val="1986211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fontScale="92500" lnSpcReduction="10000"/>
          </a:bodyPr>
          <a:lstStyle/>
          <a:p>
            <a:r>
              <a:rPr lang="vi-VN" dirty="0" smtClean="0"/>
              <a:t>Consiliului Național de Etică a Cercetării Științifice, Dezvoltării Tehnologice și Inovării (CNECSDTI) </a:t>
            </a:r>
          </a:p>
          <a:p>
            <a:endParaRPr lang="vi-VN" dirty="0" smtClean="0"/>
          </a:p>
          <a:p>
            <a:endParaRPr lang="vi-VN" dirty="0" smtClean="0"/>
          </a:p>
          <a:p>
            <a:r>
              <a:rPr lang="vi-VN" dirty="0" smtClean="0"/>
              <a:t>     </a:t>
            </a:r>
            <a:r>
              <a:rPr lang="ro-RO" dirty="0" smtClean="0"/>
              <a:t>„</a:t>
            </a:r>
            <a:r>
              <a:rPr lang="vi-VN" dirty="0" smtClean="0"/>
              <a:t>Plagierea este preluarea de către un autor a unor elemente din opera de creație intelectuală a altui autor și prezentarea lor în spațiul public drept componente ale unei opere proprii. Plagiatul este rezultatul acțiunii de a plagia și se referă la opera generată prin preluarea ilegitimă, intenționată sau nu, din punct de vedere deontologic”</a:t>
            </a:r>
            <a:endParaRPr lang="vi-VN" dirty="0"/>
          </a:p>
        </p:txBody>
      </p:sp>
    </p:spTree>
    <p:extLst>
      <p:ext uri="{BB962C8B-B14F-4D97-AF65-F5344CB8AC3E}">
        <p14:creationId xmlns:p14="http://schemas.microsoft.com/office/powerpoint/2010/main" val="1724110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Bogdan\Proiecte strategice pentru invatamantul superior\PowerPoint\ROMANA\2 capac management.jpg"/>
          <p:cNvPicPr>
            <a:picLocks noGrp="1" noChangeAspect="1" noChangeArrowheads="1"/>
          </p:cNvPicPr>
          <p:nvPr>
            <p:ph type="title"/>
          </p:nvPr>
        </p:nvPicPr>
        <p:blipFill>
          <a:blip r:embed="rId2">
            <a:extLst>
              <a:ext uri="{28A0092B-C50C-407E-A947-70E740481C1C}">
                <a14:useLocalDpi xmlns:a14="http://schemas.microsoft.com/office/drawing/2010/main" val="0"/>
              </a:ext>
            </a:extLst>
          </a:blip>
          <a:srcRect/>
          <a:stretch>
            <a:fillRect/>
          </a:stretch>
        </p:blipFill>
        <p:spPr>
          <a:xfrm>
            <a:off x="0" y="228600"/>
            <a:ext cx="9144000" cy="6629400"/>
          </a:xfrm>
        </p:spPr>
      </p:pic>
      <p:sp>
        <p:nvSpPr>
          <p:cNvPr id="3075" name="Rectangle 6"/>
          <p:cNvSpPr>
            <a:spLocks noChangeArrowheads="1"/>
          </p:cNvSpPr>
          <p:nvPr/>
        </p:nvSpPr>
        <p:spPr bwMode="auto">
          <a:xfrm>
            <a:off x="228600" y="728663"/>
            <a:ext cx="8839200" cy="594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defRPr/>
            </a:pPr>
            <a:r>
              <a:rPr lang="ro-RO" altLang="en-US" sz="2400" b="1" dirty="0" smtClean="0">
                <a:solidFill>
                  <a:schemeClr val="bg1"/>
                </a:solidFill>
                <a:latin typeface="Arial" panose="020B0604020202020204" pitchFamily="34" charset="0"/>
              </a:rPr>
              <a:t>Codul de etică al Universității București</a:t>
            </a:r>
          </a:p>
          <a:p>
            <a:pPr eaLnBrk="1" hangingPunct="1">
              <a:spcBef>
                <a:spcPct val="0"/>
              </a:spcBef>
              <a:buFontTx/>
              <a:buNone/>
              <a:defRPr/>
            </a:pPr>
            <a:endParaRPr lang="ro-RO" altLang="en-US" sz="2400" b="1" dirty="0" smtClean="0">
              <a:solidFill>
                <a:schemeClr val="bg1"/>
              </a:solidFill>
              <a:latin typeface="Arial" panose="020B0604020202020204" pitchFamily="34" charset="0"/>
            </a:endParaRPr>
          </a:p>
          <a:p>
            <a:pPr eaLnBrk="1" hangingPunct="1">
              <a:spcBef>
                <a:spcPct val="0"/>
              </a:spcBef>
              <a:buFontTx/>
              <a:buNone/>
              <a:defRPr/>
            </a:pPr>
            <a:r>
              <a:rPr lang="ro-RO" altLang="en-US" sz="2400" b="1" dirty="0" smtClean="0">
                <a:solidFill>
                  <a:schemeClr val="bg1"/>
                </a:solidFill>
                <a:latin typeface="Arial" panose="020B0604020202020204" pitchFamily="34" charset="0"/>
              </a:rPr>
              <a:t>Codul de etică – Universitatea București:</a:t>
            </a:r>
            <a:endParaRPr lang="ro-RO" altLang="en-US" sz="2400" b="1" dirty="0">
              <a:solidFill>
                <a:schemeClr val="bg1"/>
              </a:solidFill>
              <a:latin typeface="Arial" panose="020B0604020202020204" pitchFamily="34" charset="0"/>
            </a:endParaRPr>
          </a:p>
          <a:p>
            <a:pPr indent="0" algn="just">
              <a:buFont typeface="Arial" panose="020B0604020202020204" pitchFamily="34" charset="0"/>
              <a:buNone/>
              <a:defRPr/>
            </a:pPr>
            <a:r>
              <a:rPr lang="en-US" sz="2400" dirty="0" smtClean="0">
                <a:solidFill>
                  <a:schemeClr val="bg1"/>
                </a:solidFill>
              </a:rPr>
              <a:t>“</a:t>
            </a:r>
            <a:r>
              <a:rPr lang="en-US" sz="2400" dirty="0" err="1" smtClean="0">
                <a:solidFill>
                  <a:schemeClr val="bg1"/>
                </a:solidFill>
              </a:rPr>
              <a:t>cursanții</a:t>
            </a:r>
            <a:r>
              <a:rPr lang="en-US" sz="2400" dirty="0" smtClean="0">
                <a:solidFill>
                  <a:schemeClr val="bg1"/>
                </a:solidFill>
              </a:rPr>
              <a:t> </a:t>
            </a:r>
            <a:r>
              <a:rPr lang="en-US" sz="2400" dirty="0">
                <a:solidFill>
                  <a:schemeClr val="bg1"/>
                </a:solidFill>
              </a:rPr>
              <a:t>au </a:t>
            </a:r>
            <a:r>
              <a:rPr lang="en-US" sz="2400" dirty="0" err="1">
                <a:solidFill>
                  <a:schemeClr val="bg1"/>
                </a:solidFill>
              </a:rPr>
              <a:t>obligația</a:t>
            </a:r>
            <a:r>
              <a:rPr lang="en-US" sz="2400" dirty="0">
                <a:solidFill>
                  <a:schemeClr val="bg1"/>
                </a:solidFill>
              </a:rPr>
              <a:t> de a </a:t>
            </a:r>
            <a:r>
              <a:rPr lang="en-US" sz="2400" dirty="0" err="1">
                <a:solidFill>
                  <a:schemeClr val="bg1"/>
                </a:solidFill>
              </a:rPr>
              <a:t>preciza</a:t>
            </a:r>
            <a:r>
              <a:rPr lang="en-US" sz="2400" dirty="0">
                <a:solidFill>
                  <a:schemeClr val="bg1"/>
                </a:solidFill>
              </a:rPr>
              <a:t> </a:t>
            </a:r>
            <a:r>
              <a:rPr lang="en-US" sz="2400" dirty="0" err="1">
                <a:solidFill>
                  <a:schemeClr val="bg1"/>
                </a:solidFill>
              </a:rPr>
              <a:t>în</a:t>
            </a:r>
            <a:r>
              <a:rPr lang="en-US" sz="2400" dirty="0">
                <a:solidFill>
                  <a:schemeClr val="bg1"/>
                </a:solidFill>
              </a:rPr>
              <a:t> mod explicit </a:t>
            </a:r>
            <a:r>
              <a:rPr lang="en-US" sz="2400" dirty="0" err="1">
                <a:solidFill>
                  <a:schemeClr val="bg1"/>
                </a:solidFill>
              </a:rPr>
              <a:t>paternitatea</a:t>
            </a:r>
            <a:r>
              <a:rPr lang="en-US" sz="2400" dirty="0">
                <a:solidFill>
                  <a:schemeClr val="bg1"/>
                </a:solidFill>
              </a:rPr>
              <a:t> </a:t>
            </a:r>
            <a:r>
              <a:rPr lang="en-US" sz="2400" dirty="0" err="1">
                <a:solidFill>
                  <a:schemeClr val="bg1"/>
                </a:solidFill>
              </a:rPr>
              <a:t>asupra</a:t>
            </a:r>
            <a:r>
              <a:rPr lang="en-US" sz="2400" dirty="0">
                <a:solidFill>
                  <a:schemeClr val="bg1"/>
                </a:solidFill>
              </a:rPr>
              <a:t> </a:t>
            </a:r>
            <a:r>
              <a:rPr lang="en-US" sz="2400" dirty="0" err="1">
                <a:solidFill>
                  <a:schemeClr val="bg1"/>
                </a:solidFill>
              </a:rPr>
              <a:t>unui</a:t>
            </a:r>
            <a:r>
              <a:rPr lang="en-US" sz="2400" dirty="0">
                <a:solidFill>
                  <a:schemeClr val="bg1"/>
                </a:solidFill>
              </a:rPr>
              <a:t> material </a:t>
            </a:r>
            <a:r>
              <a:rPr lang="en-US" sz="2400" dirty="0" err="1">
                <a:solidFill>
                  <a:schemeClr val="bg1"/>
                </a:solidFill>
              </a:rPr>
              <a:t>reprodus</a:t>
            </a:r>
            <a:r>
              <a:rPr lang="en-US" sz="2400" dirty="0">
                <a:solidFill>
                  <a:schemeClr val="bg1"/>
                </a:solidFill>
              </a:rPr>
              <a:t> (</a:t>
            </a:r>
            <a:r>
              <a:rPr lang="en-US" sz="2400" dirty="0" err="1">
                <a:solidFill>
                  <a:schemeClr val="bg1"/>
                </a:solidFill>
              </a:rPr>
              <a:t>citarea</a:t>
            </a:r>
            <a:r>
              <a:rPr lang="en-US" sz="2400" dirty="0">
                <a:solidFill>
                  <a:schemeClr val="bg1"/>
                </a:solidFill>
              </a:rPr>
              <a:t> se face </a:t>
            </a:r>
            <a:r>
              <a:rPr lang="en-US" sz="2400" dirty="0" err="1">
                <a:solidFill>
                  <a:schemeClr val="bg1"/>
                </a:solidFill>
              </a:rPr>
              <a:t>prin</a:t>
            </a:r>
            <a:r>
              <a:rPr lang="en-US" sz="2400" dirty="0">
                <a:solidFill>
                  <a:schemeClr val="bg1"/>
                </a:solidFill>
              </a:rPr>
              <a:t> </a:t>
            </a:r>
            <a:r>
              <a:rPr lang="en-US" sz="2400" dirty="0" err="1">
                <a:solidFill>
                  <a:schemeClr val="bg1"/>
                </a:solidFill>
              </a:rPr>
              <a:t>referire</a:t>
            </a:r>
            <a:r>
              <a:rPr lang="en-US" sz="2400" dirty="0">
                <a:solidFill>
                  <a:schemeClr val="bg1"/>
                </a:solidFill>
              </a:rPr>
              <a:t> la </a:t>
            </a:r>
            <a:r>
              <a:rPr lang="en-US" sz="2400" dirty="0" err="1">
                <a:solidFill>
                  <a:schemeClr val="bg1"/>
                </a:solidFill>
              </a:rPr>
              <a:t>autorul</a:t>
            </a:r>
            <a:r>
              <a:rPr lang="en-US" sz="2400" dirty="0">
                <a:solidFill>
                  <a:schemeClr val="bg1"/>
                </a:solidFill>
              </a:rPr>
              <a:t> </a:t>
            </a:r>
            <a:r>
              <a:rPr lang="en-US" sz="2400" dirty="0" err="1">
                <a:solidFill>
                  <a:schemeClr val="bg1"/>
                </a:solidFill>
              </a:rPr>
              <a:t>operei</a:t>
            </a:r>
            <a:r>
              <a:rPr lang="en-US" sz="2400" dirty="0">
                <a:solidFill>
                  <a:schemeClr val="bg1"/>
                </a:solidFill>
              </a:rPr>
              <a:t> invocate </a:t>
            </a:r>
            <a:r>
              <a:rPr lang="en-US" sz="2400" dirty="0" err="1">
                <a:solidFill>
                  <a:schemeClr val="bg1"/>
                </a:solidFill>
              </a:rPr>
              <a:t>și</a:t>
            </a:r>
            <a:r>
              <a:rPr lang="en-US" sz="2400" dirty="0">
                <a:solidFill>
                  <a:schemeClr val="bg1"/>
                </a:solidFill>
              </a:rPr>
              <a:t> </a:t>
            </a:r>
            <a:r>
              <a:rPr lang="en-US" sz="2400" dirty="0" err="1">
                <a:solidFill>
                  <a:schemeClr val="bg1"/>
                </a:solidFill>
              </a:rPr>
              <a:t>utilizarea</a:t>
            </a:r>
            <a:r>
              <a:rPr lang="en-US" sz="2400" dirty="0">
                <a:solidFill>
                  <a:schemeClr val="bg1"/>
                </a:solidFill>
              </a:rPr>
              <a:t> </a:t>
            </a:r>
            <a:r>
              <a:rPr lang="en-US" sz="2400" dirty="0" err="1">
                <a:solidFill>
                  <a:schemeClr val="bg1"/>
                </a:solidFill>
              </a:rPr>
              <a:t>ghilimelelor</a:t>
            </a:r>
            <a:r>
              <a:rPr lang="en-US" sz="2400" dirty="0">
                <a:solidFill>
                  <a:schemeClr val="bg1"/>
                </a:solidFill>
              </a:rPr>
              <a:t>), </a:t>
            </a:r>
            <a:r>
              <a:rPr lang="en-US" sz="2400" dirty="0" err="1">
                <a:solidFill>
                  <a:schemeClr val="bg1"/>
                </a:solidFill>
              </a:rPr>
              <a:t>astfel</a:t>
            </a:r>
            <a:r>
              <a:rPr lang="en-US" sz="2400" dirty="0">
                <a:solidFill>
                  <a:schemeClr val="bg1"/>
                </a:solidFill>
              </a:rPr>
              <a:t> </a:t>
            </a:r>
            <a:r>
              <a:rPr lang="en-US" sz="2400" dirty="0" err="1">
                <a:solidFill>
                  <a:schemeClr val="bg1"/>
                </a:solidFill>
              </a:rPr>
              <a:t>încât</a:t>
            </a:r>
            <a:r>
              <a:rPr lang="en-US" sz="2400" dirty="0">
                <a:solidFill>
                  <a:schemeClr val="bg1"/>
                </a:solidFill>
              </a:rPr>
              <a:t> </a:t>
            </a:r>
            <a:r>
              <a:rPr lang="en-US" sz="2400" dirty="0" err="1">
                <a:solidFill>
                  <a:schemeClr val="bg1"/>
                </a:solidFill>
              </a:rPr>
              <a:t>preluările</a:t>
            </a:r>
            <a:r>
              <a:rPr lang="en-US" sz="2400" dirty="0">
                <a:solidFill>
                  <a:schemeClr val="bg1"/>
                </a:solidFill>
              </a:rPr>
              <a:t> </a:t>
            </a:r>
            <a:r>
              <a:rPr lang="en-US" sz="2400" dirty="0" err="1">
                <a:solidFill>
                  <a:schemeClr val="bg1"/>
                </a:solidFill>
              </a:rPr>
              <a:t>să</a:t>
            </a:r>
            <a:r>
              <a:rPr lang="en-US" sz="2400" dirty="0">
                <a:solidFill>
                  <a:schemeClr val="bg1"/>
                </a:solidFill>
              </a:rPr>
              <a:t> fie delimitate </a:t>
            </a:r>
            <a:r>
              <a:rPr lang="en-US" sz="2400" dirty="0" err="1">
                <a:solidFill>
                  <a:schemeClr val="bg1"/>
                </a:solidFill>
              </a:rPr>
              <a:t>în</a:t>
            </a:r>
            <a:r>
              <a:rPr lang="en-US" sz="2400" dirty="0">
                <a:solidFill>
                  <a:schemeClr val="bg1"/>
                </a:solidFill>
              </a:rPr>
              <a:t> mod </a:t>
            </a:r>
            <a:r>
              <a:rPr lang="en-US" sz="2400" dirty="0" err="1">
                <a:solidFill>
                  <a:schemeClr val="bg1"/>
                </a:solidFill>
              </a:rPr>
              <a:t>clar</a:t>
            </a:r>
            <a:r>
              <a:rPr lang="en-US" sz="2400" dirty="0">
                <a:solidFill>
                  <a:schemeClr val="bg1"/>
                </a:solidFill>
              </a:rPr>
              <a:t> de </a:t>
            </a:r>
            <a:r>
              <a:rPr lang="en-US" sz="2400" dirty="0" err="1">
                <a:solidFill>
                  <a:schemeClr val="bg1"/>
                </a:solidFill>
              </a:rPr>
              <a:t>propria</a:t>
            </a:r>
            <a:r>
              <a:rPr lang="en-US" sz="2400" dirty="0">
                <a:solidFill>
                  <a:schemeClr val="bg1"/>
                </a:solidFill>
              </a:rPr>
              <a:t> </a:t>
            </a:r>
            <a:r>
              <a:rPr lang="en-US" sz="2400" dirty="0" err="1">
                <a:solidFill>
                  <a:schemeClr val="bg1"/>
                </a:solidFill>
              </a:rPr>
              <a:t>contribuție</a:t>
            </a:r>
            <a:r>
              <a:rPr lang="en-US" sz="2400" dirty="0">
                <a:solidFill>
                  <a:schemeClr val="bg1"/>
                </a:solidFill>
              </a:rPr>
              <a:t> </a:t>
            </a:r>
            <a:r>
              <a:rPr lang="en-US" sz="2400" dirty="0" err="1">
                <a:solidFill>
                  <a:schemeClr val="bg1"/>
                </a:solidFill>
              </a:rPr>
              <a:t>originală</a:t>
            </a:r>
            <a:r>
              <a:rPr lang="en-US" sz="2400" dirty="0">
                <a:solidFill>
                  <a:schemeClr val="bg1"/>
                </a:solidFill>
              </a:rPr>
              <a:t>; </a:t>
            </a:r>
            <a:endParaRPr lang="en-US" sz="2400" dirty="0" smtClean="0">
              <a:solidFill>
                <a:schemeClr val="bg1"/>
              </a:solidFill>
            </a:endParaRPr>
          </a:p>
          <a:p>
            <a:pPr indent="0">
              <a:buFont typeface="Arial" panose="020B0604020202020204" pitchFamily="34" charset="0"/>
              <a:buNone/>
              <a:defRPr/>
            </a:pPr>
            <a:endParaRPr lang="en-US" sz="2400" dirty="0"/>
          </a:p>
          <a:p>
            <a:pPr indent="0" algn="just">
              <a:buFont typeface="Arial" panose="020B0604020202020204" pitchFamily="34" charset="0"/>
              <a:buNone/>
              <a:defRPr/>
            </a:pPr>
            <a:r>
              <a:rPr lang="en-US" sz="2400" dirty="0" smtClean="0">
                <a:solidFill>
                  <a:schemeClr val="bg1"/>
                </a:solidFill>
              </a:rPr>
              <a:t>“</a:t>
            </a:r>
            <a:r>
              <a:rPr lang="en-US" sz="2400" dirty="0" err="1" smtClean="0">
                <a:solidFill>
                  <a:schemeClr val="bg1"/>
                </a:solidFill>
              </a:rPr>
              <a:t>studenții</a:t>
            </a:r>
            <a:r>
              <a:rPr lang="en-US" sz="2400" dirty="0" smtClean="0">
                <a:solidFill>
                  <a:schemeClr val="bg1"/>
                </a:solidFill>
              </a:rPr>
              <a:t> </a:t>
            </a:r>
            <a:r>
              <a:rPr lang="en-US" sz="2400" dirty="0" err="1">
                <a:solidFill>
                  <a:schemeClr val="bg1"/>
                </a:solidFill>
              </a:rPr>
              <a:t>trebuie</a:t>
            </a:r>
            <a:r>
              <a:rPr lang="en-US" sz="2400" dirty="0">
                <a:solidFill>
                  <a:schemeClr val="bg1"/>
                </a:solidFill>
              </a:rPr>
              <a:t> </a:t>
            </a:r>
            <a:r>
              <a:rPr lang="en-US" sz="2400" dirty="0" err="1">
                <a:solidFill>
                  <a:schemeClr val="bg1"/>
                </a:solidFill>
              </a:rPr>
              <a:t>să</a:t>
            </a:r>
            <a:r>
              <a:rPr lang="en-US" sz="2400" dirty="0">
                <a:solidFill>
                  <a:schemeClr val="bg1"/>
                </a:solidFill>
              </a:rPr>
              <a:t> </a:t>
            </a:r>
            <a:r>
              <a:rPr lang="en-US" sz="2400" dirty="0" err="1">
                <a:solidFill>
                  <a:schemeClr val="bg1"/>
                </a:solidFill>
              </a:rPr>
              <a:t>știe</a:t>
            </a:r>
            <a:r>
              <a:rPr lang="en-US" sz="2400" dirty="0">
                <a:solidFill>
                  <a:schemeClr val="bg1"/>
                </a:solidFill>
              </a:rPr>
              <a:t> </a:t>
            </a:r>
            <a:r>
              <a:rPr lang="en-US" sz="2400" dirty="0" err="1">
                <a:solidFill>
                  <a:schemeClr val="bg1"/>
                </a:solidFill>
              </a:rPr>
              <a:t>că</a:t>
            </a:r>
            <a:r>
              <a:rPr lang="en-US" sz="2400" dirty="0">
                <a:solidFill>
                  <a:schemeClr val="bg1"/>
                </a:solidFill>
              </a:rPr>
              <a:t> </a:t>
            </a:r>
            <a:r>
              <a:rPr lang="en-US" sz="2400" dirty="0" err="1">
                <a:solidFill>
                  <a:schemeClr val="bg1"/>
                </a:solidFill>
              </a:rPr>
              <a:t>integritatea</a:t>
            </a:r>
            <a:r>
              <a:rPr lang="en-US" sz="2400" dirty="0">
                <a:solidFill>
                  <a:schemeClr val="bg1"/>
                </a:solidFill>
              </a:rPr>
              <a:t> </a:t>
            </a:r>
            <a:r>
              <a:rPr lang="en-US" sz="2400" dirty="0" err="1">
                <a:solidFill>
                  <a:schemeClr val="bg1"/>
                </a:solidFill>
              </a:rPr>
              <a:t>academică</a:t>
            </a:r>
            <a:r>
              <a:rPr lang="en-US" sz="2400" dirty="0">
                <a:solidFill>
                  <a:schemeClr val="bg1"/>
                </a:solidFill>
              </a:rPr>
              <a:t> </a:t>
            </a:r>
            <a:r>
              <a:rPr lang="en-US" sz="2400" dirty="0" err="1">
                <a:solidFill>
                  <a:schemeClr val="bg1"/>
                </a:solidFill>
              </a:rPr>
              <a:t>este</a:t>
            </a:r>
            <a:r>
              <a:rPr lang="en-US" sz="2400" dirty="0">
                <a:solidFill>
                  <a:schemeClr val="bg1"/>
                </a:solidFill>
              </a:rPr>
              <a:t> </a:t>
            </a:r>
            <a:r>
              <a:rPr lang="en-US" sz="2400" dirty="0" err="1">
                <a:solidFill>
                  <a:schemeClr val="bg1"/>
                </a:solidFill>
              </a:rPr>
              <a:t>lezată</a:t>
            </a:r>
            <a:r>
              <a:rPr lang="en-US" sz="2400" dirty="0">
                <a:solidFill>
                  <a:schemeClr val="bg1"/>
                </a:solidFill>
              </a:rPr>
              <a:t> </a:t>
            </a:r>
            <a:r>
              <a:rPr lang="en-US" sz="2400" dirty="0" err="1">
                <a:solidFill>
                  <a:schemeClr val="bg1"/>
                </a:solidFill>
              </a:rPr>
              <a:t>și</a:t>
            </a:r>
            <a:r>
              <a:rPr lang="en-US" sz="2400" dirty="0">
                <a:solidFill>
                  <a:schemeClr val="bg1"/>
                </a:solidFill>
              </a:rPr>
              <a:t> </a:t>
            </a:r>
            <a:r>
              <a:rPr lang="en-US" sz="2400" dirty="0" err="1">
                <a:solidFill>
                  <a:schemeClr val="bg1"/>
                </a:solidFill>
              </a:rPr>
              <a:t>atunci</a:t>
            </a:r>
            <a:r>
              <a:rPr lang="en-US" sz="2400" dirty="0">
                <a:solidFill>
                  <a:schemeClr val="bg1"/>
                </a:solidFill>
              </a:rPr>
              <a:t> </a:t>
            </a:r>
            <a:r>
              <a:rPr lang="en-US" sz="2400" dirty="0" err="1">
                <a:solidFill>
                  <a:schemeClr val="bg1"/>
                </a:solidFill>
              </a:rPr>
              <a:t>când</a:t>
            </a:r>
            <a:r>
              <a:rPr lang="en-US" sz="2400" dirty="0">
                <a:solidFill>
                  <a:schemeClr val="bg1"/>
                </a:solidFill>
              </a:rPr>
              <a:t> </a:t>
            </a:r>
            <a:r>
              <a:rPr lang="en-US" sz="2400" dirty="0" err="1">
                <a:solidFill>
                  <a:schemeClr val="bg1"/>
                </a:solidFill>
              </a:rPr>
              <a:t>reproduc</a:t>
            </a:r>
            <a:r>
              <a:rPr lang="en-US" sz="2400" dirty="0">
                <a:solidFill>
                  <a:schemeClr val="bg1"/>
                </a:solidFill>
              </a:rPr>
              <a:t> </a:t>
            </a:r>
            <a:r>
              <a:rPr lang="en-US" sz="2400" dirty="0" err="1">
                <a:solidFill>
                  <a:schemeClr val="bg1"/>
                </a:solidFill>
              </a:rPr>
              <a:t>și</a:t>
            </a:r>
            <a:r>
              <a:rPr lang="en-US" sz="2400" dirty="0">
                <a:solidFill>
                  <a:schemeClr val="bg1"/>
                </a:solidFill>
              </a:rPr>
              <a:t> </a:t>
            </a:r>
            <a:r>
              <a:rPr lang="en-US" sz="2400" dirty="0" err="1">
                <a:solidFill>
                  <a:schemeClr val="bg1"/>
                </a:solidFill>
              </a:rPr>
              <a:t>prezintă</a:t>
            </a:r>
            <a:r>
              <a:rPr lang="en-US" sz="2400" dirty="0">
                <a:solidFill>
                  <a:schemeClr val="bg1"/>
                </a:solidFill>
              </a:rPr>
              <a:t> ca </a:t>
            </a:r>
            <a:r>
              <a:rPr lang="en-US" sz="2400" dirty="0" err="1">
                <a:solidFill>
                  <a:schemeClr val="bg1"/>
                </a:solidFill>
              </a:rPr>
              <a:t>fiind</a:t>
            </a:r>
            <a:r>
              <a:rPr lang="en-US" sz="2400" dirty="0">
                <a:solidFill>
                  <a:schemeClr val="bg1"/>
                </a:solidFill>
              </a:rPr>
              <a:t> </a:t>
            </a:r>
            <a:r>
              <a:rPr lang="en-US" sz="2400" dirty="0" err="1">
                <a:solidFill>
                  <a:schemeClr val="bg1"/>
                </a:solidFill>
              </a:rPr>
              <a:t>creație</a:t>
            </a:r>
            <a:r>
              <a:rPr lang="en-US" sz="2400" dirty="0">
                <a:solidFill>
                  <a:schemeClr val="bg1"/>
                </a:solidFill>
              </a:rPr>
              <a:t> </a:t>
            </a:r>
            <a:r>
              <a:rPr lang="en-US" sz="2400" dirty="0" err="1">
                <a:solidFill>
                  <a:schemeClr val="bg1"/>
                </a:solidFill>
              </a:rPr>
              <a:t>proprie</a:t>
            </a:r>
            <a:r>
              <a:rPr lang="en-US" sz="2400" dirty="0">
                <a:solidFill>
                  <a:schemeClr val="bg1"/>
                </a:solidFill>
              </a:rPr>
              <a:t> </a:t>
            </a:r>
            <a:r>
              <a:rPr lang="en-US" sz="2400" dirty="0" err="1">
                <a:solidFill>
                  <a:schemeClr val="bg1"/>
                </a:solidFill>
              </a:rPr>
              <a:t>materiale</a:t>
            </a:r>
            <a:r>
              <a:rPr lang="en-US" sz="2400" dirty="0">
                <a:solidFill>
                  <a:schemeClr val="bg1"/>
                </a:solidFill>
              </a:rPr>
              <a:t> </a:t>
            </a:r>
            <a:r>
              <a:rPr lang="en-US" sz="2400" dirty="0" err="1">
                <a:solidFill>
                  <a:schemeClr val="bg1"/>
                </a:solidFill>
              </a:rPr>
              <a:t>pentru</a:t>
            </a:r>
            <a:r>
              <a:rPr lang="en-US" sz="2400" dirty="0">
                <a:solidFill>
                  <a:schemeClr val="bg1"/>
                </a:solidFill>
              </a:rPr>
              <a:t> care nu </a:t>
            </a:r>
            <a:r>
              <a:rPr lang="en-US" sz="2400" dirty="0" err="1">
                <a:solidFill>
                  <a:schemeClr val="bg1"/>
                </a:solidFill>
              </a:rPr>
              <a:t>există</a:t>
            </a:r>
            <a:r>
              <a:rPr lang="en-US" sz="2400" dirty="0">
                <a:solidFill>
                  <a:schemeClr val="bg1"/>
                </a:solidFill>
              </a:rPr>
              <a:t>, fie nu au </a:t>
            </a:r>
            <a:r>
              <a:rPr lang="en-US" sz="2400" dirty="0" err="1">
                <a:solidFill>
                  <a:schemeClr val="bg1"/>
                </a:solidFill>
              </a:rPr>
              <a:t>fost</a:t>
            </a:r>
            <a:r>
              <a:rPr lang="en-US" sz="2400" dirty="0">
                <a:solidFill>
                  <a:schemeClr val="bg1"/>
                </a:solidFill>
              </a:rPr>
              <a:t> </a:t>
            </a:r>
            <a:r>
              <a:rPr lang="en-US" sz="2400" dirty="0" err="1">
                <a:solidFill>
                  <a:schemeClr val="bg1"/>
                </a:solidFill>
              </a:rPr>
              <a:t>revendicate</a:t>
            </a:r>
            <a:r>
              <a:rPr lang="en-US" sz="2400" dirty="0">
                <a:solidFill>
                  <a:schemeClr val="bg1"/>
                </a:solidFill>
              </a:rPr>
              <a:t> </a:t>
            </a:r>
            <a:r>
              <a:rPr lang="en-US" sz="2400" dirty="0" err="1">
                <a:solidFill>
                  <a:schemeClr val="bg1"/>
                </a:solidFill>
              </a:rPr>
              <a:t>drepturi</a:t>
            </a:r>
            <a:r>
              <a:rPr lang="en-US" sz="2400" dirty="0">
                <a:solidFill>
                  <a:schemeClr val="bg1"/>
                </a:solidFill>
              </a:rPr>
              <a:t> de </a:t>
            </a:r>
            <a:r>
              <a:rPr lang="en-US" sz="2400" dirty="0" err="1">
                <a:solidFill>
                  <a:schemeClr val="bg1"/>
                </a:solidFill>
              </a:rPr>
              <a:t>autor</a:t>
            </a:r>
            <a:r>
              <a:rPr lang="en-US" sz="2400" dirty="0">
                <a:solidFill>
                  <a:schemeClr val="bg1"/>
                </a:solidFill>
              </a:rPr>
              <a:t> </a:t>
            </a:r>
            <a:r>
              <a:rPr lang="en-US" sz="2400" dirty="0" err="1">
                <a:solidFill>
                  <a:schemeClr val="bg1"/>
                </a:solidFill>
              </a:rPr>
              <a:t>sau</a:t>
            </a:r>
            <a:r>
              <a:rPr lang="en-US" sz="2400" dirty="0">
                <a:solidFill>
                  <a:schemeClr val="bg1"/>
                </a:solidFill>
              </a:rPr>
              <a:t> la care </a:t>
            </a:r>
            <a:r>
              <a:rPr lang="en-US" sz="2400" dirty="0" err="1">
                <a:solidFill>
                  <a:schemeClr val="bg1"/>
                </a:solidFill>
              </a:rPr>
              <a:t>autorii</a:t>
            </a:r>
            <a:r>
              <a:rPr lang="en-US" sz="2400" dirty="0">
                <a:solidFill>
                  <a:schemeClr val="bg1"/>
                </a:solidFill>
              </a:rPr>
              <a:t> au </a:t>
            </a:r>
            <a:r>
              <a:rPr lang="en-US" sz="2400" dirty="0" err="1">
                <a:solidFill>
                  <a:schemeClr val="bg1"/>
                </a:solidFill>
              </a:rPr>
              <a:t>renunțat</a:t>
            </a:r>
            <a:r>
              <a:rPr lang="en-US" sz="2400" dirty="0">
                <a:solidFill>
                  <a:schemeClr val="bg1"/>
                </a:solidFill>
              </a:rPr>
              <a:t> </a:t>
            </a:r>
            <a:r>
              <a:rPr lang="en-US" sz="2400" dirty="0" err="1">
                <a:solidFill>
                  <a:schemeClr val="bg1"/>
                </a:solidFill>
              </a:rPr>
              <a:t>în</a:t>
            </a:r>
            <a:r>
              <a:rPr lang="en-US" sz="2400" dirty="0">
                <a:solidFill>
                  <a:schemeClr val="bg1"/>
                </a:solidFill>
              </a:rPr>
              <a:t> mod </a:t>
            </a:r>
            <a:r>
              <a:rPr lang="en-US" sz="2400" dirty="0" err="1">
                <a:solidFill>
                  <a:schemeClr val="bg1"/>
                </a:solidFill>
              </a:rPr>
              <a:t>benevol</a:t>
            </a:r>
            <a:r>
              <a:rPr lang="en-US" sz="2400" dirty="0" smtClean="0">
                <a:solidFill>
                  <a:schemeClr val="bg1"/>
                </a:solidFill>
              </a:rPr>
              <a:t>.” </a:t>
            </a:r>
            <a:endParaRPr lang="en-US" sz="2400" dirty="0">
              <a:solidFill>
                <a:schemeClr val="bg1"/>
              </a:solidFill>
            </a:endParaRPr>
          </a:p>
          <a:p>
            <a:pPr eaLnBrk="1" hangingPunct="1">
              <a:spcBef>
                <a:spcPct val="0"/>
              </a:spcBef>
              <a:buFontTx/>
              <a:buNone/>
              <a:defRPr/>
            </a:pPr>
            <a:endParaRPr lang="it-IT" altLang="en-US" sz="1800" dirty="0">
              <a:latin typeface="Arial" panose="020B0604020202020204" pitchFamily="34" charset="0"/>
            </a:endParaRPr>
          </a:p>
          <a:p>
            <a:pPr eaLnBrk="1" hangingPunct="1">
              <a:spcBef>
                <a:spcPct val="0"/>
              </a:spcBef>
              <a:buFontTx/>
              <a:buNone/>
              <a:defRPr/>
            </a:pPr>
            <a:endParaRPr lang="it-IT" altLang="en-US" sz="2000" dirty="0">
              <a:solidFill>
                <a:schemeClr val="bg1"/>
              </a:solidFill>
            </a:endParaRPr>
          </a:p>
          <a:p>
            <a:pPr algn="ctr" eaLnBrk="1" hangingPunct="1">
              <a:spcBef>
                <a:spcPct val="0"/>
              </a:spcBef>
              <a:buFontTx/>
              <a:buChar char="•"/>
              <a:defRPr/>
            </a:pPr>
            <a:endParaRPr lang="it-IT" altLang="en-US" sz="2000" dirty="0">
              <a:solidFill>
                <a:schemeClr val="bg1"/>
              </a:solidFill>
            </a:endParaRPr>
          </a:p>
          <a:p>
            <a:pPr algn="ctr" eaLnBrk="1" hangingPunct="1">
              <a:spcBef>
                <a:spcPct val="0"/>
              </a:spcBef>
              <a:buFontTx/>
              <a:buNone/>
              <a:defRPr/>
            </a:pPr>
            <a:endParaRPr lang="it-IT" altLang="en-US" sz="2000" dirty="0">
              <a:solidFill>
                <a:schemeClr val="bg1"/>
              </a:solidFill>
            </a:endParaRPr>
          </a:p>
        </p:txBody>
      </p:sp>
    </p:spTree>
    <p:extLst>
      <p:ext uri="{BB962C8B-B14F-4D97-AF65-F5344CB8AC3E}">
        <p14:creationId xmlns:p14="http://schemas.microsoft.com/office/powerpoint/2010/main" val="1240162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70000" lnSpcReduction="20000"/>
          </a:bodyPr>
          <a:lstStyle/>
          <a:p>
            <a:r>
              <a:rPr lang="vi-VN" dirty="0" smtClean="0"/>
              <a:t>Nu sunt considerate încălcări ale dreptului de autor, din perspectiva Codului de Etică, următoarele situații în care o operă nu este citată: </a:t>
            </a:r>
          </a:p>
          <a:p>
            <a:endParaRPr lang="vi-VN" dirty="0" smtClean="0"/>
          </a:p>
          <a:p>
            <a:r>
              <a:rPr lang="vi-VN" dirty="0" smtClean="0"/>
              <a:t> citarea fără trimitere către sursă și fără folosirea ghilimelelor a unor contribuții a căror paternitate este cunoscută, intrată în sfera culturii generale sau a cunoașterii comune, și a căror utilizare nu poate genera confuzie și nu poate pune în discuție arogarea frauduloasă a unor merite; </a:t>
            </a:r>
          </a:p>
          <a:p>
            <a:endParaRPr lang="vi-VN" dirty="0" smtClean="0"/>
          </a:p>
          <a:p>
            <a:r>
              <a:rPr lang="vi-VN" dirty="0" smtClean="0"/>
              <a:t>dacă citatul, deși neatribuit corespunzător, este însoțit de formulări ca: „se afirmă adesea că...”, „s-a mai afirmat uneori și că...”, „unii autori au susținut că...”. </a:t>
            </a:r>
            <a:r>
              <a:rPr lang="vi-VN" u="sng" dirty="0" smtClean="0">
                <a:solidFill>
                  <a:srgbClr val="FF0000"/>
                </a:solidFill>
                <a:effectLst>
                  <a:outerShdw blurRad="38100" dist="38100" dir="2700000" algn="tl">
                    <a:srgbClr val="000000">
                      <a:alpha val="43137"/>
                    </a:srgbClr>
                  </a:outerShdw>
                </a:effectLst>
              </a:rPr>
              <a:t>Totuși folosirea în mod abuziv a citatelor neatribuite este o practică inacceptabilă și sancționabilă, fiind necesară analizarea fiecărei situații individuale, în funcție de context. </a:t>
            </a:r>
          </a:p>
          <a:p>
            <a:endParaRPr lang="en-US" dirty="0"/>
          </a:p>
        </p:txBody>
      </p:sp>
    </p:spTree>
    <p:extLst>
      <p:ext uri="{BB962C8B-B14F-4D97-AF65-F5344CB8AC3E}">
        <p14:creationId xmlns:p14="http://schemas.microsoft.com/office/powerpoint/2010/main" val="185523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Plagiat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93620721"/>
              </p:ext>
            </p:extLst>
          </p:nvPr>
        </p:nvGraphicFramePr>
        <p:xfrm>
          <a:off x="533400" y="1524000"/>
          <a:ext cx="8229600" cy="238252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a:r>
                        <a:rPr lang="ro-RO" dirty="0" smtClean="0"/>
                        <a:t>Caută informații + Menționează</a:t>
                      </a:r>
                      <a:r>
                        <a:rPr lang="ro-RO" baseline="0" dirty="0" smtClean="0"/>
                        <a:t> sursa</a:t>
                      </a:r>
                      <a:endParaRPr lang="en-US" dirty="0"/>
                    </a:p>
                  </a:txBody>
                  <a:tcPr/>
                </a:tc>
                <a:tc>
                  <a:txBody>
                    <a:bodyPr/>
                    <a:lstStyle/>
                    <a:p>
                      <a:pPr algn="ctr"/>
                      <a:r>
                        <a:rPr lang="ro-RO" dirty="0" smtClean="0"/>
                        <a:t>Nu e necesară menționarea sursei</a:t>
                      </a:r>
                      <a:endParaRPr lang="en-US" dirty="0"/>
                    </a:p>
                  </a:txBody>
                  <a:tcPr/>
                </a:tc>
              </a:tr>
              <a:tr h="370840">
                <a:tc>
                  <a:txBody>
                    <a:bodyPr/>
                    <a:lstStyle/>
                    <a:p>
                      <a:pPr algn="ctr"/>
                      <a:r>
                        <a:rPr lang="ro-RO" dirty="0" smtClean="0"/>
                        <a:t>Rezumate, parafraze,</a:t>
                      </a:r>
                      <a:r>
                        <a:rPr lang="ro-RO" baseline="0" dirty="0" smtClean="0"/>
                        <a:t> citate</a:t>
                      </a:r>
                    </a:p>
                    <a:p>
                      <a:pPr algn="ctr"/>
                      <a:r>
                        <a:rPr lang="ro-RO" baseline="0" dirty="0" smtClean="0"/>
                        <a:t>Utilizarea unor diagrame, ilustrații, figuri</a:t>
                      </a:r>
                    </a:p>
                    <a:p>
                      <a:pPr algn="ctr"/>
                      <a:r>
                        <a:rPr lang="ro-RO" baseline="0" dirty="0" smtClean="0"/>
                        <a:t>Fapte/domenii despre care nu știm foarte multe</a:t>
                      </a:r>
                    </a:p>
                    <a:p>
                      <a:pPr algn="ctr"/>
                      <a:r>
                        <a:rPr lang="ro-RO" baseline="0" dirty="0" smtClean="0"/>
                        <a:t>Opiniile altor persoane</a:t>
                      </a:r>
                    </a:p>
                    <a:p>
                      <a:pPr algn="ctr"/>
                      <a:r>
                        <a:rPr lang="ro-RO" baseline="0" dirty="0" smtClean="0"/>
                        <a:t>Rezultatele altor persoane</a:t>
                      </a:r>
                    </a:p>
                    <a:p>
                      <a:pPr algn="ctr"/>
                      <a:r>
                        <a:rPr lang="ro-RO" baseline="0" dirty="0" smtClean="0"/>
                        <a:t>Parafraze și citări din interviuri, conferințe</a:t>
                      </a:r>
                      <a:endParaRPr lang="en-US" dirty="0"/>
                    </a:p>
                  </a:txBody>
                  <a:tcPr/>
                </a:tc>
                <a:tc>
                  <a:txBody>
                    <a:bodyPr/>
                    <a:lstStyle/>
                    <a:p>
                      <a:pPr algn="ctr"/>
                      <a:r>
                        <a:rPr lang="ro-RO" dirty="0" smtClean="0"/>
                        <a:t>Cunoaștere</a:t>
                      </a:r>
                      <a:r>
                        <a:rPr lang="ro-RO" baseline="0" dirty="0" smtClean="0"/>
                        <a:t> comună</a:t>
                      </a:r>
                    </a:p>
                    <a:p>
                      <a:pPr algn="ctr"/>
                      <a:r>
                        <a:rPr lang="ro-RO" baseline="0" dirty="0" smtClean="0"/>
                        <a:t>Ideile tale</a:t>
                      </a:r>
                    </a:p>
                    <a:p>
                      <a:pPr algn="ctr"/>
                      <a:r>
                        <a:rPr lang="ro-RO" baseline="0" dirty="0" smtClean="0"/>
                        <a:t>Cercetarea ta (doar dacă NU e publicată)</a:t>
                      </a:r>
                      <a:endParaRPr lang="en-US" dirty="0"/>
                    </a:p>
                  </a:txBody>
                  <a:tcPr/>
                </a:tc>
              </a:tr>
            </a:tbl>
          </a:graphicData>
        </a:graphic>
      </p:graphicFrame>
    </p:spTree>
    <p:extLst>
      <p:ext uri="{BB962C8B-B14F-4D97-AF65-F5344CB8AC3E}">
        <p14:creationId xmlns:p14="http://schemas.microsoft.com/office/powerpoint/2010/main" val="597936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324600"/>
          </a:xfrm>
        </p:spPr>
        <p:txBody>
          <a:bodyPr>
            <a:normAutofit fontScale="55000" lnSpcReduction="20000"/>
          </a:bodyPr>
          <a:lstStyle/>
          <a:p>
            <a:pPr marL="0" indent="0" algn="just">
              <a:buNone/>
            </a:pPr>
            <a:r>
              <a:rPr lang="vi-VN" dirty="0"/>
              <a:t>Supraviețuiești, în viitor, alături de câțiva oameni, unei apocalipse nucleare. Spre norocul vostru, a supraviețuit și biblioteca universității din oraș. Mai mult, voi știți să citiți, chiar dacă nu ați mai scris demult pentru că în viitor oamenii dictează roboților, nu mai scriu. Nici nu mai muncesc, nu mai merg la școală, nu mai cercetează – toate aceste lucruri le făcea o Inteligență Artificială Generală. Dar acum lucrurile s-au schimbat, sunteți doar voi și o bibliotecă. Intrați în bibliotecă și găsiți tot felul de cărți. Aveți nevoie de cunoaștere veritabilă, care să vă ajute în a trăi în </a:t>
            </a:r>
            <a:r>
              <a:rPr lang="vi-VN" dirty="0" smtClean="0"/>
              <a:t>continuare </a:t>
            </a:r>
            <a:r>
              <a:rPr lang="vi-VN" dirty="0"/>
              <a:t>pe o planetă răvășită. Atât cunoștințele serioase teoretice, cât și cele practice sunt necesare pentru că nimic din tehnologia automatizată nu mai funcționează. </a:t>
            </a:r>
          </a:p>
          <a:p>
            <a:pPr marL="0" indent="0" algn="just">
              <a:buNone/>
            </a:pPr>
            <a:endParaRPr lang="en-US" dirty="0" smtClean="0"/>
          </a:p>
          <a:p>
            <a:pPr marL="0" indent="0" algn="just">
              <a:buNone/>
            </a:pPr>
            <a:r>
              <a:rPr lang="vi-VN" dirty="0" smtClean="0"/>
              <a:t>În </a:t>
            </a:r>
            <a:r>
              <a:rPr lang="vi-VN" dirty="0"/>
              <a:t>bibliotecă sunt multe cărți, dar niciun manual sau lucrare de informare, de genul unui dicționar sau enciclopedii. Din păcate, problemele nu se opresc aici. Cărțile așa-zis științifice nu au referințe bibliografice, note de subsol, trimiteri la ați autori, citate etc. Niciodată nu veți ști cum să verificați sau comparați ideile susținute în ele. </a:t>
            </a:r>
          </a:p>
          <a:p>
            <a:pPr marL="0" indent="0" algn="just">
              <a:buNone/>
            </a:pPr>
            <a:r>
              <a:rPr lang="vi-VN" dirty="0"/>
              <a:t>Poți găsi o soluție plauzibilă pentru a ieși din impas? </a:t>
            </a:r>
          </a:p>
          <a:p>
            <a:pPr algn="just"/>
            <a:endParaRPr lang="en-US" dirty="0" smtClean="0"/>
          </a:p>
          <a:p>
            <a:pPr marL="0" indent="0" algn="just">
              <a:buNone/>
            </a:pPr>
            <a:endParaRPr lang="en-US" dirty="0"/>
          </a:p>
          <a:p>
            <a:pPr marL="0" indent="0" algn="just">
              <a:buNone/>
            </a:pPr>
            <a:r>
              <a:rPr lang="vi-VN" dirty="0" smtClean="0"/>
              <a:t>Într-o </a:t>
            </a:r>
            <a:r>
              <a:rPr lang="vi-VN" dirty="0"/>
              <a:t>altă variantă, nu supraviețuiești apocalipsei nucleare. Nici tu, nici ceilalți. Trec câteva zile și o specie extraterestră, mult mai avansată cognitiv, ajunge pe planeta noastră pustie, căzând accidental chiar în fața bibliotecii. Nava lor este distrusă. </a:t>
            </a:r>
          </a:p>
          <a:p>
            <a:pPr algn="just"/>
            <a:r>
              <a:rPr lang="vi-VN" dirty="0"/>
              <a:t>E posibil să capete o înțelegere corectă despre lumea dispărută din cărțile găsite? </a:t>
            </a:r>
          </a:p>
          <a:p>
            <a:pPr algn="just"/>
            <a:r>
              <a:rPr lang="vi-VN" dirty="0"/>
              <a:t>Pot găsi extratereștrii o soluție plauzibilă pentru a ieși din impas? </a:t>
            </a:r>
            <a:endParaRPr lang="en-US" dirty="0"/>
          </a:p>
        </p:txBody>
      </p:sp>
    </p:spTree>
    <p:extLst>
      <p:ext uri="{BB962C8B-B14F-4D97-AF65-F5344CB8AC3E}">
        <p14:creationId xmlns:p14="http://schemas.microsoft.com/office/powerpoint/2010/main" val="4104191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77500" lnSpcReduction="20000"/>
          </a:bodyPr>
          <a:lstStyle/>
          <a:p>
            <a:r>
              <a:rPr lang="vi-VN" dirty="0" smtClean="0"/>
              <a:t>Care e diferența dintre intenție și motivație în cazul plagiatului?</a:t>
            </a:r>
            <a:endParaRPr lang="en-US" dirty="0" smtClean="0"/>
          </a:p>
          <a:p>
            <a:endParaRPr lang="vi-VN" dirty="0" smtClean="0"/>
          </a:p>
          <a:p>
            <a:r>
              <a:rPr lang="vi-VN" dirty="0" smtClean="0"/>
              <a:t>De ce plagiază studenții? Dar profesorii? Chiar dacă motivațiile sunt diferite, intenția este aceeași?</a:t>
            </a:r>
            <a:endParaRPr lang="en-US" dirty="0" smtClean="0"/>
          </a:p>
          <a:p>
            <a:endParaRPr lang="vi-VN" dirty="0" smtClean="0"/>
          </a:p>
          <a:p>
            <a:r>
              <a:rPr lang="vi-VN" dirty="0" smtClean="0"/>
              <a:t>Este acordarea de timp pentru a prezenta și exersa normele de scriere academică o garanție că plagiatul nu se va mai întâmpla? Ce alte garanții ar fi eficiente?</a:t>
            </a:r>
            <a:endParaRPr lang="en-US" dirty="0" smtClean="0"/>
          </a:p>
          <a:p>
            <a:endParaRPr lang="vi-VN" dirty="0" smtClean="0"/>
          </a:p>
          <a:p>
            <a:r>
              <a:rPr lang="vi-VN" dirty="0" smtClean="0"/>
              <a:t>Care e rolul lipsei de încredere în propriile forțe intelectuale atunci când ești tentat/ă să plagiezi?</a:t>
            </a:r>
            <a:endParaRPr lang="en-US" dirty="0" smtClean="0"/>
          </a:p>
          <a:p>
            <a:endParaRPr lang="vi-VN" dirty="0" smtClean="0"/>
          </a:p>
          <a:p>
            <a:r>
              <a:rPr lang="vi-VN" dirty="0" smtClean="0"/>
              <a:t>Ai fost tentat/ă să plagiezi din lipsa timpului necesar scrierii unei lucrări? Cine e vinovat pentru această lipsă de timp?</a:t>
            </a:r>
            <a:endParaRPr lang="en-US" dirty="0"/>
          </a:p>
        </p:txBody>
      </p:sp>
    </p:spTree>
    <p:extLst>
      <p:ext uri="{BB962C8B-B14F-4D97-AF65-F5344CB8AC3E}">
        <p14:creationId xmlns:p14="http://schemas.microsoft.com/office/powerpoint/2010/main" val="2222466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Autoplagiatul</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8965" y="1600200"/>
            <a:ext cx="2506070" cy="4525963"/>
          </a:xfrm>
        </p:spPr>
      </p:pic>
    </p:spTree>
    <p:extLst>
      <p:ext uri="{BB962C8B-B14F-4D97-AF65-F5344CB8AC3E}">
        <p14:creationId xmlns:p14="http://schemas.microsoft.com/office/powerpoint/2010/main" val="3950804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Bogdan\Proiecte strategice pentru invatamantul superior\PowerPoint\ROMANA\2 capac manageme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hlinkClick r:id="rId3" action="ppaction://hlinkpres?slideindex=1&amp;slidetitle="/>
          </p:cNvPr>
          <p:cNvSpPr/>
          <p:nvPr/>
        </p:nvSpPr>
        <p:spPr>
          <a:xfrm>
            <a:off x="7239000" y="228600"/>
            <a:ext cx="1600200" cy="45720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124" name="Rectangle 4"/>
          <p:cNvSpPr>
            <a:spLocks noChangeArrowheads="1"/>
          </p:cNvSpPr>
          <p:nvPr/>
        </p:nvSpPr>
        <p:spPr bwMode="auto">
          <a:xfrm>
            <a:off x="381000" y="1371600"/>
            <a:ext cx="8763000"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2400" b="1" i="1" dirty="0" smtClean="0">
                <a:solidFill>
                  <a:schemeClr val="bg1"/>
                </a:solidFill>
                <a:latin typeface="+mn-lt"/>
              </a:rPr>
              <a:t>				        </a:t>
            </a:r>
            <a:r>
              <a:rPr lang="en-US" sz="2400" b="1" i="1" dirty="0" err="1" smtClean="0">
                <a:solidFill>
                  <a:schemeClr val="bg1"/>
                </a:solidFill>
                <a:latin typeface="+mn-lt"/>
              </a:rPr>
              <a:t>Autoplagiat</a:t>
            </a:r>
            <a:r>
              <a:rPr lang="en-US" sz="2400" b="1" i="1" dirty="0" smtClean="0">
                <a:solidFill>
                  <a:schemeClr val="bg1"/>
                </a:solidFill>
                <a:latin typeface="+mn-lt"/>
              </a:rPr>
              <a:t>  - CE al UB</a:t>
            </a:r>
          </a:p>
          <a:p>
            <a:pPr algn="just" eaLnBrk="1" hangingPunct="1">
              <a:buFont typeface="Wingdings" panose="05000000000000000000" pitchFamily="2" charset="2"/>
              <a:buChar char="§"/>
              <a:defRPr/>
            </a:pPr>
            <a:r>
              <a:rPr lang="en-US" sz="2400" dirty="0" err="1" smtClean="0">
                <a:solidFill>
                  <a:schemeClr val="bg1"/>
                </a:solidFill>
                <a:latin typeface="+mn-lt"/>
              </a:rPr>
              <a:t>preluarea</a:t>
            </a:r>
            <a:r>
              <a:rPr lang="en-US" sz="2400" dirty="0" smtClean="0">
                <a:solidFill>
                  <a:schemeClr val="bg1"/>
                </a:solidFill>
                <a:latin typeface="+mn-lt"/>
              </a:rPr>
              <a:t> </a:t>
            </a:r>
            <a:r>
              <a:rPr lang="en-US" sz="2400" dirty="0" err="1">
                <a:solidFill>
                  <a:schemeClr val="bg1"/>
                </a:solidFill>
                <a:latin typeface="+mn-lt"/>
              </a:rPr>
              <a:t>unui</a:t>
            </a:r>
            <a:r>
              <a:rPr lang="en-US" sz="2400" dirty="0">
                <a:solidFill>
                  <a:schemeClr val="bg1"/>
                </a:solidFill>
                <a:latin typeface="+mn-lt"/>
              </a:rPr>
              <a:t> text, </a:t>
            </a:r>
            <a:r>
              <a:rPr lang="en-US" sz="2400" dirty="0" smtClean="0">
                <a:solidFill>
                  <a:schemeClr val="bg1"/>
                </a:solidFill>
                <a:latin typeface="+mn-lt"/>
              </a:rPr>
              <a:t>a </a:t>
            </a:r>
            <a:r>
              <a:rPr lang="en-US" sz="2400" dirty="0" err="1">
                <a:solidFill>
                  <a:schemeClr val="bg1"/>
                </a:solidFill>
                <a:latin typeface="+mn-lt"/>
              </a:rPr>
              <a:t>unei</a:t>
            </a:r>
            <a:r>
              <a:rPr lang="en-US" sz="2400" dirty="0">
                <a:solidFill>
                  <a:schemeClr val="bg1"/>
                </a:solidFill>
                <a:latin typeface="+mn-lt"/>
              </a:rPr>
              <a:t> </a:t>
            </a:r>
            <a:r>
              <a:rPr lang="en-US" sz="2400" dirty="0" err="1">
                <a:solidFill>
                  <a:schemeClr val="bg1"/>
                </a:solidFill>
                <a:latin typeface="+mn-lt"/>
              </a:rPr>
              <a:t>contribuții</a:t>
            </a:r>
            <a:r>
              <a:rPr lang="en-US" sz="2400" dirty="0">
                <a:solidFill>
                  <a:schemeClr val="bg1"/>
                </a:solidFill>
                <a:latin typeface="+mn-lt"/>
              </a:rPr>
              <a:t> </a:t>
            </a:r>
            <a:r>
              <a:rPr lang="en-US" sz="2400" dirty="0" err="1">
                <a:solidFill>
                  <a:schemeClr val="bg1"/>
                </a:solidFill>
                <a:latin typeface="+mn-lt"/>
              </a:rPr>
              <a:t>personale</a:t>
            </a:r>
            <a:r>
              <a:rPr lang="en-US" sz="2400" dirty="0">
                <a:solidFill>
                  <a:schemeClr val="bg1"/>
                </a:solidFill>
                <a:latin typeface="+mn-lt"/>
              </a:rPr>
              <a:t>, care a </a:t>
            </a:r>
            <a:r>
              <a:rPr lang="en-US" sz="2400" dirty="0" err="1">
                <a:solidFill>
                  <a:schemeClr val="bg1"/>
                </a:solidFill>
                <a:latin typeface="+mn-lt"/>
              </a:rPr>
              <a:t>fost</a:t>
            </a:r>
            <a:r>
              <a:rPr lang="en-US" sz="2400" dirty="0">
                <a:solidFill>
                  <a:schemeClr val="bg1"/>
                </a:solidFill>
                <a:latin typeface="+mn-lt"/>
              </a:rPr>
              <a:t> </a:t>
            </a:r>
            <a:r>
              <a:rPr lang="en-US" sz="2400" dirty="0" err="1">
                <a:solidFill>
                  <a:schemeClr val="bg1"/>
                </a:solidFill>
                <a:latin typeface="+mn-lt"/>
              </a:rPr>
              <a:t>publicată</a:t>
            </a:r>
            <a:r>
              <a:rPr lang="en-US" sz="2400" dirty="0">
                <a:solidFill>
                  <a:schemeClr val="bg1"/>
                </a:solidFill>
                <a:latin typeface="+mn-lt"/>
              </a:rPr>
              <a:t> anterior, </a:t>
            </a:r>
            <a:r>
              <a:rPr lang="en-US" sz="2400" dirty="0" err="1">
                <a:solidFill>
                  <a:schemeClr val="bg1"/>
                </a:solidFill>
                <a:latin typeface="+mn-lt"/>
              </a:rPr>
              <a:t>într</a:t>
            </a:r>
            <a:r>
              <a:rPr lang="en-US" sz="2400" dirty="0">
                <a:solidFill>
                  <a:schemeClr val="bg1"/>
                </a:solidFill>
                <a:latin typeface="+mn-lt"/>
              </a:rPr>
              <a:t>-o </a:t>
            </a:r>
            <a:r>
              <a:rPr lang="en-US" sz="2400" dirty="0" err="1">
                <a:solidFill>
                  <a:schemeClr val="bg1"/>
                </a:solidFill>
                <a:latin typeface="+mn-lt"/>
              </a:rPr>
              <a:t>altă</a:t>
            </a:r>
            <a:r>
              <a:rPr lang="en-US" sz="2400" dirty="0">
                <a:solidFill>
                  <a:schemeClr val="bg1"/>
                </a:solidFill>
                <a:latin typeface="+mn-lt"/>
              </a:rPr>
              <a:t> </a:t>
            </a:r>
            <a:r>
              <a:rPr lang="en-US" sz="2400" dirty="0" err="1">
                <a:solidFill>
                  <a:schemeClr val="bg1"/>
                </a:solidFill>
                <a:latin typeface="+mn-lt"/>
              </a:rPr>
              <a:t>lucrare</a:t>
            </a:r>
            <a:r>
              <a:rPr lang="en-US" sz="2400" dirty="0">
                <a:solidFill>
                  <a:schemeClr val="bg1"/>
                </a:solidFill>
                <a:latin typeface="+mn-lt"/>
              </a:rPr>
              <a:t> </a:t>
            </a:r>
            <a:r>
              <a:rPr lang="en-US" sz="2400" dirty="0" err="1">
                <a:solidFill>
                  <a:schemeClr val="bg1"/>
                </a:solidFill>
                <a:latin typeface="+mn-lt"/>
              </a:rPr>
              <a:t>sau</a:t>
            </a:r>
            <a:r>
              <a:rPr lang="en-US" sz="2400" dirty="0">
                <a:solidFill>
                  <a:schemeClr val="bg1"/>
                </a:solidFill>
                <a:latin typeface="+mn-lt"/>
              </a:rPr>
              <a:t> </a:t>
            </a:r>
            <a:r>
              <a:rPr lang="en-US" sz="2400" dirty="0" err="1">
                <a:solidFill>
                  <a:schemeClr val="bg1"/>
                </a:solidFill>
                <a:latin typeface="+mn-lt"/>
              </a:rPr>
              <a:t>operă</a:t>
            </a:r>
            <a:r>
              <a:rPr lang="en-US" sz="2400" dirty="0">
                <a:solidFill>
                  <a:schemeClr val="bg1"/>
                </a:solidFill>
                <a:latin typeface="+mn-lt"/>
              </a:rPr>
              <a:t> </a:t>
            </a:r>
            <a:r>
              <a:rPr lang="en-US" sz="2400" dirty="0" err="1">
                <a:solidFill>
                  <a:schemeClr val="bg1"/>
                </a:solidFill>
                <a:latin typeface="+mn-lt"/>
              </a:rPr>
              <a:t>fără</a:t>
            </a:r>
            <a:r>
              <a:rPr lang="en-US" sz="2400" dirty="0">
                <a:solidFill>
                  <a:schemeClr val="bg1"/>
                </a:solidFill>
                <a:latin typeface="+mn-lt"/>
              </a:rPr>
              <a:t> a se </a:t>
            </a:r>
            <a:r>
              <a:rPr lang="en-US" sz="2400" dirty="0" err="1">
                <a:solidFill>
                  <a:schemeClr val="bg1"/>
                </a:solidFill>
                <a:latin typeface="+mn-lt"/>
              </a:rPr>
              <a:t>menționa</a:t>
            </a:r>
            <a:r>
              <a:rPr lang="en-US" sz="2400" dirty="0">
                <a:solidFill>
                  <a:schemeClr val="bg1"/>
                </a:solidFill>
                <a:latin typeface="+mn-lt"/>
              </a:rPr>
              <a:t> </a:t>
            </a:r>
            <a:r>
              <a:rPr lang="en-US" sz="2400" dirty="0" err="1">
                <a:solidFill>
                  <a:schemeClr val="bg1"/>
                </a:solidFill>
                <a:latin typeface="+mn-lt"/>
              </a:rPr>
              <a:t>faptul</a:t>
            </a:r>
            <a:r>
              <a:rPr lang="en-US" sz="2400" dirty="0">
                <a:solidFill>
                  <a:schemeClr val="bg1"/>
                </a:solidFill>
                <a:latin typeface="+mn-lt"/>
              </a:rPr>
              <a:t> </a:t>
            </a:r>
            <a:r>
              <a:rPr lang="en-US" sz="2400" dirty="0" err="1">
                <a:solidFill>
                  <a:schemeClr val="bg1"/>
                </a:solidFill>
                <a:latin typeface="+mn-lt"/>
              </a:rPr>
              <a:t>că</a:t>
            </a:r>
            <a:r>
              <a:rPr lang="en-US" sz="2400" dirty="0">
                <a:solidFill>
                  <a:schemeClr val="bg1"/>
                </a:solidFill>
                <a:latin typeface="+mn-lt"/>
              </a:rPr>
              <a:t> </a:t>
            </a:r>
            <a:r>
              <a:rPr lang="en-US" sz="2400" dirty="0" err="1">
                <a:solidFill>
                  <a:schemeClr val="bg1"/>
                </a:solidFill>
                <a:latin typeface="+mn-lt"/>
              </a:rPr>
              <a:t>acea</a:t>
            </a:r>
            <a:r>
              <a:rPr lang="en-US" sz="2400" dirty="0">
                <a:solidFill>
                  <a:schemeClr val="bg1"/>
                </a:solidFill>
                <a:latin typeface="+mn-lt"/>
              </a:rPr>
              <a:t> </a:t>
            </a:r>
            <a:r>
              <a:rPr lang="en-US" sz="2400" dirty="0" err="1">
                <a:solidFill>
                  <a:schemeClr val="bg1"/>
                </a:solidFill>
                <a:latin typeface="+mn-lt"/>
              </a:rPr>
              <a:t>creație</a:t>
            </a:r>
            <a:r>
              <a:rPr lang="en-US" sz="2400" dirty="0">
                <a:solidFill>
                  <a:schemeClr val="bg1"/>
                </a:solidFill>
                <a:latin typeface="+mn-lt"/>
              </a:rPr>
              <a:t> nu </a:t>
            </a:r>
            <a:r>
              <a:rPr lang="en-US" sz="2400" dirty="0" err="1">
                <a:solidFill>
                  <a:schemeClr val="bg1"/>
                </a:solidFill>
                <a:latin typeface="+mn-lt"/>
              </a:rPr>
              <a:t>este</a:t>
            </a:r>
            <a:r>
              <a:rPr lang="en-US" sz="2400" dirty="0">
                <a:solidFill>
                  <a:schemeClr val="bg1"/>
                </a:solidFill>
                <a:latin typeface="+mn-lt"/>
              </a:rPr>
              <a:t> </a:t>
            </a:r>
            <a:r>
              <a:rPr lang="en-US" sz="2400" dirty="0" err="1">
                <a:solidFill>
                  <a:schemeClr val="bg1"/>
                </a:solidFill>
                <a:latin typeface="+mn-lt"/>
              </a:rPr>
              <a:t>prezentată</a:t>
            </a:r>
            <a:r>
              <a:rPr lang="en-US" sz="2400" dirty="0">
                <a:solidFill>
                  <a:schemeClr val="bg1"/>
                </a:solidFill>
                <a:latin typeface="+mn-lt"/>
              </a:rPr>
              <a:t> public </a:t>
            </a:r>
            <a:r>
              <a:rPr lang="en-US" sz="2400" dirty="0" err="1" smtClean="0">
                <a:solidFill>
                  <a:schemeClr val="bg1"/>
                </a:solidFill>
                <a:latin typeface="+mn-lt"/>
              </a:rPr>
              <a:t>pentru</a:t>
            </a:r>
            <a:r>
              <a:rPr lang="en-US" sz="2400" dirty="0" smtClean="0">
                <a:solidFill>
                  <a:schemeClr val="bg1"/>
                </a:solidFill>
                <a:latin typeface="+mn-lt"/>
              </a:rPr>
              <a:t> </a:t>
            </a:r>
            <a:r>
              <a:rPr lang="en-US" sz="2400" dirty="0">
                <a:solidFill>
                  <a:schemeClr val="bg1"/>
                </a:solidFill>
                <a:latin typeface="+mn-lt"/>
              </a:rPr>
              <a:t>prima </a:t>
            </a:r>
            <a:r>
              <a:rPr lang="en-US" sz="2400" dirty="0" err="1">
                <a:solidFill>
                  <a:schemeClr val="bg1"/>
                </a:solidFill>
                <a:latin typeface="+mn-lt"/>
              </a:rPr>
              <a:t>oară</a:t>
            </a:r>
            <a:r>
              <a:rPr lang="en-US" sz="2400" dirty="0">
                <a:solidFill>
                  <a:schemeClr val="bg1"/>
                </a:solidFill>
                <a:latin typeface="+mn-lt"/>
              </a:rPr>
              <a:t>. </a:t>
            </a:r>
            <a:endParaRPr lang="en-US" sz="2400" dirty="0" smtClean="0">
              <a:solidFill>
                <a:schemeClr val="bg1"/>
              </a:solidFill>
              <a:latin typeface="+mn-lt"/>
            </a:endParaRPr>
          </a:p>
          <a:p>
            <a:pPr marL="0" indent="0" eaLnBrk="1" hangingPunct="1">
              <a:defRPr/>
            </a:pPr>
            <a:endParaRPr lang="en-US" sz="1400" dirty="0" smtClean="0">
              <a:solidFill>
                <a:schemeClr val="bg1"/>
              </a:solidFill>
              <a:latin typeface="+mn-lt"/>
            </a:endParaRPr>
          </a:p>
          <a:p>
            <a:pPr marL="0" indent="0" eaLnBrk="1" hangingPunct="1">
              <a:defRPr/>
            </a:pPr>
            <a:endParaRPr lang="en-US" sz="1400" dirty="0">
              <a:solidFill>
                <a:schemeClr val="bg1"/>
              </a:solidFill>
              <a:latin typeface="+mn-lt"/>
            </a:endParaRPr>
          </a:p>
          <a:p>
            <a:pPr algn="just" eaLnBrk="1" hangingPunct="1">
              <a:buFont typeface="Wingdings" panose="05000000000000000000" pitchFamily="2" charset="2"/>
              <a:buChar char="§"/>
              <a:defRPr/>
            </a:pPr>
            <a:r>
              <a:rPr lang="en-US" sz="2400" dirty="0" err="1">
                <a:solidFill>
                  <a:schemeClr val="bg1"/>
                </a:solidFill>
                <a:latin typeface="+mn-lt"/>
              </a:rPr>
              <a:t>r</a:t>
            </a:r>
            <a:r>
              <a:rPr lang="en-US" sz="2400" dirty="0" err="1" smtClean="0">
                <a:solidFill>
                  <a:schemeClr val="bg1"/>
                </a:solidFill>
                <a:latin typeface="+mn-lt"/>
              </a:rPr>
              <a:t>eluarea</a:t>
            </a:r>
            <a:r>
              <a:rPr lang="en-US" sz="2400" dirty="0" smtClean="0">
                <a:solidFill>
                  <a:schemeClr val="bg1"/>
                </a:solidFill>
                <a:latin typeface="+mn-lt"/>
              </a:rPr>
              <a:t> </a:t>
            </a:r>
            <a:r>
              <a:rPr lang="en-US" sz="2400" dirty="0" err="1">
                <a:solidFill>
                  <a:schemeClr val="bg1"/>
                </a:solidFill>
                <a:latin typeface="+mn-lt"/>
              </a:rPr>
              <a:t>acelorași</a:t>
            </a:r>
            <a:r>
              <a:rPr lang="en-US" sz="2400" dirty="0">
                <a:solidFill>
                  <a:schemeClr val="bg1"/>
                </a:solidFill>
                <a:latin typeface="+mn-lt"/>
              </a:rPr>
              <a:t> </a:t>
            </a:r>
            <a:r>
              <a:rPr lang="en-US" sz="2400" dirty="0" err="1">
                <a:solidFill>
                  <a:schemeClr val="bg1"/>
                </a:solidFill>
                <a:latin typeface="+mn-lt"/>
              </a:rPr>
              <a:t>creații</a:t>
            </a:r>
            <a:r>
              <a:rPr lang="en-US" sz="2400" dirty="0">
                <a:solidFill>
                  <a:schemeClr val="bg1"/>
                </a:solidFill>
                <a:latin typeface="+mn-lt"/>
              </a:rPr>
              <a:t> (</a:t>
            </a:r>
            <a:r>
              <a:rPr lang="en-US" sz="2400" dirty="0" err="1">
                <a:solidFill>
                  <a:schemeClr val="bg1"/>
                </a:solidFill>
                <a:latin typeface="+mn-lt"/>
              </a:rPr>
              <a:t>articole</a:t>
            </a:r>
            <a:r>
              <a:rPr lang="en-US" sz="2400" dirty="0">
                <a:solidFill>
                  <a:schemeClr val="bg1"/>
                </a:solidFill>
                <a:latin typeface="+mn-lt"/>
              </a:rPr>
              <a:t>, </a:t>
            </a:r>
            <a:r>
              <a:rPr lang="en-US" sz="2400" dirty="0" err="1">
                <a:solidFill>
                  <a:schemeClr val="bg1"/>
                </a:solidFill>
                <a:latin typeface="+mn-lt"/>
              </a:rPr>
              <a:t>capitole</a:t>
            </a:r>
            <a:r>
              <a:rPr lang="en-US" sz="2400" dirty="0">
                <a:solidFill>
                  <a:schemeClr val="bg1"/>
                </a:solidFill>
                <a:latin typeface="+mn-lt"/>
              </a:rPr>
              <a:t> de </a:t>
            </a:r>
            <a:r>
              <a:rPr lang="en-US" sz="2400" dirty="0" err="1">
                <a:solidFill>
                  <a:schemeClr val="bg1"/>
                </a:solidFill>
                <a:latin typeface="+mn-lt"/>
              </a:rPr>
              <a:t>cărți</a:t>
            </a:r>
            <a:r>
              <a:rPr lang="en-US" sz="2400" dirty="0">
                <a:solidFill>
                  <a:schemeClr val="bg1"/>
                </a:solidFill>
                <a:latin typeface="+mn-lt"/>
              </a:rPr>
              <a:t>, </a:t>
            </a:r>
            <a:r>
              <a:rPr lang="en-US" sz="2400" dirty="0" err="1">
                <a:solidFill>
                  <a:schemeClr val="bg1"/>
                </a:solidFill>
                <a:latin typeface="+mn-lt"/>
              </a:rPr>
              <a:t>studii</a:t>
            </a:r>
            <a:r>
              <a:rPr lang="en-US" sz="2400" dirty="0">
                <a:solidFill>
                  <a:schemeClr val="bg1"/>
                </a:solidFill>
                <a:latin typeface="+mn-lt"/>
              </a:rPr>
              <a:t>, </a:t>
            </a:r>
            <a:r>
              <a:rPr lang="en-US" sz="2400" dirty="0" err="1">
                <a:solidFill>
                  <a:schemeClr val="bg1"/>
                </a:solidFill>
                <a:latin typeface="+mn-lt"/>
              </a:rPr>
              <a:t>experimente</a:t>
            </a:r>
            <a:r>
              <a:rPr lang="en-US" sz="2400" dirty="0">
                <a:solidFill>
                  <a:schemeClr val="bg1"/>
                </a:solidFill>
                <a:latin typeface="+mn-lt"/>
              </a:rPr>
              <a:t> etc.) </a:t>
            </a:r>
            <a:r>
              <a:rPr lang="en-US" sz="2400" dirty="0" err="1">
                <a:solidFill>
                  <a:schemeClr val="bg1"/>
                </a:solidFill>
                <a:latin typeface="+mn-lt"/>
              </a:rPr>
              <a:t>în</a:t>
            </a:r>
            <a:r>
              <a:rPr lang="en-US" sz="2400" dirty="0">
                <a:solidFill>
                  <a:schemeClr val="bg1"/>
                </a:solidFill>
                <a:latin typeface="+mn-lt"/>
              </a:rPr>
              <a:t> </a:t>
            </a:r>
            <a:r>
              <a:rPr lang="en-US" sz="2400" dirty="0" err="1">
                <a:solidFill>
                  <a:schemeClr val="bg1"/>
                </a:solidFill>
                <a:latin typeface="+mn-lt"/>
              </a:rPr>
              <a:t>publicații</a:t>
            </a:r>
            <a:r>
              <a:rPr lang="en-US" sz="2400" dirty="0">
                <a:solidFill>
                  <a:schemeClr val="bg1"/>
                </a:solidFill>
                <a:latin typeface="+mn-lt"/>
              </a:rPr>
              <a:t> </a:t>
            </a:r>
            <a:r>
              <a:rPr lang="en-US" sz="2400" dirty="0" err="1">
                <a:solidFill>
                  <a:schemeClr val="bg1"/>
                </a:solidFill>
                <a:latin typeface="+mn-lt"/>
              </a:rPr>
              <a:t>diferite</a:t>
            </a:r>
            <a:r>
              <a:rPr lang="en-US" sz="2400" dirty="0">
                <a:solidFill>
                  <a:schemeClr val="bg1"/>
                </a:solidFill>
                <a:latin typeface="+mn-lt"/>
              </a:rPr>
              <a:t>, eventual </a:t>
            </a:r>
            <a:r>
              <a:rPr lang="en-US" sz="2400" dirty="0" err="1">
                <a:solidFill>
                  <a:schemeClr val="bg1"/>
                </a:solidFill>
                <a:latin typeface="+mn-lt"/>
              </a:rPr>
              <a:t>publicate</a:t>
            </a:r>
            <a:r>
              <a:rPr lang="en-US" sz="2400" dirty="0">
                <a:solidFill>
                  <a:schemeClr val="bg1"/>
                </a:solidFill>
                <a:latin typeface="+mn-lt"/>
              </a:rPr>
              <a:t> </a:t>
            </a:r>
            <a:r>
              <a:rPr lang="en-US" sz="2400" dirty="0" err="1">
                <a:solidFill>
                  <a:schemeClr val="bg1"/>
                </a:solidFill>
                <a:latin typeface="+mn-lt"/>
              </a:rPr>
              <a:t>în</a:t>
            </a:r>
            <a:r>
              <a:rPr lang="en-US" sz="2400" dirty="0">
                <a:solidFill>
                  <a:schemeClr val="bg1"/>
                </a:solidFill>
                <a:latin typeface="+mn-lt"/>
              </a:rPr>
              <a:t> </a:t>
            </a:r>
            <a:r>
              <a:rPr lang="en-US" sz="2400" dirty="0" err="1">
                <a:solidFill>
                  <a:schemeClr val="bg1"/>
                </a:solidFill>
                <a:latin typeface="+mn-lt"/>
              </a:rPr>
              <a:t>alte</a:t>
            </a:r>
            <a:r>
              <a:rPr lang="en-US" sz="2400" dirty="0">
                <a:solidFill>
                  <a:schemeClr val="bg1"/>
                </a:solidFill>
                <a:latin typeface="+mn-lt"/>
              </a:rPr>
              <a:t> limbi, </a:t>
            </a:r>
            <a:r>
              <a:rPr lang="en-US" sz="2400" dirty="0" err="1">
                <a:solidFill>
                  <a:schemeClr val="bg1"/>
                </a:solidFill>
                <a:latin typeface="+mn-lt"/>
              </a:rPr>
              <a:t>chiar</a:t>
            </a:r>
            <a:r>
              <a:rPr lang="en-US" sz="2400" dirty="0">
                <a:solidFill>
                  <a:schemeClr val="bg1"/>
                </a:solidFill>
                <a:latin typeface="+mn-lt"/>
              </a:rPr>
              <a:t> </a:t>
            </a:r>
            <a:r>
              <a:rPr lang="en-US" sz="2400" dirty="0" err="1">
                <a:solidFill>
                  <a:schemeClr val="bg1"/>
                </a:solidFill>
                <a:latin typeface="+mn-lt"/>
              </a:rPr>
              <a:t>dacă</a:t>
            </a:r>
            <a:r>
              <a:rPr lang="en-US" sz="2400" dirty="0">
                <a:solidFill>
                  <a:schemeClr val="bg1"/>
                </a:solidFill>
                <a:latin typeface="+mn-lt"/>
              </a:rPr>
              <a:t> se face </a:t>
            </a:r>
            <a:r>
              <a:rPr lang="en-US" sz="2400" dirty="0" err="1">
                <a:solidFill>
                  <a:schemeClr val="bg1"/>
                </a:solidFill>
                <a:latin typeface="+mn-lt"/>
              </a:rPr>
              <a:t>prin</a:t>
            </a:r>
            <a:r>
              <a:rPr lang="en-US" sz="2400" dirty="0">
                <a:solidFill>
                  <a:schemeClr val="bg1"/>
                </a:solidFill>
                <a:latin typeface="+mn-lt"/>
              </a:rPr>
              <a:t> </a:t>
            </a:r>
            <a:r>
              <a:rPr lang="en-US" sz="2400" dirty="0" err="1">
                <a:solidFill>
                  <a:schemeClr val="bg1"/>
                </a:solidFill>
                <a:latin typeface="+mn-lt"/>
              </a:rPr>
              <a:t>citare</a:t>
            </a:r>
            <a:r>
              <a:rPr lang="en-US" sz="2400" dirty="0">
                <a:solidFill>
                  <a:schemeClr val="bg1"/>
                </a:solidFill>
                <a:latin typeface="+mn-lt"/>
              </a:rPr>
              <a:t>, </a:t>
            </a:r>
            <a:r>
              <a:rPr lang="en-US" sz="2400" dirty="0" err="1">
                <a:solidFill>
                  <a:schemeClr val="bg1"/>
                </a:solidFill>
                <a:latin typeface="+mn-lt"/>
              </a:rPr>
              <a:t>este</a:t>
            </a:r>
            <a:r>
              <a:rPr lang="en-US" sz="2400" dirty="0">
                <a:solidFill>
                  <a:schemeClr val="bg1"/>
                </a:solidFill>
                <a:latin typeface="+mn-lt"/>
              </a:rPr>
              <a:t> </a:t>
            </a:r>
            <a:r>
              <a:rPr lang="en-US" sz="2400" dirty="0" err="1">
                <a:solidFill>
                  <a:schemeClr val="bg1"/>
                </a:solidFill>
                <a:latin typeface="+mn-lt"/>
              </a:rPr>
              <a:t>culpabilă</a:t>
            </a:r>
            <a:r>
              <a:rPr lang="en-US" sz="2400" dirty="0">
                <a:solidFill>
                  <a:schemeClr val="bg1"/>
                </a:solidFill>
                <a:latin typeface="+mn-lt"/>
              </a:rPr>
              <a:t> </a:t>
            </a:r>
            <a:r>
              <a:rPr lang="en-US" sz="2400" dirty="0" err="1">
                <a:solidFill>
                  <a:schemeClr val="bg1"/>
                </a:solidFill>
                <a:latin typeface="+mn-lt"/>
              </a:rPr>
              <a:t>în</a:t>
            </a:r>
            <a:r>
              <a:rPr lang="en-US" sz="2400" dirty="0">
                <a:solidFill>
                  <a:schemeClr val="bg1"/>
                </a:solidFill>
                <a:latin typeface="+mn-lt"/>
              </a:rPr>
              <a:t> </a:t>
            </a:r>
            <a:r>
              <a:rPr lang="en-US" sz="2400" dirty="0" err="1">
                <a:solidFill>
                  <a:schemeClr val="bg1"/>
                </a:solidFill>
                <a:latin typeface="+mn-lt"/>
              </a:rPr>
              <a:t>cazul</a:t>
            </a:r>
            <a:r>
              <a:rPr lang="en-US" sz="2400" dirty="0">
                <a:solidFill>
                  <a:schemeClr val="bg1"/>
                </a:solidFill>
                <a:latin typeface="+mn-lt"/>
              </a:rPr>
              <a:t> </a:t>
            </a:r>
            <a:r>
              <a:rPr lang="en-US" sz="2400" dirty="0" err="1">
                <a:solidFill>
                  <a:schemeClr val="bg1"/>
                </a:solidFill>
                <a:latin typeface="+mn-lt"/>
              </a:rPr>
              <a:t>în</a:t>
            </a:r>
            <a:r>
              <a:rPr lang="en-US" sz="2400" dirty="0">
                <a:solidFill>
                  <a:schemeClr val="bg1"/>
                </a:solidFill>
                <a:latin typeface="+mn-lt"/>
              </a:rPr>
              <a:t> care se </a:t>
            </a:r>
            <a:r>
              <a:rPr lang="en-US" sz="2400" dirty="0" err="1">
                <a:solidFill>
                  <a:schemeClr val="bg1"/>
                </a:solidFill>
                <a:latin typeface="+mn-lt"/>
              </a:rPr>
              <a:t>urmărește</a:t>
            </a:r>
            <a:r>
              <a:rPr lang="en-US" sz="2400" dirty="0">
                <a:solidFill>
                  <a:schemeClr val="bg1"/>
                </a:solidFill>
                <a:latin typeface="+mn-lt"/>
              </a:rPr>
              <a:t> </a:t>
            </a:r>
            <a:r>
              <a:rPr lang="en-US" sz="2400" dirty="0" err="1">
                <a:solidFill>
                  <a:schemeClr val="bg1"/>
                </a:solidFill>
                <a:latin typeface="+mn-lt"/>
              </a:rPr>
              <a:t>crearea</a:t>
            </a:r>
            <a:r>
              <a:rPr lang="en-US" sz="2400" dirty="0">
                <a:solidFill>
                  <a:schemeClr val="bg1"/>
                </a:solidFill>
                <a:latin typeface="+mn-lt"/>
              </a:rPr>
              <a:t> </a:t>
            </a:r>
            <a:r>
              <a:rPr lang="en-US" sz="2400" dirty="0" err="1">
                <a:solidFill>
                  <a:schemeClr val="bg1"/>
                </a:solidFill>
                <a:latin typeface="+mn-lt"/>
              </a:rPr>
              <a:t>unei</a:t>
            </a:r>
            <a:r>
              <a:rPr lang="en-US" sz="2400" dirty="0">
                <a:solidFill>
                  <a:schemeClr val="bg1"/>
                </a:solidFill>
                <a:latin typeface="+mn-lt"/>
              </a:rPr>
              <a:t> </a:t>
            </a:r>
            <a:r>
              <a:rPr lang="en-US" sz="2400" b="1" i="1" dirty="0">
                <a:solidFill>
                  <a:schemeClr val="bg1"/>
                </a:solidFill>
                <a:latin typeface="+mn-lt"/>
              </a:rPr>
              <a:t>false </a:t>
            </a:r>
            <a:r>
              <a:rPr lang="en-US" sz="2400" b="1" i="1" dirty="0" err="1">
                <a:solidFill>
                  <a:schemeClr val="bg1"/>
                </a:solidFill>
                <a:latin typeface="+mn-lt"/>
              </a:rPr>
              <a:t>impresii</a:t>
            </a:r>
            <a:r>
              <a:rPr lang="en-US" sz="2400" b="1" i="1" dirty="0">
                <a:solidFill>
                  <a:schemeClr val="bg1"/>
                </a:solidFill>
                <a:latin typeface="+mn-lt"/>
              </a:rPr>
              <a:t> de </a:t>
            </a:r>
            <a:r>
              <a:rPr lang="en-US" sz="2400" b="1" i="1" dirty="0" err="1">
                <a:solidFill>
                  <a:schemeClr val="bg1"/>
                </a:solidFill>
                <a:latin typeface="+mn-lt"/>
              </a:rPr>
              <a:t>productivitate</a:t>
            </a:r>
            <a:r>
              <a:rPr lang="en-US" sz="2400" b="1" i="1" dirty="0">
                <a:solidFill>
                  <a:schemeClr val="bg1"/>
                </a:solidFill>
                <a:latin typeface="+mn-lt"/>
              </a:rPr>
              <a:t> </a:t>
            </a:r>
            <a:r>
              <a:rPr lang="en-US" sz="2400" b="1" i="1" dirty="0" err="1">
                <a:solidFill>
                  <a:schemeClr val="bg1"/>
                </a:solidFill>
                <a:latin typeface="+mn-lt"/>
              </a:rPr>
              <a:t>intelectuală</a:t>
            </a:r>
            <a:r>
              <a:rPr lang="en-US" sz="2400" dirty="0">
                <a:solidFill>
                  <a:schemeClr val="bg1"/>
                </a:solidFill>
                <a:latin typeface="+mn-lt"/>
              </a:rPr>
              <a:t> </a:t>
            </a:r>
            <a:r>
              <a:rPr lang="en-US" sz="2400" dirty="0" err="1">
                <a:solidFill>
                  <a:schemeClr val="bg1"/>
                </a:solidFill>
                <a:latin typeface="+mn-lt"/>
              </a:rPr>
              <a:t>și</a:t>
            </a:r>
            <a:r>
              <a:rPr lang="en-US" sz="2400" dirty="0">
                <a:solidFill>
                  <a:schemeClr val="bg1"/>
                </a:solidFill>
                <a:latin typeface="+mn-lt"/>
              </a:rPr>
              <a:t> </a:t>
            </a:r>
            <a:r>
              <a:rPr lang="en-US" sz="2400" dirty="0" err="1">
                <a:solidFill>
                  <a:schemeClr val="bg1"/>
                </a:solidFill>
                <a:latin typeface="+mn-lt"/>
              </a:rPr>
              <a:t>obținerea</a:t>
            </a:r>
            <a:r>
              <a:rPr lang="en-US" sz="2400" dirty="0">
                <a:solidFill>
                  <a:schemeClr val="bg1"/>
                </a:solidFill>
                <a:latin typeface="+mn-lt"/>
              </a:rPr>
              <a:t> </a:t>
            </a:r>
            <a:r>
              <a:rPr lang="en-US" sz="2400" dirty="0" err="1">
                <a:solidFill>
                  <a:schemeClr val="bg1"/>
                </a:solidFill>
                <a:latin typeface="+mn-lt"/>
              </a:rPr>
              <a:t>unor</a:t>
            </a:r>
            <a:r>
              <a:rPr lang="en-US" sz="2400" dirty="0">
                <a:solidFill>
                  <a:schemeClr val="bg1"/>
                </a:solidFill>
                <a:latin typeface="+mn-lt"/>
              </a:rPr>
              <a:t> </a:t>
            </a:r>
            <a:r>
              <a:rPr lang="en-US" sz="2400" b="1" i="1" dirty="0" err="1">
                <a:solidFill>
                  <a:schemeClr val="bg1"/>
                </a:solidFill>
                <a:latin typeface="+mn-lt"/>
              </a:rPr>
              <a:t>avantaje</a:t>
            </a:r>
            <a:r>
              <a:rPr lang="en-US" sz="2400" b="1" i="1" dirty="0">
                <a:solidFill>
                  <a:schemeClr val="bg1"/>
                </a:solidFill>
                <a:latin typeface="+mn-lt"/>
              </a:rPr>
              <a:t> </a:t>
            </a:r>
            <a:r>
              <a:rPr lang="en-US" sz="2400" b="1" i="1" dirty="0" err="1">
                <a:solidFill>
                  <a:schemeClr val="bg1"/>
                </a:solidFill>
                <a:latin typeface="+mn-lt"/>
              </a:rPr>
              <a:t>academice</a:t>
            </a:r>
            <a:r>
              <a:rPr lang="en-US" sz="2400" b="1" i="1" dirty="0">
                <a:solidFill>
                  <a:schemeClr val="bg1"/>
                </a:solidFill>
                <a:latin typeface="+mn-lt"/>
              </a:rPr>
              <a:t> </a:t>
            </a:r>
            <a:r>
              <a:rPr lang="en-US" sz="2400" dirty="0">
                <a:solidFill>
                  <a:schemeClr val="bg1"/>
                </a:solidFill>
                <a:latin typeface="+mn-lt"/>
              </a:rPr>
              <a:t>(</a:t>
            </a:r>
            <a:r>
              <a:rPr lang="en-US" sz="2400" dirty="0" err="1">
                <a:solidFill>
                  <a:schemeClr val="bg1"/>
                </a:solidFill>
                <a:latin typeface="+mn-lt"/>
              </a:rPr>
              <a:t>promovarea</a:t>
            </a:r>
            <a:r>
              <a:rPr lang="en-US" sz="2400" dirty="0">
                <a:solidFill>
                  <a:schemeClr val="bg1"/>
                </a:solidFill>
                <a:latin typeface="+mn-lt"/>
              </a:rPr>
              <a:t> </a:t>
            </a:r>
            <a:r>
              <a:rPr lang="en-US" sz="2400" dirty="0" err="1">
                <a:solidFill>
                  <a:schemeClr val="bg1"/>
                </a:solidFill>
                <a:latin typeface="+mn-lt"/>
              </a:rPr>
              <a:t>sau</a:t>
            </a:r>
            <a:r>
              <a:rPr lang="en-US" sz="2400" dirty="0">
                <a:solidFill>
                  <a:schemeClr val="bg1"/>
                </a:solidFill>
                <a:latin typeface="+mn-lt"/>
              </a:rPr>
              <a:t> </a:t>
            </a:r>
            <a:r>
              <a:rPr lang="en-US" sz="2400" dirty="0" err="1">
                <a:solidFill>
                  <a:schemeClr val="bg1"/>
                </a:solidFill>
                <a:latin typeface="+mn-lt"/>
              </a:rPr>
              <a:t>câștigarea</a:t>
            </a:r>
            <a:r>
              <a:rPr lang="en-US" sz="2400" dirty="0">
                <a:solidFill>
                  <a:schemeClr val="bg1"/>
                </a:solidFill>
                <a:latin typeface="+mn-lt"/>
              </a:rPr>
              <a:t> </a:t>
            </a:r>
            <a:r>
              <a:rPr lang="en-US" sz="2400" dirty="0" err="1">
                <a:solidFill>
                  <a:schemeClr val="bg1"/>
                </a:solidFill>
                <a:latin typeface="+mn-lt"/>
              </a:rPr>
              <a:t>unor</a:t>
            </a:r>
            <a:r>
              <a:rPr lang="en-US" sz="2400" dirty="0">
                <a:solidFill>
                  <a:schemeClr val="bg1"/>
                </a:solidFill>
                <a:latin typeface="+mn-lt"/>
              </a:rPr>
              <a:t> </a:t>
            </a:r>
            <a:r>
              <a:rPr lang="en-US" sz="2400" dirty="0" err="1">
                <a:solidFill>
                  <a:schemeClr val="bg1"/>
                </a:solidFill>
                <a:latin typeface="+mn-lt"/>
              </a:rPr>
              <a:t>distincții</a:t>
            </a:r>
            <a:r>
              <a:rPr lang="en-US" sz="2400" dirty="0">
                <a:solidFill>
                  <a:schemeClr val="bg1"/>
                </a:solidFill>
                <a:latin typeface="+mn-lt"/>
              </a:rPr>
              <a:t>). </a:t>
            </a:r>
            <a:endParaRPr lang="en-US" altLang="en-US" sz="2400" b="1" dirty="0">
              <a:solidFill>
                <a:schemeClr val="bg1"/>
              </a:solidFill>
              <a:latin typeface="+mn-lt"/>
            </a:endParaRPr>
          </a:p>
          <a:p>
            <a:pPr eaLnBrk="1" hangingPunct="1">
              <a:defRPr/>
            </a:pPr>
            <a:endParaRPr lang="en-US" altLang="en-US" b="1" dirty="0">
              <a:solidFill>
                <a:schemeClr val="tx2"/>
              </a:solidFill>
              <a:latin typeface="Palatino Linotype" panose="02040502050505030304" pitchFamily="18" charset="0"/>
            </a:endParaRPr>
          </a:p>
          <a:p>
            <a:pPr eaLnBrk="1" hangingPunct="1">
              <a:defRPr/>
            </a:pPr>
            <a:endParaRPr lang="en-US" altLang="en-US" b="1" dirty="0">
              <a:solidFill>
                <a:schemeClr val="tx2"/>
              </a:solidFill>
            </a:endParaRPr>
          </a:p>
        </p:txBody>
      </p:sp>
    </p:spTree>
    <p:extLst>
      <p:ext uri="{BB962C8B-B14F-4D97-AF65-F5344CB8AC3E}">
        <p14:creationId xmlns:p14="http://schemas.microsoft.com/office/powerpoint/2010/main" val="34598814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15000"/>
          </a:xfrm>
        </p:spPr>
        <p:txBody>
          <a:bodyPr>
            <a:normAutofit fontScale="85000" lnSpcReduction="10000"/>
          </a:bodyPr>
          <a:lstStyle/>
          <a:p>
            <a:pPr algn="just"/>
            <a:r>
              <a:rPr lang="vi-VN" dirty="0" smtClean="0"/>
              <a:t>Conduci o editură academică de prestigiu care scoate reviste de referință, apreciate internațional. Ultimii ani au adus o scădere a cifrei de afaceri, abonamentele scad, pierzi angajați buni și cotă de piață. Articolele din revistele tale sunt citate, dar pierd teren în fața altora, al căror secret constă în a-și obliga autorii să citeze articole publicate înainte în aceeași revistă și să se auto-citeze pe ei înșiși cu articolul publicat, de minim cinci ori. Ce faci, urmezi aceeași politică? Argumentează. </a:t>
            </a:r>
            <a:endParaRPr lang="en-US" dirty="0" smtClean="0"/>
          </a:p>
          <a:p>
            <a:pPr algn="just"/>
            <a:r>
              <a:rPr lang="vi-VN" dirty="0" smtClean="0"/>
              <a:t>Care ar putea fi cauzele autocitării? Vanitatea sau centrarea pe sine, dorința de vizibilitate, lipsa de timp, imposibilitatea de a exprima mai bine anumite idei?</a:t>
            </a:r>
            <a:endParaRPr lang="en-US" dirty="0"/>
          </a:p>
        </p:txBody>
      </p:sp>
    </p:spTree>
    <p:extLst>
      <p:ext uri="{BB962C8B-B14F-4D97-AF65-F5344CB8AC3E}">
        <p14:creationId xmlns:p14="http://schemas.microsoft.com/office/powerpoint/2010/main" val="1491870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28600"/>
            <a:ext cx="8153400" cy="457200"/>
          </a:xfrm>
          <a:solidFill>
            <a:schemeClr val="accent2"/>
          </a:solidFill>
        </p:spPr>
        <p:txBody>
          <a:bodyPr>
            <a:normAutofit fontScale="90000"/>
          </a:bodyPr>
          <a:lstStyle/>
          <a:p>
            <a:r>
              <a:rPr lang="ro-RO" altLang="en-US" sz="2800" b="1" smtClean="0"/>
              <a:t/>
            </a:r>
            <a:br>
              <a:rPr lang="ro-RO" altLang="en-US" sz="2800" b="1" smtClean="0"/>
            </a:br>
            <a:r>
              <a:rPr lang="en-US" altLang="en-US" sz="2800" b="1" smtClean="0">
                <a:solidFill>
                  <a:schemeClr val="bg1"/>
                </a:solidFill>
              </a:rPr>
              <a:t>Plagiatul de tip copy-paste sau clonă </a:t>
            </a: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457200" y="762000"/>
            <a:ext cx="4111625" cy="446088"/>
          </a:xfrm>
          <a:solidFill>
            <a:schemeClr val="accent3"/>
          </a:solidFill>
        </p:spPr>
        <p:txBody>
          <a:bodyPr>
            <a:normAutofit lnSpcReduction="10000"/>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t>	</a:t>
            </a:r>
          </a:p>
        </p:txBody>
      </p:sp>
      <p:sp>
        <p:nvSpPr>
          <p:cNvPr id="10244" name="Content Placeholder 3"/>
          <p:cNvSpPr>
            <a:spLocks noGrp="1"/>
          </p:cNvSpPr>
          <p:nvPr>
            <p:ph sz="half" idx="2"/>
          </p:nvPr>
        </p:nvSpPr>
        <p:spPr>
          <a:xfrm>
            <a:off x="457200" y="1208088"/>
            <a:ext cx="4040188" cy="5649912"/>
          </a:xfrm>
        </p:spPr>
        <p:txBody>
          <a:bodyPr>
            <a:normAutofit lnSpcReduction="10000"/>
          </a:bodyPr>
          <a:lstStyle/>
          <a:p>
            <a:pPr marL="0" indent="0" algn="just">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0245" name="Text Placeholder 4"/>
          <p:cNvSpPr>
            <a:spLocks noGrp="1"/>
          </p:cNvSpPr>
          <p:nvPr>
            <p:ph type="body" sz="quarter" idx="3"/>
          </p:nvPr>
        </p:nvSpPr>
        <p:spPr>
          <a:xfrm>
            <a:off x="4724400" y="762000"/>
            <a:ext cx="3886200" cy="446088"/>
          </a:xfrm>
          <a:solidFill>
            <a:srgbClr val="FFC000"/>
          </a:solidFill>
        </p:spPr>
        <p:txBody>
          <a:bodyPr>
            <a:normAutofit fontScale="47500" lnSpcReduction="20000"/>
          </a:bodyPr>
          <a:lstStyle/>
          <a:p>
            <a:endParaRPr lang="ro-RO" altLang="en-US" smtClean="0"/>
          </a:p>
          <a:p>
            <a:pPr algn="ctr"/>
            <a:r>
              <a:rPr lang="en-US" altLang="en-US" smtClean="0">
                <a:solidFill>
                  <a:schemeClr val="bg1"/>
                </a:solidFill>
              </a:rPr>
              <a:t> </a:t>
            </a:r>
            <a:r>
              <a:rPr lang="en-US" altLang="en-US" i="1" smtClean="0">
                <a:solidFill>
                  <a:schemeClr val="bg1"/>
                </a:solidFill>
              </a:rPr>
              <a:t>Varianta plagiată</a:t>
            </a:r>
            <a:endParaRPr lang="ro-RO" altLang="en-US" i="1" smtClean="0">
              <a:solidFill>
                <a:schemeClr val="bg1"/>
              </a:solidFill>
            </a:endParaRPr>
          </a:p>
        </p:txBody>
      </p:sp>
      <p:sp>
        <p:nvSpPr>
          <p:cNvPr id="10246" name="Content Placeholder 5"/>
          <p:cNvSpPr>
            <a:spLocks noGrp="1"/>
          </p:cNvSpPr>
          <p:nvPr>
            <p:ph sz="quarter" idx="4"/>
          </p:nvPr>
        </p:nvSpPr>
        <p:spPr>
          <a:xfrm>
            <a:off x="4645025" y="1208088"/>
            <a:ext cx="4041775" cy="5649912"/>
          </a:xfrm>
        </p:spPr>
        <p:txBody>
          <a:bodyPr/>
          <a:lstStyle/>
          <a:p>
            <a:pPr marL="0" indent="0" algn="just">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 	</a:t>
            </a:r>
          </a:p>
          <a:p>
            <a:pPr marL="0" indent="0">
              <a:buFont typeface="Arial" charset="0"/>
              <a:buNone/>
            </a:pPr>
            <a:r>
              <a:rPr lang="en-US" altLang="en-US" smtClean="0"/>
              <a:t>	</a:t>
            </a:r>
          </a:p>
          <a:p>
            <a:pPr marL="0" indent="0">
              <a:buFont typeface="Arial" charset="0"/>
              <a:buNone/>
            </a:pPr>
            <a:endParaRPr lang="en-US" altLang="en-US" smtClean="0"/>
          </a:p>
        </p:txBody>
      </p:sp>
    </p:spTree>
    <p:extLst>
      <p:ext uri="{BB962C8B-B14F-4D97-AF65-F5344CB8AC3E}">
        <p14:creationId xmlns:p14="http://schemas.microsoft.com/office/powerpoint/2010/main" val="34529169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3400" y="76200"/>
            <a:ext cx="8153400" cy="609600"/>
          </a:xfrm>
          <a:solidFill>
            <a:schemeClr val="accent2"/>
          </a:solidFill>
        </p:spPr>
        <p:txBody>
          <a:bodyPr>
            <a:normAutofit fontScale="90000"/>
          </a:bodyPr>
          <a:lstStyle/>
          <a:p>
            <a:r>
              <a:rPr lang="ro-RO" altLang="en-US" sz="2800" b="1" smtClean="0"/>
              <a:t/>
            </a:r>
            <a:br>
              <a:rPr lang="ro-RO" altLang="en-US" sz="2800" b="1" smtClean="0"/>
            </a:br>
            <a:r>
              <a:rPr lang="en-US" altLang="en-US" smtClean="0"/>
              <a:t/>
            </a:r>
            <a:br>
              <a:rPr lang="en-US" altLang="en-US" smtClean="0"/>
            </a:br>
            <a:r>
              <a:rPr lang="ro-RO" altLang="en-US" smtClean="0"/>
              <a:t/>
            </a:r>
            <a:br>
              <a:rPr lang="ro-RO" altLang="en-US" smtClean="0"/>
            </a:br>
            <a:r>
              <a:rPr lang="en-US" altLang="en-US" sz="2800" b="1" smtClean="0">
                <a:solidFill>
                  <a:schemeClr val="bg1"/>
                </a:solidFill>
              </a:rPr>
              <a:t>Plagiatul prin citare parțială </a:t>
            </a:r>
            <a:r>
              <a:rPr lang="en-US" altLang="en-US" smtClean="0"/>
              <a:t/>
            </a:r>
            <a:br>
              <a:rPr lang="en-US" altLang="en-US" smtClean="0"/>
            </a:b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762000"/>
            <a:ext cx="4038600" cy="446088"/>
          </a:xfrm>
          <a:solidFill>
            <a:schemeClr val="accent3"/>
          </a:solidFill>
        </p:spPr>
        <p:txBody>
          <a:bodyPr>
            <a:normAutofit lnSpcReduction="10000"/>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1268" name="Content Placeholder 3"/>
          <p:cNvSpPr>
            <a:spLocks noGrp="1"/>
          </p:cNvSpPr>
          <p:nvPr>
            <p:ph sz="half" idx="2"/>
          </p:nvPr>
        </p:nvSpPr>
        <p:spPr>
          <a:xfrm>
            <a:off x="457200" y="1208088"/>
            <a:ext cx="4040188" cy="5649912"/>
          </a:xfrm>
        </p:spPr>
        <p:txBody>
          <a:bodyPr>
            <a:normAutofit lnSpcReduction="10000"/>
          </a:bodyPr>
          <a:lstStyle/>
          <a:p>
            <a:pPr marL="0" indent="0" algn="just">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1269" name="Text Placeholder 4"/>
          <p:cNvSpPr>
            <a:spLocks noGrp="1"/>
          </p:cNvSpPr>
          <p:nvPr>
            <p:ph type="body" sz="quarter" idx="3"/>
          </p:nvPr>
        </p:nvSpPr>
        <p:spPr>
          <a:xfrm>
            <a:off x="4645025" y="762000"/>
            <a:ext cx="4041775" cy="446088"/>
          </a:xfrm>
          <a:solidFill>
            <a:srgbClr val="FFC000"/>
          </a:solidFill>
        </p:spPr>
        <p:txBody>
          <a:bodyPr>
            <a:normAutofit fontScale="47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6" name="Content Placeholder 5"/>
          <p:cNvSpPr>
            <a:spLocks noGrp="1"/>
          </p:cNvSpPr>
          <p:nvPr>
            <p:ph sz="quarter" idx="4"/>
          </p:nvPr>
        </p:nvSpPr>
        <p:spPr>
          <a:xfrm>
            <a:off x="4645025" y="1208088"/>
            <a:ext cx="4041775" cy="5649912"/>
          </a:xfrm>
          <a:ln>
            <a:solidFill>
              <a:srgbClr val="92D050"/>
            </a:solidFill>
          </a:ln>
        </p:spPr>
        <p:txBody>
          <a:bodyPr/>
          <a:lstStyle/>
          <a:p>
            <a:pPr marL="0" indent="0" algn="just">
              <a:buFont typeface="Arial" panose="020B0604020202020204" pitchFamily="34" charset="0"/>
              <a:buNone/>
              <a:defRPr/>
            </a:pPr>
            <a:r>
              <a:rPr lang="en-US" sz="1800" dirty="0" err="1"/>
              <a:t>Chiar</a:t>
            </a:r>
            <a:r>
              <a:rPr lang="en-US" sz="1800" dirty="0"/>
              <a:t> </a:t>
            </a:r>
            <a:r>
              <a:rPr lang="en-US" sz="1800" dirty="0" err="1"/>
              <a:t>dacă</a:t>
            </a:r>
            <a:r>
              <a:rPr lang="en-US" sz="1800" dirty="0"/>
              <a:t> </a:t>
            </a:r>
            <a:r>
              <a:rPr lang="en-US" sz="1800" dirty="0" err="1"/>
              <a:t>resursele</a:t>
            </a:r>
            <a:r>
              <a:rPr lang="en-US" sz="1800" dirty="0"/>
              <a:t> </a:t>
            </a:r>
            <a:r>
              <a:rPr lang="en-US" sz="1800" dirty="0" err="1"/>
              <a:t>naturale</a:t>
            </a:r>
            <a:r>
              <a:rPr lang="en-US" sz="1800" dirty="0"/>
              <a:t> </a:t>
            </a:r>
            <a:r>
              <a:rPr lang="en-US" sz="1800" dirty="0" err="1"/>
              <a:t>sunt</a:t>
            </a:r>
            <a:r>
              <a:rPr lang="en-US" sz="1800" dirty="0"/>
              <a:t> rare </a:t>
            </a:r>
            <a:r>
              <a:rPr lang="en-US" sz="1800" dirty="0" err="1"/>
              <a:t>pe</a:t>
            </a:r>
            <a:r>
              <a:rPr lang="en-US" sz="1800" dirty="0"/>
              <a:t> </a:t>
            </a:r>
            <a:r>
              <a:rPr lang="en-US" sz="1800" dirty="0" err="1"/>
              <a:t>teritoriul</a:t>
            </a:r>
            <a:r>
              <a:rPr lang="en-US" sz="1800" dirty="0"/>
              <a:t> </a:t>
            </a:r>
            <a:r>
              <a:rPr lang="en-US" sz="1800" dirty="0" err="1">
                <a:solidFill>
                  <a:schemeClr val="accent6">
                    <a:lumMod val="75000"/>
                  </a:schemeClr>
                </a:solidFill>
              </a:rPr>
              <a:t>unei</a:t>
            </a:r>
            <a:r>
              <a:rPr lang="en-US" sz="1800" dirty="0">
                <a:solidFill>
                  <a:schemeClr val="accent6">
                    <a:lumMod val="75000"/>
                  </a:schemeClr>
                </a:solidFill>
              </a:rPr>
              <a:t> </a:t>
            </a:r>
            <a:r>
              <a:rPr lang="en-US" sz="1800" dirty="0" err="1">
                <a:solidFill>
                  <a:schemeClr val="accent6">
                    <a:lumMod val="75000"/>
                  </a:schemeClr>
                </a:solidFill>
              </a:rPr>
              <a:t>țări</a:t>
            </a:r>
            <a:r>
              <a:rPr lang="en-US" sz="1800" dirty="0"/>
              <a:t>, </a:t>
            </a:r>
            <a:r>
              <a:rPr lang="en-US" sz="1800" dirty="0" err="1"/>
              <a:t>lipsa</a:t>
            </a:r>
            <a:r>
              <a:rPr lang="en-US" sz="1800" dirty="0"/>
              <a:t> </a:t>
            </a:r>
            <a:r>
              <a:rPr lang="en-US" sz="1800" dirty="0" err="1"/>
              <a:t>lor</a:t>
            </a:r>
            <a:r>
              <a:rPr lang="en-US" sz="1800" dirty="0"/>
              <a:t> nu </a:t>
            </a:r>
            <a:r>
              <a:rPr lang="en-US" sz="1800" dirty="0" err="1"/>
              <a:t>este</a:t>
            </a:r>
            <a:r>
              <a:rPr lang="en-US" sz="1800" dirty="0"/>
              <a:t> un </a:t>
            </a:r>
            <a:r>
              <a:rPr lang="en-US" sz="1800" dirty="0" err="1"/>
              <a:t>indice</a:t>
            </a:r>
            <a:r>
              <a:rPr lang="en-US" sz="1800" dirty="0"/>
              <a:t> al </a:t>
            </a:r>
            <a:r>
              <a:rPr lang="en-US" sz="1800" dirty="0" err="1"/>
              <a:t>unei</a:t>
            </a:r>
            <a:r>
              <a:rPr lang="en-US" sz="1800" dirty="0"/>
              <a:t> </a:t>
            </a:r>
            <a:r>
              <a:rPr lang="en-US" sz="1800" dirty="0" err="1"/>
              <a:t>puteri</a:t>
            </a:r>
            <a:r>
              <a:rPr lang="en-US" sz="1800" dirty="0"/>
              <a:t> </a:t>
            </a:r>
            <a:r>
              <a:rPr lang="en-US" sz="1800" dirty="0" err="1"/>
              <a:t>economice</a:t>
            </a:r>
            <a:r>
              <a:rPr lang="en-US" sz="1800" dirty="0"/>
              <a:t> </a:t>
            </a:r>
            <a:r>
              <a:rPr lang="en-US" sz="1800" dirty="0" err="1">
                <a:solidFill>
                  <a:schemeClr val="accent6">
                    <a:lumMod val="75000"/>
                  </a:schemeClr>
                </a:solidFill>
              </a:rPr>
              <a:t>mici</a:t>
            </a:r>
            <a:r>
              <a:rPr lang="en-US" sz="1800" dirty="0"/>
              <a:t>. </a:t>
            </a:r>
            <a:r>
              <a:rPr lang="en-US" sz="1800" dirty="0" err="1"/>
              <a:t>Vulnerabilitatea</a:t>
            </a:r>
            <a:r>
              <a:rPr lang="en-US" sz="1800" dirty="0"/>
              <a:t> </a:t>
            </a:r>
            <a:r>
              <a:rPr lang="en-US" sz="1800" dirty="0" err="1"/>
              <a:t>unei</a:t>
            </a:r>
            <a:r>
              <a:rPr lang="en-US" sz="1800" dirty="0"/>
              <a:t> </a:t>
            </a:r>
            <a:r>
              <a:rPr lang="en-US" sz="1800" dirty="0" err="1"/>
              <a:t>țări</a:t>
            </a:r>
            <a:r>
              <a:rPr lang="en-US" sz="1800" dirty="0"/>
              <a:t> </a:t>
            </a:r>
            <a:r>
              <a:rPr lang="en-US" sz="1800" dirty="0" err="1"/>
              <a:t>influențează</a:t>
            </a:r>
            <a:r>
              <a:rPr lang="en-US" sz="1800" dirty="0"/>
              <a:t> </a:t>
            </a:r>
            <a:r>
              <a:rPr lang="en-US" sz="1800" dirty="0" err="1"/>
              <a:t>multe</a:t>
            </a:r>
            <a:r>
              <a:rPr lang="en-US" sz="1800" dirty="0"/>
              <a:t> </a:t>
            </a:r>
            <a:r>
              <a:rPr lang="en-US" sz="1800" dirty="0" err="1"/>
              <a:t>alte</a:t>
            </a:r>
            <a:r>
              <a:rPr lang="en-US" sz="1800" dirty="0"/>
              <a:t> </a:t>
            </a:r>
            <a:r>
              <a:rPr lang="en-US" sz="1800" dirty="0" err="1"/>
              <a:t>aspecte</a:t>
            </a:r>
            <a:r>
              <a:rPr lang="en-US" sz="1800" dirty="0"/>
              <a:t>, </a:t>
            </a:r>
            <a:r>
              <a:rPr lang="en-US" sz="1800" dirty="0" err="1"/>
              <a:t>iar</a:t>
            </a:r>
            <a:r>
              <a:rPr lang="en-US" sz="1800" dirty="0"/>
              <a:t> </a:t>
            </a:r>
            <a:r>
              <a:rPr lang="en-US" sz="1800" dirty="0" err="1"/>
              <a:t>aceasta</a:t>
            </a:r>
            <a:r>
              <a:rPr lang="en-US" sz="1800" dirty="0"/>
              <a:t> </a:t>
            </a:r>
            <a:r>
              <a:rPr lang="en-US" sz="1800" dirty="0" err="1"/>
              <a:t>depinde</a:t>
            </a:r>
            <a:r>
              <a:rPr lang="en-US" sz="1800" dirty="0"/>
              <a:t> de </a:t>
            </a:r>
            <a:r>
              <a:rPr lang="en-US" sz="1800" dirty="0" err="1"/>
              <a:t>existența</a:t>
            </a:r>
            <a:r>
              <a:rPr lang="en-US" sz="1800" dirty="0"/>
              <a:t> </a:t>
            </a:r>
            <a:r>
              <a:rPr lang="en-US" sz="1800" dirty="0" err="1"/>
              <a:t>unor</a:t>
            </a:r>
            <a:r>
              <a:rPr lang="en-US" sz="1800" dirty="0"/>
              <a:t> </a:t>
            </a:r>
            <a:r>
              <a:rPr lang="en-US" sz="1800" dirty="0" err="1"/>
              <a:t>înlocuitori</a:t>
            </a:r>
            <a:r>
              <a:rPr lang="en-US" sz="1800" dirty="0"/>
              <a:t> </a:t>
            </a:r>
            <a:r>
              <a:rPr lang="en-US" sz="1800" dirty="0" err="1"/>
              <a:t>și</a:t>
            </a:r>
            <a:r>
              <a:rPr lang="en-US" sz="1800" dirty="0"/>
              <a:t> de </a:t>
            </a:r>
            <a:r>
              <a:rPr lang="en-US" sz="1800" dirty="0" err="1"/>
              <a:t>diversitatea</a:t>
            </a:r>
            <a:r>
              <a:rPr lang="en-US" sz="1800" dirty="0"/>
              <a:t> </a:t>
            </a:r>
            <a:r>
              <a:rPr lang="en-US" sz="1800" dirty="0" err="1"/>
              <a:t>surselor</a:t>
            </a:r>
            <a:r>
              <a:rPr lang="en-US" sz="1800" dirty="0"/>
              <a:t> de </a:t>
            </a:r>
            <a:r>
              <a:rPr lang="en-US" sz="1800" dirty="0">
                <a:solidFill>
                  <a:schemeClr val="accent6">
                    <a:lumMod val="75000"/>
                  </a:schemeClr>
                </a:solidFill>
              </a:rPr>
              <a:t>import</a:t>
            </a:r>
            <a:r>
              <a:rPr lang="en-US" sz="1800" dirty="0"/>
              <a:t>. De </a:t>
            </a:r>
            <a:r>
              <a:rPr lang="en-US" sz="1800" dirty="0" err="1"/>
              <a:t>exemplu</a:t>
            </a:r>
            <a:r>
              <a:rPr lang="en-US" sz="1800" dirty="0"/>
              <a:t>, </a:t>
            </a:r>
            <a:r>
              <a:rPr lang="en-US" sz="1800" dirty="0" err="1"/>
              <a:t>în</a:t>
            </a:r>
            <a:r>
              <a:rPr lang="en-US" sz="1800" dirty="0"/>
              <a:t> </a:t>
            </a:r>
            <a:r>
              <a:rPr lang="en-US" sz="1800" dirty="0" err="1"/>
              <a:t>anii</a:t>
            </a:r>
            <a:r>
              <a:rPr lang="en-US" sz="1800" dirty="0"/>
              <a:t> ‘70, </a:t>
            </a:r>
            <a:r>
              <a:rPr lang="en-US" sz="1800" dirty="0" err="1"/>
              <a:t>unii</a:t>
            </a:r>
            <a:r>
              <a:rPr lang="en-US" sz="1800" dirty="0"/>
              <a:t> </a:t>
            </a:r>
            <a:r>
              <a:rPr lang="en-US" sz="1800" dirty="0" err="1"/>
              <a:t>analiști</a:t>
            </a:r>
            <a:r>
              <a:rPr lang="en-US" sz="1800" dirty="0"/>
              <a:t> </a:t>
            </a:r>
            <a:r>
              <a:rPr lang="en-US" sz="1800" dirty="0" err="1"/>
              <a:t>și</a:t>
            </a:r>
            <a:r>
              <a:rPr lang="en-US" sz="1800" dirty="0"/>
              <a:t>-au </a:t>
            </a:r>
            <a:r>
              <a:rPr lang="en-US" sz="1800" dirty="0" err="1"/>
              <a:t>exprimat</a:t>
            </a:r>
            <a:r>
              <a:rPr lang="en-US" sz="1800" dirty="0"/>
              <a:t> </a:t>
            </a:r>
            <a:r>
              <a:rPr lang="en-US" sz="1800" dirty="0" err="1"/>
              <a:t>îngrijorarea</a:t>
            </a:r>
            <a:r>
              <a:rPr lang="en-US" sz="1800" dirty="0"/>
              <a:t> cu </a:t>
            </a:r>
            <a:r>
              <a:rPr lang="en-US" sz="1800" dirty="0" err="1"/>
              <a:t>privire</a:t>
            </a:r>
            <a:r>
              <a:rPr lang="en-US" sz="1800" dirty="0"/>
              <a:t> la </a:t>
            </a:r>
            <a:r>
              <a:rPr lang="en-US" sz="1800" dirty="0" err="1"/>
              <a:t>dependența</a:t>
            </a:r>
            <a:r>
              <a:rPr lang="en-US" sz="1800" dirty="0"/>
              <a:t> tot </a:t>
            </a:r>
            <a:r>
              <a:rPr lang="en-US" sz="1800" dirty="0" err="1"/>
              <a:t>mai</a:t>
            </a:r>
            <a:r>
              <a:rPr lang="en-US" sz="1800" dirty="0"/>
              <a:t> mare a </a:t>
            </a:r>
            <a:r>
              <a:rPr lang="en-US" sz="1800" dirty="0" err="1"/>
              <a:t>Statelor</a:t>
            </a:r>
            <a:r>
              <a:rPr lang="en-US" sz="1800" dirty="0"/>
              <a:t> Unite de </a:t>
            </a:r>
            <a:r>
              <a:rPr lang="en-US" sz="1800" dirty="0" err="1"/>
              <a:t>materii</a:t>
            </a:r>
            <a:r>
              <a:rPr lang="en-US" sz="1800" dirty="0"/>
              <a:t> prime </a:t>
            </a:r>
            <a:r>
              <a:rPr lang="en-US" sz="1800" dirty="0" err="1"/>
              <a:t>importate</a:t>
            </a:r>
            <a:r>
              <a:rPr lang="en-US" sz="1800" dirty="0"/>
              <a:t> </a:t>
            </a:r>
            <a:r>
              <a:rPr lang="en-US" sz="1800" dirty="0" err="1"/>
              <a:t>și</a:t>
            </a:r>
            <a:r>
              <a:rPr lang="en-US" sz="1800" dirty="0"/>
              <a:t>, </a:t>
            </a:r>
            <a:r>
              <a:rPr lang="en-US" sz="1800" dirty="0" err="1"/>
              <a:t>așadar</a:t>
            </a:r>
            <a:r>
              <a:rPr lang="en-US" sz="1800" dirty="0"/>
              <a:t>, de </a:t>
            </a:r>
            <a:r>
              <a:rPr lang="en-US" sz="1800" dirty="0" err="1"/>
              <a:t>vulnerabilitatea</a:t>
            </a:r>
            <a:r>
              <a:rPr lang="en-US" sz="1800" dirty="0"/>
              <a:t> </a:t>
            </a:r>
            <a:r>
              <a:rPr lang="en-US" sz="1800" dirty="0" err="1"/>
              <a:t>lor</a:t>
            </a:r>
            <a:r>
              <a:rPr lang="en-US" sz="1800" dirty="0"/>
              <a:t>. Din </a:t>
            </a:r>
            <a:r>
              <a:rPr lang="en-US" sz="1800" dirty="0" err="1"/>
              <a:t>treisprezece</a:t>
            </a:r>
            <a:r>
              <a:rPr lang="en-US" sz="1800" dirty="0"/>
              <a:t> </a:t>
            </a:r>
            <a:r>
              <a:rPr lang="en-US" sz="1800" dirty="0" err="1"/>
              <a:t>materii</a:t>
            </a:r>
            <a:r>
              <a:rPr lang="en-US" sz="1800" dirty="0"/>
              <a:t> prime </a:t>
            </a:r>
            <a:r>
              <a:rPr lang="en-US" sz="1800" dirty="0" err="1"/>
              <a:t>industriale</a:t>
            </a:r>
            <a:r>
              <a:rPr lang="en-US" sz="1800" dirty="0"/>
              <a:t> de </a:t>
            </a:r>
            <a:r>
              <a:rPr lang="en-US" sz="1800" dirty="0" err="1"/>
              <a:t>bază</a:t>
            </a:r>
            <a:r>
              <a:rPr lang="en-US" sz="1800" dirty="0"/>
              <a:t>, </a:t>
            </a:r>
            <a:r>
              <a:rPr lang="en-US" sz="1800" dirty="0">
                <a:solidFill>
                  <a:schemeClr val="accent6">
                    <a:lumMod val="75000"/>
                  </a:schemeClr>
                </a:solidFill>
              </a:rPr>
              <a:t>America</a:t>
            </a:r>
            <a:r>
              <a:rPr lang="en-US" sz="1800" dirty="0"/>
              <a:t> </a:t>
            </a:r>
            <a:r>
              <a:rPr lang="en-US" sz="1800" dirty="0" err="1"/>
              <a:t>depindea</a:t>
            </a:r>
            <a:r>
              <a:rPr lang="en-US" sz="1800" dirty="0"/>
              <a:t> de </a:t>
            </a:r>
            <a:r>
              <a:rPr lang="en-US" sz="1800" dirty="0" err="1"/>
              <a:t>importuri</a:t>
            </a:r>
            <a:r>
              <a:rPr lang="en-US" sz="1800" dirty="0"/>
              <a:t> </a:t>
            </a:r>
            <a:r>
              <a:rPr lang="en-US" sz="1800" dirty="0" err="1"/>
              <a:t>pentru</a:t>
            </a:r>
            <a:r>
              <a:rPr lang="en-US" sz="1800" dirty="0"/>
              <a:t> </a:t>
            </a:r>
            <a:r>
              <a:rPr lang="en-US" sz="1800" dirty="0" err="1"/>
              <a:t>aproape</a:t>
            </a:r>
            <a:r>
              <a:rPr lang="en-US" sz="1800" dirty="0"/>
              <a:t> 90% din </a:t>
            </a:r>
            <a:r>
              <a:rPr lang="en-US" sz="1800" dirty="0" err="1"/>
              <a:t>necesarul</a:t>
            </a:r>
            <a:r>
              <a:rPr lang="en-US" sz="1800" dirty="0"/>
              <a:t> de </a:t>
            </a:r>
            <a:r>
              <a:rPr lang="en-US" sz="1800" dirty="0" err="1"/>
              <a:t>aluminiu</a:t>
            </a:r>
            <a:r>
              <a:rPr lang="en-US" sz="1800" dirty="0"/>
              <a:t>, </a:t>
            </a:r>
            <a:r>
              <a:rPr lang="en-US" sz="1800" dirty="0" err="1"/>
              <a:t>crom</a:t>
            </a:r>
            <a:r>
              <a:rPr lang="en-US" sz="1800" dirty="0"/>
              <a:t>, </a:t>
            </a:r>
            <a:r>
              <a:rPr lang="en-US" sz="1800" dirty="0" err="1"/>
              <a:t>mangan</a:t>
            </a:r>
            <a:r>
              <a:rPr lang="en-US" sz="1800" dirty="0"/>
              <a:t> </a:t>
            </a:r>
            <a:r>
              <a:rPr lang="en-US" sz="1800" dirty="0" err="1"/>
              <a:t>și</a:t>
            </a:r>
            <a:r>
              <a:rPr lang="en-US" sz="1800" dirty="0"/>
              <a:t> </a:t>
            </a:r>
            <a:r>
              <a:rPr lang="en-US" sz="1800" dirty="0" err="1"/>
              <a:t>nichel</a:t>
            </a:r>
            <a:r>
              <a:rPr lang="en-US" sz="1800" dirty="0"/>
              <a:t> (</a:t>
            </a:r>
            <a:r>
              <a:rPr lang="en-US" sz="1800" dirty="0">
                <a:solidFill>
                  <a:schemeClr val="accent6">
                    <a:lumMod val="75000"/>
                  </a:schemeClr>
                </a:solidFill>
              </a:rPr>
              <a:t>Nye, 2012, p.81</a:t>
            </a:r>
            <a:r>
              <a:rPr lang="en-US" sz="1800" dirty="0"/>
              <a:t>). 	</a:t>
            </a:r>
          </a:p>
          <a:p>
            <a:pPr marL="0" indent="0">
              <a:buFont typeface="Arial" panose="020B0604020202020204" pitchFamily="34" charset="0"/>
              <a:buNone/>
              <a:defRPr/>
            </a:pPr>
            <a:r>
              <a:rPr lang="en-US" dirty="0"/>
              <a:t>	</a:t>
            </a:r>
          </a:p>
          <a:p>
            <a:pPr marL="0" indent="0">
              <a:buFont typeface="Arial" panose="020B0604020202020204" pitchFamily="34" charset="0"/>
              <a:buNone/>
              <a:defRPr/>
            </a:pPr>
            <a:endParaRPr lang="en-US" dirty="0"/>
          </a:p>
        </p:txBody>
      </p:sp>
    </p:spTree>
    <p:extLst>
      <p:ext uri="{BB962C8B-B14F-4D97-AF65-F5344CB8AC3E}">
        <p14:creationId xmlns:p14="http://schemas.microsoft.com/office/powerpoint/2010/main" val="25591977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3400" y="57150"/>
            <a:ext cx="8153400" cy="704850"/>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 prin </a:t>
            </a:r>
            <a:r>
              <a:rPr lang="ro-RO" altLang="en-US" sz="2800" b="1" smtClean="0">
                <a:solidFill>
                  <a:schemeClr val="bg1"/>
                </a:solidFill>
              </a:rPr>
              <a:t>p</a:t>
            </a:r>
            <a:r>
              <a:rPr lang="en-US" altLang="en-US" sz="2800" b="1" smtClean="0">
                <a:solidFill>
                  <a:schemeClr val="bg1"/>
                </a:solidFill>
              </a:rPr>
              <a:t>arafrazare</a:t>
            </a:r>
            <a:r>
              <a:rPr lang="en-US" altLang="en-US" b="1" smtClean="0"/>
              <a:t> </a:t>
            </a:r>
            <a:r>
              <a:rPr lang="en-US" altLang="en-US" smtClean="0"/>
              <a:t/>
            </a:r>
            <a:br>
              <a:rPr lang="en-US" altLang="en-US" smtClean="0"/>
            </a:b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762000"/>
            <a:ext cx="4038600" cy="446088"/>
          </a:xfrm>
          <a:solidFill>
            <a:schemeClr val="accent3"/>
          </a:solidFill>
        </p:spPr>
        <p:txBody>
          <a:bodyPr>
            <a:normAutofit lnSpcReduction="10000"/>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2292" name="Content Placeholder 3"/>
          <p:cNvSpPr>
            <a:spLocks noGrp="1"/>
          </p:cNvSpPr>
          <p:nvPr>
            <p:ph sz="half" idx="2"/>
          </p:nvPr>
        </p:nvSpPr>
        <p:spPr>
          <a:xfrm>
            <a:off x="457200" y="1208088"/>
            <a:ext cx="4040188" cy="5649912"/>
          </a:xfrm>
        </p:spPr>
        <p:txBody>
          <a:bodyPr>
            <a:normAutofit lnSpcReduction="10000"/>
          </a:bodyPr>
          <a:lstStyle/>
          <a:p>
            <a:pPr marL="0" indent="0" algn="just">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2293" name="Text Placeholder 4"/>
          <p:cNvSpPr>
            <a:spLocks noGrp="1"/>
          </p:cNvSpPr>
          <p:nvPr>
            <p:ph type="body" sz="quarter" idx="3"/>
          </p:nvPr>
        </p:nvSpPr>
        <p:spPr>
          <a:xfrm>
            <a:off x="4645025" y="762000"/>
            <a:ext cx="4041775" cy="446088"/>
          </a:xfrm>
          <a:solidFill>
            <a:srgbClr val="FFC000"/>
          </a:solidFill>
        </p:spPr>
        <p:txBody>
          <a:bodyPr>
            <a:normAutofit fontScale="47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2294" name="Content Placeholder 5"/>
          <p:cNvSpPr>
            <a:spLocks noGrp="1"/>
          </p:cNvSpPr>
          <p:nvPr>
            <p:ph sz="quarter" idx="4"/>
          </p:nvPr>
        </p:nvSpPr>
        <p:spPr>
          <a:xfrm>
            <a:off x="4645025" y="1208088"/>
            <a:ext cx="4041775" cy="5649912"/>
          </a:xfrm>
          <a:ln>
            <a:solidFill>
              <a:srgbClr val="92D050"/>
            </a:solidFill>
            <a:miter lim="800000"/>
            <a:headEnd/>
            <a:tailEnd/>
          </a:ln>
        </p:spPr>
        <p:txBody>
          <a:bodyPr/>
          <a:lstStyle/>
          <a:p>
            <a:pPr marL="0" indent="0" algn="just">
              <a:buFont typeface="Arial" charset="0"/>
              <a:buNone/>
            </a:pPr>
            <a:r>
              <a:rPr lang="en-US" altLang="en-US" sz="1800" smtClean="0">
                <a:solidFill>
                  <a:srgbClr val="FFC000"/>
                </a:solidFill>
              </a:rPr>
              <a:t>Deși</a:t>
            </a:r>
            <a:r>
              <a:rPr lang="en-US" altLang="en-US" sz="1800" smtClean="0"/>
              <a:t> resursele naturale </a:t>
            </a:r>
            <a:r>
              <a:rPr lang="en-US" altLang="en-US" sz="1800" smtClean="0">
                <a:solidFill>
                  <a:srgbClr val="FFC000"/>
                </a:solidFill>
              </a:rPr>
              <a:t>nu există </a:t>
            </a:r>
            <a:r>
              <a:rPr lang="en-US" altLang="en-US" sz="1800" smtClean="0"/>
              <a:t>pe teritoriul unui stat, acest lucru nu este un </a:t>
            </a:r>
            <a:r>
              <a:rPr lang="en-US" altLang="en-US" sz="1800" smtClean="0">
                <a:solidFill>
                  <a:srgbClr val="FFC000"/>
                </a:solidFill>
              </a:rPr>
              <a:t>indicator </a:t>
            </a:r>
            <a:r>
              <a:rPr lang="en-US" altLang="en-US" sz="1800" smtClean="0"/>
              <a:t>al unei puteri economice reduse. Vulnerabilitatea unei țări </a:t>
            </a:r>
            <a:r>
              <a:rPr lang="en-US" altLang="en-US" sz="1800" smtClean="0">
                <a:solidFill>
                  <a:srgbClr val="FFC000"/>
                </a:solidFill>
              </a:rPr>
              <a:t>își pune amprenta pe multe variabile</a:t>
            </a:r>
            <a:r>
              <a:rPr lang="en-US" altLang="en-US" sz="1800" smtClean="0"/>
              <a:t>, iar aceasta depinde de existența unor înlocuitori și de diversitatea surselor de </a:t>
            </a:r>
            <a:r>
              <a:rPr lang="en-US" altLang="en-US" sz="1800" smtClean="0">
                <a:solidFill>
                  <a:srgbClr val="FFC000"/>
                </a:solidFill>
              </a:rPr>
              <a:t>import</a:t>
            </a:r>
            <a:r>
              <a:rPr lang="en-US" altLang="en-US" sz="1800" smtClean="0"/>
              <a:t>. În anii ‘70, </a:t>
            </a:r>
            <a:r>
              <a:rPr lang="en-US" altLang="en-US" sz="1800" smtClean="0">
                <a:solidFill>
                  <a:srgbClr val="FFC000"/>
                </a:solidFill>
              </a:rPr>
              <a:t>o serie de specialiști </a:t>
            </a:r>
            <a:r>
              <a:rPr lang="en-US" altLang="en-US" sz="1800" smtClean="0"/>
              <a:t>și-au exprimat </a:t>
            </a:r>
            <a:r>
              <a:rPr lang="en-US" altLang="en-US" sz="1800" smtClean="0">
                <a:solidFill>
                  <a:srgbClr val="FFC000"/>
                </a:solidFill>
              </a:rPr>
              <a:t>reținerea</a:t>
            </a:r>
            <a:r>
              <a:rPr lang="en-US" altLang="en-US" sz="1800" smtClean="0"/>
              <a:t> cu privire la </a:t>
            </a:r>
            <a:r>
              <a:rPr lang="en-US" altLang="en-US" sz="1800" smtClean="0">
                <a:solidFill>
                  <a:srgbClr val="FFC000"/>
                </a:solidFill>
              </a:rPr>
              <a:t>dependența Statelor Unite de materii prime achiziționate de pe alte piețe </a:t>
            </a:r>
            <a:r>
              <a:rPr lang="en-US" altLang="en-US" sz="1800" smtClean="0"/>
              <a:t>și, așadar, de vulnerabilitatea lor. Din </a:t>
            </a:r>
            <a:r>
              <a:rPr lang="en-US" altLang="en-US" sz="1800" smtClean="0">
                <a:solidFill>
                  <a:srgbClr val="FFC000"/>
                </a:solidFill>
              </a:rPr>
              <a:t>13</a:t>
            </a:r>
            <a:r>
              <a:rPr lang="en-US" altLang="en-US" sz="1800" smtClean="0"/>
              <a:t> materii prime industriale de bază, </a:t>
            </a:r>
            <a:r>
              <a:rPr lang="en-US" altLang="en-US" sz="1800" smtClean="0">
                <a:solidFill>
                  <a:srgbClr val="FFC000"/>
                </a:solidFill>
              </a:rPr>
              <a:t>America</a:t>
            </a:r>
            <a:r>
              <a:rPr lang="en-US" altLang="en-US" sz="1800" smtClean="0"/>
              <a:t> depindea de </a:t>
            </a:r>
            <a:r>
              <a:rPr lang="en-US" altLang="en-US" sz="1800" smtClean="0">
                <a:solidFill>
                  <a:srgbClr val="FFC000"/>
                </a:solidFill>
              </a:rPr>
              <a:t>achiziții externe </a:t>
            </a:r>
            <a:r>
              <a:rPr lang="en-US" altLang="en-US" sz="1800" smtClean="0"/>
              <a:t>pentru aproape 90% din necesarul de aluminiu, crom, mangan și</a:t>
            </a:r>
            <a:r>
              <a:rPr lang="en-US" altLang="en-US" smtClean="0"/>
              <a:t> </a:t>
            </a:r>
            <a:r>
              <a:rPr lang="en-US" altLang="en-US" sz="1800" smtClean="0"/>
              <a:t>nichel. </a:t>
            </a:r>
            <a:r>
              <a:rPr lang="en-US" altLang="en-US" smtClean="0"/>
              <a:t>	</a:t>
            </a:r>
          </a:p>
          <a:p>
            <a:pPr marL="0" indent="0">
              <a:buFont typeface="Arial" charset="0"/>
              <a:buNone/>
            </a:pPr>
            <a:r>
              <a:rPr lang="en-US" altLang="en-US" sz="1800" smtClean="0"/>
              <a:t>	</a:t>
            </a:r>
          </a:p>
          <a:p>
            <a:pPr marL="0" indent="0">
              <a:buFont typeface="Arial" charset="0"/>
              <a:buNone/>
            </a:pPr>
            <a:r>
              <a:rPr lang="en-US" altLang="en-US" smtClean="0"/>
              <a:t>	</a:t>
            </a:r>
          </a:p>
          <a:p>
            <a:pPr marL="0" indent="0">
              <a:buFont typeface="Arial" charset="0"/>
              <a:buNone/>
            </a:pPr>
            <a:endParaRPr lang="en-US" altLang="en-US" smtClean="0"/>
          </a:p>
        </p:txBody>
      </p:sp>
    </p:spTree>
    <p:extLst>
      <p:ext uri="{BB962C8B-B14F-4D97-AF65-F5344CB8AC3E}">
        <p14:creationId xmlns:p14="http://schemas.microsoft.com/office/powerpoint/2010/main" val="24955950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3400" y="76200"/>
            <a:ext cx="8153400" cy="685800"/>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 prin </a:t>
            </a:r>
            <a:r>
              <a:rPr lang="ro-RO" altLang="en-US" sz="2800" b="1" smtClean="0">
                <a:solidFill>
                  <a:schemeClr val="bg1"/>
                </a:solidFill>
              </a:rPr>
              <a:t>mixare</a:t>
            </a: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762000"/>
            <a:ext cx="4038600" cy="446088"/>
          </a:xfrm>
          <a:solidFill>
            <a:schemeClr val="accent3"/>
          </a:solidFill>
        </p:spPr>
        <p:txBody>
          <a:bodyPr>
            <a:normAutofit lnSpcReduction="10000"/>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3316" name="Content Placeholder 3"/>
          <p:cNvSpPr>
            <a:spLocks noGrp="1"/>
          </p:cNvSpPr>
          <p:nvPr>
            <p:ph sz="half" idx="2"/>
          </p:nvPr>
        </p:nvSpPr>
        <p:spPr>
          <a:xfrm>
            <a:off x="457200" y="1208088"/>
            <a:ext cx="4040188" cy="5649912"/>
          </a:xfrm>
        </p:spPr>
        <p:txBody>
          <a:bodyPr>
            <a:normAutofit lnSpcReduction="10000"/>
          </a:bodyPr>
          <a:lstStyle/>
          <a:p>
            <a:pPr marL="0" indent="0" algn="just">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3317" name="Text Placeholder 4"/>
          <p:cNvSpPr>
            <a:spLocks noGrp="1"/>
          </p:cNvSpPr>
          <p:nvPr>
            <p:ph type="body" sz="quarter" idx="3"/>
          </p:nvPr>
        </p:nvSpPr>
        <p:spPr>
          <a:xfrm>
            <a:off x="4645025" y="762000"/>
            <a:ext cx="4041775" cy="446088"/>
          </a:xfrm>
          <a:solidFill>
            <a:srgbClr val="FFC000"/>
          </a:solidFill>
        </p:spPr>
        <p:txBody>
          <a:bodyPr>
            <a:normAutofit fontScale="47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3318" name="Content Placeholder 5"/>
          <p:cNvSpPr>
            <a:spLocks noGrp="1"/>
          </p:cNvSpPr>
          <p:nvPr>
            <p:ph sz="quarter" idx="4"/>
          </p:nvPr>
        </p:nvSpPr>
        <p:spPr>
          <a:xfrm>
            <a:off x="4645025" y="1208088"/>
            <a:ext cx="4041775" cy="5649912"/>
          </a:xfrm>
          <a:ln>
            <a:solidFill>
              <a:srgbClr val="92D050"/>
            </a:solidFill>
            <a:miter lim="800000"/>
            <a:headEnd/>
            <a:tailEnd/>
          </a:ln>
        </p:spPr>
        <p:txBody>
          <a:bodyPr/>
          <a:lstStyle/>
          <a:p>
            <a:pPr marL="0" indent="0" algn="just">
              <a:buFont typeface="Arial" charset="0"/>
              <a:buNone/>
            </a:pPr>
            <a:r>
              <a:rPr lang="en-US" altLang="en-US" sz="1800" dirty="0" err="1" smtClean="0">
                <a:solidFill>
                  <a:srgbClr val="FFC000"/>
                </a:solidFill>
              </a:rPr>
              <a:t>Statele</a:t>
            </a:r>
            <a:r>
              <a:rPr lang="en-US" altLang="en-US" sz="1800" dirty="0" smtClean="0">
                <a:solidFill>
                  <a:srgbClr val="FFC000"/>
                </a:solidFill>
              </a:rPr>
              <a:t> </a:t>
            </a:r>
            <a:r>
              <a:rPr lang="en-US" altLang="en-US" sz="1800" dirty="0" err="1" smtClean="0">
                <a:solidFill>
                  <a:srgbClr val="FFC000"/>
                </a:solidFill>
              </a:rPr>
              <a:t>fac</a:t>
            </a:r>
            <a:r>
              <a:rPr lang="en-US" altLang="en-US" sz="1800" dirty="0" smtClean="0">
                <a:solidFill>
                  <a:srgbClr val="FFC000"/>
                </a:solidFill>
              </a:rPr>
              <a:t> </a:t>
            </a:r>
            <a:r>
              <a:rPr lang="en-US" altLang="en-US" sz="1800" dirty="0" err="1" smtClean="0">
                <a:solidFill>
                  <a:srgbClr val="FFC000"/>
                </a:solidFill>
              </a:rPr>
              <a:t>eforturi</a:t>
            </a:r>
            <a:r>
              <a:rPr lang="en-US" altLang="en-US" sz="1800" dirty="0" smtClean="0">
                <a:solidFill>
                  <a:srgbClr val="FFC000"/>
                </a:solidFill>
              </a:rPr>
              <a:t> </a:t>
            </a:r>
            <a:r>
              <a:rPr lang="en-US" altLang="en-US" sz="1800" dirty="0" err="1" smtClean="0">
                <a:solidFill>
                  <a:srgbClr val="FFC000"/>
                </a:solidFill>
              </a:rPr>
              <a:t>să</a:t>
            </a:r>
            <a:r>
              <a:rPr lang="en-US" altLang="en-US" sz="1800" dirty="0" smtClean="0">
                <a:solidFill>
                  <a:srgbClr val="FFC000"/>
                </a:solidFill>
              </a:rPr>
              <a:t> </a:t>
            </a:r>
            <a:r>
              <a:rPr lang="en-US" altLang="en-US" sz="1800" dirty="0" err="1" smtClean="0">
                <a:solidFill>
                  <a:srgbClr val="FFC000"/>
                </a:solidFill>
              </a:rPr>
              <a:t>modeleze</a:t>
            </a:r>
            <a:r>
              <a:rPr lang="en-US" altLang="en-US" sz="1800" dirty="0" smtClean="0">
                <a:solidFill>
                  <a:srgbClr val="FFC000"/>
                </a:solidFill>
              </a:rPr>
              <a:t> </a:t>
            </a:r>
            <a:r>
              <a:rPr lang="en-US" altLang="en-US" sz="1800" dirty="0" err="1" smtClean="0">
                <a:solidFill>
                  <a:srgbClr val="FFC000"/>
                </a:solidFill>
              </a:rPr>
              <a:t>structura</a:t>
            </a:r>
            <a:r>
              <a:rPr lang="en-US" altLang="en-US" sz="1800" dirty="0" smtClean="0">
                <a:solidFill>
                  <a:srgbClr val="FFC000"/>
                </a:solidFill>
              </a:rPr>
              <a:t> </a:t>
            </a:r>
            <a:r>
              <a:rPr lang="en-US" altLang="en-US" sz="1800" dirty="0" err="1" smtClean="0">
                <a:solidFill>
                  <a:srgbClr val="FFC000"/>
                </a:solidFill>
              </a:rPr>
              <a:t>piețelor</a:t>
            </a:r>
            <a:r>
              <a:rPr lang="en-US" altLang="en-US" sz="1800" dirty="0" smtClean="0">
                <a:solidFill>
                  <a:srgbClr val="FFC000"/>
                </a:solidFill>
              </a:rPr>
              <a:t> </a:t>
            </a:r>
            <a:r>
              <a:rPr lang="en-US" altLang="en-US" sz="1800" dirty="0" err="1" smtClean="0">
                <a:solidFill>
                  <a:srgbClr val="FFC000"/>
                </a:solidFill>
              </a:rPr>
              <a:t>spre</a:t>
            </a:r>
            <a:r>
              <a:rPr lang="en-US" altLang="en-US" sz="1800" dirty="0" smtClean="0">
                <a:solidFill>
                  <a:srgbClr val="FFC000"/>
                </a:solidFill>
              </a:rPr>
              <a:t> </a:t>
            </a:r>
            <a:r>
              <a:rPr lang="en-US" altLang="en-US" sz="1800" dirty="0" err="1" smtClean="0">
                <a:solidFill>
                  <a:srgbClr val="FFC000"/>
                </a:solidFill>
              </a:rPr>
              <a:t>avantajul</a:t>
            </a:r>
            <a:r>
              <a:rPr lang="en-US" altLang="en-US" sz="1800" dirty="0" smtClean="0">
                <a:solidFill>
                  <a:srgbClr val="FFC000"/>
                </a:solidFill>
              </a:rPr>
              <a:t> </a:t>
            </a:r>
            <a:r>
              <a:rPr lang="en-US" altLang="en-US" sz="1800" dirty="0" err="1" smtClean="0">
                <a:solidFill>
                  <a:srgbClr val="FFC000"/>
                </a:solidFill>
              </a:rPr>
              <a:t>propriu</a:t>
            </a:r>
            <a:r>
              <a:rPr lang="en-US" altLang="en-US" sz="1800" dirty="0" smtClean="0"/>
              <a:t>, </a:t>
            </a:r>
            <a:r>
              <a:rPr lang="en-US" altLang="en-US" sz="1800" dirty="0" err="1" smtClean="0"/>
              <a:t>chiar</a:t>
            </a:r>
            <a:r>
              <a:rPr lang="en-US" altLang="en-US" sz="1800" dirty="0" smtClean="0"/>
              <a:t> </a:t>
            </a:r>
            <a:r>
              <a:rPr lang="en-US" altLang="en-US" sz="1800" dirty="0" err="1" smtClean="0"/>
              <a:t>dacă</a:t>
            </a:r>
            <a:r>
              <a:rPr lang="en-US" altLang="en-US" sz="1800" dirty="0" smtClean="0"/>
              <a:t> </a:t>
            </a:r>
            <a:r>
              <a:rPr lang="en-US" altLang="en-US" sz="1800" dirty="0" err="1" smtClean="0"/>
              <a:t>resursele</a:t>
            </a:r>
            <a:r>
              <a:rPr lang="en-US" altLang="en-US" sz="1800" dirty="0" smtClean="0"/>
              <a:t> </a:t>
            </a:r>
            <a:r>
              <a:rPr lang="en-US" altLang="en-US" sz="1800" dirty="0" err="1" smtClean="0"/>
              <a:t>naturale</a:t>
            </a:r>
            <a:r>
              <a:rPr lang="en-US" altLang="en-US" sz="1800" dirty="0" smtClean="0"/>
              <a:t> </a:t>
            </a:r>
            <a:r>
              <a:rPr lang="en-US" altLang="en-US" sz="1800" dirty="0" err="1" smtClean="0"/>
              <a:t>sunt</a:t>
            </a:r>
            <a:r>
              <a:rPr lang="en-US" altLang="en-US" sz="1800" dirty="0" smtClean="0"/>
              <a:t> rare </a:t>
            </a:r>
            <a:r>
              <a:rPr lang="en-US" altLang="en-US" sz="1800" dirty="0" err="1" smtClean="0"/>
              <a:t>pe</a:t>
            </a:r>
            <a:r>
              <a:rPr lang="en-US" altLang="en-US" sz="1800" dirty="0" smtClean="0"/>
              <a:t> </a:t>
            </a:r>
            <a:r>
              <a:rPr lang="en-US" altLang="en-US" sz="1800" dirty="0" err="1" smtClean="0"/>
              <a:t>teritoriul</a:t>
            </a:r>
            <a:r>
              <a:rPr lang="en-US" altLang="en-US" sz="1800" dirty="0" smtClean="0"/>
              <a:t> </a:t>
            </a:r>
            <a:r>
              <a:rPr lang="en-US" altLang="en-US" sz="1800" dirty="0" err="1" smtClean="0"/>
              <a:t>lor</a:t>
            </a:r>
            <a:r>
              <a:rPr lang="en-US" altLang="en-US" sz="1800" dirty="0" smtClean="0"/>
              <a:t>. </a:t>
            </a:r>
            <a:r>
              <a:rPr lang="en-US" altLang="en-US" sz="1800" dirty="0" err="1" smtClean="0"/>
              <a:t>Vulnerabilitatea</a:t>
            </a:r>
            <a:r>
              <a:rPr lang="en-US" altLang="en-US" sz="1800" dirty="0" smtClean="0"/>
              <a:t> </a:t>
            </a:r>
            <a:r>
              <a:rPr lang="en-US" altLang="en-US" sz="1800" dirty="0" err="1" smtClean="0"/>
              <a:t>unei</a:t>
            </a:r>
            <a:r>
              <a:rPr lang="en-US" altLang="en-US" sz="1800" dirty="0" smtClean="0"/>
              <a:t> </a:t>
            </a:r>
            <a:r>
              <a:rPr lang="en-US" altLang="en-US" sz="1800" dirty="0" err="1" smtClean="0"/>
              <a:t>țări</a:t>
            </a:r>
            <a:r>
              <a:rPr lang="en-US" altLang="en-US" sz="1800" dirty="0" smtClean="0"/>
              <a:t> </a:t>
            </a:r>
            <a:r>
              <a:rPr lang="en-US" altLang="en-US" sz="1800" dirty="0" err="1" smtClean="0"/>
              <a:t>influențează</a:t>
            </a:r>
            <a:r>
              <a:rPr lang="en-US" altLang="en-US" sz="1800" dirty="0" smtClean="0"/>
              <a:t> </a:t>
            </a:r>
            <a:r>
              <a:rPr lang="en-US" altLang="en-US" sz="1800" dirty="0" err="1" smtClean="0"/>
              <a:t>multe</a:t>
            </a:r>
            <a:r>
              <a:rPr lang="en-US" altLang="en-US" sz="1800" dirty="0" smtClean="0"/>
              <a:t> </a:t>
            </a:r>
            <a:r>
              <a:rPr lang="en-US" altLang="en-US" sz="1800" dirty="0" err="1" smtClean="0"/>
              <a:t>aspecte</a:t>
            </a:r>
            <a:r>
              <a:rPr lang="en-US" altLang="en-US" sz="1800" dirty="0" smtClean="0"/>
              <a:t>, </a:t>
            </a:r>
            <a:r>
              <a:rPr lang="en-US" altLang="en-US" sz="1800" dirty="0" err="1" smtClean="0"/>
              <a:t>însă</a:t>
            </a:r>
            <a:r>
              <a:rPr lang="en-US" altLang="en-US" sz="1800" dirty="0" smtClean="0"/>
              <a:t> </a:t>
            </a:r>
            <a:r>
              <a:rPr lang="en-US" altLang="en-US" sz="1800" dirty="0" err="1" smtClean="0">
                <a:solidFill>
                  <a:srgbClr val="FFC000"/>
                </a:solidFill>
              </a:rPr>
              <a:t>analiștii</a:t>
            </a:r>
            <a:r>
              <a:rPr lang="en-US" altLang="en-US" sz="1800" dirty="0" smtClean="0">
                <a:solidFill>
                  <a:srgbClr val="FFC000"/>
                </a:solidFill>
              </a:rPr>
              <a:t> nu au </a:t>
            </a:r>
            <a:r>
              <a:rPr lang="en-US" altLang="en-US" sz="1800" dirty="0" err="1" smtClean="0">
                <a:solidFill>
                  <a:srgbClr val="FFC000"/>
                </a:solidFill>
              </a:rPr>
              <a:t>luat</a:t>
            </a:r>
            <a:r>
              <a:rPr lang="en-US" altLang="en-US" sz="1800" dirty="0" smtClean="0">
                <a:solidFill>
                  <a:srgbClr val="FFC000"/>
                </a:solidFill>
              </a:rPr>
              <a:t> </a:t>
            </a:r>
            <a:r>
              <a:rPr lang="en-US" altLang="en-US" sz="1800" dirty="0" err="1" smtClean="0">
                <a:solidFill>
                  <a:srgbClr val="FFC000"/>
                </a:solidFill>
              </a:rPr>
              <a:t>în</a:t>
            </a:r>
            <a:r>
              <a:rPr lang="en-US" altLang="en-US" sz="1800" dirty="0" smtClean="0">
                <a:solidFill>
                  <a:srgbClr val="FFC000"/>
                </a:solidFill>
              </a:rPr>
              <a:t> </a:t>
            </a:r>
            <a:r>
              <a:rPr lang="en-US" altLang="en-US" sz="1800" dirty="0" err="1" smtClean="0">
                <a:solidFill>
                  <a:srgbClr val="FFC000"/>
                </a:solidFill>
              </a:rPr>
              <a:t>calcul</a:t>
            </a:r>
            <a:r>
              <a:rPr lang="en-US" altLang="en-US" sz="1800" dirty="0" smtClean="0">
                <a:solidFill>
                  <a:srgbClr val="FFC000"/>
                </a:solidFill>
              </a:rPr>
              <a:t> </a:t>
            </a:r>
            <a:r>
              <a:rPr lang="en-US" altLang="en-US" sz="1800" dirty="0" err="1" smtClean="0">
                <a:solidFill>
                  <a:srgbClr val="FFC000"/>
                </a:solidFill>
              </a:rPr>
              <a:t>sursele</a:t>
            </a:r>
            <a:r>
              <a:rPr lang="en-US" altLang="en-US" sz="1800" dirty="0" smtClean="0">
                <a:solidFill>
                  <a:srgbClr val="FFC000"/>
                </a:solidFill>
              </a:rPr>
              <a:t> alternative de </a:t>
            </a:r>
            <a:r>
              <a:rPr lang="en-US" altLang="en-US" sz="1800" dirty="0" err="1" smtClean="0">
                <a:solidFill>
                  <a:srgbClr val="FFC000"/>
                </a:solidFill>
              </a:rPr>
              <a:t>materii</a:t>
            </a:r>
            <a:r>
              <a:rPr lang="en-US" altLang="en-US" sz="1800" dirty="0" smtClean="0">
                <a:solidFill>
                  <a:srgbClr val="FFC000"/>
                </a:solidFill>
              </a:rPr>
              <a:t> prime </a:t>
            </a:r>
            <a:r>
              <a:rPr lang="en-US" altLang="en-US" sz="1800" dirty="0" err="1" smtClean="0">
                <a:solidFill>
                  <a:srgbClr val="FFC000"/>
                </a:solidFill>
              </a:rPr>
              <a:t>și</a:t>
            </a:r>
            <a:r>
              <a:rPr lang="en-US" altLang="en-US" sz="1800" dirty="0" smtClean="0">
                <a:solidFill>
                  <a:srgbClr val="FFC000"/>
                </a:solidFill>
              </a:rPr>
              <a:t> </a:t>
            </a:r>
            <a:r>
              <a:rPr lang="en-US" altLang="en-US" sz="1800" dirty="0" err="1" smtClean="0">
                <a:solidFill>
                  <a:srgbClr val="FFC000"/>
                </a:solidFill>
              </a:rPr>
              <a:t>diversitatea</a:t>
            </a:r>
            <a:r>
              <a:rPr lang="en-US" altLang="en-US" sz="1800" dirty="0" smtClean="0">
                <a:solidFill>
                  <a:srgbClr val="FFC000"/>
                </a:solidFill>
              </a:rPr>
              <a:t> </a:t>
            </a:r>
            <a:r>
              <a:rPr lang="en-US" altLang="en-US" sz="1800" dirty="0" err="1" smtClean="0">
                <a:solidFill>
                  <a:srgbClr val="FFC000"/>
                </a:solidFill>
              </a:rPr>
              <a:t>surselor</a:t>
            </a:r>
            <a:r>
              <a:rPr lang="en-US" altLang="en-US" sz="1800" dirty="0" smtClean="0">
                <a:solidFill>
                  <a:srgbClr val="FFC000"/>
                </a:solidFill>
              </a:rPr>
              <a:t> de </a:t>
            </a:r>
            <a:r>
              <a:rPr lang="en-US" altLang="en-US" sz="1800" dirty="0" err="1" smtClean="0">
                <a:solidFill>
                  <a:srgbClr val="FFC000"/>
                </a:solidFill>
              </a:rPr>
              <a:t>aprovizionare</a:t>
            </a:r>
            <a:r>
              <a:rPr lang="en-US" altLang="en-US" sz="1800" dirty="0" smtClean="0">
                <a:solidFill>
                  <a:srgbClr val="FFC000"/>
                </a:solidFill>
              </a:rPr>
              <a:t>. </a:t>
            </a:r>
            <a:r>
              <a:rPr lang="en-US" altLang="en-US" sz="1800" dirty="0" err="1" smtClean="0"/>
              <a:t>Unii</a:t>
            </a:r>
            <a:r>
              <a:rPr lang="en-US" altLang="en-US" sz="1800" dirty="0" smtClean="0"/>
              <a:t> </a:t>
            </a:r>
            <a:r>
              <a:rPr lang="en-US" altLang="en-US" sz="1800" dirty="0" err="1" smtClean="0"/>
              <a:t>specialiști</a:t>
            </a:r>
            <a:r>
              <a:rPr lang="en-US" altLang="en-US" sz="1800" dirty="0" smtClean="0"/>
              <a:t> </a:t>
            </a:r>
            <a:r>
              <a:rPr lang="en-US" altLang="en-US" sz="1800" dirty="0" err="1" smtClean="0">
                <a:solidFill>
                  <a:srgbClr val="FFC000"/>
                </a:solidFill>
              </a:rPr>
              <a:t>și</a:t>
            </a:r>
            <a:r>
              <a:rPr lang="en-US" altLang="en-US" sz="1800" dirty="0" smtClean="0">
                <a:solidFill>
                  <a:srgbClr val="FFC000"/>
                </a:solidFill>
              </a:rPr>
              <a:t>-au </a:t>
            </a:r>
            <a:r>
              <a:rPr lang="en-US" altLang="en-US" sz="1800" dirty="0" err="1" smtClean="0">
                <a:solidFill>
                  <a:srgbClr val="FFC000"/>
                </a:solidFill>
              </a:rPr>
              <a:t>exprimat</a:t>
            </a:r>
            <a:r>
              <a:rPr lang="en-US" altLang="en-US" sz="1800" dirty="0" smtClean="0">
                <a:solidFill>
                  <a:srgbClr val="FFC000"/>
                </a:solidFill>
              </a:rPr>
              <a:t> </a:t>
            </a:r>
            <a:r>
              <a:rPr lang="en-US" altLang="en-US" sz="1800" dirty="0" err="1" smtClean="0">
                <a:solidFill>
                  <a:srgbClr val="FFC000"/>
                </a:solidFill>
              </a:rPr>
              <a:t>îngrijorarea</a:t>
            </a:r>
            <a:r>
              <a:rPr lang="en-US" altLang="en-US" sz="1800" dirty="0" smtClean="0">
                <a:solidFill>
                  <a:srgbClr val="FFC000"/>
                </a:solidFill>
              </a:rPr>
              <a:t> cu </a:t>
            </a:r>
            <a:r>
              <a:rPr lang="en-US" altLang="en-US" sz="1800" dirty="0" err="1" smtClean="0">
                <a:solidFill>
                  <a:srgbClr val="FFC000"/>
                </a:solidFill>
              </a:rPr>
              <a:t>privire</a:t>
            </a:r>
            <a:r>
              <a:rPr lang="en-US" altLang="en-US" sz="1800" dirty="0" smtClean="0">
                <a:solidFill>
                  <a:srgbClr val="FFC000"/>
                </a:solidFill>
              </a:rPr>
              <a:t> la </a:t>
            </a:r>
            <a:r>
              <a:rPr lang="en-US" altLang="en-US" sz="1800" dirty="0" err="1" smtClean="0">
                <a:solidFill>
                  <a:srgbClr val="FFC000"/>
                </a:solidFill>
              </a:rPr>
              <a:t>dependența</a:t>
            </a:r>
            <a:r>
              <a:rPr lang="en-US" altLang="en-US" sz="1800" dirty="0" smtClean="0">
                <a:solidFill>
                  <a:srgbClr val="FFC000"/>
                </a:solidFill>
              </a:rPr>
              <a:t> tot </a:t>
            </a:r>
            <a:r>
              <a:rPr lang="en-US" altLang="en-US" sz="1800" dirty="0" err="1" smtClean="0">
                <a:solidFill>
                  <a:srgbClr val="FFC000"/>
                </a:solidFill>
              </a:rPr>
              <a:t>mai</a:t>
            </a:r>
            <a:r>
              <a:rPr lang="en-US" altLang="en-US" sz="1800" dirty="0" smtClean="0">
                <a:solidFill>
                  <a:srgbClr val="FFC000"/>
                </a:solidFill>
              </a:rPr>
              <a:t> mare a SUA de </a:t>
            </a:r>
            <a:r>
              <a:rPr lang="en-US" altLang="en-US" sz="1800" dirty="0" err="1" smtClean="0">
                <a:solidFill>
                  <a:srgbClr val="FFC000"/>
                </a:solidFill>
              </a:rPr>
              <a:t>materii</a:t>
            </a:r>
            <a:r>
              <a:rPr lang="en-US" altLang="en-US" sz="1800" dirty="0" smtClean="0">
                <a:solidFill>
                  <a:srgbClr val="FFC000"/>
                </a:solidFill>
              </a:rPr>
              <a:t> prime </a:t>
            </a:r>
            <a:r>
              <a:rPr lang="en-US" altLang="en-US" sz="1800" dirty="0" err="1" smtClean="0">
                <a:solidFill>
                  <a:srgbClr val="FFC000"/>
                </a:solidFill>
              </a:rPr>
              <a:t>importate</a:t>
            </a:r>
            <a:r>
              <a:rPr lang="en-US" altLang="en-US" sz="1800" dirty="0" smtClean="0">
                <a:solidFill>
                  <a:srgbClr val="FFC000"/>
                </a:solidFill>
              </a:rPr>
              <a:t> </a:t>
            </a:r>
            <a:r>
              <a:rPr lang="en-US" altLang="en-US" sz="1800" dirty="0" err="1" smtClean="0">
                <a:solidFill>
                  <a:srgbClr val="FFC000"/>
                </a:solidFill>
              </a:rPr>
              <a:t>și</a:t>
            </a:r>
            <a:r>
              <a:rPr lang="en-US" altLang="en-US" sz="1800" dirty="0" smtClean="0">
                <a:solidFill>
                  <a:srgbClr val="FFC000"/>
                </a:solidFill>
              </a:rPr>
              <a:t>, </a:t>
            </a:r>
            <a:r>
              <a:rPr lang="en-US" altLang="en-US" sz="1800" dirty="0" err="1" smtClean="0">
                <a:solidFill>
                  <a:srgbClr val="FFC000"/>
                </a:solidFill>
              </a:rPr>
              <a:t>așadar</a:t>
            </a:r>
            <a:r>
              <a:rPr lang="en-US" altLang="en-US" sz="1800" dirty="0" smtClean="0">
                <a:solidFill>
                  <a:srgbClr val="FFC000"/>
                </a:solidFill>
              </a:rPr>
              <a:t>, de </a:t>
            </a:r>
            <a:r>
              <a:rPr lang="en-US" altLang="en-US" sz="1800" dirty="0" err="1" smtClean="0">
                <a:solidFill>
                  <a:srgbClr val="FFC000"/>
                </a:solidFill>
              </a:rPr>
              <a:t>vulnerabilitatea</a:t>
            </a:r>
            <a:r>
              <a:rPr lang="en-US" altLang="en-US" sz="1800" dirty="0" smtClean="0">
                <a:solidFill>
                  <a:srgbClr val="FFC000"/>
                </a:solidFill>
              </a:rPr>
              <a:t> </a:t>
            </a:r>
            <a:r>
              <a:rPr lang="en-US" altLang="en-US" sz="1800" dirty="0" err="1" smtClean="0">
                <a:solidFill>
                  <a:srgbClr val="FFC000"/>
                </a:solidFill>
              </a:rPr>
              <a:t>lor</a:t>
            </a:r>
            <a:r>
              <a:rPr lang="en-US" altLang="en-US" sz="1800" dirty="0" smtClean="0">
                <a:solidFill>
                  <a:srgbClr val="FFC000"/>
                </a:solidFill>
              </a:rPr>
              <a:t>,</a:t>
            </a:r>
            <a:r>
              <a:rPr lang="en-US" altLang="en-US" sz="1800" dirty="0" smtClean="0"/>
              <a:t> </a:t>
            </a:r>
            <a:r>
              <a:rPr lang="en-US" altLang="en-US" sz="1800" dirty="0" err="1" smtClean="0"/>
              <a:t>însă</a:t>
            </a:r>
            <a:r>
              <a:rPr lang="en-US" altLang="en-US" sz="1800" dirty="0" smtClean="0"/>
              <a:t> </a:t>
            </a:r>
            <a:r>
              <a:rPr lang="en-US" altLang="en-US" sz="1800" dirty="0" err="1" smtClean="0"/>
              <a:t>proiecțiile</a:t>
            </a:r>
            <a:r>
              <a:rPr lang="en-US" altLang="en-US" sz="1800" dirty="0" smtClean="0"/>
              <a:t> au </a:t>
            </a:r>
            <a:r>
              <a:rPr lang="en-US" altLang="en-US" sz="1800" dirty="0" err="1" smtClean="0"/>
              <a:t>fost</a:t>
            </a:r>
            <a:r>
              <a:rPr lang="en-US" altLang="en-US" sz="1800" dirty="0" smtClean="0"/>
              <a:t> </a:t>
            </a:r>
            <a:r>
              <a:rPr lang="en-US" altLang="en-US" sz="1800" dirty="0" err="1" smtClean="0"/>
              <a:t>inexacte</a:t>
            </a:r>
            <a:r>
              <a:rPr lang="en-US" altLang="en-US" sz="1800" dirty="0" smtClean="0"/>
              <a:t> din </a:t>
            </a:r>
            <a:r>
              <a:rPr lang="en-US" altLang="en-US" sz="1800" dirty="0" err="1" smtClean="0"/>
              <a:t>mai</a:t>
            </a:r>
            <a:r>
              <a:rPr lang="en-US" altLang="en-US" sz="1800" dirty="0" smtClean="0"/>
              <a:t> </a:t>
            </a:r>
            <a:r>
              <a:rPr lang="en-US" altLang="en-US" sz="1800" dirty="0" err="1" smtClean="0"/>
              <a:t>multe</a:t>
            </a:r>
            <a:r>
              <a:rPr lang="en-US" altLang="en-US" sz="1800" dirty="0" smtClean="0"/>
              <a:t> motive. </a:t>
            </a:r>
            <a:r>
              <a:rPr lang="en-US" altLang="en-US" dirty="0" smtClean="0"/>
              <a:t>	</a:t>
            </a:r>
          </a:p>
          <a:p>
            <a:pPr marL="0" indent="0">
              <a:buFont typeface="Arial" charset="0"/>
              <a:buNone/>
            </a:pPr>
            <a:r>
              <a:rPr lang="en-US" altLang="en-US" sz="1800" dirty="0" smtClean="0"/>
              <a:t>	</a:t>
            </a:r>
          </a:p>
          <a:p>
            <a:pPr marL="0" indent="0">
              <a:buFont typeface="Arial" charset="0"/>
              <a:buNone/>
            </a:pPr>
            <a:r>
              <a:rPr lang="en-US" altLang="en-US" dirty="0" smtClean="0"/>
              <a:t>	</a:t>
            </a:r>
          </a:p>
          <a:p>
            <a:pPr marL="0" indent="0">
              <a:buFont typeface="Arial" charset="0"/>
              <a:buNone/>
            </a:pPr>
            <a:endParaRPr lang="en-US" altLang="en-US" dirty="0" smtClean="0"/>
          </a:p>
        </p:txBody>
      </p:sp>
    </p:spTree>
    <p:extLst>
      <p:ext uri="{BB962C8B-B14F-4D97-AF65-F5344CB8AC3E}">
        <p14:creationId xmlns:p14="http://schemas.microsoft.com/office/powerpoint/2010/main" val="17118276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3400" y="57150"/>
            <a:ext cx="8153400" cy="628650"/>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 prin </a:t>
            </a:r>
            <a:r>
              <a:rPr lang="ro-RO" altLang="en-US" sz="2800" b="1" smtClean="0">
                <a:solidFill>
                  <a:schemeClr val="bg1"/>
                </a:solidFill>
              </a:rPr>
              <a:t>reciclare (autoplagiatul)</a:t>
            </a: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685800"/>
            <a:ext cx="4038600" cy="522288"/>
          </a:xfrm>
          <a:solidFill>
            <a:schemeClr val="accent3"/>
          </a:solidFill>
        </p:spPr>
        <p:txBody>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4340" name="Content Placeholder 3"/>
          <p:cNvSpPr>
            <a:spLocks noGrp="1"/>
          </p:cNvSpPr>
          <p:nvPr>
            <p:ph sz="half" idx="2"/>
          </p:nvPr>
        </p:nvSpPr>
        <p:spPr>
          <a:xfrm>
            <a:off x="457200" y="1208088"/>
            <a:ext cx="4040188" cy="5649912"/>
          </a:xfrm>
        </p:spPr>
        <p:txBody>
          <a:bodyPr>
            <a:normAutofit lnSpcReduction="10000"/>
          </a:bodyPr>
          <a:lstStyle/>
          <a:p>
            <a:pPr marL="0" indent="0">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4341" name="Text Placeholder 4"/>
          <p:cNvSpPr>
            <a:spLocks noGrp="1"/>
          </p:cNvSpPr>
          <p:nvPr>
            <p:ph type="body" sz="quarter" idx="3"/>
          </p:nvPr>
        </p:nvSpPr>
        <p:spPr>
          <a:xfrm>
            <a:off x="4572000" y="685800"/>
            <a:ext cx="4114800" cy="522288"/>
          </a:xfrm>
          <a:solidFill>
            <a:srgbClr val="FFC000"/>
          </a:solidFill>
        </p:spPr>
        <p:txBody>
          <a:bodyPr>
            <a:normAutofit fontScale="62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4342" name="Content Placeholder 5"/>
          <p:cNvSpPr>
            <a:spLocks noGrp="1"/>
          </p:cNvSpPr>
          <p:nvPr>
            <p:ph sz="quarter" idx="4"/>
          </p:nvPr>
        </p:nvSpPr>
        <p:spPr>
          <a:xfrm>
            <a:off x="4645025" y="1208088"/>
            <a:ext cx="4041775" cy="5649912"/>
          </a:xfrm>
          <a:ln>
            <a:solidFill>
              <a:srgbClr val="92D050"/>
            </a:solidFill>
            <a:miter lim="800000"/>
            <a:headEnd/>
            <a:tailEnd/>
          </a:ln>
        </p:spPr>
        <p:txBody>
          <a:bodyPr>
            <a:normAutofit lnSpcReduction="10000"/>
          </a:bodyPr>
          <a:lstStyle/>
          <a:p>
            <a:pPr marL="0" indent="0">
              <a:buFont typeface="Arial" charset="0"/>
              <a:buNone/>
            </a:pPr>
            <a:r>
              <a:rPr lang="en-US" altLang="en-US" sz="1800" smtClean="0">
                <a:solidFill>
                  <a:srgbClr val="FFC000"/>
                </a:solidFill>
              </a:rPr>
              <a:t>În situația în care </a:t>
            </a:r>
            <a:r>
              <a:rPr lang="en-US" altLang="en-US" sz="1800" smtClean="0"/>
              <a:t>resursele naturale sunt rare pe teritoriul unui stat, </a:t>
            </a:r>
            <a:r>
              <a:rPr lang="en-US" altLang="en-US" sz="1800" smtClean="0">
                <a:solidFill>
                  <a:srgbClr val="FFC000"/>
                </a:solidFill>
              </a:rPr>
              <a:t>acest lucru </a:t>
            </a:r>
            <a:r>
              <a:rPr lang="en-US" altLang="en-US" sz="1800" smtClean="0"/>
              <a:t>nu este un indice al unei puteri economice reduse. Vulnerabilitatea unei țări influențează multe alte aspecte, iar aceasta depinde de existența unor înlocuitori și de diversitatea surselor de aprovizionare. În anii ‘70, unii analiști și-au exprimat </a:t>
            </a:r>
            <a:r>
              <a:rPr lang="en-US" altLang="en-US" sz="1800" smtClean="0">
                <a:solidFill>
                  <a:srgbClr val="FFC000"/>
                </a:solidFill>
              </a:rPr>
              <a:t>rezerva</a:t>
            </a:r>
            <a:r>
              <a:rPr lang="en-US" altLang="en-US" sz="1800" smtClean="0"/>
              <a:t> cu privire la dependența tot mai mare a Statelor Unite de materii prime importate și, așadar, de vulnerabilitatea lor. Din </a:t>
            </a:r>
            <a:r>
              <a:rPr lang="en-US" altLang="en-US" sz="1800" smtClean="0">
                <a:solidFill>
                  <a:srgbClr val="FFC000"/>
                </a:solidFill>
              </a:rPr>
              <a:t>13 </a:t>
            </a:r>
            <a:r>
              <a:rPr lang="en-US" altLang="en-US" sz="1800" smtClean="0"/>
              <a:t>materii prime industriale de bază, Statele Unite depindeau de importuri pentru aproape 90% din necesarul de aluminiu, crom, mangan și nichel. </a:t>
            </a:r>
            <a:r>
              <a:rPr lang="en-US" altLang="en-US" smtClean="0"/>
              <a:t>	</a:t>
            </a:r>
          </a:p>
          <a:p>
            <a:pPr marL="0" indent="0">
              <a:buFont typeface="Arial" charset="0"/>
              <a:buNone/>
            </a:pPr>
            <a:r>
              <a:rPr lang="en-US" altLang="en-US" smtClean="0"/>
              <a:t>	</a:t>
            </a:r>
          </a:p>
          <a:p>
            <a:pPr marL="0" indent="0">
              <a:buFont typeface="Arial" charset="0"/>
              <a:buNone/>
            </a:pPr>
            <a:r>
              <a:rPr lang="en-US" altLang="en-US" sz="1800" smtClean="0"/>
              <a:t>	</a:t>
            </a:r>
          </a:p>
          <a:p>
            <a:pPr marL="0" indent="0">
              <a:buFont typeface="Arial" charset="0"/>
              <a:buNone/>
            </a:pPr>
            <a:r>
              <a:rPr lang="en-US" altLang="en-US" smtClean="0"/>
              <a:t>	</a:t>
            </a:r>
          </a:p>
          <a:p>
            <a:pPr marL="0" indent="0">
              <a:buFont typeface="Arial" charset="0"/>
              <a:buNone/>
            </a:pPr>
            <a:endParaRPr lang="en-US" altLang="en-US" smtClean="0"/>
          </a:p>
        </p:txBody>
      </p:sp>
    </p:spTree>
    <p:extLst>
      <p:ext uri="{BB962C8B-B14F-4D97-AF65-F5344CB8AC3E}">
        <p14:creationId xmlns:p14="http://schemas.microsoft.com/office/powerpoint/2010/main" val="25386668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3400" y="57150"/>
            <a:ext cx="8153400" cy="628650"/>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a:t>
            </a:r>
            <a:r>
              <a:rPr lang="ro-RO" altLang="en-US" sz="2800" b="1" smtClean="0">
                <a:solidFill>
                  <a:schemeClr val="bg1"/>
                </a:solidFill>
              </a:rPr>
              <a:t> hibrid</a:t>
            </a: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685800"/>
            <a:ext cx="4038600" cy="522288"/>
          </a:xfrm>
          <a:solidFill>
            <a:schemeClr val="accent3"/>
          </a:solidFill>
        </p:spPr>
        <p:txBody>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5364" name="Content Placeholder 3"/>
          <p:cNvSpPr>
            <a:spLocks noGrp="1"/>
          </p:cNvSpPr>
          <p:nvPr>
            <p:ph sz="half" idx="2"/>
          </p:nvPr>
        </p:nvSpPr>
        <p:spPr>
          <a:xfrm>
            <a:off x="457200" y="1208088"/>
            <a:ext cx="4040188" cy="5649912"/>
          </a:xfrm>
        </p:spPr>
        <p:txBody>
          <a:bodyPr>
            <a:normAutofit lnSpcReduction="10000"/>
          </a:bodyPr>
          <a:lstStyle/>
          <a:p>
            <a:pPr marL="0" indent="0">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5365" name="Text Placeholder 4"/>
          <p:cNvSpPr>
            <a:spLocks noGrp="1"/>
          </p:cNvSpPr>
          <p:nvPr>
            <p:ph type="body" sz="quarter" idx="3"/>
          </p:nvPr>
        </p:nvSpPr>
        <p:spPr>
          <a:xfrm>
            <a:off x="4572000" y="685800"/>
            <a:ext cx="4114800" cy="522288"/>
          </a:xfrm>
          <a:solidFill>
            <a:srgbClr val="FFC000"/>
          </a:solidFill>
        </p:spPr>
        <p:txBody>
          <a:bodyPr>
            <a:normAutofit fontScale="62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5366" name="Content Placeholder 5"/>
          <p:cNvSpPr>
            <a:spLocks noGrp="1"/>
          </p:cNvSpPr>
          <p:nvPr>
            <p:ph sz="quarter" idx="4"/>
          </p:nvPr>
        </p:nvSpPr>
        <p:spPr>
          <a:xfrm>
            <a:off x="4645025" y="1208088"/>
            <a:ext cx="4041775" cy="5649912"/>
          </a:xfrm>
          <a:ln>
            <a:solidFill>
              <a:srgbClr val="92D050"/>
            </a:solidFill>
            <a:miter lim="800000"/>
            <a:headEnd/>
            <a:tailEnd/>
          </a:ln>
        </p:spPr>
        <p:txBody>
          <a:bodyPr>
            <a:normAutofit fontScale="92500" lnSpcReduction="10000"/>
          </a:bodyPr>
          <a:lstStyle/>
          <a:p>
            <a:pPr marL="0" indent="0">
              <a:buFont typeface="Arial" charset="0"/>
              <a:buNone/>
            </a:pPr>
            <a:r>
              <a:rPr lang="en-US" altLang="en-US" sz="1800" dirty="0" err="1" smtClean="0">
                <a:solidFill>
                  <a:srgbClr val="FFC000"/>
                </a:solidFill>
              </a:rPr>
              <a:t>Chiar</a:t>
            </a:r>
            <a:r>
              <a:rPr lang="en-US" altLang="en-US" sz="1800" dirty="0" smtClean="0">
                <a:solidFill>
                  <a:srgbClr val="FFC000"/>
                </a:solidFill>
              </a:rPr>
              <a:t> </a:t>
            </a:r>
            <a:r>
              <a:rPr lang="en-US" altLang="en-US" sz="1800" dirty="0" err="1" smtClean="0">
                <a:solidFill>
                  <a:srgbClr val="FFC000"/>
                </a:solidFill>
              </a:rPr>
              <a:t>dacă</a:t>
            </a:r>
            <a:r>
              <a:rPr lang="en-US" altLang="en-US" sz="1800" dirty="0" smtClean="0">
                <a:solidFill>
                  <a:srgbClr val="FFC000"/>
                </a:solidFill>
              </a:rPr>
              <a:t> </a:t>
            </a:r>
            <a:r>
              <a:rPr lang="en-US" altLang="en-US" sz="1800" dirty="0" err="1" smtClean="0">
                <a:solidFill>
                  <a:srgbClr val="FFC000"/>
                </a:solidFill>
              </a:rPr>
              <a:t>resursele</a:t>
            </a:r>
            <a:r>
              <a:rPr lang="en-US" altLang="en-US" sz="1800" dirty="0" smtClean="0">
                <a:solidFill>
                  <a:srgbClr val="FFC000"/>
                </a:solidFill>
              </a:rPr>
              <a:t> </a:t>
            </a:r>
            <a:r>
              <a:rPr lang="en-US" altLang="en-US" sz="1800" dirty="0" err="1" smtClean="0">
                <a:solidFill>
                  <a:srgbClr val="FFC000"/>
                </a:solidFill>
              </a:rPr>
              <a:t>naturale</a:t>
            </a:r>
            <a:r>
              <a:rPr lang="en-US" altLang="en-US" sz="1800" dirty="0" smtClean="0">
                <a:solidFill>
                  <a:srgbClr val="FFC000"/>
                </a:solidFill>
              </a:rPr>
              <a:t> </a:t>
            </a:r>
            <a:r>
              <a:rPr lang="en-US" altLang="en-US" sz="1800" dirty="0" err="1" smtClean="0">
                <a:solidFill>
                  <a:srgbClr val="FFC000"/>
                </a:solidFill>
              </a:rPr>
              <a:t>sunt</a:t>
            </a:r>
            <a:r>
              <a:rPr lang="en-US" altLang="en-US" sz="1800" dirty="0" smtClean="0">
                <a:solidFill>
                  <a:srgbClr val="FFC000"/>
                </a:solidFill>
              </a:rPr>
              <a:t> rare </a:t>
            </a:r>
            <a:r>
              <a:rPr lang="en-US" altLang="en-US" sz="1800" dirty="0" err="1" smtClean="0">
                <a:solidFill>
                  <a:srgbClr val="FFC000"/>
                </a:solidFill>
              </a:rPr>
              <a:t>pe</a:t>
            </a:r>
            <a:r>
              <a:rPr lang="en-US" altLang="en-US" sz="1800" dirty="0" smtClean="0">
                <a:solidFill>
                  <a:srgbClr val="FFC000"/>
                </a:solidFill>
              </a:rPr>
              <a:t> </a:t>
            </a:r>
            <a:r>
              <a:rPr lang="en-US" altLang="en-US" sz="1800" dirty="0" err="1" smtClean="0">
                <a:solidFill>
                  <a:srgbClr val="FFC000"/>
                </a:solidFill>
              </a:rPr>
              <a:t>teritoriul</a:t>
            </a:r>
            <a:r>
              <a:rPr lang="en-US" altLang="en-US" sz="1800" dirty="0" smtClean="0">
                <a:solidFill>
                  <a:srgbClr val="FFC000"/>
                </a:solidFill>
              </a:rPr>
              <a:t> </a:t>
            </a:r>
            <a:r>
              <a:rPr lang="en-US" altLang="en-US" sz="1800" dirty="0" err="1" smtClean="0">
                <a:solidFill>
                  <a:srgbClr val="FFC000"/>
                </a:solidFill>
              </a:rPr>
              <a:t>unui</a:t>
            </a:r>
            <a:r>
              <a:rPr lang="en-US" altLang="en-US" sz="1800" dirty="0" smtClean="0">
                <a:solidFill>
                  <a:srgbClr val="FFC000"/>
                </a:solidFill>
              </a:rPr>
              <a:t> stat, </a:t>
            </a:r>
            <a:r>
              <a:rPr lang="en-US" altLang="en-US" sz="1800" dirty="0" err="1" smtClean="0">
                <a:solidFill>
                  <a:srgbClr val="FFC000"/>
                </a:solidFill>
              </a:rPr>
              <a:t>lipsa</a:t>
            </a:r>
            <a:r>
              <a:rPr lang="en-US" altLang="en-US" sz="1800" dirty="0" smtClean="0">
                <a:solidFill>
                  <a:srgbClr val="FFC000"/>
                </a:solidFill>
              </a:rPr>
              <a:t> </a:t>
            </a:r>
            <a:r>
              <a:rPr lang="en-US" altLang="en-US" sz="1800" dirty="0" err="1" smtClean="0">
                <a:solidFill>
                  <a:srgbClr val="FFC000"/>
                </a:solidFill>
              </a:rPr>
              <a:t>lor</a:t>
            </a:r>
            <a:r>
              <a:rPr lang="en-US" altLang="en-US" sz="1800" dirty="0" smtClean="0">
                <a:solidFill>
                  <a:srgbClr val="FFC000"/>
                </a:solidFill>
              </a:rPr>
              <a:t> nu </a:t>
            </a:r>
            <a:r>
              <a:rPr lang="en-US" altLang="en-US" sz="1800" dirty="0" err="1" smtClean="0">
                <a:solidFill>
                  <a:srgbClr val="FFC000"/>
                </a:solidFill>
              </a:rPr>
              <a:t>este</a:t>
            </a:r>
            <a:r>
              <a:rPr lang="en-US" altLang="en-US" sz="1800" dirty="0" smtClean="0">
                <a:solidFill>
                  <a:srgbClr val="FFC000"/>
                </a:solidFill>
              </a:rPr>
              <a:t> un </a:t>
            </a:r>
            <a:r>
              <a:rPr lang="en-US" altLang="en-US" sz="1800" dirty="0" err="1" smtClean="0">
                <a:solidFill>
                  <a:srgbClr val="FFC000"/>
                </a:solidFill>
              </a:rPr>
              <a:t>indice</a:t>
            </a:r>
            <a:r>
              <a:rPr lang="en-US" altLang="en-US" sz="1800" dirty="0" smtClean="0">
                <a:solidFill>
                  <a:srgbClr val="FFC000"/>
                </a:solidFill>
              </a:rPr>
              <a:t> al </a:t>
            </a:r>
            <a:r>
              <a:rPr lang="en-US" altLang="en-US" sz="1800" dirty="0" err="1" smtClean="0">
                <a:solidFill>
                  <a:srgbClr val="FFC000"/>
                </a:solidFill>
              </a:rPr>
              <a:t>unei</a:t>
            </a:r>
            <a:r>
              <a:rPr lang="en-US" altLang="en-US" sz="1800" dirty="0" smtClean="0">
                <a:solidFill>
                  <a:srgbClr val="FFC000"/>
                </a:solidFill>
              </a:rPr>
              <a:t> </a:t>
            </a:r>
            <a:r>
              <a:rPr lang="en-US" altLang="en-US" sz="1800" dirty="0" err="1" smtClean="0">
                <a:solidFill>
                  <a:srgbClr val="FFC000"/>
                </a:solidFill>
              </a:rPr>
              <a:t>puteri</a:t>
            </a:r>
            <a:r>
              <a:rPr lang="en-US" altLang="en-US" sz="1800" dirty="0" smtClean="0">
                <a:solidFill>
                  <a:srgbClr val="FFC000"/>
                </a:solidFill>
              </a:rPr>
              <a:t> </a:t>
            </a:r>
            <a:r>
              <a:rPr lang="en-US" altLang="en-US" sz="1800" dirty="0" err="1" smtClean="0">
                <a:solidFill>
                  <a:srgbClr val="FFC000"/>
                </a:solidFill>
              </a:rPr>
              <a:t>economice</a:t>
            </a:r>
            <a:r>
              <a:rPr lang="en-US" altLang="en-US" sz="1800" dirty="0" smtClean="0">
                <a:solidFill>
                  <a:srgbClr val="FFC000"/>
                </a:solidFill>
              </a:rPr>
              <a:t> </a:t>
            </a:r>
            <a:r>
              <a:rPr lang="en-US" altLang="en-US" sz="1800" dirty="0" err="1" smtClean="0">
                <a:solidFill>
                  <a:srgbClr val="FFC000"/>
                </a:solidFill>
              </a:rPr>
              <a:t>reduse</a:t>
            </a:r>
            <a:r>
              <a:rPr lang="en-US" altLang="en-US" sz="1800" dirty="0" smtClean="0">
                <a:solidFill>
                  <a:srgbClr val="FFC000"/>
                </a:solidFill>
              </a:rPr>
              <a:t>. </a:t>
            </a:r>
            <a:r>
              <a:rPr lang="en-US" altLang="en-US" sz="1800" dirty="0" smtClean="0"/>
              <a:t>„</a:t>
            </a:r>
            <a:r>
              <a:rPr lang="en-US" altLang="en-US" sz="1800" dirty="0" err="1" smtClean="0"/>
              <a:t>Vulnerabilitatea</a:t>
            </a:r>
            <a:r>
              <a:rPr lang="en-US" altLang="en-US" sz="1800" dirty="0" smtClean="0"/>
              <a:t> </a:t>
            </a:r>
            <a:r>
              <a:rPr lang="en-US" altLang="en-US" sz="1800" dirty="0" err="1" smtClean="0"/>
              <a:t>unei</a:t>
            </a:r>
            <a:r>
              <a:rPr lang="en-US" altLang="en-US" sz="1800" dirty="0" smtClean="0"/>
              <a:t> </a:t>
            </a:r>
            <a:r>
              <a:rPr lang="en-US" altLang="en-US" sz="1800" dirty="0" err="1" smtClean="0"/>
              <a:t>țări</a:t>
            </a:r>
            <a:r>
              <a:rPr lang="en-US" altLang="en-US" sz="1800" dirty="0" smtClean="0"/>
              <a:t> </a:t>
            </a:r>
            <a:r>
              <a:rPr lang="en-US" altLang="en-US" sz="1800" dirty="0" err="1" smtClean="0"/>
              <a:t>influențează</a:t>
            </a:r>
            <a:r>
              <a:rPr lang="en-US" altLang="en-US" sz="1800" dirty="0" smtClean="0"/>
              <a:t> </a:t>
            </a:r>
            <a:r>
              <a:rPr lang="en-US" altLang="en-US" sz="1800" dirty="0" err="1" smtClean="0"/>
              <a:t>multe</a:t>
            </a:r>
            <a:r>
              <a:rPr lang="en-US" altLang="en-US" sz="1800" dirty="0" smtClean="0"/>
              <a:t> </a:t>
            </a:r>
            <a:r>
              <a:rPr lang="en-US" altLang="en-US" sz="1800" dirty="0" err="1" smtClean="0"/>
              <a:t>alte</a:t>
            </a:r>
            <a:r>
              <a:rPr lang="en-US" altLang="en-US" sz="1800" dirty="0" smtClean="0"/>
              <a:t> </a:t>
            </a:r>
            <a:r>
              <a:rPr lang="en-US" altLang="en-US" sz="1800" dirty="0" err="1" smtClean="0"/>
              <a:t>aspecte</a:t>
            </a:r>
            <a:r>
              <a:rPr lang="en-US" altLang="en-US" sz="1800" dirty="0" smtClean="0"/>
              <a:t>, </a:t>
            </a:r>
            <a:r>
              <a:rPr lang="en-US" altLang="en-US" sz="1800" dirty="0" err="1" smtClean="0"/>
              <a:t>iar</a:t>
            </a:r>
            <a:r>
              <a:rPr lang="en-US" altLang="en-US" sz="1800" dirty="0" smtClean="0"/>
              <a:t> </a:t>
            </a:r>
            <a:r>
              <a:rPr lang="en-US" altLang="en-US" sz="1800" dirty="0" err="1" smtClean="0"/>
              <a:t>aceasta</a:t>
            </a:r>
            <a:r>
              <a:rPr lang="en-US" altLang="en-US" sz="1800" dirty="0" smtClean="0"/>
              <a:t> </a:t>
            </a:r>
            <a:r>
              <a:rPr lang="en-US" altLang="en-US" sz="1800" dirty="0" err="1" smtClean="0"/>
              <a:t>depinde</a:t>
            </a:r>
            <a:r>
              <a:rPr lang="en-US" altLang="en-US" sz="1800" dirty="0" smtClean="0"/>
              <a:t> de </a:t>
            </a:r>
            <a:r>
              <a:rPr lang="en-US" altLang="en-US" sz="1800" dirty="0" err="1" smtClean="0"/>
              <a:t>existența</a:t>
            </a:r>
            <a:r>
              <a:rPr lang="en-US" altLang="en-US" sz="1800" dirty="0" smtClean="0"/>
              <a:t> </a:t>
            </a:r>
            <a:r>
              <a:rPr lang="en-US" altLang="en-US" sz="1800" dirty="0" err="1" smtClean="0"/>
              <a:t>unor</a:t>
            </a:r>
            <a:r>
              <a:rPr lang="en-US" altLang="en-US" sz="1800" dirty="0" smtClean="0"/>
              <a:t> </a:t>
            </a:r>
            <a:r>
              <a:rPr lang="en-US" altLang="en-US" sz="1800" dirty="0" err="1" smtClean="0"/>
              <a:t>înlocuitori</a:t>
            </a:r>
            <a:r>
              <a:rPr lang="en-US" altLang="en-US" sz="1800" dirty="0" smtClean="0"/>
              <a:t> </a:t>
            </a:r>
            <a:r>
              <a:rPr lang="en-US" altLang="en-US" sz="1800" dirty="0" err="1" smtClean="0"/>
              <a:t>și</a:t>
            </a:r>
            <a:r>
              <a:rPr lang="en-US" altLang="en-US" sz="1800" dirty="0" smtClean="0"/>
              <a:t> de </a:t>
            </a:r>
            <a:r>
              <a:rPr lang="en-US" altLang="en-US" sz="1800" dirty="0" err="1" smtClean="0"/>
              <a:t>diversitatea</a:t>
            </a:r>
            <a:r>
              <a:rPr lang="en-US" altLang="en-US" sz="1800" dirty="0" smtClean="0"/>
              <a:t> </a:t>
            </a:r>
            <a:r>
              <a:rPr lang="en-US" altLang="en-US" sz="1800" dirty="0" err="1" smtClean="0"/>
              <a:t>surselor</a:t>
            </a:r>
            <a:r>
              <a:rPr lang="en-US" altLang="en-US" sz="1800" dirty="0" smtClean="0"/>
              <a:t> de </a:t>
            </a:r>
            <a:r>
              <a:rPr lang="en-US" altLang="en-US" sz="1800" dirty="0" err="1" smtClean="0"/>
              <a:t>aprovizionare</a:t>
            </a:r>
            <a:r>
              <a:rPr lang="ro-RO" altLang="en-US" sz="1800" dirty="0" smtClean="0"/>
              <a:t> </a:t>
            </a:r>
            <a:r>
              <a:rPr lang="en-US" altLang="en-US" sz="1800" dirty="0" smtClean="0"/>
              <a:t>(Nye, 2012, p. 81). </a:t>
            </a:r>
            <a:r>
              <a:rPr lang="en-US" altLang="en-US" sz="1800" dirty="0" smtClean="0">
                <a:solidFill>
                  <a:srgbClr val="FFC000"/>
                </a:solidFill>
              </a:rPr>
              <a:t>De </a:t>
            </a:r>
            <a:r>
              <a:rPr lang="en-US" altLang="en-US" sz="1800" dirty="0" err="1" smtClean="0">
                <a:solidFill>
                  <a:srgbClr val="FFC000"/>
                </a:solidFill>
              </a:rPr>
              <a:t>exemplu</a:t>
            </a:r>
            <a:r>
              <a:rPr lang="en-US" altLang="en-US" sz="1800" dirty="0" smtClean="0">
                <a:solidFill>
                  <a:srgbClr val="FFC000"/>
                </a:solidFill>
              </a:rPr>
              <a:t>, </a:t>
            </a:r>
            <a:r>
              <a:rPr lang="en-US" altLang="en-US" sz="1800" dirty="0" err="1" smtClean="0">
                <a:solidFill>
                  <a:srgbClr val="FFC000"/>
                </a:solidFill>
              </a:rPr>
              <a:t>în</a:t>
            </a:r>
            <a:r>
              <a:rPr lang="en-US" altLang="en-US" sz="1800" dirty="0" smtClean="0">
                <a:solidFill>
                  <a:srgbClr val="FFC000"/>
                </a:solidFill>
              </a:rPr>
              <a:t> </a:t>
            </a:r>
            <a:r>
              <a:rPr lang="en-US" altLang="en-US" sz="1800" dirty="0" err="1" smtClean="0">
                <a:solidFill>
                  <a:srgbClr val="FFC000"/>
                </a:solidFill>
              </a:rPr>
              <a:t>anii</a:t>
            </a:r>
            <a:r>
              <a:rPr lang="en-US" altLang="en-US" sz="1800" dirty="0" smtClean="0">
                <a:solidFill>
                  <a:srgbClr val="FFC000"/>
                </a:solidFill>
              </a:rPr>
              <a:t> ‘70, </a:t>
            </a:r>
            <a:r>
              <a:rPr lang="en-US" altLang="en-US" sz="1800" dirty="0" err="1" smtClean="0">
                <a:solidFill>
                  <a:srgbClr val="FFC000"/>
                </a:solidFill>
              </a:rPr>
              <a:t>unii</a:t>
            </a:r>
            <a:r>
              <a:rPr lang="en-US" altLang="en-US" sz="1800" dirty="0" smtClean="0">
                <a:solidFill>
                  <a:srgbClr val="FFC000"/>
                </a:solidFill>
              </a:rPr>
              <a:t> </a:t>
            </a:r>
            <a:r>
              <a:rPr lang="en-US" altLang="en-US" sz="1800" dirty="0" err="1" smtClean="0">
                <a:solidFill>
                  <a:srgbClr val="FFC000"/>
                </a:solidFill>
              </a:rPr>
              <a:t>analiști</a:t>
            </a:r>
            <a:r>
              <a:rPr lang="en-US" altLang="en-US" sz="1800" dirty="0" smtClean="0">
                <a:solidFill>
                  <a:srgbClr val="FFC000"/>
                </a:solidFill>
              </a:rPr>
              <a:t> </a:t>
            </a:r>
            <a:r>
              <a:rPr lang="en-US" altLang="en-US" sz="1800" dirty="0" err="1" smtClean="0">
                <a:solidFill>
                  <a:srgbClr val="FFC000"/>
                </a:solidFill>
              </a:rPr>
              <a:t>și</a:t>
            </a:r>
            <a:r>
              <a:rPr lang="en-US" altLang="en-US" sz="1800" dirty="0" smtClean="0">
                <a:solidFill>
                  <a:srgbClr val="FFC000"/>
                </a:solidFill>
              </a:rPr>
              <a:t>-au </a:t>
            </a:r>
            <a:r>
              <a:rPr lang="en-US" altLang="en-US" sz="1800" dirty="0" err="1" smtClean="0">
                <a:solidFill>
                  <a:srgbClr val="FFC000"/>
                </a:solidFill>
              </a:rPr>
              <a:t>exprimat</a:t>
            </a:r>
            <a:r>
              <a:rPr lang="en-US" altLang="en-US" sz="1800" dirty="0" smtClean="0">
                <a:solidFill>
                  <a:srgbClr val="FFC000"/>
                </a:solidFill>
              </a:rPr>
              <a:t> </a:t>
            </a:r>
            <a:r>
              <a:rPr lang="en-US" altLang="en-US" sz="1800" dirty="0" err="1" smtClean="0">
                <a:solidFill>
                  <a:srgbClr val="FFC000"/>
                </a:solidFill>
              </a:rPr>
              <a:t>îngrijorarea</a:t>
            </a:r>
            <a:r>
              <a:rPr lang="en-US" altLang="en-US" sz="1800" dirty="0" smtClean="0">
                <a:solidFill>
                  <a:srgbClr val="FFC000"/>
                </a:solidFill>
              </a:rPr>
              <a:t> cu </a:t>
            </a:r>
            <a:r>
              <a:rPr lang="en-US" altLang="en-US" sz="1800" dirty="0" err="1" smtClean="0">
                <a:solidFill>
                  <a:srgbClr val="FFC000"/>
                </a:solidFill>
              </a:rPr>
              <a:t>privire</a:t>
            </a:r>
            <a:r>
              <a:rPr lang="en-US" altLang="en-US" sz="1800" dirty="0" smtClean="0">
                <a:solidFill>
                  <a:srgbClr val="FFC000"/>
                </a:solidFill>
              </a:rPr>
              <a:t> la </a:t>
            </a:r>
            <a:r>
              <a:rPr lang="en-US" altLang="en-US" sz="1800" dirty="0" err="1" smtClean="0">
                <a:solidFill>
                  <a:srgbClr val="FFC000"/>
                </a:solidFill>
              </a:rPr>
              <a:t>dependența</a:t>
            </a:r>
            <a:r>
              <a:rPr lang="en-US" altLang="en-US" sz="1800" dirty="0" smtClean="0">
                <a:solidFill>
                  <a:srgbClr val="FFC000"/>
                </a:solidFill>
              </a:rPr>
              <a:t> tot </a:t>
            </a:r>
            <a:r>
              <a:rPr lang="en-US" altLang="en-US" sz="1800" dirty="0" err="1" smtClean="0">
                <a:solidFill>
                  <a:srgbClr val="FFC000"/>
                </a:solidFill>
              </a:rPr>
              <a:t>mai</a:t>
            </a:r>
            <a:r>
              <a:rPr lang="en-US" altLang="en-US" sz="1800" dirty="0" smtClean="0">
                <a:solidFill>
                  <a:srgbClr val="FFC000"/>
                </a:solidFill>
              </a:rPr>
              <a:t> mare a </a:t>
            </a:r>
            <a:r>
              <a:rPr lang="en-US" altLang="en-US" sz="1800" dirty="0" err="1" smtClean="0">
                <a:solidFill>
                  <a:srgbClr val="FFC000"/>
                </a:solidFill>
              </a:rPr>
              <a:t>Statelor</a:t>
            </a:r>
            <a:r>
              <a:rPr lang="en-US" altLang="en-US" sz="1800" dirty="0" smtClean="0">
                <a:solidFill>
                  <a:srgbClr val="FFC000"/>
                </a:solidFill>
              </a:rPr>
              <a:t> Unite de </a:t>
            </a:r>
            <a:r>
              <a:rPr lang="en-US" altLang="en-US" sz="1800" dirty="0" err="1" smtClean="0">
                <a:solidFill>
                  <a:srgbClr val="FFC000"/>
                </a:solidFill>
              </a:rPr>
              <a:t>materii</a:t>
            </a:r>
            <a:r>
              <a:rPr lang="en-US" altLang="en-US" sz="1800" dirty="0" smtClean="0">
                <a:solidFill>
                  <a:srgbClr val="FFC000"/>
                </a:solidFill>
              </a:rPr>
              <a:t> prime </a:t>
            </a:r>
            <a:r>
              <a:rPr lang="en-US" altLang="en-US" sz="1800" dirty="0" err="1" smtClean="0">
                <a:solidFill>
                  <a:srgbClr val="FFC000"/>
                </a:solidFill>
              </a:rPr>
              <a:t>importate</a:t>
            </a:r>
            <a:r>
              <a:rPr lang="en-US" altLang="en-US" sz="1800" dirty="0" smtClean="0">
                <a:solidFill>
                  <a:srgbClr val="FFC000"/>
                </a:solidFill>
              </a:rPr>
              <a:t> </a:t>
            </a:r>
            <a:r>
              <a:rPr lang="en-US" altLang="en-US" sz="1800" dirty="0" err="1" smtClean="0">
                <a:solidFill>
                  <a:srgbClr val="FFC000"/>
                </a:solidFill>
              </a:rPr>
              <a:t>și</a:t>
            </a:r>
            <a:r>
              <a:rPr lang="en-US" altLang="en-US" sz="1800" dirty="0" smtClean="0">
                <a:solidFill>
                  <a:srgbClr val="FFC000"/>
                </a:solidFill>
              </a:rPr>
              <a:t>, </a:t>
            </a:r>
            <a:r>
              <a:rPr lang="en-US" altLang="en-US" sz="1800" dirty="0" err="1" smtClean="0">
                <a:solidFill>
                  <a:srgbClr val="FFC000"/>
                </a:solidFill>
              </a:rPr>
              <a:t>așadar</a:t>
            </a:r>
            <a:r>
              <a:rPr lang="en-US" altLang="en-US" sz="1800" dirty="0" smtClean="0">
                <a:solidFill>
                  <a:srgbClr val="FFC000"/>
                </a:solidFill>
              </a:rPr>
              <a:t>, de </a:t>
            </a:r>
            <a:r>
              <a:rPr lang="en-US" altLang="en-US" sz="1800" dirty="0" err="1" smtClean="0">
                <a:solidFill>
                  <a:srgbClr val="FFC000"/>
                </a:solidFill>
              </a:rPr>
              <a:t>vulnerabilitatea</a:t>
            </a:r>
            <a:r>
              <a:rPr lang="en-US" altLang="en-US" sz="1800" dirty="0" smtClean="0">
                <a:solidFill>
                  <a:srgbClr val="FFC000"/>
                </a:solidFill>
              </a:rPr>
              <a:t> </a:t>
            </a:r>
            <a:r>
              <a:rPr lang="en-US" altLang="en-US" sz="1800" dirty="0" err="1" smtClean="0">
                <a:solidFill>
                  <a:srgbClr val="FFC000"/>
                </a:solidFill>
              </a:rPr>
              <a:t>lor</a:t>
            </a:r>
            <a:r>
              <a:rPr lang="en-US" altLang="en-US" sz="1800" dirty="0" smtClean="0">
                <a:solidFill>
                  <a:srgbClr val="FFC000"/>
                </a:solidFill>
              </a:rPr>
              <a:t>.</a:t>
            </a:r>
            <a:r>
              <a:rPr lang="en-US" altLang="en-US" sz="1800" dirty="0" smtClean="0"/>
              <a:t> „Din </a:t>
            </a:r>
            <a:r>
              <a:rPr lang="en-US" altLang="en-US" sz="1800" dirty="0" err="1" smtClean="0"/>
              <a:t>treisprezece</a:t>
            </a:r>
            <a:r>
              <a:rPr lang="en-US" altLang="en-US" sz="1800" dirty="0" smtClean="0"/>
              <a:t> </a:t>
            </a:r>
            <a:r>
              <a:rPr lang="en-US" altLang="en-US" sz="1800" dirty="0" err="1" smtClean="0"/>
              <a:t>materii</a:t>
            </a:r>
            <a:r>
              <a:rPr lang="en-US" altLang="en-US" sz="1800" dirty="0" smtClean="0"/>
              <a:t> prime </a:t>
            </a:r>
            <a:r>
              <a:rPr lang="en-US" altLang="en-US" sz="1800" dirty="0" err="1" smtClean="0"/>
              <a:t>industriale</a:t>
            </a:r>
            <a:r>
              <a:rPr lang="en-US" altLang="en-US" sz="1800" dirty="0" smtClean="0"/>
              <a:t> de </a:t>
            </a:r>
            <a:r>
              <a:rPr lang="en-US" altLang="en-US" sz="1800" dirty="0" err="1" smtClean="0"/>
              <a:t>bază</a:t>
            </a:r>
            <a:r>
              <a:rPr lang="en-US" altLang="en-US" sz="1800" dirty="0" smtClean="0"/>
              <a:t>, </a:t>
            </a:r>
            <a:r>
              <a:rPr lang="en-US" altLang="en-US" sz="1800" dirty="0" err="1" smtClean="0"/>
              <a:t>Statele</a:t>
            </a:r>
            <a:r>
              <a:rPr lang="en-US" altLang="en-US" sz="1800" dirty="0" smtClean="0"/>
              <a:t> Unite </a:t>
            </a:r>
            <a:r>
              <a:rPr lang="en-US" altLang="en-US" sz="1800" dirty="0" err="1" smtClean="0"/>
              <a:t>depindeau</a:t>
            </a:r>
            <a:r>
              <a:rPr lang="en-US" altLang="en-US" sz="1800" dirty="0" smtClean="0"/>
              <a:t> de </a:t>
            </a:r>
            <a:r>
              <a:rPr lang="en-US" altLang="en-US" sz="1800" dirty="0" err="1" smtClean="0"/>
              <a:t>importuri</a:t>
            </a:r>
            <a:r>
              <a:rPr lang="en-US" altLang="en-US" sz="1800" dirty="0" smtClean="0"/>
              <a:t> </a:t>
            </a:r>
            <a:r>
              <a:rPr lang="en-US" altLang="en-US" sz="1800" dirty="0" err="1" smtClean="0"/>
              <a:t>pentru</a:t>
            </a:r>
            <a:r>
              <a:rPr lang="en-US" altLang="en-US" sz="1800" dirty="0" smtClean="0"/>
              <a:t> </a:t>
            </a:r>
            <a:r>
              <a:rPr lang="en-US" altLang="en-US" sz="1800" dirty="0" err="1" smtClean="0"/>
              <a:t>aproape</a:t>
            </a:r>
            <a:r>
              <a:rPr lang="en-US" altLang="en-US" sz="1800" dirty="0" smtClean="0"/>
              <a:t> 90% din </a:t>
            </a:r>
            <a:r>
              <a:rPr lang="en-US" altLang="en-US" sz="1800" dirty="0" err="1" smtClean="0"/>
              <a:t>necesarul</a:t>
            </a:r>
            <a:r>
              <a:rPr lang="en-US" altLang="en-US" sz="1800" dirty="0" smtClean="0"/>
              <a:t> de </a:t>
            </a:r>
            <a:r>
              <a:rPr lang="en-US" altLang="en-US" sz="1800" dirty="0" err="1" smtClean="0"/>
              <a:t>aluminiu</a:t>
            </a:r>
            <a:r>
              <a:rPr lang="en-US" altLang="en-US" sz="1800" dirty="0" smtClean="0"/>
              <a:t>, </a:t>
            </a:r>
            <a:r>
              <a:rPr lang="en-US" altLang="en-US" sz="1800" dirty="0" err="1" smtClean="0"/>
              <a:t>crom</a:t>
            </a:r>
            <a:r>
              <a:rPr lang="en-US" altLang="en-US" sz="1800" dirty="0" smtClean="0"/>
              <a:t>, </a:t>
            </a:r>
            <a:r>
              <a:rPr lang="en-US" altLang="en-US" sz="1800" dirty="0" err="1" smtClean="0"/>
              <a:t>mangan</a:t>
            </a:r>
            <a:r>
              <a:rPr lang="en-US" altLang="en-US" sz="1800" dirty="0" smtClean="0"/>
              <a:t> </a:t>
            </a:r>
            <a:r>
              <a:rPr lang="en-US" altLang="en-US" sz="1800" dirty="0" err="1" smtClean="0"/>
              <a:t>și</a:t>
            </a:r>
            <a:r>
              <a:rPr lang="en-US" altLang="en-US" sz="1800" dirty="0" smtClean="0"/>
              <a:t> niche</a:t>
            </a:r>
            <a:r>
              <a:rPr lang="ro-RO" altLang="en-US" sz="1800" dirty="0" smtClean="0"/>
              <a:t>l.</a:t>
            </a:r>
            <a:r>
              <a:rPr lang="en-US" altLang="en-US" sz="1800" dirty="0" smtClean="0"/>
              <a:t> (Nye, 2012, p. 81). 	</a:t>
            </a:r>
          </a:p>
          <a:p>
            <a:pPr marL="0" indent="0">
              <a:buFont typeface="Arial" charset="0"/>
              <a:buNone/>
            </a:pPr>
            <a:endParaRPr lang="en-US" altLang="en-US" dirty="0" smtClean="0"/>
          </a:p>
          <a:p>
            <a:pPr marL="0" indent="0">
              <a:buFont typeface="Arial" charset="0"/>
              <a:buNone/>
            </a:pPr>
            <a:r>
              <a:rPr lang="en-US" altLang="en-US" dirty="0" smtClean="0"/>
              <a:t>	</a:t>
            </a:r>
          </a:p>
          <a:p>
            <a:pPr marL="0" indent="0">
              <a:buFont typeface="Arial" charset="0"/>
              <a:buNone/>
            </a:pPr>
            <a:r>
              <a:rPr lang="en-US" altLang="en-US" sz="1800" dirty="0" smtClean="0"/>
              <a:t>	</a:t>
            </a:r>
          </a:p>
          <a:p>
            <a:pPr marL="0" indent="0">
              <a:buFont typeface="Arial" charset="0"/>
              <a:buNone/>
            </a:pPr>
            <a:r>
              <a:rPr lang="en-US" altLang="en-US" dirty="0" smtClean="0"/>
              <a:t>	</a:t>
            </a:r>
          </a:p>
          <a:p>
            <a:pPr marL="0" indent="0">
              <a:buFont typeface="Arial" charset="0"/>
              <a:buNone/>
            </a:pPr>
            <a:endParaRPr lang="en-US" altLang="en-US" dirty="0" smtClean="0"/>
          </a:p>
        </p:txBody>
      </p:sp>
    </p:spTree>
    <p:extLst>
      <p:ext uri="{BB962C8B-B14F-4D97-AF65-F5344CB8AC3E}">
        <p14:creationId xmlns:p14="http://schemas.microsoft.com/office/powerpoint/2010/main" val="11718436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33400" y="57150"/>
            <a:ext cx="8153400" cy="628650"/>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a:t>
            </a:r>
            <a:r>
              <a:rPr lang="ro-RO" altLang="en-US" sz="2800" b="1" smtClean="0">
                <a:solidFill>
                  <a:schemeClr val="bg1"/>
                </a:solidFill>
              </a:rPr>
              <a:t> prin confuzie</a:t>
            </a: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685800"/>
            <a:ext cx="4038600" cy="522288"/>
          </a:xfrm>
          <a:solidFill>
            <a:schemeClr val="accent3"/>
          </a:solidFill>
        </p:spPr>
        <p:txBody>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6388" name="Content Placeholder 3"/>
          <p:cNvSpPr>
            <a:spLocks noGrp="1"/>
          </p:cNvSpPr>
          <p:nvPr>
            <p:ph sz="half" idx="2"/>
          </p:nvPr>
        </p:nvSpPr>
        <p:spPr>
          <a:xfrm>
            <a:off x="457200" y="1208088"/>
            <a:ext cx="4040188" cy="5649912"/>
          </a:xfrm>
        </p:spPr>
        <p:txBody>
          <a:bodyPr>
            <a:normAutofit lnSpcReduction="10000"/>
          </a:bodyPr>
          <a:lstStyle/>
          <a:p>
            <a:pPr marL="0" indent="0">
              <a:buFont typeface="Arial" charset="0"/>
              <a:buNone/>
            </a:pPr>
            <a:r>
              <a:rPr lang="en-US" altLang="en-US" sz="1800" dirty="0" smtClean="0"/>
              <a:t>„</a:t>
            </a:r>
            <a:r>
              <a:rPr lang="en-US" altLang="en-US" sz="1800" dirty="0" err="1" smtClean="0"/>
              <a:t>Chiar</a:t>
            </a:r>
            <a:r>
              <a:rPr lang="en-US" altLang="en-US" sz="1800" dirty="0" smtClean="0"/>
              <a:t> </a:t>
            </a:r>
            <a:r>
              <a:rPr lang="en-US" altLang="en-US" sz="1800" dirty="0" err="1" smtClean="0"/>
              <a:t>dacă</a:t>
            </a:r>
            <a:r>
              <a:rPr lang="en-US" altLang="en-US" sz="1800" dirty="0" smtClean="0"/>
              <a:t> </a:t>
            </a:r>
            <a:r>
              <a:rPr lang="en-US" altLang="en-US" sz="1800" dirty="0" err="1" smtClean="0"/>
              <a:t>resursele</a:t>
            </a:r>
            <a:r>
              <a:rPr lang="en-US" altLang="en-US" sz="1800" dirty="0" smtClean="0"/>
              <a:t> </a:t>
            </a:r>
            <a:r>
              <a:rPr lang="en-US" altLang="en-US" sz="1800" dirty="0" err="1" smtClean="0"/>
              <a:t>naturale</a:t>
            </a:r>
            <a:r>
              <a:rPr lang="en-US" altLang="en-US" sz="1800" dirty="0" smtClean="0"/>
              <a:t> </a:t>
            </a:r>
            <a:r>
              <a:rPr lang="en-US" altLang="en-US" sz="1800" dirty="0" err="1" smtClean="0"/>
              <a:t>sunt</a:t>
            </a:r>
            <a:r>
              <a:rPr lang="en-US" altLang="en-US" sz="1800" dirty="0" smtClean="0"/>
              <a:t> rare </a:t>
            </a:r>
            <a:r>
              <a:rPr lang="en-US" altLang="en-US" sz="1800" dirty="0" err="1" smtClean="0"/>
              <a:t>pe</a:t>
            </a:r>
            <a:r>
              <a:rPr lang="en-US" altLang="en-US" sz="1800" dirty="0" smtClean="0"/>
              <a:t> </a:t>
            </a:r>
            <a:r>
              <a:rPr lang="en-US" altLang="en-US" sz="1800" dirty="0" err="1" smtClean="0"/>
              <a:t>teritoriul</a:t>
            </a:r>
            <a:r>
              <a:rPr lang="en-US" altLang="en-US" sz="1800" dirty="0" smtClean="0"/>
              <a:t> </a:t>
            </a:r>
            <a:r>
              <a:rPr lang="en-US" altLang="en-US" sz="1800" dirty="0" err="1" smtClean="0"/>
              <a:t>unui</a:t>
            </a:r>
            <a:r>
              <a:rPr lang="en-US" altLang="en-US" sz="1800" dirty="0" smtClean="0"/>
              <a:t> stat, </a:t>
            </a:r>
            <a:r>
              <a:rPr lang="en-US" altLang="en-US" sz="1800" dirty="0" err="1" smtClean="0"/>
              <a:t>lipsa</a:t>
            </a:r>
            <a:r>
              <a:rPr lang="en-US" altLang="en-US" sz="1800" dirty="0" smtClean="0"/>
              <a:t> </a:t>
            </a:r>
            <a:r>
              <a:rPr lang="en-US" altLang="en-US" sz="1800" dirty="0" err="1" smtClean="0"/>
              <a:t>lor</a:t>
            </a:r>
            <a:r>
              <a:rPr lang="en-US" altLang="en-US" sz="1800" dirty="0" smtClean="0"/>
              <a:t> nu </a:t>
            </a:r>
            <a:r>
              <a:rPr lang="en-US" altLang="en-US" sz="1800" dirty="0" err="1" smtClean="0"/>
              <a:t>este</a:t>
            </a:r>
            <a:r>
              <a:rPr lang="en-US" altLang="en-US" sz="1800" dirty="0" smtClean="0"/>
              <a:t> un </a:t>
            </a:r>
            <a:r>
              <a:rPr lang="en-US" altLang="en-US" sz="1800" dirty="0" err="1" smtClean="0"/>
              <a:t>indice</a:t>
            </a:r>
            <a:r>
              <a:rPr lang="en-US" altLang="en-US" sz="1800" dirty="0" smtClean="0"/>
              <a:t> al </a:t>
            </a:r>
            <a:r>
              <a:rPr lang="en-US" altLang="en-US" sz="1800" dirty="0" err="1" smtClean="0"/>
              <a:t>unei</a:t>
            </a:r>
            <a:r>
              <a:rPr lang="en-US" altLang="en-US" sz="1800" dirty="0" smtClean="0"/>
              <a:t> </a:t>
            </a:r>
            <a:r>
              <a:rPr lang="en-US" altLang="en-US" sz="1800" dirty="0" err="1" smtClean="0"/>
              <a:t>puteri</a:t>
            </a:r>
            <a:r>
              <a:rPr lang="en-US" altLang="en-US" sz="1800" dirty="0" smtClean="0"/>
              <a:t> </a:t>
            </a:r>
            <a:r>
              <a:rPr lang="en-US" altLang="en-US" sz="1800" dirty="0" err="1" smtClean="0"/>
              <a:t>economice</a:t>
            </a:r>
            <a:r>
              <a:rPr lang="en-US" altLang="en-US" sz="1800" dirty="0" smtClean="0"/>
              <a:t> </a:t>
            </a:r>
            <a:r>
              <a:rPr lang="en-US" altLang="en-US" sz="1800" dirty="0" err="1" smtClean="0"/>
              <a:t>reduse</a:t>
            </a:r>
            <a:r>
              <a:rPr lang="en-US" altLang="en-US" sz="1800" dirty="0" smtClean="0"/>
              <a:t>. </a:t>
            </a:r>
            <a:r>
              <a:rPr lang="en-US" altLang="en-US" sz="1800" dirty="0" err="1" smtClean="0"/>
              <a:t>Vulnerabilitatea</a:t>
            </a:r>
            <a:r>
              <a:rPr lang="en-US" altLang="en-US" sz="1800" dirty="0" smtClean="0"/>
              <a:t> </a:t>
            </a:r>
            <a:r>
              <a:rPr lang="en-US" altLang="en-US" sz="1800" dirty="0" err="1" smtClean="0"/>
              <a:t>unei</a:t>
            </a:r>
            <a:r>
              <a:rPr lang="en-US" altLang="en-US" sz="1800" dirty="0" smtClean="0"/>
              <a:t> </a:t>
            </a:r>
            <a:r>
              <a:rPr lang="en-US" altLang="en-US" sz="1800" dirty="0" err="1" smtClean="0"/>
              <a:t>țări</a:t>
            </a:r>
            <a:r>
              <a:rPr lang="en-US" altLang="en-US" sz="1800" dirty="0" smtClean="0"/>
              <a:t> </a:t>
            </a:r>
            <a:r>
              <a:rPr lang="en-US" altLang="en-US" sz="1800" dirty="0" err="1" smtClean="0"/>
              <a:t>influențează</a:t>
            </a:r>
            <a:r>
              <a:rPr lang="en-US" altLang="en-US" sz="1800" dirty="0" smtClean="0"/>
              <a:t> </a:t>
            </a:r>
            <a:r>
              <a:rPr lang="en-US" altLang="en-US" sz="1800" dirty="0" err="1" smtClean="0"/>
              <a:t>multe</a:t>
            </a:r>
            <a:r>
              <a:rPr lang="en-US" altLang="en-US" sz="1800" dirty="0" smtClean="0"/>
              <a:t> </a:t>
            </a:r>
            <a:r>
              <a:rPr lang="en-US" altLang="en-US" sz="1800" dirty="0" err="1" smtClean="0"/>
              <a:t>alte</a:t>
            </a:r>
            <a:r>
              <a:rPr lang="en-US" altLang="en-US" sz="1800" dirty="0" smtClean="0"/>
              <a:t> </a:t>
            </a:r>
            <a:r>
              <a:rPr lang="en-US" altLang="en-US" sz="1800" dirty="0" err="1" smtClean="0"/>
              <a:t>aspecte</a:t>
            </a:r>
            <a:r>
              <a:rPr lang="en-US" altLang="en-US" sz="1800" dirty="0" smtClean="0"/>
              <a:t>, </a:t>
            </a:r>
            <a:r>
              <a:rPr lang="en-US" altLang="en-US" sz="1800" dirty="0" err="1" smtClean="0"/>
              <a:t>iar</a:t>
            </a:r>
            <a:r>
              <a:rPr lang="en-US" altLang="en-US" sz="1800" dirty="0" smtClean="0"/>
              <a:t> </a:t>
            </a:r>
            <a:r>
              <a:rPr lang="en-US" altLang="en-US" sz="1800" dirty="0" err="1" smtClean="0"/>
              <a:t>aceasta</a:t>
            </a:r>
            <a:r>
              <a:rPr lang="en-US" altLang="en-US" sz="1800" dirty="0" smtClean="0"/>
              <a:t> </a:t>
            </a:r>
            <a:r>
              <a:rPr lang="en-US" altLang="en-US" sz="1800" dirty="0" err="1" smtClean="0"/>
              <a:t>depinde</a:t>
            </a:r>
            <a:r>
              <a:rPr lang="en-US" altLang="en-US" sz="1800" dirty="0" smtClean="0"/>
              <a:t> de </a:t>
            </a:r>
            <a:r>
              <a:rPr lang="en-US" altLang="en-US" sz="1800" dirty="0" err="1" smtClean="0"/>
              <a:t>existența</a:t>
            </a:r>
            <a:r>
              <a:rPr lang="en-US" altLang="en-US" sz="1800" dirty="0" smtClean="0"/>
              <a:t> </a:t>
            </a:r>
            <a:r>
              <a:rPr lang="en-US" altLang="en-US" sz="1800" dirty="0" err="1" smtClean="0"/>
              <a:t>unor</a:t>
            </a:r>
            <a:r>
              <a:rPr lang="en-US" altLang="en-US" sz="1800" dirty="0" smtClean="0"/>
              <a:t> </a:t>
            </a:r>
            <a:r>
              <a:rPr lang="en-US" altLang="en-US" sz="1800" dirty="0" err="1" smtClean="0"/>
              <a:t>înlocuitori</a:t>
            </a:r>
            <a:r>
              <a:rPr lang="en-US" altLang="en-US" sz="1800" dirty="0" smtClean="0"/>
              <a:t> </a:t>
            </a:r>
            <a:r>
              <a:rPr lang="en-US" altLang="en-US" sz="1800" dirty="0" err="1" smtClean="0"/>
              <a:t>și</a:t>
            </a:r>
            <a:r>
              <a:rPr lang="en-US" altLang="en-US" sz="1800" dirty="0" smtClean="0"/>
              <a:t> de </a:t>
            </a:r>
            <a:r>
              <a:rPr lang="en-US" altLang="en-US" sz="1800" dirty="0" err="1" smtClean="0"/>
              <a:t>diversitatea</a:t>
            </a:r>
            <a:r>
              <a:rPr lang="en-US" altLang="en-US" sz="1800" dirty="0" smtClean="0"/>
              <a:t> </a:t>
            </a:r>
            <a:r>
              <a:rPr lang="en-US" altLang="en-US" sz="1800" dirty="0" err="1" smtClean="0"/>
              <a:t>surselor</a:t>
            </a:r>
            <a:r>
              <a:rPr lang="en-US" altLang="en-US" sz="1800" dirty="0" smtClean="0"/>
              <a:t> de </a:t>
            </a:r>
            <a:r>
              <a:rPr lang="en-US" altLang="en-US" sz="1800" dirty="0" err="1" smtClean="0"/>
              <a:t>aprovizionare</a:t>
            </a:r>
            <a:r>
              <a:rPr lang="en-US" altLang="en-US" sz="1800" dirty="0" smtClean="0"/>
              <a:t>. De </a:t>
            </a:r>
            <a:r>
              <a:rPr lang="en-US" altLang="en-US" sz="1800" dirty="0" err="1" smtClean="0"/>
              <a:t>exemplu</a:t>
            </a:r>
            <a:r>
              <a:rPr lang="en-US" altLang="en-US" sz="1800" dirty="0" smtClean="0"/>
              <a:t>, </a:t>
            </a:r>
            <a:r>
              <a:rPr lang="en-US" altLang="en-US" sz="1800" dirty="0" err="1" smtClean="0"/>
              <a:t>în</a:t>
            </a:r>
            <a:r>
              <a:rPr lang="en-US" altLang="en-US" sz="1800" dirty="0" smtClean="0"/>
              <a:t> </a:t>
            </a:r>
            <a:r>
              <a:rPr lang="en-US" altLang="en-US" sz="1800" dirty="0" err="1" smtClean="0"/>
              <a:t>anii</a:t>
            </a:r>
            <a:r>
              <a:rPr lang="en-US" altLang="en-US" sz="1800" dirty="0" smtClean="0"/>
              <a:t> ‘70, </a:t>
            </a:r>
            <a:r>
              <a:rPr lang="en-US" altLang="en-US" sz="1800" dirty="0" err="1" smtClean="0"/>
              <a:t>unii</a:t>
            </a:r>
            <a:r>
              <a:rPr lang="en-US" altLang="en-US" sz="1800" dirty="0" smtClean="0"/>
              <a:t> </a:t>
            </a:r>
            <a:r>
              <a:rPr lang="en-US" altLang="en-US" sz="1800" dirty="0" err="1" smtClean="0"/>
              <a:t>analiști</a:t>
            </a:r>
            <a:r>
              <a:rPr lang="en-US" altLang="en-US" sz="1800" dirty="0" smtClean="0"/>
              <a:t> </a:t>
            </a:r>
            <a:r>
              <a:rPr lang="en-US" altLang="en-US" sz="1800" dirty="0" err="1" smtClean="0"/>
              <a:t>și</a:t>
            </a:r>
            <a:r>
              <a:rPr lang="en-US" altLang="en-US" sz="1800" dirty="0" smtClean="0"/>
              <a:t>-au </a:t>
            </a:r>
            <a:r>
              <a:rPr lang="en-US" altLang="en-US" sz="1800" dirty="0" err="1" smtClean="0"/>
              <a:t>exprimat</a:t>
            </a:r>
            <a:r>
              <a:rPr lang="en-US" altLang="en-US" sz="1800" dirty="0" smtClean="0"/>
              <a:t> </a:t>
            </a:r>
            <a:r>
              <a:rPr lang="en-US" altLang="en-US" sz="1800" dirty="0" err="1" smtClean="0"/>
              <a:t>îngrijorarea</a:t>
            </a:r>
            <a:r>
              <a:rPr lang="en-US" altLang="en-US" sz="1800" dirty="0" smtClean="0"/>
              <a:t> cu </a:t>
            </a:r>
            <a:r>
              <a:rPr lang="en-US" altLang="en-US" sz="1800" dirty="0" err="1" smtClean="0"/>
              <a:t>privire</a:t>
            </a:r>
            <a:r>
              <a:rPr lang="en-US" altLang="en-US" sz="1800" dirty="0" smtClean="0"/>
              <a:t> la </a:t>
            </a:r>
            <a:r>
              <a:rPr lang="en-US" altLang="en-US" sz="1800" dirty="0" err="1" smtClean="0"/>
              <a:t>dependența</a:t>
            </a:r>
            <a:r>
              <a:rPr lang="en-US" altLang="en-US" sz="1800" dirty="0" smtClean="0"/>
              <a:t> tot </a:t>
            </a:r>
            <a:r>
              <a:rPr lang="en-US" altLang="en-US" sz="1800" dirty="0" err="1" smtClean="0"/>
              <a:t>mai</a:t>
            </a:r>
            <a:r>
              <a:rPr lang="en-US" altLang="en-US" sz="1800" dirty="0" smtClean="0"/>
              <a:t> mare a </a:t>
            </a:r>
            <a:r>
              <a:rPr lang="en-US" altLang="en-US" sz="1800" dirty="0" err="1" smtClean="0"/>
              <a:t>Statelor</a:t>
            </a:r>
            <a:r>
              <a:rPr lang="en-US" altLang="en-US" sz="1800" dirty="0" smtClean="0"/>
              <a:t> Unite de </a:t>
            </a:r>
            <a:r>
              <a:rPr lang="en-US" altLang="en-US" sz="1800" dirty="0" err="1" smtClean="0"/>
              <a:t>materii</a:t>
            </a:r>
            <a:r>
              <a:rPr lang="en-US" altLang="en-US" sz="1800" dirty="0" smtClean="0"/>
              <a:t> prime </a:t>
            </a:r>
            <a:r>
              <a:rPr lang="en-US" altLang="en-US" sz="1800" dirty="0" err="1" smtClean="0"/>
              <a:t>importate</a:t>
            </a:r>
            <a:r>
              <a:rPr lang="en-US" altLang="en-US" sz="1800" dirty="0" smtClean="0"/>
              <a:t> </a:t>
            </a:r>
            <a:r>
              <a:rPr lang="en-US" altLang="en-US" sz="1800" dirty="0" err="1" smtClean="0"/>
              <a:t>și</a:t>
            </a:r>
            <a:r>
              <a:rPr lang="en-US" altLang="en-US" sz="1800" dirty="0" smtClean="0"/>
              <a:t>, </a:t>
            </a:r>
            <a:r>
              <a:rPr lang="en-US" altLang="en-US" sz="1800" dirty="0" err="1" smtClean="0"/>
              <a:t>așadar</a:t>
            </a:r>
            <a:r>
              <a:rPr lang="en-US" altLang="en-US" sz="1800" dirty="0" smtClean="0"/>
              <a:t>, de </a:t>
            </a:r>
            <a:r>
              <a:rPr lang="en-US" altLang="en-US" sz="1800" dirty="0" err="1" smtClean="0"/>
              <a:t>vulnerabilitatea</a:t>
            </a:r>
            <a:r>
              <a:rPr lang="en-US" altLang="en-US" sz="1800" dirty="0" smtClean="0"/>
              <a:t> </a:t>
            </a:r>
            <a:r>
              <a:rPr lang="en-US" altLang="en-US" sz="1800" dirty="0" err="1" smtClean="0"/>
              <a:t>lor</a:t>
            </a:r>
            <a:r>
              <a:rPr lang="en-US" altLang="en-US" sz="1800" dirty="0" smtClean="0"/>
              <a:t>. Din </a:t>
            </a:r>
            <a:r>
              <a:rPr lang="en-US" altLang="en-US" sz="1800" dirty="0" err="1" smtClean="0"/>
              <a:t>treisprezece</a:t>
            </a:r>
            <a:r>
              <a:rPr lang="en-US" altLang="en-US" sz="1800" dirty="0" smtClean="0"/>
              <a:t> </a:t>
            </a:r>
            <a:r>
              <a:rPr lang="en-US" altLang="en-US" sz="1800" dirty="0" err="1" smtClean="0"/>
              <a:t>materii</a:t>
            </a:r>
            <a:r>
              <a:rPr lang="en-US" altLang="en-US" sz="1800" dirty="0" smtClean="0"/>
              <a:t> prime </a:t>
            </a:r>
            <a:r>
              <a:rPr lang="en-US" altLang="en-US" sz="1800" dirty="0" err="1" smtClean="0"/>
              <a:t>industriale</a:t>
            </a:r>
            <a:r>
              <a:rPr lang="en-US" altLang="en-US" sz="1800" dirty="0" smtClean="0"/>
              <a:t> de </a:t>
            </a:r>
            <a:r>
              <a:rPr lang="en-US" altLang="en-US" sz="1800" dirty="0" err="1" smtClean="0"/>
              <a:t>bază</a:t>
            </a:r>
            <a:r>
              <a:rPr lang="en-US" altLang="en-US" sz="1800" dirty="0" smtClean="0"/>
              <a:t>, </a:t>
            </a:r>
            <a:r>
              <a:rPr lang="en-US" altLang="en-US" sz="1800" dirty="0" err="1" smtClean="0"/>
              <a:t>Statele</a:t>
            </a:r>
            <a:r>
              <a:rPr lang="en-US" altLang="en-US" sz="1800" dirty="0" smtClean="0"/>
              <a:t> Unite </a:t>
            </a:r>
            <a:r>
              <a:rPr lang="en-US" altLang="en-US" sz="1800" dirty="0" err="1" smtClean="0"/>
              <a:t>depindeau</a:t>
            </a:r>
            <a:r>
              <a:rPr lang="en-US" altLang="en-US" sz="1800" dirty="0" smtClean="0"/>
              <a:t> de </a:t>
            </a:r>
            <a:r>
              <a:rPr lang="en-US" altLang="en-US" sz="1800" dirty="0" err="1" smtClean="0"/>
              <a:t>importuri</a:t>
            </a:r>
            <a:r>
              <a:rPr lang="en-US" altLang="en-US" sz="1800" dirty="0" smtClean="0"/>
              <a:t> </a:t>
            </a:r>
            <a:r>
              <a:rPr lang="en-US" altLang="en-US" sz="1800" dirty="0" err="1" smtClean="0"/>
              <a:t>pentru</a:t>
            </a:r>
            <a:r>
              <a:rPr lang="en-US" altLang="en-US" sz="1800" dirty="0" smtClean="0"/>
              <a:t> </a:t>
            </a:r>
            <a:r>
              <a:rPr lang="en-US" altLang="en-US" sz="1800" dirty="0" err="1" smtClean="0"/>
              <a:t>aproape</a:t>
            </a:r>
            <a:r>
              <a:rPr lang="en-US" altLang="en-US" sz="1800" dirty="0" smtClean="0"/>
              <a:t> 90% din </a:t>
            </a:r>
            <a:r>
              <a:rPr lang="en-US" altLang="en-US" sz="1800" dirty="0" err="1" smtClean="0"/>
              <a:t>necesarul</a:t>
            </a:r>
            <a:r>
              <a:rPr lang="en-US" altLang="en-US" sz="1800" dirty="0" smtClean="0"/>
              <a:t> de </a:t>
            </a:r>
            <a:r>
              <a:rPr lang="en-US" altLang="en-US" sz="1800" dirty="0" err="1" smtClean="0"/>
              <a:t>aluminiu</a:t>
            </a:r>
            <a:r>
              <a:rPr lang="en-US" altLang="en-US" sz="1800" dirty="0" smtClean="0"/>
              <a:t>, </a:t>
            </a:r>
            <a:r>
              <a:rPr lang="en-US" altLang="en-US" sz="1800" dirty="0" err="1" smtClean="0"/>
              <a:t>crom</a:t>
            </a:r>
            <a:r>
              <a:rPr lang="en-US" altLang="en-US" sz="1800" dirty="0" smtClean="0"/>
              <a:t>, </a:t>
            </a:r>
            <a:r>
              <a:rPr lang="en-US" altLang="en-US" sz="1800" dirty="0" err="1" smtClean="0"/>
              <a:t>mangan</a:t>
            </a:r>
            <a:r>
              <a:rPr lang="en-US" altLang="en-US" sz="1800" dirty="0" smtClean="0"/>
              <a:t> </a:t>
            </a:r>
            <a:r>
              <a:rPr lang="en-US" altLang="en-US" sz="1800" dirty="0" err="1" smtClean="0"/>
              <a:t>și</a:t>
            </a:r>
            <a:r>
              <a:rPr lang="en-US" altLang="en-US" sz="1800" dirty="0" smtClean="0"/>
              <a:t> </a:t>
            </a:r>
            <a:r>
              <a:rPr lang="en-US" altLang="en-US" sz="1800" dirty="0" err="1" smtClean="0"/>
              <a:t>nichel</a:t>
            </a:r>
            <a:r>
              <a:rPr lang="ro-RO" altLang="en-US" sz="1800" dirty="0" smtClean="0"/>
              <a:t>.</a:t>
            </a:r>
            <a:r>
              <a:rPr lang="en-US" altLang="en-US" sz="1800" dirty="0" smtClean="0"/>
              <a:t> </a:t>
            </a:r>
            <a:r>
              <a:rPr lang="en-US" altLang="en-US" dirty="0" smtClean="0"/>
              <a:t>	</a:t>
            </a:r>
          </a:p>
          <a:p>
            <a:pPr marL="0" indent="0">
              <a:buFont typeface="Arial" charset="0"/>
              <a:buNone/>
            </a:pPr>
            <a:endParaRPr lang="ro-RO" altLang="en-US" sz="1600" dirty="0" smtClean="0"/>
          </a:p>
          <a:p>
            <a:pPr marL="0" indent="0">
              <a:buFont typeface="Arial" charset="0"/>
              <a:buNone/>
            </a:pPr>
            <a:r>
              <a:rPr lang="en-US" altLang="en-US" sz="1600" dirty="0" smtClean="0"/>
              <a:t>Nye, Joseph, 2012, </a:t>
            </a:r>
            <a:r>
              <a:rPr lang="en-US" altLang="en-US" sz="1600" i="1" dirty="0" err="1" smtClean="0"/>
              <a:t>Viitorul</a:t>
            </a:r>
            <a:r>
              <a:rPr lang="en-US" altLang="en-US" sz="1600" i="1" dirty="0" smtClean="0"/>
              <a:t> </a:t>
            </a:r>
            <a:r>
              <a:rPr lang="en-US" altLang="en-US" sz="1600" i="1" dirty="0" err="1" smtClean="0"/>
              <a:t>puterii</a:t>
            </a:r>
            <a:r>
              <a:rPr lang="en-US" altLang="en-US" sz="1600" dirty="0" smtClean="0"/>
              <a:t>, </a:t>
            </a:r>
            <a:r>
              <a:rPr lang="en-US" altLang="en-US" sz="1600" dirty="0" err="1" smtClean="0"/>
              <a:t>Editura</a:t>
            </a:r>
            <a:r>
              <a:rPr lang="en-US" altLang="en-US" sz="1600" dirty="0" smtClean="0"/>
              <a:t> </a:t>
            </a:r>
            <a:r>
              <a:rPr lang="en-US" altLang="en-US" sz="1600" dirty="0" err="1" smtClean="0"/>
              <a:t>Polirom</a:t>
            </a:r>
            <a:r>
              <a:rPr lang="en-US" altLang="en-US" sz="1600" dirty="0" smtClean="0"/>
              <a:t>, </a:t>
            </a:r>
            <a:r>
              <a:rPr lang="en-US" altLang="en-US" sz="1600" dirty="0" err="1" smtClean="0"/>
              <a:t>Iași</a:t>
            </a:r>
            <a:r>
              <a:rPr lang="en-US" altLang="en-US" sz="1600" dirty="0" smtClean="0"/>
              <a:t>, p. 81. 	</a:t>
            </a:r>
          </a:p>
          <a:p>
            <a:pPr marL="0" indent="0">
              <a:buFont typeface="Arial" charset="0"/>
              <a:buNone/>
            </a:pPr>
            <a:endParaRPr lang="en-US" altLang="en-US" dirty="0" smtClean="0"/>
          </a:p>
        </p:txBody>
      </p:sp>
      <p:sp>
        <p:nvSpPr>
          <p:cNvPr id="16389" name="Text Placeholder 4"/>
          <p:cNvSpPr>
            <a:spLocks noGrp="1"/>
          </p:cNvSpPr>
          <p:nvPr>
            <p:ph type="body" sz="quarter" idx="3"/>
          </p:nvPr>
        </p:nvSpPr>
        <p:spPr>
          <a:xfrm>
            <a:off x="4572000" y="685800"/>
            <a:ext cx="4114800" cy="522288"/>
          </a:xfrm>
          <a:solidFill>
            <a:srgbClr val="FFC000"/>
          </a:solidFill>
        </p:spPr>
        <p:txBody>
          <a:bodyPr>
            <a:normAutofit fontScale="62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6390" name="Content Placeholder 5"/>
          <p:cNvSpPr>
            <a:spLocks noGrp="1"/>
          </p:cNvSpPr>
          <p:nvPr>
            <p:ph sz="quarter" idx="4"/>
          </p:nvPr>
        </p:nvSpPr>
        <p:spPr>
          <a:xfrm>
            <a:off x="4724400" y="1208088"/>
            <a:ext cx="4041775" cy="5649912"/>
          </a:xfrm>
          <a:ln>
            <a:solidFill>
              <a:srgbClr val="92D050"/>
            </a:solidFill>
            <a:miter lim="800000"/>
            <a:headEnd/>
            <a:tailEnd/>
          </a:ln>
        </p:spPr>
        <p:txBody>
          <a:bodyPr>
            <a:normAutofit fontScale="92500"/>
          </a:bodyPr>
          <a:lstStyle/>
          <a:p>
            <a:pPr marL="0" indent="0">
              <a:buFont typeface="Arial" charset="0"/>
              <a:buNone/>
            </a:pPr>
            <a:r>
              <a:rPr lang="en-US" altLang="en-US" sz="1800" dirty="0" err="1" smtClean="0"/>
              <a:t>Uneori</a:t>
            </a:r>
            <a:r>
              <a:rPr lang="en-US" altLang="en-US" sz="1800" dirty="0" smtClean="0"/>
              <a:t> </a:t>
            </a:r>
            <a:r>
              <a:rPr lang="en-US" altLang="en-US" sz="1800" dirty="0" err="1" smtClean="0"/>
              <a:t>oamenii</a:t>
            </a:r>
            <a:r>
              <a:rPr lang="en-US" altLang="en-US" sz="1800" dirty="0" smtClean="0"/>
              <a:t> pun </a:t>
            </a:r>
            <a:r>
              <a:rPr lang="en-US" altLang="en-US" sz="1800" dirty="0" err="1" smtClean="0"/>
              <a:t>semnul</a:t>
            </a:r>
            <a:r>
              <a:rPr lang="en-US" altLang="en-US" sz="1800" dirty="0" smtClean="0"/>
              <a:t> </a:t>
            </a:r>
            <a:r>
              <a:rPr lang="en-US" altLang="en-US" sz="1800" dirty="0" err="1" smtClean="0"/>
              <a:t>egalității</a:t>
            </a:r>
            <a:r>
              <a:rPr lang="en-US" altLang="en-US" sz="1800" dirty="0" smtClean="0"/>
              <a:t> </a:t>
            </a:r>
            <a:r>
              <a:rPr lang="en-US" altLang="en-US" sz="1800" dirty="0" err="1" smtClean="0"/>
              <a:t>între</a:t>
            </a:r>
            <a:r>
              <a:rPr lang="en-US" altLang="en-US" sz="1800" dirty="0" smtClean="0"/>
              <a:t> </a:t>
            </a:r>
            <a:r>
              <a:rPr lang="en-US" altLang="en-US" sz="1800" dirty="0" err="1" smtClean="0"/>
              <a:t>înzestrarea</a:t>
            </a:r>
            <a:r>
              <a:rPr lang="en-US" altLang="en-US" sz="1800" dirty="0" smtClean="0"/>
              <a:t> </a:t>
            </a:r>
            <a:r>
              <a:rPr lang="en-US" altLang="en-US" sz="1800" dirty="0" err="1" smtClean="0"/>
              <a:t>generoasă</a:t>
            </a:r>
            <a:r>
              <a:rPr lang="en-US" altLang="en-US" sz="1800" dirty="0" smtClean="0"/>
              <a:t> cu </a:t>
            </a:r>
            <a:r>
              <a:rPr lang="en-US" altLang="en-US" sz="1800" dirty="0" err="1" smtClean="0"/>
              <a:t>resurse</a:t>
            </a:r>
            <a:r>
              <a:rPr lang="en-US" altLang="en-US" sz="1800" dirty="0" smtClean="0"/>
              <a:t> </a:t>
            </a:r>
            <a:r>
              <a:rPr lang="en-US" altLang="en-US" sz="1800" dirty="0" err="1" smtClean="0"/>
              <a:t>naturale</a:t>
            </a:r>
            <a:r>
              <a:rPr lang="en-US" altLang="en-US" sz="1800" dirty="0" smtClean="0"/>
              <a:t> </a:t>
            </a:r>
            <a:r>
              <a:rPr lang="en-US" altLang="en-US" sz="1800" dirty="0" err="1" smtClean="0"/>
              <a:t>și</a:t>
            </a:r>
            <a:r>
              <a:rPr lang="en-US" altLang="en-US" sz="1800" dirty="0" smtClean="0"/>
              <a:t> </a:t>
            </a:r>
            <a:r>
              <a:rPr lang="en-US" altLang="en-US" sz="1800" dirty="0" err="1" smtClean="0"/>
              <a:t>puterea</a:t>
            </a:r>
            <a:r>
              <a:rPr lang="en-US" altLang="en-US" sz="1800" dirty="0" smtClean="0"/>
              <a:t> </a:t>
            </a:r>
            <a:r>
              <a:rPr lang="en-US" altLang="en-US" sz="1800" dirty="0" err="1" smtClean="0"/>
              <a:t>economică</a:t>
            </a:r>
            <a:r>
              <a:rPr lang="en-US" altLang="en-US" sz="1800" dirty="0" smtClean="0"/>
              <a:t>, </a:t>
            </a:r>
            <a:r>
              <a:rPr lang="en-US" altLang="en-US" sz="1800" dirty="0" err="1" smtClean="0"/>
              <a:t>dar</a:t>
            </a:r>
            <a:r>
              <a:rPr lang="en-US" altLang="en-US" sz="1800" dirty="0" smtClean="0"/>
              <a:t> </a:t>
            </a:r>
            <a:r>
              <a:rPr lang="en-US" altLang="en-US" sz="1800" dirty="0" err="1" smtClean="0"/>
              <a:t>relația</a:t>
            </a:r>
            <a:r>
              <a:rPr lang="en-US" altLang="en-US" sz="1800" dirty="0" smtClean="0"/>
              <a:t> </a:t>
            </a:r>
            <a:r>
              <a:rPr lang="en-US" altLang="en-US" sz="1800" dirty="0" err="1" smtClean="0"/>
              <a:t>este</a:t>
            </a:r>
            <a:r>
              <a:rPr lang="en-US" altLang="en-US" sz="1800" dirty="0" smtClean="0"/>
              <a:t> </a:t>
            </a:r>
            <a:r>
              <a:rPr lang="en-US" altLang="en-US" sz="1800" dirty="0" err="1" smtClean="0"/>
              <a:t>complicată</a:t>
            </a:r>
            <a:r>
              <a:rPr lang="en-US" altLang="en-US" sz="1800" dirty="0" smtClean="0"/>
              <a:t>. </a:t>
            </a:r>
          </a:p>
          <a:p>
            <a:pPr marL="0" indent="0">
              <a:buFont typeface="Arial" charset="0"/>
              <a:buNone/>
            </a:pPr>
            <a:r>
              <a:rPr lang="en-US" altLang="en-US" sz="1800" dirty="0" err="1" smtClean="0">
                <a:solidFill>
                  <a:srgbClr val="FFC000"/>
                </a:solidFill>
              </a:rPr>
              <a:t>Chiar</a:t>
            </a:r>
            <a:r>
              <a:rPr lang="en-US" altLang="en-US" sz="1800" dirty="0" smtClean="0">
                <a:solidFill>
                  <a:srgbClr val="FFC000"/>
                </a:solidFill>
              </a:rPr>
              <a:t> </a:t>
            </a:r>
            <a:r>
              <a:rPr lang="en-US" altLang="en-US" sz="1800" dirty="0" err="1" smtClean="0">
                <a:solidFill>
                  <a:srgbClr val="FFC000"/>
                </a:solidFill>
              </a:rPr>
              <a:t>dacă</a:t>
            </a:r>
            <a:r>
              <a:rPr lang="en-US" altLang="en-US" sz="1800" dirty="0" smtClean="0">
                <a:solidFill>
                  <a:srgbClr val="FFC000"/>
                </a:solidFill>
              </a:rPr>
              <a:t> </a:t>
            </a:r>
            <a:r>
              <a:rPr lang="en-US" altLang="en-US" sz="1800" dirty="0" err="1" smtClean="0">
                <a:solidFill>
                  <a:srgbClr val="FFC000"/>
                </a:solidFill>
              </a:rPr>
              <a:t>resursele</a:t>
            </a:r>
            <a:r>
              <a:rPr lang="en-US" altLang="en-US" sz="1800" dirty="0" smtClean="0">
                <a:solidFill>
                  <a:srgbClr val="FFC000"/>
                </a:solidFill>
              </a:rPr>
              <a:t> </a:t>
            </a:r>
            <a:r>
              <a:rPr lang="en-US" altLang="en-US" sz="1800" dirty="0" err="1" smtClean="0">
                <a:solidFill>
                  <a:srgbClr val="FFC000"/>
                </a:solidFill>
              </a:rPr>
              <a:t>naturale</a:t>
            </a:r>
            <a:r>
              <a:rPr lang="en-US" altLang="en-US" sz="1800" dirty="0" smtClean="0">
                <a:solidFill>
                  <a:srgbClr val="FFC000"/>
                </a:solidFill>
              </a:rPr>
              <a:t> </a:t>
            </a:r>
            <a:r>
              <a:rPr lang="en-US" altLang="en-US" sz="1800" dirty="0" err="1" smtClean="0">
                <a:solidFill>
                  <a:srgbClr val="FFC000"/>
                </a:solidFill>
              </a:rPr>
              <a:t>sunt</a:t>
            </a:r>
            <a:r>
              <a:rPr lang="en-US" altLang="en-US" sz="1800" dirty="0" smtClean="0">
                <a:solidFill>
                  <a:srgbClr val="FFC000"/>
                </a:solidFill>
              </a:rPr>
              <a:t> rare </a:t>
            </a:r>
            <a:r>
              <a:rPr lang="en-US" altLang="en-US" sz="1800" dirty="0" err="1" smtClean="0">
                <a:solidFill>
                  <a:srgbClr val="FFC000"/>
                </a:solidFill>
              </a:rPr>
              <a:t>pe</a:t>
            </a:r>
            <a:r>
              <a:rPr lang="en-US" altLang="en-US" sz="1800" dirty="0" smtClean="0">
                <a:solidFill>
                  <a:srgbClr val="FFC000"/>
                </a:solidFill>
              </a:rPr>
              <a:t> </a:t>
            </a:r>
            <a:r>
              <a:rPr lang="en-US" altLang="en-US" sz="1800" dirty="0" err="1" smtClean="0">
                <a:solidFill>
                  <a:srgbClr val="FFC000"/>
                </a:solidFill>
              </a:rPr>
              <a:t>teritoriul</a:t>
            </a:r>
            <a:r>
              <a:rPr lang="en-US" altLang="en-US" sz="1800" dirty="0" smtClean="0">
                <a:solidFill>
                  <a:srgbClr val="FFC000"/>
                </a:solidFill>
              </a:rPr>
              <a:t> </a:t>
            </a:r>
            <a:r>
              <a:rPr lang="en-US" altLang="en-US" sz="1800" dirty="0" err="1" smtClean="0">
                <a:solidFill>
                  <a:srgbClr val="FFC000"/>
                </a:solidFill>
              </a:rPr>
              <a:t>unui</a:t>
            </a:r>
            <a:r>
              <a:rPr lang="en-US" altLang="en-US" sz="1800" dirty="0" smtClean="0">
                <a:solidFill>
                  <a:srgbClr val="FFC000"/>
                </a:solidFill>
              </a:rPr>
              <a:t> stat, </a:t>
            </a:r>
            <a:r>
              <a:rPr lang="en-US" altLang="en-US" sz="1800" dirty="0" err="1" smtClean="0">
                <a:solidFill>
                  <a:srgbClr val="FFC000"/>
                </a:solidFill>
              </a:rPr>
              <a:t>lipsa</a:t>
            </a:r>
            <a:r>
              <a:rPr lang="en-US" altLang="en-US" sz="1800" dirty="0" smtClean="0">
                <a:solidFill>
                  <a:srgbClr val="FFC000"/>
                </a:solidFill>
              </a:rPr>
              <a:t> </a:t>
            </a:r>
            <a:r>
              <a:rPr lang="en-US" altLang="en-US" sz="1800" dirty="0" err="1" smtClean="0">
                <a:solidFill>
                  <a:srgbClr val="FFC000"/>
                </a:solidFill>
              </a:rPr>
              <a:t>lor</a:t>
            </a:r>
            <a:r>
              <a:rPr lang="en-US" altLang="en-US" sz="1800" dirty="0" smtClean="0">
                <a:solidFill>
                  <a:srgbClr val="FFC000"/>
                </a:solidFill>
              </a:rPr>
              <a:t> nu </a:t>
            </a:r>
            <a:r>
              <a:rPr lang="en-US" altLang="en-US" sz="1800" dirty="0" err="1" smtClean="0">
                <a:solidFill>
                  <a:srgbClr val="FFC000"/>
                </a:solidFill>
              </a:rPr>
              <a:t>este</a:t>
            </a:r>
            <a:r>
              <a:rPr lang="en-US" altLang="en-US" sz="1800" dirty="0" smtClean="0">
                <a:solidFill>
                  <a:srgbClr val="FFC000"/>
                </a:solidFill>
              </a:rPr>
              <a:t> un </a:t>
            </a:r>
            <a:r>
              <a:rPr lang="en-US" altLang="en-US" sz="1800" dirty="0" err="1" smtClean="0">
                <a:solidFill>
                  <a:srgbClr val="FFC000"/>
                </a:solidFill>
              </a:rPr>
              <a:t>indice</a:t>
            </a:r>
            <a:r>
              <a:rPr lang="en-US" altLang="en-US" sz="1800" dirty="0" smtClean="0">
                <a:solidFill>
                  <a:srgbClr val="FFC000"/>
                </a:solidFill>
              </a:rPr>
              <a:t> al </a:t>
            </a:r>
            <a:r>
              <a:rPr lang="en-US" altLang="en-US" sz="1800" dirty="0" err="1" smtClean="0">
                <a:solidFill>
                  <a:srgbClr val="FFC000"/>
                </a:solidFill>
              </a:rPr>
              <a:t>unei</a:t>
            </a:r>
            <a:r>
              <a:rPr lang="en-US" altLang="en-US" sz="1800" dirty="0" smtClean="0">
                <a:solidFill>
                  <a:srgbClr val="FFC000"/>
                </a:solidFill>
              </a:rPr>
              <a:t> </a:t>
            </a:r>
            <a:r>
              <a:rPr lang="en-US" altLang="en-US" sz="1800" dirty="0" err="1" smtClean="0">
                <a:solidFill>
                  <a:srgbClr val="FFC000"/>
                </a:solidFill>
              </a:rPr>
              <a:t>puteri</a:t>
            </a:r>
            <a:r>
              <a:rPr lang="en-US" altLang="en-US" sz="1800" dirty="0" smtClean="0">
                <a:solidFill>
                  <a:srgbClr val="FFC000"/>
                </a:solidFill>
              </a:rPr>
              <a:t> </a:t>
            </a:r>
            <a:r>
              <a:rPr lang="en-US" altLang="en-US" sz="1800" dirty="0" err="1" smtClean="0">
                <a:solidFill>
                  <a:srgbClr val="FFC000"/>
                </a:solidFill>
              </a:rPr>
              <a:t>economice</a:t>
            </a:r>
            <a:r>
              <a:rPr lang="en-US" altLang="en-US" sz="1800" dirty="0" smtClean="0">
                <a:solidFill>
                  <a:srgbClr val="FFC000"/>
                </a:solidFill>
              </a:rPr>
              <a:t> </a:t>
            </a:r>
            <a:r>
              <a:rPr lang="en-US" altLang="en-US" sz="1800" dirty="0" err="1" smtClean="0">
                <a:solidFill>
                  <a:srgbClr val="FFC000"/>
                </a:solidFill>
              </a:rPr>
              <a:t>reduse</a:t>
            </a:r>
            <a:r>
              <a:rPr lang="en-US" altLang="en-US" sz="1800" dirty="0" smtClean="0">
                <a:solidFill>
                  <a:srgbClr val="FFC000"/>
                </a:solidFill>
              </a:rPr>
              <a:t>. </a:t>
            </a:r>
            <a:r>
              <a:rPr lang="en-US" altLang="en-US" sz="1800" dirty="0" err="1" smtClean="0"/>
              <a:t>Proiecțiile</a:t>
            </a:r>
            <a:r>
              <a:rPr lang="en-US" altLang="en-US" sz="1800" dirty="0" smtClean="0"/>
              <a:t> </a:t>
            </a:r>
            <a:r>
              <a:rPr lang="en-US" altLang="en-US" sz="1800" dirty="0" err="1" smtClean="0"/>
              <a:t>vulnerabilității</a:t>
            </a:r>
            <a:r>
              <a:rPr lang="en-US" altLang="en-US" sz="1800" dirty="0" smtClean="0"/>
              <a:t> SUA la </a:t>
            </a:r>
            <a:r>
              <a:rPr lang="en-US" altLang="en-US" sz="1800" dirty="0" err="1" smtClean="0"/>
              <a:t>penuria</a:t>
            </a:r>
            <a:r>
              <a:rPr lang="en-US" altLang="en-US" sz="1800" dirty="0" smtClean="0"/>
              <a:t> de </a:t>
            </a:r>
            <a:r>
              <a:rPr lang="en-US" altLang="en-US" sz="1800" dirty="0" err="1" smtClean="0"/>
              <a:t>materii</a:t>
            </a:r>
            <a:r>
              <a:rPr lang="en-US" altLang="en-US" sz="1800" dirty="0" smtClean="0"/>
              <a:t> prime au </a:t>
            </a:r>
            <a:r>
              <a:rPr lang="en-US" altLang="en-US" sz="1800" dirty="0" err="1" smtClean="0"/>
              <a:t>fost</a:t>
            </a:r>
            <a:r>
              <a:rPr lang="en-US" altLang="en-US" sz="1800" dirty="0" smtClean="0"/>
              <a:t> </a:t>
            </a:r>
            <a:r>
              <a:rPr lang="en-US" altLang="en-US" sz="1800" dirty="0" err="1" smtClean="0"/>
              <a:t>inexacte</a:t>
            </a:r>
            <a:r>
              <a:rPr lang="en-US" altLang="en-US" sz="1800" dirty="0" smtClean="0"/>
              <a:t> </a:t>
            </a:r>
            <a:r>
              <a:rPr lang="en-US" altLang="en-US" sz="1800" dirty="0" err="1" smtClean="0"/>
              <a:t>pentru</a:t>
            </a:r>
            <a:r>
              <a:rPr lang="en-US" altLang="en-US" sz="1800" dirty="0" smtClean="0"/>
              <a:t> </a:t>
            </a:r>
            <a:r>
              <a:rPr lang="en-US" altLang="en-US" sz="1800" dirty="0" err="1" smtClean="0"/>
              <a:t>că</a:t>
            </a:r>
            <a:r>
              <a:rPr lang="en-US" altLang="en-US" sz="1800" dirty="0" smtClean="0"/>
              <a:t> nu s-a </a:t>
            </a:r>
            <a:r>
              <a:rPr lang="en-US" altLang="en-US" sz="1800" dirty="0" err="1" smtClean="0"/>
              <a:t>reușit</a:t>
            </a:r>
            <a:r>
              <a:rPr lang="en-US" altLang="en-US" sz="1800" dirty="0" smtClean="0"/>
              <a:t> </a:t>
            </a:r>
            <a:r>
              <a:rPr lang="en-US" altLang="en-US" sz="1800" dirty="0" err="1" smtClean="0"/>
              <a:t>luarea</a:t>
            </a:r>
            <a:r>
              <a:rPr lang="en-US" altLang="en-US" sz="1800" dirty="0" smtClean="0"/>
              <a:t> </a:t>
            </a:r>
            <a:r>
              <a:rPr lang="en-US" altLang="en-US" sz="1800" dirty="0" err="1" smtClean="0"/>
              <a:t>în</a:t>
            </a:r>
            <a:r>
              <a:rPr lang="en-US" altLang="en-US" sz="1800" dirty="0" smtClean="0"/>
              <a:t> </a:t>
            </a:r>
            <a:r>
              <a:rPr lang="en-US" altLang="en-US" sz="1800" dirty="0" err="1" smtClean="0"/>
              <a:t>calcul</a:t>
            </a:r>
            <a:r>
              <a:rPr lang="en-US" altLang="en-US" sz="1800" dirty="0" smtClean="0"/>
              <a:t> a </a:t>
            </a:r>
            <a:r>
              <a:rPr lang="en-US" altLang="en-US" sz="1800" dirty="0" err="1" smtClean="0"/>
              <a:t>tehnologiei</a:t>
            </a:r>
            <a:r>
              <a:rPr lang="en-US" altLang="en-US" sz="1800" dirty="0" smtClean="0"/>
              <a:t> </a:t>
            </a:r>
            <a:r>
              <a:rPr lang="en-US" altLang="en-US" sz="1800" dirty="0" err="1" smtClean="0"/>
              <a:t>și</a:t>
            </a:r>
            <a:r>
              <a:rPr lang="en-US" altLang="en-US" sz="1800" dirty="0" smtClean="0"/>
              <a:t> </a:t>
            </a:r>
            <a:r>
              <a:rPr lang="en-US" altLang="en-US" sz="1800" dirty="0" err="1" smtClean="0"/>
              <a:t>alternativelor</a:t>
            </a:r>
            <a:r>
              <a:rPr lang="en-US" altLang="en-US" sz="1800" dirty="0" smtClean="0"/>
              <a:t>. </a:t>
            </a:r>
            <a:r>
              <a:rPr lang="en-US" altLang="en-US" sz="1800" dirty="0" smtClean="0">
                <a:solidFill>
                  <a:srgbClr val="FFC000"/>
                </a:solidFill>
              </a:rPr>
              <a:t>De </a:t>
            </a:r>
            <a:r>
              <a:rPr lang="en-US" altLang="en-US" sz="1800" dirty="0" err="1" smtClean="0">
                <a:solidFill>
                  <a:srgbClr val="FFC000"/>
                </a:solidFill>
              </a:rPr>
              <a:t>exemplu</a:t>
            </a:r>
            <a:r>
              <a:rPr lang="en-US" altLang="en-US" sz="1800" dirty="0" smtClean="0">
                <a:solidFill>
                  <a:srgbClr val="FFC000"/>
                </a:solidFill>
              </a:rPr>
              <a:t>, </a:t>
            </a:r>
            <a:r>
              <a:rPr lang="en-US" altLang="en-US" sz="1800" dirty="0" err="1" smtClean="0">
                <a:solidFill>
                  <a:srgbClr val="FFC000"/>
                </a:solidFill>
              </a:rPr>
              <a:t>în</a:t>
            </a:r>
            <a:r>
              <a:rPr lang="en-US" altLang="en-US" sz="1800" dirty="0" smtClean="0">
                <a:solidFill>
                  <a:srgbClr val="FFC000"/>
                </a:solidFill>
              </a:rPr>
              <a:t> </a:t>
            </a:r>
            <a:r>
              <a:rPr lang="en-US" altLang="en-US" sz="1800" dirty="0" err="1" smtClean="0">
                <a:solidFill>
                  <a:srgbClr val="FFC000"/>
                </a:solidFill>
              </a:rPr>
              <a:t>anii</a:t>
            </a:r>
            <a:r>
              <a:rPr lang="en-US" altLang="en-US" sz="1800" dirty="0" smtClean="0">
                <a:solidFill>
                  <a:srgbClr val="FFC000"/>
                </a:solidFill>
              </a:rPr>
              <a:t> ‘70, </a:t>
            </a:r>
            <a:r>
              <a:rPr lang="en-US" altLang="en-US" sz="1800" dirty="0" err="1" smtClean="0">
                <a:solidFill>
                  <a:srgbClr val="FFC000"/>
                </a:solidFill>
              </a:rPr>
              <a:t>unii</a:t>
            </a:r>
            <a:r>
              <a:rPr lang="en-US" altLang="en-US" sz="1800" dirty="0" smtClean="0">
                <a:solidFill>
                  <a:srgbClr val="FFC000"/>
                </a:solidFill>
              </a:rPr>
              <a:t> </a:t>
            </a:r>
            <a:r>
              <a:rPr lang="en-US" altLang="en-US" sz="1800" dirty="0" err="1" smtClean="0">
                <a:solidFill>
                  <a:srgbClr val="FFC000"/>
                </a:solidFill>
              </a:rPr>
              <a:t>analiști</a:t>
            </a:r>
            <a:r>
              <a:rPr lang="en-US" altLang="en-US" sz="1800" dirty="0" smtClean="0">
                <a:solidFill>
                  <a:srgbClr val="FFC000"/>
                </a:solidFill>
              </a:rPr>
              <a:t> </a:t>
            </a:r>
            <a:r>
              <a:rPr lang="en-US" altLang="en-US" sz="1800" dirty="0" err="1" smtClean="0">
                <a:solidFill>
                  <a:srgbClr val="FFC000"/>
                </a:solidFill>
              </a:rPr>
              <a:t>și</a:t>
            </a:r>
            <a:r>
              <a:rPr lang="en-US" altLang="en-US" sz="1800" dirty="0" smtClean="0">
                <a:solidFill>
                  <a:srgbClr val="FFC000"/>
                </a:solidFill>
              </a:rPr>
              <a:t>-au </a:t>
            </a:r>
            <a:r>
              <a:rPr lang="en-US" altLang="en-US" sz="1800" dirty="0" err="1" smtClean="0">
                <a:solidFill>
                  <a:srgbClr val="FFC000"/>
                </a:solidFill>
              </a:rPr>
              <a:t>exprimat</a:t>
            </a:r>
            <a:r>
              <a:rPr lang="en-US" altLang="en-US" sz="1800" dirty="0" smtClean="0">
                <a:solidFill>
                  <a:srgbClr val="FFC000"/>
                </a:solidFill>
              </a:rPr>
              <a:t> </a:t>
            </a:r>
            <a:r>
              <a:rPr lang="en-US" altLang="en-US" sz="1800" dirty="0" err="1" smtClean="0">
                <a:solidFill>
                  <a:srgbClr val="FFC000"/>
                </a:solidFill>
              </a:rPr>
              <a:t>îngrijorarea</a:t>
            </a:r>
            <a:r>
              <a:rPr lang="en-US" altLang="en-US" sz="1800" dirty="0" smtClean="0">
                <a:solidFill>
                  <a:srgbClr val="FFC000"/>
                </a:solidFill>
              </a:rPr>
              <a:t> cu </a:t>
            </a:r>
            <a:r>
              <a:rPr lang="en-US" altLang="en-US" sz="1800" dirty="0" err="1" smtClean="0">
                <a:solidFill>
                  <a:srgbClr val="FFC000"/>
                </a:solidFill>
              </a:rPr>
              <a:t>privire</a:t>
            </a:r>
            <a:r>
              <a:rPr lang="en-US" altLang="en-US" sz="1800" dirty="0" smtClean="0">
                <a:solidFill>
                  <a:srgbClr val="FFC000"/>
                </a:solidFill>
              </a:rPr>
              <a:t> la </a:t>
            </a:r>
            <a:r>
              <a:rPr lang="en-US" altLang="en-US" sz="1800" dirty="0" err="1" smtClean="0">
                <a:solidFill>
                  <a:srgbClr val="FFC000"/>
                </a:solidFill>
              </a:rPr>
              <a:t>dependența</a:t>
            </a:r>
            <a:r>
              <a:rPr lang="en-US" altLang="en-US" sz="1800" dirty="0" smtClean="0">
                <a:solidFill>
                  <a:srgbClr val="FFC000"/>
                </a:solidFill>
              </a:rPr>
              <a:t> tot </a:t>
            </a:r>
            <a:r>
              <a:rPr lang="en-US" altLang="en-US" sz="1800" dirty="0" err="1" smtClean="0">
                <a:solidFill>
                  <a:srgbClr val="FFC000"/>
                </a:solidFill>
              </a:rPr>
              <a:t>mai</a:t>
            </a:r>
            <a:r>
              <a:rPr lang="en-US" altLang="en-US" sz="1800" dirty="0" smtClean="0">
                <a:solidFill>
                  <a:srgbClr val="FFC000"/>
                </a:solidFill>
              </a:rPr>
              <a:t> mare a </a:t>
            </a:r>
            <a:r>
              <a:rPr lang="en-US" altLang="en-US" sz="1800" dirty="0" err="1" smtClean="0">
                <a:solidFill>
                  <a:srgbClr val="FFC000"/>
                </a:solidFill>
              </a:rPr>
              <a:t>Statelor</a:t>
            </a:r>
            <a:r>
              <a:rPr lang="en-US" altLang="en-US" sz="1800" dirty="0" smtClean="0">
                <a:solidFill>
                  <a:srgbClr val="FFC000"/>
                </a:solidFill>
              </a:rPr>
              <a:t> Unite de </a:t>
            </a:r>
            <a:r>
              <a:rPr lang="en-US" altLang="en-US" sz="1800" dirty="0" err="1" smtClean="0">
                <a:solidFill>
                  <a:srgbClr val="FFC000"/>
                </a:solidFill>
              </a:rPr>
              <a:t>materii</a:t>
            </a:r>
            <a:r>
              <a:rPr lang="en-US" altLang="en-US" sz="1800" dirty="0" smtClean="0">
                <a:solidFill>
                  <a:srgbClr val="FFC000"/>
                </a:solidFill>
              </a:rPr>
              <a:t> prime </a:t>
            </a:r>
            <a:r>
              <a:rPr lang="en-US" altLang="en-US" sz="1800" dirty="0" err="1" smtClean="0">
                <a:solidFill>
                  <a:srgbClr val="FFC000"/>
                </a:solidFill>
              </a:rPr>
              <a:t>importate</a:t>
            </a:r>
            <a:r>
              <a:rPr lang="en-US" altLang="en-US" sz="1800" dirty="0" smtClean="0">
                <a:solidFill>
                  <a:srgbClr val="FFC000"/>
                </a:solidFill>
              </a:rPr>
              <a:t> </a:t>
            </a:r>
            <a:r>
              <a:rPr lang="en-US" altLang="en-US" sz="1800" dirty="0" err="1" smtClean="0">
                <a:solidFill>
                  <a:srgbClr val="FFC000"/>
                </a:solidFill>
              </a:rPr>
              <a:t>și</a:t>
            </a:r>
            <a:r>
              <a:rPr lang="en-US" altLang="en-US" sz="1800" dirty="0" smtClean="0">
                <a:solidFill>
                  <a:srgbClr val="FFC000"/>
                </a:solidFill>
              </a:rPr>
              <a:t>, </a:t>
            </a:r>
            <a:r>
              <a:rPr lang="en-US" altLang="en-US" sz="1800" dirty="0" err="1" smtClean="0">
                <a:solidFill>
                  <a:srgbClr val="FFC000"/>
                </a:solidFill>
              </a:rPr>
              <a:t>așadar</a:t>
            </a:r>
            <a:r>
              <a:rPr lang="en-US" altLang="en-US" sz="1800" dirty="0" smtClean="0">
                <a:solidFill>
                  <a:srgbClr val="FFC000"/>
                </a:solidFill>
              </a:rPr>
              <a:t>, de </a:t>
            </a:r>
            <a:r>
              <a:rPr lang="en-US" altLang="en-US" sz="1800" dirty="0" err="1" smtClean="0">
                <a:solidFill>
                  <a:srgbClr val="FFC000"/>
                </a:solidFill>
              </a:rPr>
              <a:t>vulnerabilitatea</a:t>
            </a:r>
            <a:r>
              <a:rPr lang="en-US" altLang="en-US" sz="1800" dirty="0" smtClean="0">
                <a:solidFill>
                  <a:srgbClr val="FFC000"/>
                </a:solidFill>
              </a:rPr>
              <a:t> </a:t>
            </a:r>
            <a:r>
              <a:rPr lang="en-US" altLang="en-US" sz="1800" dirty="0" err="1" smtClean="0">
                <a:solidFill>
                  <a:srgbClr val="FFC000"/>
                </a:solidFill>
              </a:rPr>
              <a:t>lor</a:t>
            </a:r>
            <a:r>
              <a:rPr lang="en-US" altLang="en-US" sz="1800" dirty="0" smtClean="0">
                <a:solidFill>
                  <a:srgbClr val="FFC000"/>
                </a:solidFill>
              </a:rPr>
              <a:t>. </a:t>
            </a:r>
            <a:r>
              <a:rPr lang="en-US" altLang="en-US" dirty="0" smtClean="0">
                <a:solidFill>
                  <a:srgbClr val="FFC000"/>
                </a:solidFill>
              </a:rPr>
              <a:t>	</a:t>
            </a:r>
          </a:p>
          <a:p>
            <a:pPr marL="0" indent="0">
              <a:buFont typeface="Arial" charset="0"/>
              <a:buNone/>
            </a:pPr>
            <a:endParaRPr lang="en-US" altLang="en-US" dirty="0" smtClean="0"/>
          </a:p>
          <a:p>
            <a:pPr marL="0" indent="0">
              <a:buFont typeface="Arial" charset="0"/>
              <a:buNone/>
            </a:pPr>
            <a:r>
              <a:rPr lang="en-US" altLang="en-US" dirty="0" smtClean="0"/>
              <a:t>	</a:t>
            </a:r>
          </a:p>
          <a:p>
            <a:pPr marL="0" indent="0">
              <a:buFont typeface="Arial" charset="0"/>
              <a:buNone/>
            </a:pPr>
            <a:r>
              <a:rPr lang="en-US" altLang="en-US" sz="1800" dirty="0" smtClean="0"/>
              <a:t>	</a:t>
            </a:r>
          </a:p>
          <a:p>
            <a:pPr marL="0" indent="0">
              <a:buFont typeface="Arial" charset="0"/>
              <a:buNone/>
            </a:pPr>
            <a:r>
              <a:rPr lang="en-US" altLang="en-US" dirty="0" smtClean="0"/>
              <a:t>	</a:t>
            </a:r>
          </a:p>
          <a:p>
            <a:pPr marL="0" indent="0">
              <a:buFont typeface="Arial" charset="0"/>
              <a:buNone/>
            </a:pPr>
            <a:endParaRPr lang="en-US" altLang="en-US" dirty="0" smtClean="0"/>
          </a:p>
        </p:txBody>
      </p:sp>
    </p:spTree>
    <p:extLst>
      <p:ext uri="{BB962C8B-B14F-4D97-AF65-F5344CB8AC3E}">
        <p14:creationId xmlns:p14="http://schemas.microsoft.com/office/powerpoint/2010/main" val="5224917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514350" y="71438"/>
            <a:ext cx="8153400" cy="630237"/>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a:t>
            </a:r>
            <a:r>
              <a:rPr lang="ro-RO" altLang="en-US" sz="2800" b="1" smtClean="0">
                <a:solidFill>
                  <a:schemeClr val="bg1"/>
                </a:solidFill>
              </a:rPr>
              <a:t> mascat</a:t>
            </a: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685800"/>
            <a:ext cx="4038600" cy="522288"/>
          </a:xfrm>
          <a:solidFill>
            <a:schemeClr val="accent3"/>
          </a:solidFill>
        </p:spPr>
        <p:txBody>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7412" name="Content Placeholder 3"/>
          <p:cNvSpPr>
            <a:spLocks noGrp="1"/>
          </p:cNvSpPr>
          <p:nvPr>
            <p:ph sz="half" idx="2"/>
          </p:nvPr>
        </p:nvSpPr>
        <p:spPr>
          <a:xfrm>
            <a:off x="457200" y="1208088"/>
            <a:ext cx="4040188" cy="5649912"/>
          </a:xfrm>
        </p:spPr>
        <p:txBody>
          <a:bodyPr>
            <a:normAutofit lnSpcReduction="10000"/>
          </a:bodyPr>
          <a:lstStyle/>
          <a:p>
            <a:pPr marL="0" indent="0">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7413" name="Text Placeholder 4"/>
          <p:cNvSpPr>
            <a:spLocks noGrp="1"/>
          </p:cNvSpPr>
          <p:nvPr>
            <p:ph type="body" sz="quarter" idx="3"/>
          </p:nvPr>
        </p:nvSpPr>
        <p:spPr>
          <a:xfrm>
            <a:off x="4572000" y="685800"/>
            <a:ext cx="4114800" cy="522288"/>
          </a:xfrm>
          <a:solidFill>
            <a:srgbClr val="FFC000"/>
          </a:solidFill>
        </p:spPr>
        <p:txBody>
          <a:bodyPr>
            <a:normAutofit fontScale="62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7414" name="Content Placeholder 5"/>
          <p:cNvSpPr>
            <a:spLocks noGrp="1"/>
          </p:cNvSpPr>
          <p:nvPr>
            <p:ph sz="quarter" idx="4"/>
          </p:nvPr>
        </p:nvSpPr>
        <p:spPr>
          <a:xfrm>
            <a:off x="4724400" y="1208088"/>
            <a:ext cx="4041775" cy="5649912"/>
          </a:xfrm>
          <a:ln>
            <a:solidFill>
              <a:srgbClr val="92D050"/>
            </a:solidFill>
            <a:miter lim="800000"/>
            <a:headEnd/>
            <a:tailEnd/>
          </a:ln>
        </p:spPr>
        <p:txBody>
          <a:bodyPr>
            <a:normAutofit fontScale="92500" lnSpcReduction="20000"/>
          </a:bodyPr>
          <a:lstStyle/>
          <a:p>
            <a:pPr marL="0" indent="0">
              <a:buFont typeface="Arial" charset="0"/>
              <a:buNone/>
            </a:pPr>
            <a:r>
              <a:rPr lang="en-US" altLang="en-US" sz="1800" dirty="0" smtClean="0"/>
              <a:t>„</a:t>
            </a:r>
            <a:r>
              <a:rPr lang="en-US" altLang="en-US" sz="1800" dirty="0" err="1" smtClean="0"/>
              <a:t>Chiar</a:t>
            </a:r>
            <a:r>
              <a:rPr lang="en-US" altLang="en-US" sz="1800" dirty="0" smtClean="0"/>
              <a:t> </a:t>
            </a:r>
            <a:r>
              <a:rPr lang="en-US" altLang="en-US" sz="1800" dirty="0" err="1" smtClean="0"/>
              <a:t>dacă</a:t>
            </a:r>
            <a:r>
              <a:rPr lang="en-US" altLang="en-US" sz="1800" dirty="0" smtClean="0"/>
              <a:t> </a:t>
            </a:r>
            <a:r>
              <a:rPr lang="en-US" altLang="en-US" sz="1800" dirty="0" err="1" smtClean="0"/>
              <a:t>resursele</a:t>
            </a:r>
            <a:r>
              <a:rPr lang="en-US" altLang="en-US" sz="1800" dirty="0" smtClean="0"/>
              <a:t> </a:t>
            </a:r>
            <a:r>
              <a:rPr lang="en-US" altLang="en-US" sz="1800" dirty="0" err="1" smtClean="0"/>
              <a:t>naturale</a:t>
            </a:r>
            <a:r>
              <a:rPr lang="en-US" altLang="en-US" sz="1800" dirty="0" smtClean="0"/>
              <a:t> </a:t>
            </a:r>
            <a:r>
              <a:rPr lang="en-US" altLang="en-US" sz="1800" dirty="0" err="1" smtClean="0"/>
              <a:t>sunt</a:t>
            </a:r>
            <a:r>
              <a:rPr lang="en-US" altLang="en-US" sz="1800" dirty="0" smtClean="0"/>
              <a:t> rare </a:t>
            </a:r>
            <a:r>
              <a:rPr lang="en-US" altLang="en-US" sz="1800" dirty="0" err="1" smtClean="0"/>
              <a:t>pe</a:t>
            </a:r>
            <a:r>
              <a:rPr lang="en-US" altLang="en-US" sz="1800" dirty="0" smtClean="0"/>
              <a:t> </a:t>
            </a:r>
            <a:r>
              <a:rPr lang="en-US" altLang="en-US" sz="1800" dirty="0" err="1" smtClean="0"/>
              <a:t>teritoriul</a:t>
            </a:r>
            <a:r>
              <a:rPr lang="en-US" altLang="en-US" sz="1800" dirty="0" smtClean="0"/>
              <a:t> </a:t>
            </a:r>
            <a:r>
              <a:rPr lang="en-US" altLang="en-US" sz="1800" dirty="0" err="1" smtClean="0"/>
              <a:t>unui</a:t>
            </a:r>
            <a:r>
              <a:rPr lang="en-US" altLang="en-US" sz="1800" dirty="0" smtClean="0"/>
              <a:t> stat, </a:t>
            </a:r>
            <a:r>
              <a:rPr lang="en-US" altLang="en-US" sz="1800" dirty="0" err="1" smtClean="0"/>
              <a:t>lipsa</a:t>
            </a:r>
            <a:r>
              <a:rPr lang="en-US" altLang="en-US" sz="1800" dirty="0" smtClean="0"/>
              <a:t> </a:t>
            </a:r>
            <a:r>
              <a:rPr lang="en-US" altLang="en-US" sz="1800" dirty="0" err="1" smtClean="0"/>
              <a:t>lor</a:t>
            </a:r>
            <a:r>
              <a:rPr lang="en-US" altLang="en-US" sz="1800" dirty="0" smtClean="0"/>
              <a:t> nu </a:t>
            </a:r>
            <a:r>
              <a:rPr lang="en-US" altLang="en-US" sz="1800" dirty="0" err="1" smtClean="0"/>
              <a:t>este</a:t>
            </a:r>
            <a:r>
              <a:rPr lang="en-US" altLang="en-US" sz="1800" dirty="0" smtClean="0"/>
              <a:t> un </a:t>
            </a:r>
            <a:r>
              <a:rPr lang="en-US" altLang="en-US" sz="1800" dirty="0" err="1" smtClean="0"/>
              <a:t>indice</a:t>
            </a:r>
            <a:r>
              <a:rPr lang="en-US" altLang="en-US" sz="1800" dirty="0" smtClean="0"/>
              <a:t> al </a:t>
            </a:r>
            <a:r>
              <a:rPr lang="en-US" altLang="en-US" sz="1800" dirty="0" err="1" smtClean="0"/>
              <a:t>unei</a:t>
            </a:r>
            <a:r>
              <a:rPr lang="en-US" altLang="en-US" sz="1800" dirty="0" smtClean="0"/>
              <a:t> </a:t>
            </a:r>
            <a:r>
              <a:rPr lang="en-US" altLang="en-US" sz="1800" dirty="0" err="1" smtClean="0"/>
              <a:t>puteri</a:t>
            </a:r>
            <a:r>
              <a:rPr lang="en-US" altLang="en-US" sz="1800" dirty="0" smtClean="0"/>
              <a:t> </a:t>
            </a:r>
            <a:r>
              <a:rPr lang="en-US" altLang="en-US" sz="1800" dirty="0" err="1" smtClean="0"/>
              <a:t>economice</a:t>
            </a:r>
            <a:r>
              <a:rPr lang="en-US" altLang="en-US" sz="1800" dirty="0" smtClean="0"/>
              <a:t> </a:t>
            </a:r>
            <a:r>
              <a:rPr lang="en-US" altLang="en-US" sz="1800" dirty="0" err="1" smtClean="0"/>
              <a:t>reduse</a:t>
            </a:r>
            <a:r>
              <a:rPr lang="en-US" altLang="en-US" sz="1800" dirty="0" smtClean="0"/>
              <a:t>‖, </a:t>
            </a:r>
            <a:r>
              <a:rPr lang="en-US" altLang="en-US" sz="1800" dirty="0" err="1" smtClean="0">
                <a:solidFill>
                  <a:srgbClr val="FFC000"/>
                </a:solidFill>
              </a:rPr>
              <a:t>indică</a:t>
            </a:r>
            <a:r>
              <a:rPr lang="en-US" altLang="en-US" sz="1800" dirty="0" smtClean="0">
                <a:solidFill>
                  <a:srgbClr val="FFC000"/>
                </a:solidFill>
              </a:rPr>
              <a:t> o </a:t>
            </a:r>
            <a:r>
              <a:rPr lang="en-US" altLang="en-US" sz="1800" dirty="0" err="1" smtClean="0">
                <a:solidFill>
                  <a:srgbClr val="FFC000"/>
                </a:solidFill>
              </a:rPr>
              <a:t>analiză</a:t>
            </a:r>
            <a:r>
              <a:rPr lang="en-US" altLang="en-US" sz="1800" dirty="0" smtClean="0">
                <a:solidFill>
                  <a:srgbClr val="FFC000"/>
                </a:solidFill>
              </a:rPr>
              <a:t> a </a:t>
            </a:r>
            <a:r>
              <a:rPr lang="en-US" altLang="en-US" sz="1800" i="1" dirty="0" smtClean="0">
                <a:solidFill>
                  <a:srgbClr val="FFC000"/>
                </a:solidFill>
              </a:rPr>
              <a:t>The Economist </a:t>
            </a:r>
            <a:r>
              <a:rPr lang="en-US" altLang="en-US" dirty="0" smtClean="0"/>
              <a:t>	</a:t>
            </a:r>
          </a:p>
          <a:p>
            <a:pPr marL="0" indent="0">
              <a:buFont typeface="Arial" charset="0"/>
              <a:buNone/>
            </a:pPr>
            <a:r>
              <a:rPr lang="en-US" altLang="en-US" sz="1800" dirty="0" smtClean="0"/>
              <a:t>„</a:t>
            </a:r>
            <a:r>
              <a:rPr lang="en-US" altLang="en-US" sz="1800" dirty="0" err="1" smtClean="0"/>
              <a:t>Vulnerabilitatea</a:t>
            </a:r>
            <a:r>
              <a:rPr lang="en-US" altLang="en-US" sz="1800" dirty="0" smtClean="0"/>
              <a:t> </a:t>
            </a:r>
            <a:r>
              <a:rPr lang="en-US" altLang="en-US" sz="1800" dirty="0" err="1" smtClean="0"/>
              <a:t>unei</a:t>
            </a:r>
            <a:r>
              <a:rPr lang="en-US" altLang="en-US" sz="1800" dirty="0" smtClean="0"/>
              <a:t> </a:t>
            </a:r>
            <a:r>
              <a:rPr lang="en-US" altLang="en-US" sz="1800" dirty="0" err="1" smtClean="0"/>
              <a:t>țări</a:t>
            </a:r>
            <a:r>
              <a:rPr lang="en-US" altLang="en-US" sz="1800" dirty="0" smtClean="0"/>
              <a:t> </a:t>
            </a:r>
            <a:r>
              <a:rPr lang="en-US" altLang="en-US" sz="1800" dirty="0" err="1" smtClean="0"/>
              <a:t>influențează</a:t>
            </a:r>
            <a:r>
              <a:rPr lang="en-US" altLang="en-US" sz="1800" dirty="0" smtClean="0"/>
              <a:t> </a:t>
            </a:r>
            <a:r>
              <a:rPr lang="en-US" altLang="en-US" sz="1800" dirty="0" err="1" smtClean="0"/>
              <a:t>multe</a:t>
            </a:r>
            <a:r>
              <a:rPr lang="en-US" altLang="en-US" sz="1800" dirty="0" smtClean="0"/>
              <a:t> </a:t>
            </a:r>
            <a:r>
              <a:rPr lang="en-US" altLang="en-US" sz="1800" dirty="0" err="1" smtClean="0"/>
              <a:t>alte</a:t>
            </a:r>
            <a:r>
              <a:rPr lang="en-US" altLang="en-US" sz="1800" dirty="0" smtClean="0"/>
              <a:t> </a:t>
            </a:r>
            <a:r>
              <a:rPr lang="en-US" altLang="en-US" sz="1800" dirty="0" err="1" smtClean="0"/>
              <a:t>aspecte</a:t>
            </a:r>
            <a:r>
              <a:rPr lang="en-US" altLang="en-US" sz="1800" dirty="0" smtClean="0"/>
              <a:t>, </a:t>
            </a:r>
            <a:r>
              <a:rPr lang="en-US" altLang="en-US" sz="1800" dirty="0" err="1" smtClean="0"/>
              <a:t>iar</a:t>
            </a:r>
            <a:r>
              <a:rPr lang="en-US" altLang="en-US" sz="1800" dirty="0" smtClean="0"/>
              <a:t> </a:t>
            </a:r>
            <a:r>
              <a:rPr lang="en-US" altLang="en-US" sz="1800" dirty="0" err="1" smtClean="0"/>
              <a:t>aceasta</a:t>
            </a:r>
            <a:r>
              <a:rPr lang="en-US" altLang="en-US" sz="1800" dirty="0" smtClean="0"/>
              <a:t> </a:t>
            </a:r>
            <a:r>
              <a:rPr lang="en-US" altLang="en-US" sz="1800" dirty="0" err="1" smtClean="0"/>
              <a:t>depinde</a:t>
            </a:r>
            <a:r>
              <a:rPr lang="en-US" altLang="en-US" sz="1800" dirty="0" smtClean="0"/>
              <a:t> de </a:t>
            </a:r>
            <a:r>
              <a:rPr lang="en-US" altLang="en-US" sz="1800" dirty="0" err="1" smtClean="0"/>
              <a:t>existența</a:t>
            </a:r>
            <a:r>
              <a:rPr lang="en-US" altLang="en-US" sz="1800" dirty="0" smtClean="0"/>
              <a:t> </a:t>
            </a:r>
            <a:r>
              <a:rPr lang="en-US" altLang="en-US" sz="1800" dirty="0" err="1" smtClean="0"/>
              <a:t>unor</a:t>
            </a:r>
            <a:r>
              <a:rPr lang="en-US" altLang="en-US" sz="1800" dirty="0" smtClean="0"/>
              <a:t> </a:t>
            </a:r>
            <a:r>
              <a:rPr lang="en-US" altLang="en-US" sz="1800" dirty="0" err="1" smtClean="0"/>
              <a:t>înlocuitori</a:t>
            </a:r>
            <a:r>
              <a:rPr lang="en-US" altLang="en-US" sz="1800" dirty="0" smtClean="0"/>
              <a:t> </a:t>
            </a:r>
            <a:r>
              <a:rPr lang="en-US" altLang="en-US" sz="1800" dirty="0" err="1" smtClean="0"/>
              <a:t>și</a:t>
            </a:r>
            <a:r>
              <a:rPr lang="en-US" altLang="en-US" sz="1800" dirty="0" smtClean="0"/>
              <a:t> de </a:t>
            </a:r>
            <a:r>
              <a:rPr lang="en-US" altLang="en-US" sz="1800" dirty="0" err="1" smtClean="0"/>
              <a:t>diversitatea</a:t>
            </a:r>
            <a:r>
              <a:rPr lang="en-US" altLang="en-US" sz="1800" dirty="0" smtClean="0"/>
              <a:t> </a:t>
            </a:r>
            <a:r>
              <a:rPr lang="en-US" altLang="en-US" sz="1800" dirty="0" err="1" smtClean="0"/>
              <a:t>surselor</a:t>
            </a:r>
            <a:r>
              <a:rPr lang="en-US" altLang="en-US" sz="1800" dirty="0" smtClean="0"/>
              <a:t> de </a:t>
            </a:r>
            <a:r>
              <a:rPr lang="en-US" altLang="en-US" sz="1800" dirty="0" err="1" smtClean="0"/>
              <a:t>aprovizionare</a:t>
            </a:r>
            <a:r>
              <a:rPr lang="en-US" altLang="en-US" sz="1800" dirty="0" smtClean="0"/>
              <a:t>. De </a:t>
            </a:r>
            <a:r>
              <a:rPr lang="en-US" altLang="en-US" sz="1800" dirty="0" err="1" smtClean="0"/>
              <a:t>exemplu</a:t>
            </a:r>
            <a:r>
              <a:rPr lang="en-US" altLang="en-US" sz="1800" dirty="0" smtClean="0"/>
              <a:t>, </a:t>
            </a:r>
            <a:r>
              <a:rPr lang="en-US" altLang="en-US" sz="1800" dirty="0" err="1" smtClean="0"/>
              <a:t>în</a:t>
            </a:r>
            <a:r>
              <a:rPr lang="en-US" altLang="en-US" sz="1800" dirty="0" smtClean="0"/>
              <a:t> </a:t>
            </a:r>
            <a:r>
              <a:rPr lang="en-US" altLang="en-US" sz="1800" dirty="0" err="1" smtClean="0"/>
              <a:t>anii</a:t>
            </a:r>
            <a:r>
              <a:rPr lang="en-US" altLang="en-US" sz="1800" dirty="0" smtClean="0"/>
              <a:t> ‘70, </a:t>
            </a:r>
            <a:r>
              <a:rPr lang="en-US" altLang="en-US" sz="1800" dirty="0" err="1" smtClean="0"/>
              <a:t>unii</a:t>
            </a:r>
            <a:r>
              <a:rPr lang="en-US" altLang="en-US" sz="1800" dirty="0" smtClean="0"/>
              <a:t> </a:t>
            </a:r>
            <a:r>
              <a:rPr lang="en-US" altLang="en-US" sz="1800" dirty="0" err="1" smtClean="0"/>
              <a:t>analiști</a:t>
            </a:r>
            <a:r>
              <a:rPr lang="en-US" altLang="en-US" sz="1800" dirty="0" smtClean="0"/>
              <a:t> </a:t>
            </a:r>
            <a:r>
              <a:rPr lang="en-US" altLang="en-US" sz="1800" dirty="0" err="1" smtClean="0"/>
              <a:t>și</a:t>
            </a:r>
            <a:r>
              <a:rPr lang="en-US" altLang="en-US" sz="1800" dirty="0" smtClean="0"/>
              <a:t>-au </a:t>
            </a:r>
            <a:r>
              <a:rPr lang="en-US" altLang="en-US" sz="1800" dirty="0" err="1" smtClean="0"/>
              <a:t>exprimat</a:t>
            </a:r>
            <a:r>
              <a:rPr lang="en-US" altLang="en-US" sz="1800" dirty="0" smtClean="0"/>
              <a:t> </a:t>
            </a:r>
            <a:r>
              <a:rPr lang="en-US" altLang="en-US" sz="1800" dirty="0" err="1" smtClean="0"/>
              <a:t>îngrijorarea</a:t>
            </a:r>
            <a:r>
              <a:rPr lang="en-US" altLang="en-US" sz="1800" dirty="0" smtClean="0"/>
              <a:t> cu </a:t>
            </a:r>
            <a:r>
              <a:rPr lang="en-US" altLang="en-US" sz="1800" dirty="0" err="1" smtClean="0"/>
              <a:t>privire</a:t>
            </a:r>
            <a:r>
              <a:rPr lang="en-US" altLang="en-US" sz="1800" dirty="0" smtClean="0"/>
              <a:t> la </a:t>
            </a:r>
            <a:r>
              <a:rPr lang="en-US" altLang="en-US" sz="1800" dirty="0" err="1" smtClean="0"/>
              <a:t>dependența</a:t>
            </a:r>
            <a:r>
              <a:rPr lang="en-US" altLang="en-US" sz="1800" dirty="0" smtClean="0"/>
              <a:t> tot </a:t>
            </a:r>
            <a:r>
              <a:rPr lang="en-US" altLang="en-US" sz="1800" dirty="0" err="1" smtClean="0"/>
              <a:t>mai</a:t>
            </a:r>
            <a:r>
              <a:rPr lang="en-US" altLang="en-US" sz="1800" dirty="0" smtClean="0"/>
              <a:t> mare a </a:t>
            </a:r>
            <a:r>
              <a:rPr lang="en-US" altLang="en-US" sz="1800" dirty="0" err="1" smtClean="0"/>
              <a:t>Statelor</a:t>
            </a:r>
            <a:r>
              <a:rPr lang="en-US" altLang="en-US" sz="1800" dirty="0" smtClean="0"/>
              <a:t> Unite de </a:t>
            </a:r>
            <a:r>
              <a:rPr lang="en-US" altLang="en-US" sz="1800" dirty="0" err="1" smtClean="0"/>
              <a:t>materii</a:t>
            </a:r>
            <a:r>
              <a:rPr lang="en-US" altLang="en-US" sz="1800" dirty="0" smtClean="0"/>
              <a:t> prime </a:t>
            </a:r>
            <a:r>
              <a:rPr lang="en-US" altLang="en-US" sz="1800" dirty="0" err="1" smtClean="0"/>
              <a:t>importate</a:t>
            </a:r>
            <a:r>
              <a:rPr lang="en-US" altLang="en-US" sz="1800" dirty="0" smtClean="0"/>
              <a:t> </a:t>
            </a:r>
            <a:r>
              <a:rPr lang="en-US" altLang="en-US" sz="1800" dirty="0" err="1" smtClean="0"/>
              <a:t>și</a:t>
            </a:r>
            <a:r>
              <a:rPr lang="en-US" altLang="en-US" sz="1800" dirty="0" smtClean="0"/>
              <a:t>, </a:t>
            </a:r>
            <a:r>
              <a:rPr lang="en-US" altLang="en-US" sz="1800" dirty="0" err="1" smtClean="0"/>
              <a:t>așadar</a:t>
            </a:r>
            <a:r>
              <a:rPr lang="en-US" altLang="en-US" sz="1800" dirty="0" smtClean="0"/>
              <a:t>, de </a:t>
            </a:r>
            <a:r>
              <a:rPr lang="en-US" altLang="en-US" sz="1800" dirty="0" err="1" smtClean="0"/>
              <a:t>vulnerabilitatea</a:t>
            </a:r>
            <a:r>
              <a:rPr lang="en-US" altLang="en-US" sz="1800" dirty="0" smtClean="0"/>
              <a:t> </a:t>
            </a:r>
            <a:r>
              <a:rPr lang="en-US" altLang="en-US" sz="1800" dirty="0" err="1" smtClean="0"/>
              <a:t>lor</a:t>
            </a:r>
            <a:r>
              <a:rPr lang="en-US" altLang="en-US" sz="1800" dirty="0" smtClean="0"/>
              <a:t>‖, </a:t>
            </a:r>
            <a:r>
              <a:rPr lang="en-US" altLang="en-US" sz="1800" dirty="0" err="1" smtClean="0">
                <a:solidFill>
                  <a:srgbClr val="FFC000"/>
                </a:solidFill>
              </a:rPr>
              <a:t>arată</a:t>
            </a:r>
            <a:r>
              <a:rPr lang="en-US" altLang="en-US" sz="1800" dirty="0" smtClean="0">
                <a:solidFill>
                  <a:srgbClr val="FFC000"/>
                </a:solidFill>
              </a:rPr>
              <a:t> o </a:t>
            </a:r>
            <a:r>
              <a:rPr lang="en-US" altLang="en-US" sz="1800" dirty="0" err="1" smtClean="0">
                <a:solidFill>
                  <a:srgbClr val="FFC000"/>
                </a:solidFill>
              </a:rPr>
              <a:t>analiză</a:t>
            </a:r>
            <a:r>
              <a:rPr lang="en-US" altLang="en-US" sz="1800" dirty="0" smtClean="0">
                <a:solidFill>
                  <a:srgbClr val="FFC000"/>
                </a:solidFill>
              </a:rPr>
              <a:t> a </a:t>
            </a:r>
            <a:r>
              <a:rPr lang="en-US" altLang="en-US" sz="1800" dirty="0" err="1" smtClean="0">
                <a:solidFill>
                  <a:srgbClr val="FFC000"/>
                </a:solidFill>
              </a:rPr>
              <a:t>Băncii</a:t>
            </a:r>
            <a:r>
              <a:rPr lang="en-US" altLang="en-US" sz="1800" dirty="0" smtClean="0">
                <a:solidFill>
                  <a:srgbClr val="FFC000"/>
                </a:solidFill>
              </a:rPr>
              <a:t> </a:t>
            </a:r>
            <a:r>
              <a:rPr lang="en-US" altLang="en-US" sz="1800" dirty="0" err="1" smtClean="0">
                <a:solidFill>
                  <a:srgbClr val="FFC000"/>
                </a:solidFill>
              </a:rPr>
              <a:t>Mondiale</a:t>
            </a:r>
            <a:r>
              <a:rPr lang="en-US" altLang="en-US" sz="1800" dirty="0" smtClean="0"/>
              <a:t>. „Din </a:t>
            </a:r>
            <a:r>
              <a:rPr lang="en-US" altLang="en-US" sz="1800" dirty="0" err="1" smtClean="0"/>
              <a:t>treisprezece</a:t>
            </a:r>
            <a:r>
              <a:rPr lang="en-US" altLang="en-US" sz="1800" dirty="0" smtClean="0"/>
              <a:t> </a:t>
            </a:r>
            <a:r>
              <a:rPr lang="en-US" altLang="en-US" sz="1800" dirty="0" err="1" smtClean="0"/>
              <a:t>materii</a:t>
            </a:r>
            <a:r>
              <a:rPr lang="en-US" altLang="en-US" sz="1800" dirty="0" smtClean="0"/>
              <a:t> prime </a:t>
            </a:r>
            <a:r>
              <a:rPr lang="en-US" altLang="en-US" sz="1800" dirty="0" err="1" smtClean="0"/>
              <a:t>industriale</a:t>
            </a:r>
            <a:r>
              <a:rPr lang="en-US" altLang="en-US" sz="1800" dirty="0" smtClean="0"/>
              <a:t> de </a:t>
            </a:r>
            <a:r>
              <a:rPr lang="en-US" altLang="en-US" sz="1800" dirty="0" err="1" smtClean="0"/>
              <a:t>bază</a:t>
            </a:r>
            <a:r>
              <a:rPr lang="en-US" altLang="en-US" sz="1800" dirty="0" smtClean="0"/>
              <a:t>, </a:t>
            </a:r>
            <a:r>
              <a:rPr lang="en-US" altLang="en-US" sz="1800" dirty="0" err="1" smtClean="0"/>
              <a:t>Statele</a:t>
            </a:r>
            <a:r>
              <a:rPr lang="en-US" altLang="en-US" sz="1800" dirty="0" smtClean="0"/>
              <a:t> Unite </a:t>
            </a:r>
            <a:r>
              <a:rPr lang="en-US" altLang="en-US" sz="1800" dirty="0" err="1" smtClean="0"/>
              <a:t>depindeau</a:t>
            </a:r>
            <a:r>
              <a:rPr lang="en-US" altLang="en-US" sz="1800" dirty="0" smtClean="0"/>
              <a:t> de </a:t>
            </a:r>
            <a:r>
              <a:rPr lang="en-US" altLang="en-US" sz="1800" dirty="0" err="1" smtClean="0"/>
              <a:t>importuri</a:t>
            </a:r>
            <a:r>
              <a:rPr lang="en-US" altLang="en-US" sz="1800" dirty="0" smtClean="0"/>
              <a:t> </a:t>
            </a:r>
            <a:r>
              <a:rPr lang="en-US" altLang="en-US" sz="1800" dirty="0" err="1" smtClean="0"/>
              <a:t>pentru</a:t>
            </a:r>
            <a:r>
              <a:rPr lang="en-US" altLang="en-US" sz="1800" dirty="0" smtClean="0"/>
              <a:t> </a:t>
            </a:r>
            <a:r>
              <a:rPr lang="en-US" altLang="en-US" sz="1800" dirty="0" err="1" smtClean="0"/>
              <a:t>aproape</a:t>
            </a:r>
            <a:r>
              <a:rPr lang="en-US" altLang="en-US" sz="1800" dirty="0" smtClean="0"/>
              <a:t> 90% din </a:t>
            </a:r>
            <a:r>
              <a:rPr lang="en-US" altLang="en-US" sz="1800" dirty="0" err="1" smtClean="0"/>
              <a:t>necesarul</a:t>
            </a:r>
            <a:r>
              <a:rPr lang="en-US" altLang="en-US" sz="1800" dirty="0" smtClean="0"/>
              <a:t> de </a:t>
            </a:r>
            <a:r>
              <a:rPr lang="en-US" altLang="en-US" sz="1800" dirty="0" err="1" smtClean="0"/>
              <a:t>aluminiu</a:t>
            </a:r>
            <a:r>
              <a:rPr lang="en-US" altLang="en-US" sz="1800" dirty="0" smtClean="0"/>
              <a:t>, </a:t>
            </a:r>
            <a:r>
              <a:rPr lang="en-US" altLang="en-US" sz="1800" dirty="0" err="1" smtClean="0"/>
              <a:t>crom</a:t>
            </a:r>
            <a:r>
              <a:rPr lang="en-US" altLang="en-US" sz="1800" dirty="0" smtClean="0"/>
              <a:t>, </a:t>
            </a:r>
            <a:r>
              <a:rPr lang="en-US" altLang="en-US" sz="1800" dirty="0" err="1" smtClean="0"/>
              <a:t>mangan</a:t>
            </a:r>
            <a:r>
              <a:rPr lang="en-US" altLang="en-US" sz="1800" dirty="0" smtClean="0"/>
              <a:t> </a:t>
            </a:r>
            <a:r>
              <a:rPr lang="en-US" altLang="en-US" sz="1800" dirty="0" err="1" smtClean="0"/>
              <a:t>și</a:t>
            </a:r>
            <a:r>
              <a:rPr lang="en-US" altLang="en-US" sz="1800" dirty="0" smtClean="0"/>
              <a:t> </a:t>
            </a:r>
            <a:r>
              <a:rPr lang="en-US" altLang="en-US" sz="1800" dirty="0" err="1" smtClean="0"/>
              <a:t>nichel</a:t>
            </a:r>
            <a:r>
              <a:rPr lang="ro-RO" altLang="en-US" sz="1800" dirty="0" smtClean="0"/>
              <a:t>.</a:t>
            </a:r>
            <a:r>
              <a:rPr lang="en-US" altLang="en-US" sz="1800" dirty="0" smtClean="0">
                <a:solidFill>
                  <a:srgbClr val="FFC000"/>
                </a:solidFill>
              </a:rPr>
              <a:t>(B. Moore, 1999, p. 21). </a:t>
            </a:r>
            <a:r>
              <a:rPr lang="en-US" altLang="en-US" dirty="0" smtClean="0"/>
              <a:t>	</a:t>
            </a:r>
          </a:p>
          <a:p>
            <a:pPr marL="0" indent="0">
              <a:buFont typeface="Arial" charset="0"/>
              <a:buNone/>
            </a:pPr>
            <a:r>
              <a:rPr lang="en-US" altLang="en-US" dirty="0" smtClean="0">
                <a:solidFill>
                  <a:srgbClr val="FFC000"/>
                </a:solidFill>
              </a:rPr>
              <a:t>	</a:t>
            </a:r>
          </a:p>
          <a:p>
            <a:pPr marL="0" indent="0">
              <a:buFont typeface="Arial" charset="0"/>
              <a:buNone/>
            </a:pPr>
            <a:endParaRPr lang="en-US" altLang="en-US" dirty="0" smtClean="0"/>
          </a:p>
          <a:p>
            <a:pPr marL="0" indent="0">
              <a:buFont typeface="Arial" charset="0"/>
              <a:buNone/>
            </a:pPr>
            <a:r>
              <a:rPr lang="en-US" altLang="en-US" dirty="0" smtClean="0"/>
              <a:t>	</a:t>
            </a:r>
          </a:p>
          <a:p>
            <a:pPr marL="0" indent="0">
              <a:buFont typeface="Arial" charset="0"/>
              <a:buNone/>
            </a:pPr>
            <a:r>
              <a:rPr lang="en-US" altLang="en-US" sz="1800" dirty="0" smtClean="0"/>
              <a:t>	</a:t>
            </a:r>
          </a:p>
          <a:p>
            <a:pPr marL="0" indent="0">
              <a:buFont typeface="Arial" charset="0"/>
              <a:buNone/>
            </a:pPr>
            <a:r>
              <a:rPr lang="en-US" altLang="en-US" dirty="0" smtClean="0"/>
              <a:t>	</a:t>
            </a:r>
          </a:p>
          <a:p>
            <a:pPr marL="0" indent="0">
              <a:buFont typeface="Arial" charset="0"/>
              <a:buNone/>
            </a:pPr>
            <a:endParaRPr lang="en-US" altLang="en-US" dirty="0" smtClean="0"/>
          </a:p>
        </p:txBody>
      </p:sp>
    </p:spTree>
    <p:extLst>
      <p:ext uri="{BB962C8B-B14F-4D97-AF65-F5344CB8AC3E}">
        <p14:creationId xmlns:p14="http://schemas.microsoft.com/office/powerpoint/2010/main" val="23197572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14350" y="71438"/>
            <a:ext cx="8153400" cy="630237"/>
          </a:xfrm>
          <a:solidFill>
            <a:schemeClr val="accent2"/>
          </a:solidFill>
        </p:spPr>
        <p:txBody>
          <a:bodyPr>
            <a:normAutofit fontScale="90000"/>
          </a:bodyPr>
          <a:lstStyle/>
          <a:p>
            <a:r>
              <a:rPr lang="ro-RO" altLang="en-US" sz="2800" b="1" smtClean="0"/>
              <a:t/>
            </a:r>
            <a:br>
              <a:rPr lang="ro-RO" altLang="en-US" sz="2800" b="1" smtClean="0"/>
            </a:br>
            <a:r>
              <a:rPr lang="ro-RO" altLang="en-US" smtClean="0"/>
              <a:t/>
            </a:r>
            <a:br>
              <a:rPr lang="ro-RO" altLang="en-US" smtClean="0"/>
            </a:br>
            <a:r>
              <a:rPr lang="en-US" altLang="en-US" sz="2800" b="1" smtClean="0">
                <a:solidFill>
                  <a:schemeClr val="bg1"/>
                </a:solidFill>
              </a:rPr>
              <a:t>Plagiatul</a:t>
            </a:r>
            <a:r>
              <a:rPr lang="ro-RO" altLang="en-US" sz="2800" b="1" smtClean="0">
                <a:solidFill>
                  <a:schemeClr val="bg1"/>
                </a:solidFill>
              </a:rPr>
              <a:t> de tip agregat</a:t>
            </a:r>
            <a:r>
              <a:rPr lang="en-US" altLang="en-US" smtClean="0"/>
              <a:t/>
            </a:r>
            <a:br>
              <a:rPr lang="en-US" altLang="en-US" smtClean="0"/>
            </a:br>
            <a:r>
              <a:rPr lang="en-US" altLang="en-US" sz="2800" smtClean="0"/>
              <a:t/>
            </a:r>
            <a:br>
              <a:rPr lang="en-US" altLang="en-US" sz="2800" smtClean="0"/>
            </a:br>
            <a:endParaRPr lang="en-US" altLang="en-US" sz="2800" smtClean="0"/>
          </a:p>
        </p:txBody>
      </p:sp>
      <p:sp>
        <p:nvSpPr>
          <p:cNvPr id="3" name="Text Placeholder 2"/>
          <p:cNvSpPr>
            <a:spLocks noGrp="1"/>
          </p:cNvSpPr>
          <p:nvPr>
            <p:ph type="body" idx="1"/>
          </p:nvPr>
        </p:nvSpPr>
        <p:spPr>
          <a:xfrm>
            <a:off x="533400" y="685800"/>
            <a:ext cx="4038600" cy="522288"/>
          </a:xfrm>
          <a:solidFill>
            <a:schemeClr val="accent3"/>
          </a:solidFill>
        </p:spPr>
        <p:txBody>
          <a:bodyPr/>
          <a:lstStyle/>
          <a:p>
            <a:pPr algn="ctr">
              <a:buFont typeface="Arial" panose="020B0604020202020204" pitchFamily="34" charset="0"/>
              <a:buNone/>
              <a:defRPr/>
            </a:pPr>
            <a:r>
              <a:rPr lang="en-US" i="1" dirty="0" err="1">
                <a:solidFill>
                  <a:schemeClr val="bg1"/>
                </a:solidFill>
              </a:rPr>
              <a:t>Varianta</a:t>
            </a:r>
            <a:r>
              <a:rPr lang="en-US" i="1" dirty="0">
                <a:solidFill>
                  <a:schemeClr val="bg1"/>
                </a:solidFill>
              </a:rPr>
              <a:t> </a:t>
            </a:r>
            <a:r>
              <a:rPr lang="en-US" i="1" dirty="0" err="1">
                <a:solidFill>
                  <a:schemeClr val="bg1"/>
                </a:solidFill>
              </a:rPr>
              <a:t>originală</a:t>
            </a:r>
            <a:r>
              <a:rPr lang="en-US" i="1" dirty="0">
                <a:solidFill>
                  <a:schemeClr val="bg1"/>
                </a:solidFill>
              </a:rPr>
              <a:t> </a:t>
            </a:r>
            <a:r>
              <a:rPr lang="en-US" b="0" dirty="0">
                <a:solidFill>
                  <a:schemeClr val="bg1"/>
                </a:solidFill>
              </a:rPr>
              <a:t>	</a:t>
            </a:r>
          </a:p>
        </p:txBody>
      </p:sp>
      <p:sp>
        <p:nvSpPr>
          <p:cNvPr id="18436" name="Content Placeholder 3"/>
          <p:cNvSpPr>
            <a:spLocks noGrp="1"/>
          </p:cNvSpPr>
          <p:nvPr>
            <p:ph sz="half" idx="2"/>
          </p:nvPr>
        </p:nvSpPr>
        <p:spPr>
          <a:xfrm>
            <a:off x="457200" y="1208088"/>
            <a:ext cx="4040188" cy="5649912"/>
          </a:xfrm>
        </p:spPr>
        <p:txBody>
          <a:bodyPr>
            <a:normAutofit lnSpcReduction="10000"/>
          </a:bodyPr>
          <a:lstStyle/>
          <a:p>
            <a:pPr marL="0" indent="0">
              <a:buFont typeface="Arial" charset="0"/>
              <a:buNone/>
            </a:pPr>
            <a:r>
              <a:rPr lang="en-US" altLang="en-US" sz="1800" smtClean="0"/>
              <a:t>„Chiar dacă resursele naturale sunt rare pe teritoriul unui stat, lipsa lor nu este un indice al unei puteri economice reduse. Vulnerabilitatea unei țări influențează multe alte aspecte, iar aceasta depinde de existența unor înlocuitori și de diversitatea surselor de aprovizionare. De exemplu, în anii ‘70, unii analiști și-au exprimat îngrijorarea cu privire la dependența tot mai mare a Statelor Unite de materii prime importate și, așadar, de vulnerabilitatea lor. Din treisprezece materii prime industriale de bază, Statele Unite depindeau de importuri pentru aproape 90% din necesarul de aluminiu, crom, mangan și nichel</a:t>
            </a:r>
            <a:r>
              <a:rPr lang="ro-RO" altLang="en-US" sz="1800" smtClean="0"/>
              <a:t>.</a:t>
            </a:r>
            <a:r>
              <a:rPr lang="en-US" altLang="en-US" sz="1800" smtClean="0"/>
              <a:t> </a:t>
            </a:r>
            <a:r>
              <a:rPr lang="en-US" altLang="en-US" smtClean="0"/>
              <a:t>	</a:t>
            </a:r>
          </a:p>
          <a:p>
            <a:pPr marL="0" indent="0">
              <a:buFont typeface="Arial" charset="0"/>
              <a:buNone/>
            </a:pPr>
            <a:endParaRPr lang="ro-RO" altLang="en-US" sz="1600" smtClean="0"/>
          </a:p>
          <a:p>
            <a:pPr marL="0" indent="0">
              <a:buFont typeface="Arial" charset="0"/>
              <a:buNone/>
            </a:pPr>
            <a:r>
              <a:rPr lang="en-US" altLang="en-US" sz="1600" smtClean="0"/>
              <a:t>Nye, Joseph, 2012, </a:t>
            </a:r>
            <a:r>
              <a:rPr lang="en-US" altLang="en-US" sz="1600" i="1" smtClean="0"/>
              <a:t>Viitorul puterii</a:t>
            </a:r>
            <a:r>
              <a:rPr lang="en-US" altLang="en-US" sz="1600" smtClean="0"/>
              <a:t>, Editura Polirom, Iași, p. 81. 	</a:t>
            </a:r>
          </a:p>
          <a:p>
            <a:pPr marL="0" indent="0">
              <a:buFont typeface="Arial" charset="0"/>
              <a:buNone/>
            </a:pPr>
            <a:endParaRPr lang="en-US" altLang="en-US" smtClean="0"/>
          </a:p>
        </p:txBody>
      </p:sp>
      <p:sp>
        <p:nvSpPr>
          <p:cNvPr id="18437" name="Text Placeholder 4"/>
          <p:cNvSpPr>
            <a:spLocks noGrp="1"/>
          </p:cNvSpPr>
          <p:nvPr>
            <p:ph type="body" sz="quarter" idx="3"/>
          </p:nvPr>
        </p:nvSpPr>
        <p:spPr>
          <a:xfrm>
            <a:off x="4572000" y="685800"/>
            <a:ext cx="4114800" cy="522288"/>
          </a:xfrm>
          <a:solidFill>
            <a:srgbClr val="FFC000"/>
          </a:solidFill>
        </p:spPr>
        <p:txBody>
          <a:bodyPr>
            <a:normAutofit fontScale="62500" lnSpcReduction="20000"/>
          </a:bodyPr>
          <a:lstStyle/>
          <a:p>
            <a:endParaRPr lang="ro-RO" altLang="en-US" smtClean="0"/>
          </a:p>
          <a:p>
            <a:pPr algn="ctr"/>
            <a:r>
              <a:rPr lang="en-US" altLang="en-US" smtClean="0"/>
              <a:t> </a:t>
            </a:r>
            <a:r>
              <a:rPr lang="en-US" altLang="en-US" i="1" smtClean="0">
                <a:solidFill>
                  <a:schemeClr val="bg1"/>
                </a:solidFill>
              </a:rPr>
              <a:t>Varianta plagiată</a:t>
            </a:r>
            <a:endParaRPr lang="ro-RO" altLang="en-US" i="1" smtClean="0">
              <a:solidFill>
                <a:schemeClr val="bg1"/>
              </a:solidFill>
            </a:endParaRPr>
          </a:p>
        </p:txBody>
      </p:sp>
      <p:sp>
        <p:nvSpPr>
          <p:cNvPr id="18438" name="Content Placeholder 5"/>
          <p:cNvSpPr>
            <a:spLocks noGrp="1"/>
          </p:cNvSpPr>
          <p:nvPr>
            <p:ph sz="quarter" idx="4"/>
          </p:nvPr>
        </p:nvSpPr>
        <p:spPr>
          <a:xfrm>
            <a:off x="4724400" y="1208088"/>
            <a:ext cx="4041775" cy="5649912"/>
          </a:xfrm>
          <a:ln>
            <a:solidFill>
              <a:srgbClr val="92D050"/>
            </a:solidFill>
            <a:miter lim="800000"/>
            <a:headEnd/>
            <a:tailEnd/>
          </a:ln>
        </p:spPr>
        <p:txBody>
          <a:bodyPr>
            <a:normAutofit fontScale="85000" lnSpcReduction="10000"/>
          </a:bodyPr>
          <a:lstStyle/>
          <a:p>
            <a:pPr marL="0" indent="0">
              <a:buFont typeface="Arial" charset="0"/>
              <a:buNone/>
            </a:pPr>
            <a:r>
              <a:rPr lang="en-US" altLang="en-US" sz="1800" dirty="0" smtClean="0">
                <a:solidFill>
                  <a:srgbClr val="FFC000"/>
                </a:solidFill>
              </a:rPr>
              <a:t>Joseph Nye (2012, p. 81) </a:t>
            </a:r>
            <a:r>
              <a:rPr lang="en-US" altLang="en-US" sz="1800" dirty="0" err="1" smtClean="0">
                <a:solidFill>
                  <a:srgbClr val="FFC000"/>
                </a:solidFill>
              </a:rPr>
              <a:t>susține</a:t>
            </a:r>
            <a:r>
              <a:rPr lang="en-US" altLang="en-US" sz="1800" dirty="0" smtClean="0">
                <a:solidFill>
                  <a:srgbClr val="FFC000"/>
                </a:solidFill>
              </a:rPr>
              <a:t> </a:t>
            </a:r>
            <a:r>
              <a:rPr lang="en-US" altLang="en-US" sz="1800" dirty="0" err="1" smtClean="0">
                <a:solidFill>
                  <a:srgbClr val="FFC000"/>
                </a:solidFill>
              </a:rPr>
              <a:t>că</a:t>
            </a:r>
            <a:r>
              <a:rPr lang="en-US" altLang="en-US" sz="1800" dirty="0" smtClean="0">
                <a:solidFill>
                  <a:srgbClr val="FFC000"/>
                </a:solidFill>
              </a:rPr>
              <a:t> </a:t>
            </a:r>
            <a:r>
              <a:rPr lang="en-US" altLang="en-US" sz="1800" dirty="0" smtClean="0"/>
              <a:t>„</a:t>
            </a:r>
            <a:r>
              <a:rPr lang="en-US" altLang="en-US" sz="1800" dirty="0" err="1" smtClean="0"/>
              <a:t>Chiar</a:t>
            </a:r>
            <a:r>
              <a:rPr lang="en-US" altLang="en-US" sz="1800" dirty="0" smtClean="0"/>
              <a:t> </a:t>
            </a:r>
            <a:r>
              <a:rPr lang="en-US" altLang="en-US" sz="1800" dirty="0" err="1" smtClean="0"/>
              <a:t>dacă</a:t>
            </a:r>
            <a:r>
              <a:rPr lang="en-US" altLang="en-US" sz="1800" dirty="0" smtClean="0"/>
              <a:t> </a:t>
            </a:r>
            <a:r>
              <a:rPr lang="en-US" altLang="en-US" sz="1800" dirty="0" err="1" smtClean="0"/>
              <a:t>resursele</a:t>
            </a:r>
            <a:r>
              <a:rPr lang="en-US" altLang="en-US" sz="1800" dirty="0" smtClean="0"/>
              <a:t> </a:t>
            </a:r>
            <a:r>
              <a:rPr lang="en-US" altLang="en-US" sz="1800" dirty="0" err="1" smtClean="0"/>
              <a:t>naturale</a:t>
            </a:r>
            <a:r>
              <a:rPr lang="en-US" altLang="en-US" sz="1800" dirty="0" smtClean="0"/>
              <a:t> </a:t>
            </a:r>
            <a:r>
              <a:rPr lang="en-US" altLang="en-US" sz="1800" dirty="0" err="1" smtClean="0"/>
              <a:t>sunt</a:t>
            </a:r>
            <a:r>
              <a:rPr lang="en-US" altLang="en-US" sz="1800" dirty="0" smtClean="0"/>
              <a:t> rare </a:t>
            </a:r>
            <a:r>
              <a:rPr lang="en-US" altLang="en-US" sz="1800" dirty="0" err="1" smtClean="0"/>
              <a:t>pe</a:t>
            </a:r>
            <a:r>
              <a:rPr lang="en-US" altLang="en-US" sz="1800" dirty="0" smtClean="0"/>
              <a:t> </a:t>
            </a:r>
            <a:r>
              <a:rPr lang="en-US" altLang="en-US" sz="1800" dirty="0" err="1" smtClean="0"/>
              <a:t>teritoriul</a:t>
            </a:r>
            <a:r>
              <a:rPr lang="en-US" altLang="en-US" sz="1800" dirty="0" smtClean="0"/>
              <a:t> </a:t>
            </a:r>
            <a:r>
              <a:rPr lang="en-US" altLang="en-US" sz="1800" dirty="0" err="1" smtClean="0"/>
              <a:t>unui</a:t>
            </a:r>
            <a:r>
              <a:rPr lang="en-US" altLang="en-US" sz="1800" dirty="0" smtClean="0"/>
              <a:t> stat, </a:t>
            </a:r>
            <a:r>
              <a:rPr lang="en-US" altLang="en-US" sz="1800" dirty="0" err="1" smtClean="0"/>
              <a:t>lipsa</a:t>
            </a:r>
            <a:r>
              <a:rPr lang="en-US" altLang="en-US" sz="1800" dirty="0" smtClean="0"/>
              <a:t> </a:t>
            </a:r>
            <a:r>
              <a:rPr lang="en-US" altLang="en-US" sz="1800" dirty="0" err="1" smtClean="0"/>
              <a:t>lor</a:t>
            </a:r>
            <a:r>
              <a:rPr lang="en-US" altLang="en-US" sz="1800" dirty="0" smtClean="0"/>
              <a:t> nu </a:t>
            </a:r>
            <a:r>
              <a:rPr lang="en-US" altLang="en-US" sz="1800" dirty="0" err="1" smtClean="0"/>
              <a:t>este</a:t>
            </a:r>
            <a:r>
              <a:rPr lang="en-US" altLang="en-US" sz="1800" dirty="0" smtClean="0"/>
              <a:t> un </a:t>
            </a:r>
            <a:r>
              <a:rPr lang="en-US" altLang="en-US" sz="1800" dirty="0" err="1" smtClean="0"/>
              <a:t>indice</a:t>
            </a:r>
            <a:r>
              <a:rPr lang="en-US" altLang="en-US" sz="1800" dirty="0" smtClean="0"/>
              <a:t> al </a:t>
            </a:r>
            <a:r>
              <a:rPr lang="en-US" altLang="en-US" sz="1800" dirty="0" err="1" smtClean="0"/>
              <a:t>unei</a:t>
            </a:r>
            <a:r>
              <a:rPr lang="en-US" altLang="en-US" sz="1800" dirty="0" smtClean="0"/>
              <a:t> </a:t>
            </a:r>
            <a:r>
              <a:rPr lang="en-US" altLang="en-US" sz="1800" dirty="0" err="1" smtClean="0"/>
              <a:t>puteri</a:t>
            </a:r>
            <a:r>
              <a:rPr lang="en-US" altLang="en-US" sz="1800" dirty="0" smtClean="0"/>
              <a:t> </a:t>
            </a:r>
            <a:r>
              <a:rPr lang="en-US" altLang="en-US" sz="1800" dirty="0" err="1" smtClean="0"/>
              <a:t>economice</a:t>
            </a:r>
            <a:r>
              <a:rPr lang="en-US" altLang="en-US" sz="1800" dirty="0" smtClean="0"/>
              <a:t> </a:t>
            </a:r>
            <a:r>
              <a:rPr lang="en-US" altLang="en-US" sz="1800" dirty="0" err="1" smtClean="0"/>
              <a:t>reduse</a:t>
            </a:r>
            <a:r>
              <a:rPr lang="en-US" altLang="en-US" sz="1800" dirty="0" smtClean="0"/>
              <a:t>. </a:t>
            </a:r>
            <a:r>
              <a:rPr lang="en-US" altLang="en-US" sz="1800" dirty="0" err="1" smtClean="0"/>
              <a:t>Vulnerabilitatea</a:t>
            </a:r>
            <a:r>
              <a:rPr lang="en-US" altLang="en-US" sz="1800" dirty="0" smtClean="0"/>
              <a:t> </a:t>
            </a:r>
            <a:r>
              <a:rPr lang="en-US" altLang="en-US" sz="1800" dirty="0" err="1" smtClean="0"/>
              <a:t>unei</a:t>
            </a:r>
            <a:r>
              <a:rPr lang="en-US" altLang="en-US" sz="1800" dirty="0" smtClean="0"/>
              <a:t> </a:t>
            </a:r>
            <a:r>
              <a:rPr lang="en-US" altLang="en-US" sz="1800" dirty="0" err="1" smtClean="0"/>
              <a:t>țări</a:t>
            </a:r>
            <a:r>
              <a:rPr lang="en-US" altLang="en-US" sz="1800" dirty="0" smtClean="0"/>
              <a:t> </a:t>
            </a:r>
            <a:r>
              <a:rPr lang="en-US" altLang="en-US" sz="1800" dirty="0" err="1" smtClean="0"/>
              <a:t>influențează</a:t>
            </a:r>
            <a:r>
              <a:rPr lang="en-US" altLang="en-US" sz="1800" dirty="0" smtClean="0"/>
              <a:t> </a:t>
            </a:r>
            <a:r>
              <a:rPr lang="en-US" altLang="en-US" sz="1800" dirty="0" err="1" smtClean="0"/>
              <a:t>multe</a:t>
            </a:r>
            <a:r>
              <a:rPr lang="en-US" altLang="en-US" sz="1800" dirty="0" smtClean="0"/>
              <a:t> </a:t>
            </a:r>
            <a:r>
              <a:rPr lang="en-US" altLang="en-US" sz="1800" dirty="0" err="1" smtClean="0"/>
              <a:t>alte</a:t>
            </a:r>
            <a:r>
              <a:rPr lang="en-US" altLang="en-US" sz="1800" dirty="0" smtClean="0"/>
              <a:t> </a:t>
            </a:r>
            <a:r>
              <a:rPr lang="en-US" altLang="en-US" sz="1800" dirty="0" err="1" smtClean="0"/>
              <a:t>aspecte</a:t>
            </a:r>
            <a:r>
              <a:rPr lang="en-US" altLang="en-US" sz="1800" dirty="0" smtClean="0"/>
              <a:t>, </a:t>
            </a:r>
            <a:r>
              <a:rPr lang="en-US" altLang="en-US" sz="1800" dirty="0" err="1" smtClean="0"/>
              <a:t>iar</a:t>
            </a:r>
            <a:r>
              <a:rPr lang="en-US" altLang="en-US" sz="1800" dirty="0" smtClean="0"/>
              <a:t> </a:t>
            </a:r>
            <a:r>
              <a:rPr lang="en-US" altLang="en-US" sz="1800" dirty="0" err="1" smtClean="0"/>
              <a:t>aceasta</a:t>
            </a:r>
            <a:r>
              <a:rPr lang="en-US" altLang="en-US" sz="1800" dirty="0" smtClean="0"/>
              <a:t> </a:t>
            </a:r>
            <a:r>
              <a:rPr lang="en-US" altLang="en-US" sz="1800" dirty="0" err="1" smtClean="0"/>
              <a:t>depinde</a:t>
            </a:r>
            <a:r>
              <a:rPr lang="en-US" altLang="en-US" sz="1800" dirty="0" smtClean="0"/>
              <a:t> de </a:t>
            </a:r>
            <a:r>
              <a:rPr lang="en-US" altLang="en-US" sz="1800" dirty="0" err="1" smtClean="0"/>
              <a:t>existența</a:t>
            </a:r>
            <a:r>
              <a:rPr lang="en-US" altLang="en-US" sz="1800" dirty="0" smtClean="0"/>
              <a:t> </a:t>
            </a:r>
            <a:r>
              <a:rPr lang="en-US" altLang="en-US" sz="1800" dirty="0" err="1" smtClean="0"/>
              <a:t>unor</a:t>
            </a:r>
            <a:r>
              <a:rPr lang="en-US" altLang="en-US" sz="1800" dirty="0" smtClean="0"/>
              <a:t> </a:t>
            </a:r>
            <a:r>
              <a:rPr lang="en-US" altLang="en-US" sz="1800" dirty="0" err="1" smtClean="0"/>
              <a:t>înlocuitori</a:t>
            </a:r>
            <a:r>
              <a:rPr lang="en-US" altLang="en-US" sz="1800" dirty="0" smtClean="0"/>
              <a:t> </a:t>
            </a:r>
            <a:r>
              <a:rPr lang="en-US" altLang="en-US" sz="1800" dirty="0" err="1" smtClean="0"/>
              <a:t>și</a:t>
            </a:r>
            <a:r>
              <a:rPr lang="en-US" altLang="en-US" sz="1800" dirty="0" smtClean="0"/>
              <a:t> de </a:t>
            </a:r>
            <a:r>
              <a:rPr lang="en-US" altLang="en-US" sz="1800" dirty="0" err="1" smtClean="0"/>
              <a:t>diversitatea</a:t>
            </a:r>
            <a:r>
              <a:rPr lang="en-US" altLang="en-US" sz="1800" dirty="0" smtClean="0"/>
              <a:t> </a:t>
            </a:r>
            <a:r>
              <a:rPr lang="en-US" altLang="en-US" sz="1800" dirty="0" err="1" smtClean="0"/>
              <a:t>surselor</a:t>
            </a:r>
            <a:r>
              <a:rPr lang="en-US" altLang="en-US" sz="1800" dirty="0" smtClean="0"/>
              <a:t> de </a:t>
            </a:r>
            <a:r>
              <a:rPr lang="en-US" altLang="en-US" sz="1800" dirty="0" err="1" smtClean="0"/>
              <a:t>aprovizionare</a:t>
            </a:r>
            <a:r>
              <a:rPr lang="en-US" altLang="en-US" sz="1800" dirty="0" smtClean="0"/>
              <a:t>‖. </a:t>
            </a:r>
            <a:r>
              <a:rPr lang="en-US" altLang="en-US" sz="1800" dirty="0" err="1" smtClean="0">
                <a:solidFill>
                  <a:srgbClr val="FFC000"/>
                </a:solidFill>
              </a:rPr>
              <a:t>Același</a:t>
            </a:r>
            <a:r>
              <a:rPr lang="en-US" altLang="en-US" sz="1800" dirty="0" smtClean="0">
                <a:solidFill>
                  <a:srgbClr val="FFC000"/>
                </a:solidFill>
              </a:rPr>
              <a:t> </a:t>
            </a:r>
            <a:r>
              <a:rPr lang="en-US" altLang="en-US" sz="1800" dirty="0" err="1" smtClean="0">
                <a:solidFill>
                  <a:srgbClr val="FFC000"/>
                </a:solidFill>
              </a:rPr>
              <a:t>autor</a:t>
            </a:r>
            <a:r>
              <a:rPr lang="en-US" altLang="en-US" sz="1800" dirty="0" smtClean="0">
                <a:solidFill>
                  <a:srgbClr val="FFC000"/>
                </a:solidFill>
              </a:rPr>
              <a:t> a </a:t>
            </a:r>
            <a:r>
              <a:rPr lang="en-US" altLang="en-US" sz="1800" dirty="0" err="1" smtClean="0">
                <a:solidFill>
                  <a:srgbClr val="FFC000"/>
                </a:solidFill>
              </a:rPr>
              <a:t>arătat</a:t>
            </a:r>
            <a:r>
              <a:rPr lang="en-US" altLang="en-US" sz="1800" dirty="0" smtClean="0">
                <a:solidFill>
                  <a:srgbClr val="FFC000"/>
                </a:solidFill>
              </a:rPr>
              <a:t> </a:t>
            </a:r>
            <a:r>
              <a:rPr lang="en-US" altLang="en-US" sz="1800" dirty="0" err="1" smtClean="0">
                <a:solidFill>
                  <a:srgbClr val="FFC000"/>
                </a:solidFill>
              </a:rPr>
              <a:t>că</a:t>
            </a:r>
            <a:r>
              <a:rPr lang="en-US" altLang="en-US" sz="1800" dirty="0" smtClean="0">
                <a:solidFill>
                  <a:srgbClr val="FFC000"/>
                </a:solidFill>
              </a:rPr>
              <a:t> </a:t>
            </a:r>
            <a:r>
              <a:rPr lang="en-US" altLang="en-US" sz="1800" dirty="0" smtClean="0"/>
              <a:t>„De </a:t>
            </a:r>
            <a:r>
              <a:rPr lang="en-US" altLang="en-US" sz="1800" dirty="0" err="1" smtClean="0"/>
              <a:t>exemplu</a:t>
            </a:r>
            <a:r>
              <a:rPr lang="en-US" altLang="en-US" sz="1800" dirty="0" smtClean="0"/>
              <a:t>, </a:t>
            </a:r>
            <a:r>
              <a:rPr lang="en-US" altLang="en-US" sz="1800" dirty="0" err="1" smtClean="0"/>
              <a:t>în</a:t>
            </a:r>
            <a:r>
              <a:rPr lang="en-US" altLang="en-US" sz="1800" dirty="0" smtClean="0"/>
              <a:t> </a:t>
            </a:r>
            <a:r>
              <a:rPr lang="en-US" altLang="en-US" sz="1800" dirty="0" err="1" smtClean="0"/>
              <a:t>anii</a:t>
            </a:r>
            <a:r>
              <a:rPr lang="en-US" altLang="en-US" sz="1800" dirty="0" smtClean="0"/>
              <a:t> ‘70, </a:t>
            </a:r>
            <a:r>
              <a:rPr lang="en-US" altLang="en-US" sz="1800" dirty="0" err="1" smtClean="0"/>
              <a:t>unii</a:t>
            </a:r>
            <a:r>
              <a:rPr lang="en-US" altLang="en-US" sz="1800" dirty="0" smtClean="0"/>
              <a:t> </a:t>
            </a:r>
            <a:r>
              <a:rPr lang="en-US" altLang="en-US" sz="1800" dirty="0" err="1" smtClean="0"/>
              <a:t>analiști</a:t>
            </a:r>
            <a:r>
              <a:rPr lang="en-US" altLang="en-US" sz="1800" dirty="0" smtClean="0"/>
              <a:t> </a:t>
            </a:r>
            <a:r>
              <a:rPr lang="en-US" altLang="en-US" sz="1800" dirty="0" err="1" smtClean="0"/>
              <a:t>și</a:t>
            </a:r>
            <a:r>
              <a:rPr lang="en-US" altLang="en-US" sz="1800" dirty="0" smtClean="0"/>
              <a:t>-au </a:t>
            </a:r>
            <a:r>
              <a:rPr lang="en-US" altLang="en-US" sz="1800" dirty="0" err="1" smtClean="0"/>
              <a:t>exprimat</a:t>
            </a:r>
            <a:r>
              <a:rPr lang="en-US" altLang="en-US" sz="1800" dirty="0" smtClean="0"/>
              <a:t> </a:t>
            </a:r>
            <a:r>
              <a:rPr lang="en-US" altLang="en-US" sz="1800" dirty="0" err="1" smtClean="0"/>
              <a:t>îngrijorarea</a:t>
            </a:r>
            <a:r>
              <a:rPr lang="en-US" altLang="en-US" sz="1800" dirty="0" smtClean="0"/>
              <a:t> cu </a:t>
            </a:r>
            <a:r>
              <a:rPr lang="en-US" altLang="en-US" sz="1800" dirty="0" err="1" smtClean="0"/>
              <a:t>privire</a:t>
            </a:r>
            <a:r>
              <a:rPr lang="en-US" altLang="en-US" sz="1800" dirty="0" smtClean="0"/>
              <a:t> la </a:t>
            </a:r>
            <a:r>
              <a:rPr lang="en-US" altLang="en-US" sz="1800" dirty="0" err="1" smtClean="0"/>
              <a:t>dependența</a:t>
            </a:r>
            <a:r>
              <a:rPr lang="en-US" altLang="en-US" sz="1800" dirty="0" smtClean="0"/>
              <a:t> tot </a:t>
            </a:r>
            <a:r>
              <a:rPr lang="en-US" altLang="en-US" sz="1800" dirty="0" err="1" smtClean="0"/>
              <a:t>mai</a:t>
            </a:r>
            <a:r>
              <a:rPr lang="en-US" altLang="en-US" sz="1800" dirty="0" smtClean="0"/>
              <a:t> mare a </a:t>
            </a:r>
            <a:r>
              <a:rPr lang="en-US" altLang="en-US" sz="1800" dirty="0" err="1" smtClean="0"/>
              <a:t>Statelor</a:t>
            </a:r>
            <a:r>
              <a:rPr lang="en-US" altLang="en-US" sz="1800" dirty="0" smtClean="0"/>
              <a:t> Unite de </a:t>
            </a:r>
            <a:r>
              <a:rPr lang="en-US" altLang="en-US" sz="1800" dirty="0" err="1" smtClean="0"/>
              <a:t>materii</a:t>
            </a:r>
            <a:r>
              <a:rPr lang="en-US" altLang="en-US" sz="1800" dirty="0" smtClean="0"/>
              <a:t> prime </a:t>
            </a:r>
            <a:r>
              <a:rPr lang="en-US" altLang="en-US" sz="1800" dirty="0" err="1" smtClean="0"/>
              <a:t>importate</a:t>
            </a:r>
            <a:r>
              <a:rPr lang="en-US" altLang="en-US" sz="1800" dirty="0" smtClean="0"/>
              <a:t> </a:t>
            </a:r>
            <a:r>
              <a:rPr lang="en-US" altLang="en-US" sz="1800" dirty="0" err="1" smtClean="0"/>
              <a:t>și</a:t>
            </a:r>
            <a:r>
              <a:rPr lang="en-US" altLang="en-US" sz="1800" dirty="0" smtClean="0"/>
              <a:t>, </a:t>
            </a:r>
            <a:r>
              <a:rPr lang="en-US" altLang="en-US" sz="1800" dirty="0" err="1" smtClean="0"/>
              <a:t>așadar</a:t>
            </a:r>
            <a:r>
              <a:rPr lang="en-US" altLang="en-US" sz="1800" dirty="0" smtClean="0"/>
              <a:t>, de </a:t>
            </a:r>
            <a:r>
              <a:rPr lang="en-US" altLang="en-US" sz="1800" dirty="0" err="1" smtClean="0"/>
              <a:t>vulnerabilitatea</a:t>
            </a:r>
            <a:r>
              <a:rPr lang="en-US" altLang="en-US" sz="1800" dirty="0" smtClean="0"/>
              <a:t> </a:t>
            </a:r>
            <a:r>
              <a:rPr lang="en-US" altLang="en-US" sz="1800" dirty="0" err="1" smtClean="0"/>
              <a:t>lor</a:t>
            </a:r>
            <a:r>
              <a:rPr lang="en-US" altLang="en-US" sz="1800" dirty="0" smtClean="0"/>
              <a:t>. Din </a:t>
            </a:r>
            <a:r>
              <a:rPr lang="en-US" altLang="en-US" sz="1800" dirty="0" err="1" smtClean="0"/>
              <a:t>treisprezece</a:t>
            </a:r>
            <a:r>
              <a:rPr lang="en-US" altLang="en-US" sz="1800" dirty="0" smtClean="0"/>
              <a:t> </a:t>
            </a:r>
            <a:r>
              <a:rPr lang="en-US" altLang="en-US" sz="1800" dirty="0" err="1" smtClean="0"/>
              <a:t>materii</a:t>
            </a:r>
            <a:r>
              <a:rPr lang="en-US" altLang="en-US" sz="1800" dirty="0" smtClean="0"/>
              <a:t> prime </a:t>
            </a:r>
            <a:r>
              <a:rPr lang="en-US" altLang="en-US" sz="1800" dirty="0" err="1" smtClean="0"/>
              <a:t>industriale</a:t>
            </a:r>
            <a:r>
              <a:rPr lang="en-US" altLang="en-US" sz="1800" dirty="0" smtClean="0"/>
              <a:t> de </a:t>
            </a:r>
            <a:r>
              <a:rPr lang="en-US" altLang="en-US" sz="1800" dirty="0" err="1" smtClean="0"/>
              <a:t>bază</a:t>
            </a:r>
            <a:r>
              <a:rPr lang="en-US" altLang="en-US" sz="1800" dirty="0" smtClean="0"/>
              <a:t>, </a:t>
            </a:r>
            <a:r>
              <a:rPr lang="en-US" altLang="en-US" sz="1800" dirty="0" err="1" smtClean="0"/>
              <a:t>Statele</a:t>
            </a:r>
            <a:r>
              <a:rPr lang="en-US" altLang="en-US" sz="1800" dirty="0" smtClean="0"/>
              <a:t> Unite </a:t>
            </a:r>
            <a:r>
              <a:rPr lang="en-US" altLang="en-US" sz="1800" dirty="0" err="1" smtClean="0"/>
              <a:t>depindeau</a:t>
            </a:r>
            <a:r>
              <a:rPr lang="en-US" altLang="en-US" sz="1800" dirty="0" smtClean="0"/>
              <a:t> de </a:t>
            </a:r>
            <a:r>
              <a:rPr lang="en-US" altLang="en-US" sz="1800" dirty="0" err="1" smtClean="0"/>
              <a:t>importuri</a:t>
            </a:r>
            <a:r>
              <a:rPr lang="en-US" altLang="en-US" sz="1800" dirty="0" smtClean="0"/>
              <a:t> </a:t>
            </a:r>
            <a:r>
              <a:rPr lang="en-US" altLang="en-US" sz="1800" dirty="0" err="1" smtClean="0"/>
              <a:t>pentru</a:t>
            </a:r>
            <a:r>
              <a:rPr lang="en-US" altLang="en-US" sz="1800" dirty="0" smtClean="0"/>
              <a:t> </a:t>
            </a:r>
            <a:r>
              <a:rPr lang="en-US" altLang="en-US" sz="1800" dirty="0" err="1" smtClean="0"/>
              <a:t>aproape</a:t>
            </a:r>
            <a:r>
              <a:rPr lang="en-US" altLang="en-US" sz="1800" dirty="0" smtClean="0"/>
              <a:t> 90% din </a:t>
            </a:r>
            <a:r>
              <a:rPr lang="en-US" altLang="en-US" sz="1800" dirty="0" err="1" smtClean="0"/>
              <a:t>necesarul</a:t>
            </a:r>
            <a:r>
              <a:rPr lang="en-US" altLang="en-US" sz="1800" dirty="0" smtClean="0"/>
              <a:t> de </a:t>
            </a:r>
            <a:r>
              <a:rPr lang="en-US" altLang="en-US" sz="1800" dirty="0" err="1" smtClean="0"/>
              <a:t>aluminiu</a:t>
            </a:r>
            <a:r>
              <a:rPr lang="en-US" altLang="en-US" sz="1800" dirty="0" smtClean="0"/>
              <a:t>, </a:t>
            </a:r>
            <a:r>
              <a:rPr lang="en-US" altLang="en-US" sz="1800" dirty="0" err="1" smtClean="0"/>
              <a:t>crom</a:t>
            </a:r>
            <a:r>
              <a:rPr lang="en-US" altLang="en-US" sz="1800" dirty="0" smtClean="0"/>
              <a:t>, </a:t>
            </a:r>
            <a:r>
              <a:rPr lang="en-US" altLang="en-US" sz="1800" dirty="0" err="1" smtClean="0"/>
              <a:t>mangan</a:t>
            </a:r>
            <a:r>
              <a:rPr lang="en-US" altLang="en-US" sz="1800" dirty="0" smtClean="0"/>
              <a:t> </a:t>
            </a:r>
            <a:r>
              <a:rPr lang="en-US" altLang="en-US" sz="1800" dirty="0" err="1" smtClean="0"/>
              <a:t>și</a:t>
            </a:r>
            <a:r>
              <a:rPr lang="en-US" altLang="en-US" sz="1800" dirty="0" smtClean="0"/>
              <a:t> </a:t>
            </a:r>
            <a:r>
              <a:rPr lang="en-US" altLang="en-US" sz="1800" dirty="0" err="1" smtClean="0"/>
              <a:t>nichel</a:t>
            </a:r>
            <a:r>
              <a:rPr lang="en-US" altLang="en-US" sz="1800" dirty="0" smtClean="0"/>
              <a:t> (</a:t>
            </a:r>
            <a:r>
              <a:rPr lang="en-US" altLang="en-US" sz="1800" dirty="0" smtClean="0">
                <a:solidFill>
                  <a:srgbClr val="FFC000"/>
                </a:solidFill>
              </a:rPr>
              <a:t>Nye, 2012, p. 81). 	</a:t>
            </a:r>
          </a:p>
          <a:p>
            <a:pPr marL="0" indent="0">
              <a:buFont typeface="Arial" charset="0"/>
              <a:buNone/>
            </a:pPr>
            <a:r>
              <a:rPr lang="en-US" altLang="en-US" dirty="0" smtClean="0"/>
              <a:t>	</a:t>
            </a:r>
          </a:p>
          <a:p>
            <a:pPr marL="0" indent="0">
              <a:buFont typeface="Arial" charset="0"/>
              <a:buNone/>
            </a:pPr>
            <a:r>
              <a:rPr lang="en-US" altLang="en-US" dirty="0" smtClean="0">
                <a:solidFill>
                  <a:srgbClr val="FFC000"/>
                </a:solidFill>
              </a:rPr>
              <a:t>	</a:t>
            </a:r>
          </a:p>
          <a:p>
            <a:pPr marL="0" indent="0">
              <a:buFont typeface="Arial" charset="0"/>
              <a:buNone/>
            </a:pPr>
            <a:endParaRPr lang="en-US" altLang="en-US" dirty="0" smtClean="0"/>
          </a:p>
          <a:p>
            <a:pPr marL="0" indent="0">
              <a:buFont typeface="Arial" charset="0"/>
              <a:buNone/>
            </a:pPr>
            <a:r>
              <a:rPr lang="en-US" altLang="en-US" dirty="0" smtClean="0"/>
              <a:t>	</a:t>
            </a:r>
          </a:p>
          <a:p>
            <a:pPr marL="0" indent="0">
              <a:buFont typeface="Arial" charset="0"/>
              <a:buNone/>
            </a:pPr>
            <a:r>
              <a:rPr lang="en-US" altLang="en-US" sz="1800" dirty="0" smtClean="0"/>
              <a:t>	</a:t>
            </a:r>
          </a:p>
          <a:p>
            <a:pPr marL="0" indent="0">
              <a:buFont typeface="Arial" charset="0"/>
              <a:buNone/>
            </a:pPr>
            <a:r>
              <a:rPr lang="en-US" altLang="en-US" dirty="0" smtClean="0"/>
              <a:t>	</a:t>
            </a:r>
          </a:p>
          <a:p>
            <a:pPr marL="0" indent="0">
              <a:buFont typeface="Arial" charset="0"/>
              <a:buNone/>
            </a:pPr>
            <a:endParaRPr lang="en-US" altLang="en-US" dirty="0" smtClean="0"/>
          </a:p>
        </p:txBody>
      </p:sp>
    </p:spTree>
    <p:extLst>
      <p:ext uri="{BB962C8B-B14F-4D97-AF65-F5344CB8AC3E}">
        <p14:creationId xmlns:p14="http://schemas.microsoft.com/office/powerpoint/2010/main" val="42881165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763000" cy="6096000"/>
          </a:xfrm>
        </p:spPr>
        <p:txBody>
          <a:bodyPr>
            <a:normAutofit lnSpcReduction="10000"/>
          </a:bodyPr>
          <a:lstStyle/>
          <a:p>
            <a:r>
              <a:rPr lang="vi-VN" dirty="0" smtClean="0"/>
              <a:t> Plagiatul prin traducere </a:t>
            </a:r>
          </a:p>
          <a:p>
            <a:endParaRPr lang="vi-VN" dirty="0" smtClean="0"/>
          </a:p>
          <a:p>
            <a:r>
              <a:rPr lang="vi-VN" dirty="0" smtClean="0"/>
              <a:t> Plagiatul structural - copierea structurii argumentative a unei alte lucrări, pornind de la scopul și obiectivele acesteia, la sursele folosite, notele de subsol și metodologia de cercetare </a:t>
            </a:r>
          </a:p>
          <a:p>
            <a:endParaRPr lang="vi-VN" dirty="0" smtClean="0"/>
          </a:p>
          <a:p>
            <a:r>
              <a:rPr lang="vi-VN" dirty="0" smtClean="0"/>
              <a:t> Plagiatul prin manipularea surselor  - rezultat: plagiat h</a:t>
            </a:r>
            <a:r>
              <a:rPr lang="en-US" dirty="0" smtClean="0"/>
              <a:t>i</a:t>
            </a:r>
            <a:r>
              <a:rPr lang="vi-VN" dirty="0" smtClean="0"/>
              <a:t>brid</a:t>
            </a:r>
          </a:p>
          <a:p>
            <a:r>
              <a:rPr lang="vi-VN" dirty="0" smtClean="0"/>
              <a:t> Ghostwriting – fabrici de referate/lucrări</a:t>
            </a:r>
          </a:p>
          <a:p>
            <a:pPr marL="0" indent="0">
              <a:buNone/>
            </a:pPr>
            <a:r>
              <a:rPr lang="vi-VN" dirty="0">
                <a:latin typeface="Arial"/>
                <a:cs typeface="Arial"/>
              </a:rPr>
              <a:t>→</a:t>
            </a:r>
            <a:r>
              <a:rPr lang="vi-VN" dirty="0" smtClean="0"/>
              <a:t> contract cheating</a:t>
            </a:r>
          </a:p>
          <a:p>
            <a:endParaRPr lang="en-US" dirty="0"/>
          </a:p>
        </p:txBody>
      </p:sp>
    </p:spTree>
    <p:extLst>
      <p:ext uri="{BB962C8B-B14F-4D97-AF65-F5344CB8AC3E}">
        <p14:creationId xmlns:p14="http://schemas.microsoft.com/office/powerpoint/2010/main" val="1593844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vi-VN" dirty="0">
                <a:latin typeface="Calibri" pitchFamily="34" charset="0"/>
              </a:rPr>
              <a:t>Ce este mai puțin condamnabil moral: să depui eforturi pentru a plagia </a:t>
            </a:r>
            <a:r>
              <a:rPr lang="vi-VN" dirty="0" smtClean="0">
                <a:latin typeface="Calibri" pitchFamily="34" charset="0"/>
              </a:rPr>
              <a:t>elevat,</a:t>
            </a:r>
            <a:r>
              <a:rPr lang="en-US" dirty="0" smtClean="0">
                <a:latin typeface="Calibri" pitchFamily="34" charset="0"/>
              </a:rPr>
              <a:t> </a:t>
            </a:r>
            <a:r>
              <a:rPr lang="vi-VN" dirty="0" smtClean="0">
                <a:latin typeface="Calibri" pitchFamily="34" charset="0"/>
              </a:rPr>
              <a:t>structural</a:t>
            </a:r>
            <a:r>
              <a:rPr lang="vi-VN" dirty="0">
                <a:latin typeface="Calibri" pitchFamily="34" charset="0"/>
              </a:rPr>
              <a:t>, sau să cumperi online o lucrare originală, care respectă normele </a:t>
            </a:r>
            <a:r>
              <a:rPr lang="vi-VN" dirty="0" smtClean="0">
                <a:latin typeface="Calibri" pitchFamily="34" charset="0"/>
              </a:rPr>
              <a:t>de</a:t>
            </a:r>
            <a:r>
              <a:rPr lang="en-US" dirty="0" smtClean="0">
                <a:latin typeface="Calibri" pitchFamily="34" charset="0"/>
              </a:rPr>
              <a:t> redactare</a:t>
            </a:r>
            <a:r>
              <a:rPr lang="en-US" dirty="0">
                <a:latin typeface="Calibri" pitchFamily="34" charset="0"/>
              </a:rPr>
              <a:t>?</a:t>
            </a:r>
          </a:p>
        </p:txBody>
      </p:sp>
    </p:spTree>
    <p:extLst>
      <p:ext uri="{BB962C8B-B14F-4D97-AF65-F5344CB8AC3E}">
        <p14:creationId xmlns:p14="http://schemas.microsoft.com/office/powerpoint/2010/main" val="1822973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De ce?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2438400"/>
            <a:ext cx="8153400" cy="2186781"/>
          </a:xfrm>
        </p:spPr>
      </p:pic>
    </p:spTree>
    <p:extLst>
      <p:ext uri="{BB962C8B-B14F-4D97-AF65-F5344CB8AC3E}">
        <p14:creationId xmlns:p14="http://schemas.microsoft.com/office/powerpoint/2010/main" val="3674230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92500"/>
          </a:bodyPr>
          <a:lstStyle/>
          <a:p>
            <a:pPr marL="0" indent="0">
              <a:buNone/>
            </a:pPr>
            <a:r>
              <a:rPr lang="vi-VN" dirty="0" smtClean="0"/>
              <a:t>Andrei te-a invitat să participi la un grup de discuție legat de un draft pe care l-a scris de curând. Ți-a plăcut foarte mult ideea lui Andrei din articol și le-o menționezi prietenilor care crezi că ar fi interesați de așa ceva. Mihai, un coleg dintr-un an mai mare, îți cere draftul lui Andrei, deoarece i se pare foarte interesant ce i-ai povestit. Mai mult, știi că Mihai lucrează la ceva similar pentru lucrarea sa de disertație, ceea ce înseamnă că articolul i-ar fi chiar foarte util. Îl cunoști foarte bine pe Mihai, ai încredere în el și știi sigur că draftul i-ar fi foarte util. Cum procedezi?</a:t>
            </a:r>
            <a:endParaRPr lang="en-US" dirty="0"/>
          </a:p>
        </p:txBody>
      </p:sp>
    </p:spTree>
    <p:extLst>
      <p:ext uri="{BB962C8B-B14F-4D97-AF65-F5344CB8AC3E}">
        <p14:creationId xmlns:p14="http://schemas.microsoft.com/office/powerpoint/2010/main" val="457326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77500" lnSpcReduction="20000"/>
          </a:bodyPr>
          <a:lstStyle/>
          <a:p>
            <a:pPr algn="just"/>
            <a:r>
              <a:rPr lang="vi-VN" dirty="0" smtClean="0"/>
              <a:t>Îi pui pe cei doi în legătură. Din moment ce Andrei nu ți-a spus în mod explicit că poți distribui oricui draftul, trebuie să îl lași pe el să decidă dacă îi trimite sau nu draftul și lui Mihai. Dacă alegi să îi trimiți draftul lui Mihai, riști să distribui o versiune pe care Andrei nu vrea să o facă publică. Probabil dorește să mai lucreze la el înainte de a-l distribui și altora, iar decizia ar trebui să îi aparțină în acest sens. Un alt risc la care te-ai putea expune, dacă alegi să îi trimiți draftul lui Mihai, ar fi că în cazul în care Mihai plagiază din draftul respectiv și este prins, Andrei nu are nicio dovadă clară care să-i facă dreptate. Dacă Andrei îi trimite draftul și Mihai copiază din el mai multe pasaje, atunci există o dovadă foarte clară că Mihai a avut acces la draft</a:t>
            </a:r>
            <a:r>
              <a:rPr lang="en-US" dirty="0" smtClean="0"/>
              <a:t>-</a:t>
            </a:r>
            <a:r>
              <a:rPr lang="en-US" dirty="0" err="1" smtClean="0">
                <a:latin typeface="Arial" pitchFamily="34" charset="0"/>
                <a:cs typeface="Arial" pitchFamily="34" charset="0"/>
              </a:rPr>
              <a:t>u</a:t>
            </a:r>
            <a:r>
              <a:rPr lang="en-US" dirty="0" err="1" smtClean="0"/>
              <a:t>l</a:t>
            </a:r>
            <a:r>
              <a:rPr lang="vi-VN" dirty="0" smtClean="0"/>
              <a:t> de la Mihai, iar Comisia de Etică poate analiza cazul mai departe în baza unei dovezi foarte importante. Nu trebuie să îi bănuim pe toți că ar putea să îi plagieze sau să ne plagieze, însă este de preferat să fim precauți când vine vorba despre drafturi, deoarece acestea nu sunt încă publicate. </a:t>
            </a:r>
            <a:endParaRPr lang="en-US" dirty="0"/>
          </a:p>
        </p:txBody>
      </p:sp>
    </p:spTree>
    <p:extLst>
      <p:ext uri="{BB962C8B-B14F-4D97-AF65-F5344CB8AC3E}">
        <p14:creationId xmlns:p14="http://schemas.microsoft.com/office/powerpoint/2010/main" val="1107714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vi-VN" dirty="0" smtClean="0"/>
              <a:t>Dacă cineva copiază dintr-un draft al unui articol un pasaj pe care autorul/autorii îl șterg atunci când revizuiesc manuscrisul, putem spune că persoana în cauză a plagiat? </a:t>
            </a:r>
            <a:endParaRPr lang="en-US" dirty="0"/>
          </a:p>
        </p:txBody>
      </p:sp>
    </p:spTree>
    <p:extLst>
      <p:ext uri="{BB962C8B-B14F-4D97-AF65-F5344CB8AC3E}">
        <p14:creationId xmlns:p14="http://schemas.microsoft.com/office/powerpoint/2010/main" val="1055805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62500" lnSpcReduction="20000"/>
          </a:bodyPr>
          <a:lstStyle/>
          <a:p>
            <a:r>
              <a:rPr lang="vi-VN" dirty="0"/>
              <a:t>Pentru studenți sau absolvenți ai universităților invocarea motivului „nu cunoșteam regulile de scriere academică” este unul acceptabil? </a:t>
            </a:r>
            <a:endParaRPr lang="en-US" dirty="0" smtClean="0"/>
          </a:p>
          <a:p>
            <a:endParaRPr lang="vi-VN" dirty="0"/>
          </a:p>
          <a:p>
            <a:r>
              <a:rPr lang="vi-VN" dirty="0"/>
              <a:t>Putem prelua texte legale sau le putem parafraza fără a face trimitere la ele? Legile nu sunt protejate de dreptul de autor și adesea nici nu știm autorii lor. Pot fi ele tratate drept „cunoaștere comună”? </a:t>
            </a:r>
            <a:endParaRPr lang="en-US" dirty="0" smtClean="0"/>
          </a:p>
          <a:p>
            <a:endParaRPr lang="vi-VN" dirty="0"/>
          </a:p>
          <a:p>
            <a:r>
              <a:rPr lang="vi-VN" dirty="0"/>
              <a:t>Îl descalifică moral, ca om lipsit de onestitate, pe cel care a plagiat din ignoranță? Dar dacă o face de mai multe ori? </a:t>
            </a:r>
            <a:endParaRPr lang="en-US" dirty="0" smtClean="0"/>
          </a:p>
          <a:p>
            <a:endParaRPr lang="vi-VN" dirty="0"/>
          </a:p>
          <a:p>
            <a:r>
              <a:rPr lang="vi-VN" dirty="0"/>
              <a:t>Dacă preiau niște date publice (deschise), dar colectate de alți cercetători, trebuie să precizez sursa? </a:t>
            </a:r>
            <a:endParaRPr lang="en-US" dirty="0" smtClean="0"/>
          </a:p>
          <a:p>
            <a:endParaRPr lang="vi-VN" dirty="0"/>
          </a:p>
          <a:p>
            <a:r>
              <a:rPr lang="vi-VN" dirty="0"/>
              <a:t>Ce contează mai mult: procentul de text plagiat dintr-o lucrare, dacă există sau nu intenție sau dacă plagiatorul a avut beneficii în urma actului? Argumentați. </a:t>
            </a:r>
            <a:endParaRPr lang="en-US" dirty="0" smtClean="0"/>
          </a:p>
          <a:p>
            <a:endParaRPr lang="vi-VN" dirty="0"/>
          </a:p>
          <a:p>
            <a:r>
              <a:rPr lang="vi-VN" dirty="0"/>
              <a:t>Dacă preluarea are loc după o compilație lipsită de originalitate, fără autor recunoscut, se mai poate vorbi de plagiat? 	</a:t>
            </a:r>
          </a:p>
          <a:p>
            <a:endParaRPr lang="en-US" dirty="0"/>
          </a:p>
        </p:txBody>
      </p:sp>
    </p:spTree>
    <p:extLst>
      <p:ext uri="{BB962C8B-B14F-4D97-AF65-F5344CB8AC3E}">
        <p14:creationId xmlns:p14="http://schemas.microsoft.com/office/powerpoint/2010/main" val="574946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vi-VN" dirty="0" smtClean="0"/>
              <a:t>În cazul unui plagiat într-o lucrare de licență, disertație sau teză de doctorat,</a:t>
            </a:r>
            <a:r>
              <a:rPr lang="en-US" dirty="0" smtClean="0"/>
              <a:t> </a:t>
            </a:r>
            <a:r>
              <a:rPr lang="vi-VN" dirty="0" smtClean="0"/>
              <a:t>cine are o responsabilitate mai mare: studentul sau profesorul coordonator?</a:t>
            </a:r>
          </a:p>
        </p:txBody>
      </p:sp>
    </p:spTree>
    <p:extLst>
      <p:ext uri="{BB962C8B-B14F-4D97-AF65-F5344CB8AC3E}">
        <p14:creationId xmlns:p14="http://schemas.microsoft.com/office/powerpoint/2010/main" val="266161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Bibliografia</a:t>
            </a:r>
            <a:endParaRPr lang="en-US" dirty="0"/>
          </a:p>
        </p:txBody>
      </p:sp>
      <p:sp>
        <p:nvSpPr>
          <p:cNvPr id="3" name="Content Placeholder 2"/>
          <p:cNvSpPr>
            <a:spLocks noGrp="1"/>
          </p:cNvSpPr>
          <p:nvPr>
            <p:ph idx="1"/>
          </p:nvPr>
        </p:nvSpPr>
        <p:spPr/>
        <p:txBody>
          <a:bodyPr/>
          <a:lstStyle/>
          <a:p>
            <a:r>
              <a:rPr lang="en-US" dirty="0" smtClean="0">
                <a:hlinkClick r:id="rId2"/>
              </a:rPr>
              <a:t>https://www.chicagomanualofstyle.org/tools_citationguide.html</a:t>
            </a:r>
            <a:endParaRPr lang="en-US" dirty="0" smtClean="0"/>
          </a:p>
          <a:p>
            <a:endParaRPr lang="en-US" dirty="0"/>
          </a:p>
          <a:p>
            <a:pPr marL="0" indent="0">
              <a:buNone/>
            </a:pPr>
            <a:endParaRPr lang="en-US" dirty="0"/>
          </a:p>
        </p:txBody>
      </p:sp>
    </p:spTree>
    <p:extLst>
      <p:ext uri="{BB962C8B-B14F-4D97-AF65-F5344CB8AC3E}">
        <p14:creationId xmlns:p14="http://schemas.microsoft.com/office/powerpoint/2010/main" val="36800202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228600"/>
            <a:ext cx="6705599"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82526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Teze</a:t>
            </a:r>
            <a:r>
              <a:rPr lang="en-US" dirty="0" smtClean="0"/>
              <a:t> </a:t>
            </a:r>
            <a:endParaRPr lang="en-US" dirty="0"/>
          </a:p>
        </p:txBody>
      </p:sp>
      <p:sp>
        <p:nvSpPr>
          <p:cNvPr id="3" name="Content Placeholder 2"/>
          <p:cNvSpPr>
            <a:spLocks noGrp="1"/>
          </p:cNvSpPr>
          <p:nvPr>
            <p:ph idx="1"/>
          </p:nvPr>
        </p:nvSpPr>
        <p:spPr>
          <a:xfrm>
            <a:off x="457200" y="1371600"/>
            <a:ext cx="8229600" cy="5257800"/>
          </a:xfrm>
        </p:spPr>
        <p:txBody>
          <a:bodyPr>
            <a:normAutofit fontScale="55000" lnSpcReduction="20000"/>
          </a:bodyPr>
          <a:lstStyle/>
          <a:p>
            <a:r>
              <a:rPr lang="en-US" dirty="0" err="1" smtClean="0"/>
              <a:t>Arta</a:t>
            </a:r>
            <a:r>
              <a:rPr lang="en-US" dirty="0" smtClean="0"/>
              <a:t> (nu) </a:t>
            </a:r>
            <a:r>
              <a:rPr lang="en-US" dirty="0" err="1" smtClean="0"/>
              <a:t>ar</a:t>
            </a:r>
            <a:r>
              <a:rPr lang="en-US" dirty="0" smtClean="0"/>
              <a:t> </a:t>
            </a:r>
            <a:r>
              <a:rPr lang="en-US" dirty="0" err="1" smtClean="0"/>
              <a:t>trebui</a:t>
            </a:r>
            <a:r>
              <a:rPr lang="en-US" dirty="0" smtClean="0"/>
              <a:t> </a:t>
            </a:r>
            <a:r>
              <a:rPr lang="en-US" dirty="0" err="1" smtClean="0"/>
              <a:t>cenzu</a:t>
            </a:r>
            <a:r>
              <a:rPr lang="ro-RO" dirty="0" smtClean="0"/>
              <a:t>rată</a:t>
            </a:r>
          </a:p>
          <a:p>
            <a:r>
              <a:rPr lang="ro-RO" dirty="0" smtClean="0"/>
              <a:t>Internetul (nu) poate înlocui biblioteca</a:t>
            </a:r>
          </a:p>
          <a:p>
            <a:r>
              <a:rPr lang="ro-RO" dirty="0" smtClean="0"/>
              <a:t>AI (nu) ar trebui să aibă drept de vot</a:t>
            </a:r>
          </a:p>
          <a:p>
            <a:r>
              <a:rPr lang="ro-RO" dirty="0" smtClean="0"/>
              <a:t>Știrile care conțin violență (nu) ar trebui interzise</a:t>
            </a:r>
          </a:p>
          <a:p>
            <a:r>
              <a:rPr lang="ro-RO" dirty="0" smtClean="0"/>
              <a:t>Subtitrarea (nu) este preferabilă dublării</a:t>
            </a:r>
          </a:p>
          <a:p>
            <a:r>
              <a:rPr lang="ro-RO" dirty="0" smtClean="0"/>
              <a:t>Accesul la internet (nu) ar trebui să devină un drept universal al omului</a:t>
            </a:r>
          </a:p>
          <a:p>
            <a:r>
              <a:rPr lang="ro-RO" dirty="0" smtClean="0"/>
              <a:t>Avortul (nu) ar trebui interzis</a:t>
            </a:r>
          </a:p>
          <a:p>
            <a:r>
              <a:rPr lang="ro-RO" dirty="0" smtClean="0"/>
              <a:t>Testarea pe animale (nu) ar trebui interzisă</a:t>
            </a:r>
          </a:p>
          <a:p>
            <a:r>
              <a:rPr lang="ro-RO" dirty="0" smtClean="0"/>
              <a:t>Familiile LGBT+ (nu) ar trebui să aibă dreptul să adopte</a:t>
            </a:r>
          </a:p>
          <a:p>
            <a:r>
              <a:rPr lang="ro-RO" dirty="0" smtClean="0"/>
              <a:t>Educația sexuală (nu) ar trebui introdusă în clasele primare</a:t>
            </a:r>
          </a:p>
          <a:p>
            <a:r>
              <a:rPr lang="ro-RO" dirty="0" smtClean="0"/>
              <a:t>Prezența camerelor de luat vederi în școli (nu) este justificată</a:t>
            </a:r>
          </a:p>
          <a:p>
            <a:r>
              <a:rPr lang="ro-RO" dirty="0" smtClean="0"/>
              <a:t>Pedeapsa capitală (nu) ar trebui abolită</a:t>
            </a:r>
          </a:p>
          <a:p>
            <a:r>
              <a:rPr lang="ro-RO" dirty="0" smtClean="0"/>
              <a:t>Tortura (nu) este justificată în stuații de interogare a teroriștilor</a:t>
            </a:r>
          </a:p>
          <a:p>
            <a:r>
              <a:rPr lang="ro-RO" dirty="0" smtClean="0"/>
              <a:t>Jocurile video agresive (nu) sunt dăunătoare</a:t>
            </a:r>
          </a:p>
          <a:p>
            <a:r>
              <a:rPr lang="ro-RO" dirty="0" smtClean="0"/>
              <a:t>Votul obligatoriu (nu) ar trebui introdus în România</a:t>
            </a:r>
          </a:p>
          <a:p>
            <a:pPr marL="0" indent="0">
              <a:buNone/>
            </a:pPr>
            <a:endParaRPr lang="ro-RO" dirty="0"/>
          </a:p>
          <a:p>
            <a:pPr marL="0" indent="0">
              <a:buNone/>
            </a:pPr>
            <a:r>
              <a:rPr lang="ro-RO" dirty="0" smtClean="0">
                <a:hlinkClick r:id="rId2"/>
              </a:rPr>
              <a:t>https://blog.prepscholar.com/good-debate-topics</a:t>
            </a:r>
            <a:endParaRPr lang="ro-RO" dirty="0" smtClean="0"/>
          </a:p>
          <a:p>
            <a:pPr marL="0" indent="0">
              <a:buNone/>
            </a:pPr>
            <a:r>
              <a:rPr lang="ro-RO" dirty="0" smtClean="0">
                <a:hlinkClick r:id="rId3"/>
              </a:rPr>
              <a:t>https://owlcation.com/academia/100-Debate-Topics</a:t>
            </a:r>
            <a:endParaRPr lang="ro-RO" dirty="0" smtClean="0"/>
          </a:p>
          <a:p>
            <a:pPr marL="0" indent="0">
              <a:buNone/>
            </a:pPr>
            <a:r>
              <a:rPr lang="ro-RO" dirty="0" smtClean="0">
                <a:hlinkClick r:id="rId4"/>
              </a:rPr>
              <a:t>https://www.5staressays.com/blog/speech-and-debate/debate-topics</a:t>
            </a:r>
            <a:endParaRPr lang="ro-RO" dirty="0" smtClean="0"/>
          </a:p>
          <a:p>
            <a:pPr marL="0" indent="0">
              <a:buNone/>
            </a:pPr>
            <a:endParaRPr lang="ro-RO" dirty="0" smtClean="0"/>
          </a:p>
        </p:txBody>
      </p:sp>
    </p:spTree>
    <p:extLst>
      <p:ext uri="{BB962C8B-B14F-4D97-AF65-F5344CB8AC3E}">
        <p14:creationId xmlns:p14="http://schemas.microsoft.com/office/powerpoint/2010/main" val="7596409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ro-RO" dirty="0"/>
              <a:t>Introducere</a:t>
            </a:r>
            <a:endParaRPr lang="en-US" dirty="0"/>
          </a:p>
          <a:p>
            <a:r>
              <a:rPr lang="ro-RO" dirty="0"/>
              <a:t>Argument pro</a:t>
            </a:r>
            <a:endParaRPr lang="en-US" dirty="0"/>
          </a:p>
          <a:p>
            <a:r>
              <a:rPr lang="ro-RO" dirty="0"/>
              <a:t>Argument contra</a:t>
            </a:r>
            <a:endParaRPr lang="en-US" dirty="0"/>
          </a:p>
          <a:p>
            <a:r>
              <a:rPr lang="ro-RO" dirty="0"/>
              <a:t>Respingerea argumentului contra</a:t>
            </a:r>
            <a:endParaRPr lang="en-US" dirty="0"/>
          </a:p>
          <a:p>
            <a:r>
              <a:rPr lang="ro-RO" dirty="0"/>
              <a:t>Concluzii</a:t>
            </a:r>
            <a:endParaRPr lang="en-US" dirty="0"/>
          </a:p>
          <a:p>
            <a:pPr marL="0" indent="0">
              <a:buNone/>
            </a:pPr>
            <a:endParaRPr lang="en-US" dirty="0"/>
          </a:p>
        </p:txBody>
      </p:sp>
    </p:spTree>
    <p:extLst>
      <p:ext uri="{BB962C8B-B14F-4D97-AF65-F5344CB8AC3E}">
        <p14:creationId xmlns:p14="http://schemas.microsoft.com/office/powerpoint/2010/main" val="23966644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dirty="0" smtClean="0"/>
              <a:t>Introducerea IA în domeniul medical</a:t>
            </a:r>
            <a:endParaRPr lang="en-US" dirty="0"/>
          </a:p>
        </p:txBody>
      </p:sp>
      <p:sp>
        <p:nvSpPr>
          <p:cNvPr id="3" name="Content Placeholder 2"/>
          <p:cNvSpPr>
            <a:spLocks noGrp="1"/>
          </p:cNvSpPr>
          <p:nvPr>
            <p:ph idx="1"/>
          </p:nvPr>
        </p:nvSpPr>
        <p:spPr>
          <a:xfrm>
            <a:off x="457200" y="1600200"/>
            <a:ext cx="8229600" cy="5029200"/>
          </a:xfrm>
        </p:spPr>
        <p:txBody>
          <a:bodyPr/>
          <a:lstStyle/>
          <a:p>
            <a:r>
              <a:rPr lang="ro-RO" b="1" dirty="0" smtClean="0"/>
              <a:t>Introducere: </a:t>
            </a:r>
            <a:r>
              <a:rPr lang="ro-RO" dirty="0" smtClean="0"/>
              <a:t>ce o să fac în acest eseu? De ce?</a:t>
            </a:r>
          </a:p>
          <a:p>
            <a:endParaRPr lang="ro-RO" dirty="0"/>
          </a:p>
          <a:p>
            <a:r>
              <a:rPr lang="ro-RO" b="1" dirty="0" smtClean="0"/>
              <a:t>Definirea termenilor: </a:t>
            </a:r>
            <a:r>
              <a:rPr lang="ro-RO" dirty="0" smtClean="0"/>
              <a:t>IA,  domeniul medical (= termen deja înțeles, DAR am nevoie de anumite limitări?) </a:t>
            </a:r>
          </a:p>
          <a:p>
            <a:endParaRPr lang="ro-RO" dirty="0"/>
          </a:p>
          <a:p>
            <a:r>
              <a:rPr lang="ro-RO" dirty="0" smtClean="0"/>
              <a:t>Cercetare: articole, cărți, interviuri, conferințe</a:t>
            </a:r>
          </a:p>
          <a:p>
            <a:r>
              <a:rPr lang="ro-RO" dirty="0" smtClean="0"/>
              <a:t>Unde? (NU WIKIPEDIA!!!!!!!) </a:t>
            </a:r>
            <a:endParaRPr lang="en-US" dirty="0"/>
          </a:p>
        </p:txBody>
      </p:sp>
    </p:spTree>
    <p:extLst>
      <p:ext uri="{BB962C8B-B14F-4D97-AF65-F5344CB8AC3E}">
        <p14:creationId xmlns:p14="http://schemas.microsoft.com/office/powerpoint/2010/main" val="25844453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Verificarea unei surse</a:t>
            </a:r>
            <a:endParaRPr lang="en-US" dirty="0"/>
          </a:p>
        </p:txBody>
      </p:sp>
      <p:sp>
        <p:nvSpPr>
          <p:cNvPr id="3" name="Content Placeholder 2"/>
          <p:cNvSpPr>
            <a:spLocks noGrp="1"/>
          </p:cNvSpPr>
          <p:nvPr>
            <p:ph idx="1"/>
          </p:nvPr>
        </p:nvSpPr>
        <p:spPr/>
        <p:txBody>
          <a:bodyPr/>
          <a:lstStyle/>
          <a:p>
            <a:r>
              <a:rPr lang="ro-RO" dirty="0" smtClean="0"/>
              <a:t>Verificarea informației: cel mai simplu e să căutați în 2-3 locuri respectiva informație, pentru a fi siguri că e corectă</a:t>
            </a:r>
          </a:p>
          <a:p>
            <a:r>
              <a:rPr lang="ro-RO" dirty="0" smtClean="0"/>
              <a:t>Evitați articolele non-științifice (de tip can-can)</a:t>
            </a:r>
          </a:p>
          <a:p>
            <a:r>
              <a:rPr lang="ro-RO" dirty="0" smtClean="0"/>
              <a:t>Evitați site-urile neverosimile </a:t>
            </a:r>
          </a:p>
          <a:p>
            <a:pPr marL="0" indent="0">
              <a:buNone/>
            </a:pPr>
            <a:endParaRPr lang="en-US" dirty="0"/>
          </a:p>
        </p:txBody>
      </p:sp>
    </p:spTree>
    <p:extLst>
      <p:ext uri="{BB962C8B-B14F-4D97-AF65-F5344CB8AC3E}">
        <p14:creationId xmlns:p14="http://schemas.microsoft.com/office/powerpoint/2010/main" val="33602721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dirty="0" smtClean="0"/>
              <a:t>Introducerea IA în domeniul medical</a:t>
            </a:r>
            <a:endParaRPr lang="en-US" dirty="0"/>
          </a:p>
        </p:txBody>
      </p:sp>
      <p:sp>
        <p:nvSpPr>
          <p:cNvPr id="3" name="Content Placeholder 2"/>
          <p:cNvSpPr>
            <a:spLocks noGrp="1"/>
          </p:cNvSpPr>
          <p:nvPr>
            <p:ph idx="1"/>
          </p:nvPr>
        </p:nvSpPr>
        <p:spPr/>
        <p:txBody>
          <a:bodyPr/>
          <a:lstStyle/>
          <a:p>
            <a:r>
              <a:rPr lang="ro-RO" dirty="0" smtClean="0"/>
              <a:t>Argument pro:</a:t>
            </a:r>
          </a:p>
          <a:p>
            <a:endParaRPr lang="ro-RO" dirty="0"/>
          </a:p>
          <a:p>
            <a:r>
              <a:rPr lang="ro-RO" dirty="0" smtClean="0"/>
              <a:t>Argument contra:</a:t>
            </a:r>
          </a:p>
          <a:p>
            <a:endParaRPr lang="ro-RO" dirty="0"/>
          </a:p>
          <a:p>
            <a:r>
              <a:rPr lang="ro-RO" dirty="0" smtClean="0"/>
              <a:t>Răspuns contraargument.</a:t>
            </a:r>
          </a:p>
          <a:p>
            <a:endParaRPr lang="ro-RO" dirty="0"/>
          </a:p>
          <a:p>
            <a:r>
              <a:rPr lang="ro-RO" dirty="0" smtClean="0"/>
              <a:t>Concluzii:</a:t>
            </a:r>
            <a:endParaRPr lang="en-US" dirty="0"/>
          </a:p>
        </p:txBody>
      </p:sp>
    </p:spTree>
    <p:extLst>
      <p:ext uri="{BB962C8B-B14F-4D97-AF65-F5344CB8AC3E}">
        <p14:creationId xmlns:p14="http://schemas.microsoft.com/office/powerpoint/2010/main" val="12924395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Evitați</a:t>
            </a:r>
            <a:endParaRPr lang="en-US" dirty="0"/>
          </a:p>
        </p:txBody>
      </p:sp>
      <p:sp>
        <p:nvSpPr>
          <p:cNvPr id="3" name="Content Placeholder 2"/>
          <p:cNvSpPr>
            <a:spLocks noGrp="1"/>
          </p:cNvSpPr>
          <p:nvPr>
            <p:ph idx="1"/>
          </p:nvPr>
        </p:nvSpPr>
        <p:spPr>
          <a:xfrm>
            <a:off x="457200" y="1600200"/>
            <a:ext cx="8382000" cy="5029200"/>
          </a:xfrm>
        </p:spPr>
        <p:txBody>
          <a:bodyPr/>
          <a:lstStyle/>
          <a:p>
            <a:r>
              <a:rPr lang="ro-RO" dirty="0" smtClean="0"/>
              <a:t>Generalizările pripite</a:t>
            </a:r>
          </a:p>
          <a:p>
            <a:r>
              <a:rPr lang="ro-RO" dirty="0" smtClean="0"/>
              <a:t>Stereotipurile</a:t>
            </a:r>
          </a:p>
          <a:p>
            <a:r>
              <a:rPr lang="ro-RO" dirty="0" smtClean="0"/>
              <a:t>Bifurcațiile</a:t>
            </a:r>
          </a:p>
          <a:p>
            <a:r>
              <a:rPr lang="ro-RO" dirty="0" smtClean="0"/>
              <a:t>Panta alunecoasă</a:t>
            </a:r>
          </a:p>
          <a:p>
            <a:r>
              <a:rPr lang="ro-RO" dirty="0" smtClean="0"/>
              <a:t>Citarea în afara contextului</a:t>
            </a:r>
          </a:p>
          <a:p>
            <a:r>
              <a:rPr lang="ro-RO" dirty="0" smtClean="0"/>
              <a:t>Argumentele evaluative nesusținute!</a:t>
            </a:r>
          </a:p>
          <a:p>
            <a:r>
              <a:rPr lang="ro-RO" dirty="0" smtClean="0"/>
              <a:t>Atacurile la persoană</a:t>
            </a:r>
          </a:p>
          <a:p>
            <a:pPr marL="0" indent="0">
              <a:buNone/>
            </a:pPr>
            <a:endParaRPr lang="en-US" dirty="0"/>
          </a:p>
        </p:txBody>
      </p:sp>
    </p:spTree>
    <p:extLst>
      <p:ext uri="{BB962C8B-B14F-4D97-AF65-F5344CB8AC3E}">
        <p14:creationId xmlns:p14="http://schemas.microsoft.com/office/powerpoint/2010/main" val="33307402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ro-RO" dirty="0" smtClean="0"/>
              <a:t>Dacă observați că teza inițială trebuie slăbită, nu ezitați să o faceți!</a:t>
            </a:r>
          </a:p>
          <a:p>
            <a:endParaRPr lang="ro-RO" dirty="0"/>
          </a:p>
          <a:p>
            <a:r>
              <a:rPr lang="ro-RO" dirty="0" smtClean="0"/>
              <a:t>Dacă cel mai puternic contraargument nu poate fi combătut în totalitate, încercați doar să îl slăbiți (arătați că nu e general, că nu se suține în totalitate, că nu e atât de aplicabil, etc)</a:t>
            </a:r>
            <a:endParaRPr lang="en-US" dirty="0"/>
          </a:p>
        </p:txBody>
      </p:sp>
    </p:spTree>
    <p:extLst>
      <p:ext uri="{BB962C8B-B14F-4D97-AF65-F5344CB8AC3E}">
        <p14:creationId xmlns:p14="http://schemas.microsoft.com/office/powerpoint/2010/main" val="5906351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Mult succes!</a:t>
            </a:r>
            <a:endParaRPr lang="en-US" dirty="0"/>
          </a:p>
        </p:txBody>
      </p:sp>
      <p:sp>
        <p:nvSpPr>
          <p:cNvPr id="3" name="Content Placeholder 2"/>
          <p:cNvSpPr>
            <a:spLocks noGrp="1"/>
          </p:cNvSpPr>
          <p:nvPr>
            <p:ph idx="1"/>
          </p:nvPr>
        </p:nvSpPr>
        <p:spPr/>
        <p:txBody>
          <a:bodyPr/>
          <a:lstStyle/>
          <a:p>
            <a:r>
              <a:rPr lang="ro-RO" dirty="0" smtClean="0"/>
              <a:t>Oricând aveți nelămuriri:</a:t>
            </a:r>
          </a:p>
          <a:p>
            <a:pPr marL="0" indent="0">
              <a:buNone/>
            </a:pPr>
            <a:r>
              <a:rPr lang="ro-RO" dirty="0" smtClean="0">
                <a:hlinkClick r:id="rId2"/>
              </a:rPr>
              <a:t>paulapompilia@yahoo.com</a:t>
            </a:r>
            <a:r>
              <a:rPr lang="ro-RO" dirty="0" smtClean="0"/>
              <a:t> </a:t>
            </a:r>
          </a:p>
          <a:p>
            <a:pPr marL="0" indent="0">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3124200"/>
            <a:ext cx="4762500" cy="3706090"/>
          </a:xfrm>
          <a:prstGeom prst="rect">
            <a:avLst/>
          </a:prstGeom>
        </p:spPr>
      </p:pic>
    </p:spTree>
    <p:extLst>
      <p:ext uri="{BB962C8B-B14F-4D97-AF65-F5344CB8AC3E}">
        <p14:creationId xmlns:p14="http://schemas.microsoft.com/office/powerpoint/2010/main" val="11398684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9D590126743D4393C709EC945A6BF9" ma:contentTypeVersion="2" ma:contentTypeDescription="Create a new document." ma:contentTypeScope="" ma:versionID="3fd8f9ad48887dd15c2655f439383f05">
  <xsd:schema xmlns:xsd="http://www.w3.org/2001/XMLSchema" xmlns:xs="http://www.w3.org/2001/XMLSchema" xmlns:p="http://schemas.microsoft.com/office/2006/metadata/properties" xmlns:ns2="a1ecb7db-cf33-47bc-bb3d-9cea59386585" targetNamespace="http://schemas.microsoft.com/office/2006/metadata/properties" ma:root="true" ma:fieldsID="74146b37bfb8eb2e698a148e17100a0b" ns2:_="">
    <xsd:import namespace="a1ecb7db-cf33-47bc-bb3d-9cea5938658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ecb7db-cf33-47bc-bb3d-9cea593865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3287F9-0B4F-4FAC-9303-414D11A35C9F}"/>
</file>

<file path=customXml/itemProps2.xml><?xml version="1.0" encoding="utf-8"?>
<ds:datastoreItem xmlns:ds="http://schemas.openxmlformats.org/officeDocument/2006/customXml" ds:itemID="{D65662E7-188C-41F1-962B-299B1E444890}"/>
</file>

<file path=customXml/itemProps3.xml><?xml version="1.0" encoding="utf-8"?>
<ds:datastoreItem xmlns:ds="http://schemas.openxmlformats.org/officeDocument/2006/customXml" ds:itemID="{7B9F808D-048F-4ED8-8F17-F820D417065D}"/>
</file>

<file path=docProps/app.xml><?xml version="1.0" encoding="utf-8"?>
<Properties xmlns="http://schemas.openxmlformats.org/officeDocument/2006/extended-properties" xmlns:vt="http://schemas.openxmlformats.org/officeDocument/2006/docPropsVTypes">
  <TotalTime>451</TotalTime>
  <Words>3913</Words>
  <Application>Microsoft Office PowerPoint</Application>
  <PresentationFormat>On-screen Show (4:3)</PresentationFormat>
  <Paragraphs>248</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Plagiatul</vt:lpstr>
      <vt:lpstr>Plagiatul</vt:lpstr>
      <vt:lpstr>PowerPoint Presentation</vt:lpstr>
      <vt:lpstr>PowerPoint Presentation</vt:lpstr>
      <vt:lpstr>PowerPoint Presentation</vt:lpstr>
      <vt:lpstr>Plagiat</vt:lpstr>
      <vt:lpstr>PowerPoint Presentation</vt:lpstr>
      <vt:lpstr>PowerPoint Presentation</vt:lpstr>
      <vt:lpstr>Autoplagiatul</vt:lpstr>
      <vt:lpstr>PowerPoint Presentation</vt:lpstr>
      <vt:lpstr>PowerPoint Presentation</vt:lpstr>
      <vt:lpstr> Plagiatul de tip copy-paste sau clonă  </vt:lpstr>
      <vt:lpstr>   Plagiatul prin citare parțială    </vt:lpstr>
      <vt:lpstr>  Plagiatul prin parafrazare    </vt:lpstr>
      <vt:lpstr>  Plagiatul prin mixare  </vt:lpstr>
      <vt:lpstr>  Plagiatul prin reciclare (autoplagiatul)  </vt:lpstr>
      <vt:lpstr>  Plagiatul hibrid  </vt:lpstr>
      <vt:lpstr>  Plagiatul prin confuzie  </vt:lpstr>
      <vt:lpstr>  Plagiatul mascat  </vt:lpstr>
      <vt:lpstr>  Plagiatul de tip agregat  </vt:lpstr>
      <vt:lpstr>PowerPoint Presentation</vt:lpstr>
      <vt:lpstr>PowerPoint Presentation</vt:lpstr>
      <vt:lpstr>De ce?</vt:lpstr>
      <vt:lpstr>PowerPoint Presentation</vt:lpstr>
      <vt:lpstr>PowerPoint Presentation</vt:lpstr>
      <vt:lpstr>PowerPoint Presentation</vt:lpstr>
      <vt:lpstr>PowerPoint Presentation</vt:lpstr>
      <vt:lpstr>PowerPoint Presentation</vt:lpstr>
      <vt:lpstr>Bibliografia</vt:lpstr>
      <vt:lpstr>PowerPoint Presentation</vt:lpstr>
      <vt:lpstr>Teze </vt:lpstr>
      <vt:lpstr>PowerPoint Presentation</vt:lpstr>
      <vt:lpstr>Introducerea IA în domeniul medical</vt:lpstr>
      <vt:lpstr>Verificarea unei surse</vt:lpstr>
      <vt:lpstr>Introducerea IA în domeniul medical</vt:lpstr>
      <vt:lpstr>Evitați</vt:lpstr>
      <vt:lpstr>PowerPoint Presentation</vt:lpstr>
      <vt:lpstr>Mult succes!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Plagiatul</dc:title>
  <dc:creator>ADMINX</dc:creator>
  <cp:lastModifiedBy>ADMINX</cp:lastModifiedBy>
  <cp:revision>9</cp:revision>
  <dcterms:created xsi:type="dcterms:W3CDTF">2020-11-23T16:28:28Z</dcterms:created>
  <dcterms:modified xsi:type="dcterms:W3CDTF">2020-11-24T11:42:06Z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0x010100239D590126743D4393C709EC945A6BF9</vt:lpwstr>
  </property>
</Properties>
</file>