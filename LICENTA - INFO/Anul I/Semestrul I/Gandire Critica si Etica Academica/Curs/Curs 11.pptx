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6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7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6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7" r:id="rId30"/>
    <p:sldId id="288" r:id="rId31"/>
    <p:sldId id="289" r:id="rId32"/>
    <p:sldId id="290" r:id="rId33"/>
    <p:sldId id="286" r:id="rId34"/>
    <p:sldId id="294" r:id="rId35"/>
    <p:sldId id="295" r:id="rId36"/>
    <p:sldId id="296" r:id="rId37"/>
    <p:sldId id="298" r:id="rId38"/>
    <p:sldId id="297" r:id="rId39"/>
    <p:sldId id="299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380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48" Type="http://schemas.openxmlformats.org/officeDocument/2006/relationships/customXml" Target="../customXml/item3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ustomXml" Target="../customXml/item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23E375-27E0-4D50-9E3C-6E3370633450}" type="datetimeFigureOut">
              <a:rPr lang="en-US" smtClean="0"/>
              <a:t>12/21/2020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A0C84-EE3F-4924-A9C0-51FF89CEA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056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4227175" y="-11796713"/>
            <a:ext cx="16656050" cy="124920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7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4227175" y="-11796713"/>
            <a:ext cx="16656050" cy="124920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1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4227175" y="-11796713"/>
            <a:ext cx="16656050" cy="124920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4227175" y="-11796713"/>
            <a:ext cx="16656050" cy="124920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9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4227175" y="-11796713"/>
            <a:ext cx="16656050" cy="124920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7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4227175" y="-11796713"/>
            <a:ext cx="16656050" cy="124920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1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4227175" y="-11796713"/>
            <a:ext cx="16656050" cy="124920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5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A92BC-34B7-48FA-AFAA-AC9CAF70B3EE}" type="datetimeFigureOut">
              <a:rPr lang="en-US" smtClean="0"/>
              <a:t>12/21/2020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F676E-0B4E-4785-92A5-21A9EBD63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342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A92BC-34B7-48FA-AFAA-AC9CAF70B3EE}" type="datetimeFigureOut">
              <a:rPr lang="en-US" smtClean="0"/>
              <a:t>12/21/2020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F676E-0B4E-4785-92A5-21A9EBD63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A92BC-34B7-48FA-AFAA-AC9CAF70B3EE}" type="datetimeFigureOut">
              <a:rPr lang="en-US" smtClean="0"/>
              <a:t>12/21/2020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F676E-0B4E-4785-92A5-21A9EBD63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297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A92BC-34B7-48FA-AFAA-AC9CAF70B3EE}" type="datetimeFigureOut">
              <a:rPr lang="en-US" smtClean="0"/>
              <a:t>12/21/2020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F676E-0B4E-4785-92A5-21A9EBD63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444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A92BC-34B7-48FA-AFAA-AC9CAF70B3EE}" type="datetimeFigureOut">
              <a:rPr lang="en-US" smtClean="0"/>
              <a:t>12/21/2020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F676E-0B4E-4785-92A5-21A9EBD63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17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A92BC-34B7-48FA-AFAA-AC9CAF70B3EE}" type="datetimeFigureOut">
              <a:rPr lang="en-US" smtClean="0"/>
              <a:t>12/21/2020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F676E-0B4E-4785-92A5-21A9EBD63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169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A92BC-34B7-48FA-AFAA-AC9CAF70B3EE}" type="datetimeFigureOut">
              <a:rPr lang="en-US" smtClean="0"/>
              <a:t>12/21/2020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F676E-0B4E-4785-92A5-21A9EBD63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086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A92BC-34B7-48FA-AFAA-AC9CAF70B3EE}" type="datetimeFigureOut">
              <a:rPr lang="en-US" smtClean="0"/>
              <a:t>12/21/2020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F676E-0B4E-4785-92A5-21A9EBD63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987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A92BC-34B7-48FA-AFAA-AC9CAF70B3EE}" type="datetimeFigureOut">
              <a:rPr lang="en-US" smtClean="0"/>
              <a:t>12/21/2020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F676E-0B4E-4785-92A5-21A9EBD63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895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A92BC-34B7-48FA-AFAA-AC9CAF70B3EE}" type="datetimeFigureOut">
              <a:rPr lang="en-US" smtClean="0"/>
              <a:t>12/21/2020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F676E-0B4E-4785-92A5-21A9EBD63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447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A92BC-34B7-48FA-AFAA-AC9CAF70B3EE}" type="datetimeFigureOut">
              <a:rPr lang="en-US" smtClean="0"/>
              <a:t>12/21/2020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F676E-0B4E-4785-92A5-21A9EBD63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0031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15313" cy="112871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15313" cy="4511675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14D01F-26C5-4DC9-9A53-66436F863346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06053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A92BC-34B7-48FA-AFAA-AC9CAF70B3EE}" type="datetimeFigureOut">
              <a:rPr lang="en-US" smtClean="0"/>
              <a:t>12/21/2020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2F676E-0B4E-4785-92A5-21A9EBD63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607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iffen.com/difference/Principal_vs_Principle" TargetMode="External"/><Relationship Id="rId2" Type="http://schemas.openxmlformats.org/officeDocument/2006/relationships/hyperlink" Target="http://www.diffen.com/difference/Their_vs_There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en.wikipedia.org/wiki/Profession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No</a:t>
            </a:r>
            <a:r>
              <a:rPr lang="ro-RO" dirty="0" smtClean="0"/>
              <a:t>țiuni de etică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RO" dirty="0" smtClean="0"/>
              <a:t>Curs 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469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dirty="0" smtClean="0"/>
              <a:t>Cum ați defini termenul „moral”?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1676400"/>
            <a:ext cx="4267200" cy="449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561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Acțiuni morale, imorale, amorale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7200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ro-RO" dirty="0" smtClean="0"/>
              <a:t>(1) Acțiuni morale = acțiuni ce realizează o cerință morală</a:t>
            </a:r>
          </a:p>
          <a:p>
            <a:pPr>
              <a:buNone/>
            </a:pPr>
            <a:r>
              <a:rPr lang="ro-RO" dirty="0" smtClean="0"/>
              <a:t>(2) Acțiuni imorale = acțiuni ce contravin cerințelor moralității</a:t>
            </a:r>
          </a:p>
          <a:p>
            <a:pPr>
              <a:buNone/>
            </a:pPr>
            <a:r>
              <a:rPr lang="ro-RO" dirty="0" smtClean="0"/>
              <a:t>(3) Acțiuni amorale = acțiuni ce nu sunt nici în categoria (1), nici în categoria (2).</a:t>
            </a:r>
          </a:p>
          <a:p>
            <a:pPr>
              <a:buNone/>
            </a:pPr>
            <a:endParaRPr lang="ro-RO" dirty="0" smtClean="0"/>
          </a:p>
          <a:p>
            <a:pPr>
              <a:buNone/>
            </a:pPr>
            <a:r>
              <a:rPr lang="ro-RO" b="1" dirty="0" smtClean="0"/>
              <a:t>Întrebări</a:t>
            </a:r>
            <a:r>
              <a:rPr lang="ro-RO" dirty="0" smtClean="0"/>
              <a:t>: </a:t>
            </a:r>
          </a:p>
          <a:p>
            <a:pPr>
              <a:buFontTx/>
              <a:buChar char="-"/>
            </a:pPr>
            <a:r>
              <a:rPr lang="ro-RO" dirty="0" smtClean="0"/>
              <a:t>Există acțiuni ce aparțin mai multor categorii?</a:t>
            </a:r>
          </a:p>
          <a:p>
            <a:pPr marL="0" indent="0">
              <a:buNone/>
            </a:pPr>
            <a:endParaRPr lang="ro-RO" dirty="0" smtClean="0"/>
          </a:p>
          <a:p>
            <a:pPr>
              <a:buNone/>
            </a:pPr>
            <a:r>
              <a:rPr lang="ro-RO" dirty="0" smtClean="0"/>
              <a:t>- Orice acțiune este parte a unui lanț cauzal: fac X pentru a face Y, fac Y pentru a face Z etc. Dacă o acțiune X este amorală (deschiderea laptop-ului), atunci o acțiune conectată cauzal (Y sau Z) poate căpăta valențe morale?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615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200"/>
            <a:ext cx="8915400" cy="67818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ro-RO" dirty="0" smtClean="0"/>
              <a:t>Bine/rău (moral/imoral), frumos/urât etc. = termeni evaluativi.</a:t>
            </a:r>
          </a:p>
          <a:p>
            <a:pPr>
              <a:buNone/>
            </a:pPr>
            <a:endParaRPr lang="ro-RO" dirty="0" smtClean="0"/>
          </a:p>
          <a:p>
            <a:pPr>
              <a:buNone/>
            </a:pPr>
            <a:r>
              <a:rPr lang="en-US" b="1" dirty="0" err="1" smtClean="0"/>
              <a:t>Ce</a:t>
            </a:r>
            <a:r>
              <a:rPr lang="en-US" b="1" dirty="0" smtClean="0"/>
              <a:t> </a:t>
            </a:r>
            <a:r>
              <a:rPr lang="en-US" b="1" dirty="0" err="1" smtClean="0"/>
              <a:t>lucruri</a:t>
            </a:r>
            <a:r>
              <a:rPr lang="en-US" b="1" dirty="0" smtClean="0"/>
              <a:t> pot </a:t>
            </a:r>
            <a:r>
              <a:rPr lang="en-US" b="1" dirty="0" err="1" smtClean="0"/>
              <a:t>fi</a:t>
            </a:r>
            <a:r>
              <a:rPr lang="en-US" b="1" dirty="0" smtClean="0"/>
              <a:t> morale </a:t>
            </a:r>
            <a:r>
              <a:rPr lang="en-US" b="1" dirty="0" err="1" smtClean="0"/>
              <a:t>sau</a:t>
            </a:r>
            <a:r>
              <a:rPr lang="en-US" b="1" dirty="0" smtClean="0"/>
              <a:t> </a:t>
            </a:r>
            <a:r>
              <a:rPr lang="en-US" b="1" dirty="0" err="1" smtClean="0"/>
              <a:t>imorale</a:t>
            </a:r>
            <a:r>
              <a:rPr lang="en-US" b="1" dirty="0" smtClean="0"/>
              <a:t>?</a:t>
            </a:r>
          </a:p>
          <a:p>
            <a:pPr>
              <a:buFontTx/>
              <a:buChar char="-"/>
            </a:pPr>
            <a:r>
              <a:rPr lang="ro-RO" dirty="0"/>
              <a:t>A</a:t>
            </a:r>
            <a:r>
              <a:rPr lang="en-US" dirty="0" smtClean="0"/>
              <a:t>c</a:t>
            </a:r>
            <a:r>
              <a:rPr lang="ro-RO" dirty="0" smtClean="0"/>
              <a:t>țiuni (acțiunea de a fura este imorală)</a:t>
            </a:r>
          </a:p>
          <a:p>
            <a:pPr>
              <a:buFontTx/>
              <a:buChar char="-"/>
            </a:pPr>
            <a:r>
              <a:rPr lang="ro-RO" dirty="0" smtClean="0"/>
              <a:t>Persoane (X este o persoană rea)</a:t>
            </a:r>
          </a:p>
          <a:p>
            <a:pPr>
              <a:buFontTx/>
              <a:buChar char="-"/>
            </a:pPr>
            <a:r>
              <a:rPr lang="ro-RO" dirty="0" smtClean="0"/>
              <a:t>Intenții (intenția de a fura)</a:t>
            </a:r>
          </a:p>
          <a:p>
            <a:pPr>
              <a:buFontTx/>
              <a:buChar char="-"/>
            </a:pPr>
            <a:endParaRPr lang="ro-RO" dirty="0" smtClean="0"/>
          </a:p>
          <a:p>
            <a:pPr>
              <a:buNone/>
            </a:pPr>
            <a:r>
              <a:rPr lang="ro-RO" b="1" dirty="0" smtClean="0"/>
              <a:t>Probleme</a:t>
            </a:r>
            <a:r>
              <a:rPr lang="ro-RO" dirty="0" smtClean="0"/>
              <a:t>:</a:t>
            </a:r>
          </a:p>
          <a:p>
            <a:pPr>
              <a:buFontTx/>
              <a:buChar char="-"/>
            </a:pPr>
            <a:r>
              <a:rPr lang="ro-RO" dirty="0" smtClean="0"/>
              <a:t>dacă o persoană are intenții imorale dar niciodată nu acționează conform acelor intenții (nu le dă curs), putem spune că este o persoană imorală?</a:t>
            </a:r>
          </a:p>
          <a:p>
            <a:pPr>
              <a:buFontTx/>
              <a:buChar char="-"/>
            </a:pPr>
            <a:r>
              <a:rPr lang="ro-RO" dirty="0" smtClean="0"/>
              <a:t>Unele acțiuni pot avea consecințe benefice (oprirea unui război etc.), deși intențiile cu care au fost realizate nu au fost bune. Vom spune că acele intenții sunt bune?</a:t>
            </a:r>
          </a:p>
          <a:p>
            <a:pPr>
              <a:buFontTx/>
              <a:buChar char="-"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281886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smtClean="0"/>
              <a:t>Termenii evaluativi sunt dependenți de o minte rațională? Sau ei există precum realitatea din jurul nostru (ex. Cum există copacul din fața ferestrei)?</a:t>
            </a:r>
          </a:p>
          <a:p>
            <a:endParaRPr lang="ro-RO" dirty="0"/>
          </a:p>
          <a:p>
            <a:r>
              <a:rPr lang="ro-RO" dirty="0" smtClean="0"/>
              <a:t>Termenii evaluativi sunt obiectivi?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512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 smtClean="0"/>
              <a:t>Wittgenstein - </a:t>
            </a:r>
            <a:r>
              <a:rPr lang="ro-RO" i="1" dirty="0" smtClean="0"/>
              <a:t>O conferință despre etică</a:t>
            </a:r>
            <a:r>
              <a:rPr lang="en-US" i="1" dirty="0" smtClean="0"/>
              <a:t/>
            </a:r>
            <a:br>
              <a:rPr lang="en-US" i="1" dirty="0" smtClean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1219200"/>
            <a:ext cx="4572000" cy="5257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1" y="1219200"/>
            <a:ext cx="4343399" cy="525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770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Etic</a:t>
            </a:r>
            <a:r>
              <a:rPr lang="ro-RO" dirty="0" smtClean="0"/>
              <a:t>ă vs. Morală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/>
          <a:lstStyle/>
          <a:p>
            <a:pPr algn="just"/>
            <a:r>
              <a:rPr lang="ro-RO" b="1" dirty="0" smtClean="0"/>
              <a:t>Etica </a:t>
            </a:r>
            <a:r>
              <a:rPr lang="ro-RO" dirty="0" smtClean="0"/>
              <a:t>și </a:t>
            </a:r>
            <a:r>
              <a:rPr lang="ro-RO" b="1" dirty="0" smtClean="0"/>
              <a:t>morala </a:t>
            </a:r>
            <a:r>
              <a:rPr lang="ro-RO" dirty="0" smtClean="0"/>
              <a:t>se referă la conduita</a:t>
            </a:r>
            <a:r>
              <a:rPr lang="en-US" dirty="0" smtClean="0"/>
              <a:t> “</a:t>
            </a:r>
            <a:r>
              <a:rPr lang="ro-RO" dirty="0" smtClean="0"/>
              <a:t>adecvată</a:t>
            </a:r>
            <a:r>
              <a:rPr lang="en-US" dirty="0" smtClean="0"/>
              <a:t>” </a:t>
            </a:r>
            <a:r>
              <a:rPr lang="ro-RO" dirty="0" smtClean="0"/>
              <a:t>și </a:t>
            </a:r>
            <a:r>
              <a:rPr lang="en-US" dirty="0" smtClean="0"/>
              <a:t>“</a:t>
            </a:r>
            <a:r>
              <a:rPr lang="ro-RO" dirty="0" smtClean="0"/>
              <a:t>inadecvată</a:t>
            </a:r>
            <a:r>
              <a:rPr lang="en-US" dirty="0" smtClean="0"/>
              <a:t>”. </a:t>
            </a:r>
            <a:endParaRPr lang="ro-RO" dirty="0" smtClean="0"/>
          </a:p>
          <a:p>
            <a:pPr algn="just"/>
            <a:r>
              <a:rPr lang="ro-RO" dirty="0" smtClean="0"/>
              <a:t>Chiar dacă uneori sunt folosite ca sinonime, există diferențe</a:t>
            </a:r>
            <a:r>
              <a:rPr lang="en-US" dirty="0" smtClean="0"/>
              <a:t>: </a:t>
            </a:r>
            <a:r>
              <a:rPr lang="ro-RO" b="1" dirty="0" smtClean="0"/>
              <a:t>etica </a:t>
            </a:r>
            <a:r>
              <a:rPr lang="ro-RO" dirty="0" smtClean="0"/>
              <a:t>se referă la </a:t>
            </a:r>
            <a:r>
              <a:rPr lang="ro-RO" dirty="0" smtClean="0">
                <a:solidFill>
                  <a:srgbClr val="FF0000"/>
                </a:solidFill>
              </a:rPr>
              <a:t>normele stabilite de o sursă externă</a:t>
            </a:r>
            <a:r>
              <a:rPr lang="en-US" dirty="0" smtClean="0"/>
              <a:t>, </a:t>
            </a:r>
            <a:r>
              <a:rPr lang="ro-RO" dirty="0" smtClean="0"/>
              <a:t>de ex.</a:t>
            </a:r>
            <a:r>
              <a:rPr lang="en-US" dirty="0" smtClean="0"/>
              <a:t>, </a:t>
            </a:r>
            <a:r>
              <a:rPr lang="ro-RO" dirty="0" smtClean="0"/>
              <a:t>codul de conduită la locul de muncă sau principiile diferitelor religii</a:t>
            </a:r>
            <a:r>
              <a:rPr lang="en-US" dirty="0" smtClean="0"/>
              <a:t>. </a:t>
            </a:r>
            <a:r>
              <a:rPr lang="ro-RO" b="1" dirty="0" smtClean="0"/>
              <a:t>Morala </a:t>
            </a:r>
            <a:r>
              <a:rPr lang="ro-RO" dirty="0" smtClean="0"/>
              <a:t>se referă la </a:t>
            </a:r>
            <a:r>
              <a:rPr lang="ro-RO" dirty="0" smtClean="0">
                <a:solidFill>
                  <a:srgbClr val="FF0000"/>
                </a:solidFill>
              </a:rPr>
              <a:t>propriile principii despre bine și rău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479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smtClean="0"/>
              <a:t>Etica reprezintă </a:t>
            </a:r>
            <a:r>
              <a:rPr lang="ro-RO" u="sng" dirty="0" smtClean="0">
                <a:solidFill>
                  <a:srgbClr val="0070C0"/>
                </a:solidFill>
              </a:rPr>
              <a:t>standardele externe </a:t>
            </a:r>
            <a:r>
              <a:rPr lang="ro-RO" dirty="0" smtClean="0"/>
              <a:t>stabilite de instituții, grupuri sau o </a:t>
            </a:r>
            <a:r>
              <a:rPr lang="ro-RO" dirty="0" smtClean="0">
                <a:solidFill>
                  <a:srgbClr val="0070C0"/>
                </a:solidFill>
                <a:hlinkClick r:id="rId2" tooltip="Their vs There"/>
              </a:rPr>
              <a:t>cultură</a:t>
            </a:r>
            <a:r>
              <a:rPr lang="ro-RO" dirty="0" smtClean="0"/>
              <a:t> din care face parte o anumită persoană</a:t>
            </a:r>
            <a:r>
              <a:rPr lang="en-US" dirty="0" smtClean="0"/>
              <a:t>.</a:t>
            </a:r>
            <a:endParaRPr lang="ro-RO" dirty="0" smtClean="0"/>
          </a:p>
          <a:p>
            <a:endParaRPr lang="ro-RO" dirty="0" smtClean="0"/>
          </a:p>
          <a:p>
            <a:r>
              <a:rPr lang="ro-RO" dirty="0" smtClean="0"/>
              <a:t>Morala este, de asemenea, influențată de </a:t>
            </a:r>
            <a:r>
              <a:rPr lang="ro-RO" u="sng" dirty="0" smtClean="0">
                <a:solidFill>
                  <a:srgbClr val="0070C0"/>
                </a:solidFill>
              </a:rPr>
              <a:t>cultură</a:t>
            </a:r>
            <a:r>
              <a:rPr lang="ro-RO" dirty="0" smtClean="0"/>
              <a:t> sau societate</a:t>
            </a:r>
            <a:r>
              <a:rPr lang="en-US" dirty="0" smtClean="0"/>
              <a:t>, </a:t>
            </a:r>
            <a:r>
              <a:rPr lang="ro-RO" dirty="0" smtClean="0"/>
              <a:t>însă reprezintă </a:t>
            </a:r>
            <a:r>
              <a:rPr lang="ro-RO" dirty="0" smtClean="0">
                <a:hlinkClick r:id="rId3" tooltip="Principal vs Principle"/>
              </a:rPr>
              <a:t>principiile</a:t>
            </a:r>
            <a:r>
              <a:rPr lang="ro-RO" dirty="0" smtClean="0"/>
              <a:t> personale create și susținute de fiecare persoană</a:t>
            </a:r>
            <a:r>
              <a:rPr lang="en-US" dirty="0" smtClean="0"/>
              <a:t>. </a:t>
            </a:r>
            <a:endParaRPr lang="en-US" dirty="0" smtClean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44586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613839"/>
              </p:ext>
            </p:extLst>
          </p:nvPr>
        </p:nvGraphicFramePr>
        <p:xfrm>
          <a:off x="381000" y="914400"/>
          <a:ext cx="8534400" cy="4610481"/>
        </p:xfrm>
        <a:graphic>
          <a:graphicData uri="http://schemas.openxmlformats.org/drawingml/2006/table">
            <a:tbl>
              <a:tblPr/>
              <a:tblGrid>
                <a:gridCol w="4075730"/>
                <a:gridCol w="4458670"/>
              </a:tblGrid>
              <a:tr h="588264">
                <a:tc>
                  <a:txBody>
                    <a:bodyPr/>
                    <a:lstStyle/>
                    <a:p>
                      <a:pPr marL="0"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2800" b="1" dirty="0" smtClean="0">
                          <a:solidFill>
                            <a:schemeClr val="tx2"/>
                          </a:solidFill>
                          <a:effectLst/>
                          <a:latin typeface="Droid Serif"/>
                        </a:rPr>
                        <a:t>Etică</a:t>
                      </a:r>
                      <a:endParaRPr lang="nb-NO" sz="2800" b="1" dirty="0">
                        <a:solidFill>
                          <a:schemeClr val="tx2"/>
                        </a:solidFill>
                        <a:effectLst/>
                        <a:latin typeface="Droid Serif"/>
                      </a:endParaRPr>
                    </a:p>
                  </a:txBody>
                  <a:tcPr marL="76200" marR="76200" marT="9525" marB="190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2800" b="1" dirty="0" smtClean="0">
                          <a:solidFill>
                            <a:schemeClr val="tx2"/>
                          </a:solidFill>
                          <a:effectLst/>
                          <a:latin typeface="Droid Serif"/>
                        </a:rPr>
                        <a:t>Morală</a:t>
                      </a:r>
                      <a:endParaRPr lang="nb-NO" sz="2800" b="1" dirty="0">
                        <a:solidFill>
                          <a:schemeClr val="tx2"/>
                        </a:solidFill>
                        <a:effectLst/>
                        <a:latin typeface="Droid Serif"/>
                      </a:endParaRPr>
                    </a:p>
                  </a:txBody>
                  <a:tcPr marL="76200" marR="76200" marT="9525" marB="190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3736">
                <a:tc>
                  <a:txBody>
                    <a:bodyPr/>
                    <a:lstStyle/>
                    <a:p>
                      <a:pPr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2800" dirty="0" smtClean="0">
                          <a:solidFill>
                            <a:schemeClr val="tx1"/>
                          </a:solidFill>
                          <a:effectLst/>
                        </a:rPr>
                        <a:t>Normele de conduită recunoscute privind o categorie specifică de acțiuni umane sau un anumit grup, ori o anumită cultură</a:t>
                      </a:r>
                      <a:r>
                        <a:rPr lang="en-US" sz="2800" dirty="0" smtClean="0">
                          <a:solidFill>
                            <a:schemeClr val="tx1"/>
                          </a:solidFill>
                          <a:effectLst/>
                        </a:rPr>
                        <a:t>. </a:t>
                      </a:r>
                    </a:p>
                    <a:p>
                      <a:pPr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o-RO" sz="280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80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2800" dirty="0" smtClean="0">
                          <a:solidFill>
                            <a:schemeClr val="tx1"/>
                          </a:solidFill>
                          <a:effectLst/>
                        </a:rPr>
                        <a:t>Sistem social </a:t>
                      </a:r>
                      <a:r>
                        <a:rPr lang="nb-NO" sz="2800" dirty="0" smtClean="0">
                          <a:solidFill>
                            <a:schemeClr val="tx1"/>
                          </a:solidFill>
                          <a:effectLst/>
                        </a:rPr>
                        <a:t>- </a:t>
                      </a:r>
                      <a:r>
                        <a:rPr lang="ro-RO" sz="2800" dirty="0" smtClean="0">
                          <a:solidFill>
                            <a:schemeClr val="tx1"/>
                          </a:solidFill>
                          <a:effectLst/>
                        </a:rPr>
                        <a:t>extern</a:t>
                      </a:r>
                      <a:endParaRPr lang="nb-NO" sz="2800" dirty="0" smtClean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5250" marR="95250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2800" dirty="0" smtClean="0">
                          <a:solidFill>
                            <a:schemeClr val="tx1"/>
                          </a:solidFill>
                          <a:effectLst/>
                        </a:rPr>
                        <a:t>Principii</a:t>
                      </a:r>
                      <a:r>
                        <a:rPr lang="ro-RO" sz="2800" baseline="0" dirty="0" smtClean="0">
                          <a:solidFill>
                            <a:schemeClr val="tx1"/>
                          </a:solidFill>
                          <a:effectLst/>
                        </a:rPr>
                        <a:t> sau uzanțe privind conduita adecvată sau inadecvată</a:t>
                      </a:r>
                      <a:r>
                        <a:rPr lang="en-US" sz="2800" dirty="0" smtClean="0">
                          <a:solidFill>
                            <a:schemeClr val="tx1"/>
                          </a:solidFill>
                          <a:effectLst/>
                        </a:rPr>
                        <a:t>. </a:t>
                      </a:r>
                      <a:r>
                        <a:rPr lang="ro-RO" sz="2800" dirty="0" smtClean="0">
                          <a:solidFill>
                            <a:schemeClr val="tx1"/>
                          </a:solidFill>
                          <a:effectLst/>
                        </a:rPr>
                        <a:t>În ultimă instanță, moralitatea</a:t>
                      </a:r>
                      <a:r>
                        <a:rPr lang="ro-RO" sz="2800" baseline="0" dirty="0" smtClean="0">
                          <a:solidFill>
                            <a:schemeClr val="tx1"/>
                          </a:solidFill>
                          <a:effectLst/>
                        </a:rPr>
                        <a:t> este busola personală care indică ce este corect și ce este greșit</a:t>
                      </a:r>
                      <a:r>
                        <a:rPr lang="en-US" sz="2800" dirty="0" smtClean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ro-RO" sz="280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80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smtClean="0">
                          <a:solidFill>
                            <a:schemeClr val="tx1"/>
                          </a:solidFill>
                          <a:effectLst/>
                        </a:rPr>
                        <a:t>Individual – </a:t>
                      </a:r>
                      <a:r>
                        <a:rPr lang="ro-RO" sz="2800" dirty="0" smtClean="0">
                          <a:solidFill>
                            <a:schemeClr val="tx1"/>
                          </a:solidFill>
                          <a:effectLst/>
                        </a:rPr>
                        <a:t>intern</a:t>
                      </a:r>
                      <a:endParaRPr lang="en-US" sz="2800" dirty="0" smtClean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5250" marR="95250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7333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smtClean="0"/>
              <a:t>Care norme sunt mai importante? Cele stabilite intern sau cele stabilite extern?</a:t>
            </a:r>
          </a:p>
          <a:p>
            <a:r>
              <a:rPr lang="ro-RO" dirty="0" smtClean="0"/>
              <a:t>De ce?</a:t>
            </a:r>
          </a:p>
          <a:p>
            <a:r>
              <a:rPr lang="ro-RO" dirty="0" smtClean="0"/>
              <a:t>Puteți da câteva exemple?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215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 fontScale="90000"/>
          </a:bodyPr>
          <a:lstStyle/>
          <a:p>
            <a:r>
              <a:rPr lang="ro-RO" b="1" dirty="0" smtClean="0">
                <a:solidFill>
                  <a:schemeClr val="tx2"/>
                </a:solidFill>
              </a:rPr>
              <a:t>Conflicte între etică și morală</a:t>
            </a:r>
            <a:r>
              <a:rPr lang="en-US" b="1" dirty="0" smtClean="0">
                <a:solidFill>
                  <a:schemeClr val="tx2"/>
                </a:solidFill>
              </a:rPr>
              <a:t/>
            </a:r>
            <a:br>
              <a:rPr lang="en-US" b="1" dirty="0" smtClean="0">
                <a:solidFill>
                  <a:schemeClr val="tx2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382000" cy="5562600"/>
          </a:xfrm>
        </p:spPr>
        <p:txBody>
          <a:bodyPr>
            <a:normAutofit fontScale="85000" lnSpcReduction="10000"/>
          </a:bodyPr>
          <a:lstStyle/>
          <a:p>
            <a:pPr algn="ctr"/>
            <a:endParaRPr lang="en-US" sz="1400" b="1" dirty="0" smtClean="0">
              <a:solidFill>
                <a:schemeClr val="tx2"/>
              </a:solidFill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ro-RO" dirty="0" smtClean="0"/>
              <a:t>Un exemplu de conflict între etică și morală constă în activitatea avocatului apărării</a:t>
            </a:r>
            <a:r>
              <a:rPr lang="en-US" dirty="0" smtClean="0"/>
              <a:t>. </a:t>
            </a:r>
            <a:r>
              <a:rPr lang="ro-RO" dirty="0" smtClean="0"/>
              <a:t>Morala sa îi poate dicta că </a:t>
            </a:r>
            <a:r>
              <a:rPr lang="ro-RO" dirty="0" smtClean="0">
                <a:hlinkClick r:id="rId2" tooltip="http://en.wikipedia.org/wiki/Profession"/>
              </a:rPr>
              <a:t>omorul</a:t>
            </a:r>
            <a:r>
              <a:rPr lang="ro-RO" dirty="0" smtClean="0"/>
              <a:t> este reprobabil, iar criminalii ar trebui pedepsiți</a:t>
            </a:r>
            <a:r>
              <a:rPr lang="en-US" dirty="0" smtClean="0"/>
              <a:t>, </a:t>
            </a:r>
            <a:r>
              <a:rPr lang="ro-RO" dirty="0" smtClean="0"/>
              <a:t>însă etica sa profesională de avocat îi dictează să își apere clientul depunând toate diligențele necesare.</a:t>
            </a:r>
            <a:r>
              <a:rPr lang="en-US" dirty="0" smtClean="0"/>
              <a:t> </a:t>
            </a:r>
            <a:r>
              <a:rPr lang="ro-RO" i="1" dirty="0"/>
              <a:t>C</a:t>
            </a:r>
            <a:r>
              <a:rPr lang="ro-RO" i="1" dirty="0" smtClean="0"/>
              <a:t>hiar dacă știe că acesta este vinovat</a:t>
            </a:r>
            <a:r>
              <a:rPr lang="en-US" i="1" dirty="0" smtClean="0"/>
              <a:t>?</a:t>
            </a:r>
            <a:r>
              <a:rPr lang="en-US" dirty="0" smtClean="0"/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400" dirty="0" smtClean="0"/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ro-RO" dirty="0" smtClean="0"/>
              <a:t>Un alt exemplu, din domeniul medical</a:t>
            </a:r>
            <a:r>
              <a:rPr lang="en-US" dirty="0" smtClean="0"/>
              <a:t>. </a:t>
            </a:r>
            <a:r>
              <a:rPr lang="ro-RO" dirty="0" smtClean="0"/>
              <a:t>În cele mai multe țări ale lumii, medicul nu poate eutanasia un pacient, nici la solicitarea acestuia</a:t>
            </a:r>
            <a:r>
              <a:rPr lang="en-US" dirty="0" smtClean="0"/>
              <a:t>, </a:t>
            </a:r>
            <a:r>
              <a:rPr lang="ro-RO" dirty="0" smtClean="0"/>
              <a:t>conform standardelor eticii profesionale</a:t>
            </a:r>
            <a:r>
              <a:rPr lang="en-US" dirty="0" smtClean="0"/>
              <a:t>. </a:t>
            </a:r>
            <a:r>
              <a:rPr lang="ro-RO" dirty="0" smtClean="0"/>
              <a:t>Cu toate acestea</a:t>
            </a:r>
            <a:r>
              <a:rPr lang="en-US" dirty="0" smtClean="0"/>
              <a:t>, </a:t>
            </a:r>
            <a:r>
              <a:rPr lang="ro-RO" dirty="0" smtClean="0"/>
              <a:t>același medic poate avea convingerea </a:t>
            </a:r>
            <a:r>
              <a:rPr lang="ro-RO" i="1" dirty="0" smtClean="0"/>
              <a:t>personală </a:t>
            </a:r>
            <a:r>
              <a:rPr lang="ro-RO" dirty="0" smtClean="0"/>
              <a:t>că este dreptul pacientului să moară în conformitate cu propria moralitate</a:t>
            </a:r>
            <a:r>
              <a:rPr lang="en-US" dirty="0" smtClean="0"/>
              <a:t>. </a:t>
            </a:r>
            <a:endParaRPr lang="en-US" dirty="0" smtClean="0">
              <a:effectLst/>
            </a:endParaRPr>
          </a:p>
          <a:p>
            <a:pPr marL="0" indent="0" algn="r" defTabSz="422041">
              <a:buNone/>
            </a:pPr>
            <a:r>
              <a:rPr lang="ro-RO" dirty="0" smtClean="0"/>
              <a:t>(Exemple preluate din </a:t>
            </a:r>
            <a:r>
              <a:rPr lang="en-US" b="1" dirty="0" smtClean="0"/>
              <a:t>“</a:t>
            </a:r>
            <a:r>
              <a:rPr lang="ro-RO" b="1" dirty="0" smtClean="0"/>
              <a:t>Etică și morală</a:t>
            </a:r>
            <a:r>
              <a:rPr lang="en-US" b="1" dirty="0" smtClean="0"/>
              <a:t>”</a:t>
            </a:r>
            <a:r>
              <a:rPr lang="ro-RO" b="1" dirty="0" smtClean="0"/>
              <a:t> - </a:t>
            </a:r>
            <a:r>
              <a:rPr lang="nb-NO" b="1" dirty="0" smtClean="0"/>
              <a:t>Iver Huitfeldt </a:t>
            </a:r>
            <a:r>
              <a:rPr lang="ro-RO" sz="2800" b="1" dirty="0" smtClean="0"/>
              <a:t>)</a:t>
            </a:r>
            <a:endParaRPr lang="nb-NO" sz="2800" b="1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475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Ce părere aveți?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smtClean="0"/>
              <a:t>Omul este bun la naștere – natura umană este bună.</a:t>
            </a:r>
          </a:p>
          <a:p>
            <a:r>
              <a:rPr lang="ro-RO" dirty="0" smtClean="0"/>
              <a:t>Omul este rău la naștere – natura umană este rea</a:t>
            </a:r>
          </a:p>
          <a:p>
            <a:endParaRPr lang="ro-RO" dirty="0"/>
          </a:p>
          <a:p>
            <a:r>
              <a:rPr lang="ro-RO" dirty="0" smtClean="0"/>
              <a:t>Argumentați-vă punctul de vedere.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819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096000"/>
          </a:xfrm>
        </p:spPr>
        <p:txBody>
          <a:bodyPr>
            <a:normAutofit/>
          </a:bodyPr>
          <a:lstStyle/>
          <a:p>
            <a:pPr algn="just"/>
            <a:r>
              <a:rPr lang="ro-RO" dirty="0" smtClean="0"/>
              <a:t>Oamenii fac în mod natural ceea ce este bine</a:t>
            </a:r>
            <a:r>
              <a:rPr lang="en-US" dirty="0" smtClean="0"/>
              <a:t>, </a:t>
            </a:r>
            <a:r>
              <a:rPr lang="ro-RO" dirty="0" smtClean="0"/>
              <a:t>dacă știu ce e corect</a:t>
            </a:r>
            <a:r>
              <a:rPr lang="en-US" dirty="0" smtClean="0"/>
              <a:t>. </a:t>
            </a:r>
            <a:r>
              <a:rPr lang="ro-RO" dirty="0" smtClean="0"/>
              <a:t>Acțiunile greșite sau răul sunt rezultatul ignoranței</a:t>
            </a:r>
            <a:r>
              <a:rPr lang="en-US" dirty="0" smtClean="0"/>
              <a:t>. </a:t>
            </a:r>
            <a:r>
              <a:rPr lang="ro-RO" dirty="0" smtClean="0"/>
              <a:t>Dacă un criminal ar fi cu adevărat conștient de consecințele spirituale și intelectuale ale acțiunilor sale</a:t>
            </a:r>
            <a:r>
              <a:rPr lang="en-US" dirty="0" smtClean="0"/>
              <a:t>, </a:t>
            </a:r>
            <a:r>
              <a:rPr lang="ro-RO" dirty="0" smtClean="0"/>
              <a:t>nu ar mai comite, nici măcar nu s-ar mai gândi să comită acele acțiuni</a:t>
            </a:r>
            <a:r>
              <a:rPr lang="en-US" dirty="0" smtClean="0"/>
              <a:t>. </a:t>
            </a:r>
            <a:r>
              <a:rPr lang="ro-RO" dirty="0" smtClean="0"/>
              <a:t>Omul cu adevărat înțelept știe ce este corect, face ce este bine, prin urmare, este fericit.</a:t>
            </a:r>
          </a:p>
          <a:p>
            <a:pPr marL="0" indent="0" algn="r">
              <a:buNone/>
            </a:pPr>
            <a:r>
              <a:rPr lang="en-US" b="1" dirty="0" smtClean="0"/>
              <a:t>“</a:t>
            </a:r>
            <a:r>
              <a:rPr lang="ro-RO" b="1" dirty="0" smtClean="0"/>
              <a:t>Etică și morală</a:t>
            </a:r>
            <a:r>
              <a:rPr lang="en-US" b="1" dirty="0" smtClean="0"/>
              <a:t>”</a:t>
            </a:r>
            <a:r>
              <a:rPr lang="ro-RO" b="1" dirty="0" smtClean="0"/>
              <a:t> - </a:t>
            </a:r>
            <a:r>
              <a:rPr lang="nb-NO" b="1" dirty="0" smtClean="0"/>
              <a:t>Iver Huitfeldt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571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Principii, valori și reguli morale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o-RO" b="1" dirty="0" smtClean="0">
                <a:latin typeface="+mj-lt"/>
              </a:rPr>
              <a:t>Principiu</a:t>
            </a:r>
            <a:r>
              <a:rPr lang="ro-RO" dirty="0" smtClean="0">
                <a:latin typeface="+mj-lt"/>
              </a:rPr>
              <a:t>: </a:t>
            </a:r>
            <a:r>
              <a:rPr lang="vi-VN" dirty="0" smtClean="0">
                <a:latin typeface="Calibri" pitchFamily="34" charset="0"/>
              </a:rPr>
              <a:t>Tratează </a:t>
            </a:r>
            <a:r>
              <a:rPr lang="vi-VN" dirty="0">
                <a:latin typeface="Calibri" pitchFamily="34" charset="0"/>
              </a:rPr>
              <a:t>umanitatea, atât în persoana </a:t>
            </a:r>
            <a:r>
              <a:rPr lang="vi-VN" dirty="0" smtClean="0">
                <a:latin typeface="Calibri" pitchFamily="34" charset="0"/>
              </a:rPr>
              <a:t>ta</a:t>
            </a:r>
            <a:r>
              <a:rPr lang="ro-RO" dirty="0" smtClean="0">
                <a:latin typeface="Calibri" pitchFamily="34" charset="0"/>
              </a:rPr>
              <a:t>,</a:t>
            </a:r>
            <a:r>
              <a:rPr lang="vi-VN" dirty="0" smtClean="0">
                <a:latin typeface="Calibri" pitchFamily="34" charset="0"/>
              </a:rPr>
              <a:t> </a:t>
            </a:r>
            <a:r>
              <a:rPr lang="vi-VN" dirty="0">
                <a:latin typeface="Calibri" pitchFamily="34" charset="0"/>
              </a:rPr>
              <a:t>cât și în persoana altora, întotdeauna </a:t>
            </a:r>
            <a:r>
              <a:rPr lang="ro-RO" dirty="0" smtClean="0">
                <a:latin typeface="Calibri" pitchFamily="34" charset="0"/>
              </a:rPr>
              <a:t>ca </a:t>
            </a:r>
            <a:r>
              <a:rPr lang="vi-VN" dirty="0" smtClean="0">
                <a:latin typeface="Calibri" pitchFamily="34" charset="0"/>
              </a:rPr>
              <a:t>scop </a:t>
            </a:r>
            <a:r>
              <a:rPr lang="vi-VN" dirty="0">
                <a:latin typeface="Calibri" pitchFamily="34" charset="0"/>
              </a:rPr>
              <a:t>în </a:t>
            </a:r>
            <a:r>
              <a:rPr lang="vi-VN" dirty="0" smtClean="0">
                <a:latin typeface="Calibri" pitchFamily="34" charset="0"/>
              </a:rPr>
              <a:t>sine </a:t>
            </a:r>
            <a:r>
              <a:rPr lang="vi-VN" dirty="0">
                <a:latin typeface="Calibri" pitchFamily="34" charset="0"/>
              </a:rPr>
              <a:t>și niciodată doar ca mijloc.</a:t>
            </a:r>
            <a:r>
              <a:rPr lang="vi-VN" dirty="0">
                <a:latin typeface="+mj-lt"/>
              </a:rPr>
              <a:t> </a:t>
            </a:r>
            <a:endParaRPr lang="ro-RO" dirty="0" smtClean="0">
              <a:latin typeface="+mj-lt"/>
            </a:endParaRPr>
          </a:p>
          <a:p>
            <a:pPr>
              <a:buNone/>
            </a:pPr>
            <a:r>
              <a:rPr lang="ro-RO" dirty="0" smtClean="0">
                <a:latin typeface="+mj-lt"/>
              </a:rPr>
              <a:t>-  O propoziție generală (cuantificată universal).</a:t>
            </a:r>
          </a:p>
          <a:p>
            <a:pPr>
              <a:buFontTx/>
              <a:buChar char="-"/>
            </a:pPr>
            <a:r>
              <a:rPr lang="ro-RO" dirty="0" smtClean="0">
                <a:latin typeface="+mj-lt"/>
              </a:rPr>
              <a:t>Un ghid pentru acțiune.</a:t>
            </a:r>
          </a:p>
          <a:p>
            <a:pPr>
              <a:buFontTx/>
              <a:buChar char="-"/>
            </a:pPr>
            <a:endParaRPr lang="ro-RO" dirty="0" smtClean="0">
              <a:latin typeface="+mj-lt"/>
            </a:endParaRPr>
          </a:p>
          <a:p>
            <a:pPr>
              <a:buNone/>
            </a:pPr>
            <a:r>
              <a:rPr lang="ro-RO" b="1" dirty="0" smtClean="0">
                <a:latin typeface="+mj-lt"/>
              </a:rPr>
              <a:t>Problemă</a:t>
            </a:r>
            <a:r>
              <a:rPr lang="ro-RO" dirty="0" smtClean="0">
                <a:latin typeface="+mj-lt"/>
              </a:rPr>
              <a:t>: Nu ne spune cu precizie ce trebuie să facem.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819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Principii, valori și reguli morale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ro-RO" b="1" dirty="0" smtClean="0"/>
              <a:t>Valoare morală</a:t>
            </a:r>
            <a:r>
              <a:rPr lang="en-US" dirty="0" smtClean="0"/>
              <a:t>: </a:t>
            </a:r>
            <a:r>
              <a:rPr lang="en-US" dirty="0" err="1" smtClean="0"/>
              <a:t>Libertatea</a:t>
            </a:r>
            <a:r>
              <a:rPr lang="en-US" dirty="0" smtClean="0"/>
              <a:t> </a:t>
            </a:r>
            <a:r>
              <a:rPr lang="en-US" dirty="0" err="1" smtClean="0"/>
              <a:t>este</a:t>
            </a:r>
            <a:r>
              <a:rPr lang="en-US" dirty="0" smtClean="0"/>
              <a:t> o </a:t>
            </a:r>
            <a:r>
              <a:rPr lang="en-US" dirty="0" err="1" smtClean="0"/>
              <a:t>valoare</a:t>
            </a:r>
            <a:r>
              <a:rPr lang="en-US" dirty="0" smtClean="0"/>
              <a:t> </a:t>
            </a:r>
            <a:r>
              <a:rPr lang="en-US" dirty="0" err="1" smtClean="0"/>
              <a:t>importan</a:t>
            </a:r>
            <a:r>
              <a:rPr lang="ro-RO" dirty="0" smtClean="0"/>
              <a:t>tă a vieții academice.</a:t>
            </a:r>
          </a:p>
          <a:p>
            <a:pPr>
              <a:buFontTx/>
              <a:buChar char="-"/>
            </a:pPr>
            <a:r>
              <a:rPr lang="ro-RO" dirty="0" smtClean="0"/>
              <a:t>Deci: o acțiune care atentează la libertatea membrilor comunității academice este imorală.</a:t>
            </a:r>
          </a:p>
          <a:p>
            <a:pPr>
              <a:buFontTx/>
              <a:buChar char="-"/>
            </a:pPr>
            <a:endParaRPr lang="ro-RO" dirty="0" smtClean="0"/>
          </a:p>
          <a:p>
            <a:pPr>
              <a:buNone/>
            </a:pPr>
            <a:r>
              <a:rPr lang="ro-RO" b="1" dirty="0" smtClean="0"/>
              <a:t>Observație</a:t>
            </a:r>
            <a:r>
              <a:rPr lang="ro-RO" dirty="0" smtClean="0"/>
              <a:t>: Principiile fac referire la valori (=libertatea, egalitatea etc.)</a:t>
            </a:r>
          </a:p>
          <a:p>
            <a:pPr>
              <a:buFontTx/>
              <a:buChar char="-"/>
            </a:pPr>
            <a:endParaRPr lang="ro-RO" dirty="0" smtClean="0"/>
          </a:p>
          <a:p>
            <a:pPr>
              <a:buNone/>
            </a:pPr>
            <a:r>
              <a:rPr lang="ro-RO" b="1" dirty="0" smtClean="0"/>
              <a:t>Problemă</a:t>
            </a:r>
            <a:r>
              <a:rPr lang="ro-RO" dirty="0" smtClean="0"/>
              <a:t>: Dar obținem un algoritm care să ne spună ce acțiuni sunt morale, ce acțiuni sunt imorale? Știm ce trebuie să facem și ce trebuie să nu facem?</a:t>
            </a:r>
          </a:p>
        </p:txBody>
      </p:sp>
    </p:spTree>
    <p:extLst>
      <p:ext uri="{BB962C8B-B14F-4D97-AF65-F5344CB8AC3E}">
        <p14:creationId xmlns:p14="http://schemas.microsoft.com/office/powerpoint/2010/main" val="2223375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Principii, valori și reguli morale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ro-RO" b="1" dirty="0" smtClean="0"/>
              <a:t>Regulă morală </a:t>
            </a:r>
            <a:r>
              <a:rPr lang="en-US" dirty="0" smtClean="0"/>
              <a:t>:</a:t>
            </a:r>
            <a:r>
              <a:rPr lang="ro-RO" dirty="0" smtClean="0"/>
              <a:t> Să nu furi!</a:t>
            </a:r>
          </a:p>
          <a:p>
            <a:pPr>
              <a:buFontTx/>
              <a:buChar char="-"/>
            </a:pPr>
            <a:r>
              <a:rPr lang="ro-RO" dirty="0" smtClean="0"/>
              <a:t>Spre deosebire de cazurile de mai sus, în acest caz ni se spune exact ce să (nu) facem!</a:t>
            </a:r>
          </a:p>
          <a:p>
            <a:pPr>
              <a:buFontTx/>
              <a:buChar char="-"/>
            </a:pPr>
            <a:r>
              <a:rPr lang="ro-RO" dirty="0" smtClean="0"/>
              <a:t>Ce nu știm, în genere, atunci când vorbim despre reguli morale: </a:t>
            </a:r>
          </a:p>
          <a:p>
            <a:pPr marL="514350" indent="-514350">
              <a:buAutoNum type="alphaLcParenBoth"/>
            </a:pPr>
            <a:r>
              <a:rPr lang="ro-RO" dirty="0"/>
              <a:t>Î</a:t>
            </a:r>
            <a:r>
              <a:rPr lang="ro-RO" dirty="0" smtClean="0"/>
              <a:t>n ce context trebuie să aplicăm o regulă? </a:t>
            </a:r>
          </a:p>
          <a:p>
            <a:pPr marL="514350" indent="-514350">
              <a:buAutoNum type="alphaLcParenBoth"/>
            </a:pPr>
            <a:r>
              <a:rPr lang="ro-RO" dirty="0" smtClean="0"/>
              <a:t>Chiar este justificată (întemeiată) regula?</a:t>
            </a:r>
          </a:p>
          <a:p>
            <a:pPr marL="514350" indent="-514350">
              <a:buAutoNum type="alphaLcParenBoth"/>
            </a:pPr>
            <a:endParaRPr lang="ro-RO" dirty="0"/>
          </a:p>
          <a:p>
            <a:pPr marL="514350" indent="-514350">
              <a:buNone/>
            </a:pPr>
            <a:r>
              <a:rPr lang="ro-RO" dirty="0" smtClean="0"/>
              <a:t>Chiar dacă X este o regulă care ne spune ce este bine să facem, cum știm dacă regula respectivă este bună?</a:t>
            </a:r>
          </a:p>
          <a:p>
            <a:pPr marL="514350" indent="-514350">
              <a:buNone/>
            </a:pPr>
            <a:r>
              <a:rPr lang="ro-RO" dirty="0" smtClean="0"/>
              <a:t>Adică: who watches the watchmen?</a:t>
            </a:r>
          </a:p>
          <a:p>
            <a:pPr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432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248400"/>
          </a:xfrm>
        </p:spPr>
        <p:txBody>
          <a:bodyPr/>
          <a:lstStyle/>
          <a:p>
            <a:r>
              <a:rPr lang="ro-RO" dirty="0" smtClean="0"/>
              <a:t>Sunt etica și religia același lucru? Sau au același scop?</a:t>
            </a:r>
          </a:p>
          <a:p>
            <a:endParaRPr lang="ro-RO" dirty="0"/>
          </a:p>
          <a:p>
            <a:r>
              <a:rPr lang="ro-RO" dirty="0" smtClean="0"/>
              <a:t>Dar etica și legalitatea?</a:t>
            </a:r>
          </a:p>
          <a:p>
            <a:endParaRPr lang="ro-RO" dirty="0"/>
          </a:p>
          <a:p>
            <a:r>
              <a:rPr lang="ro-RO" dirty="0" smtClean="0"/>
              <a:t>Între un sistem etic și unul legal care are sfera mai largă? Tot ce este moral este și legal? Tot ce este legal este și moral?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711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Cum analizăm o problemă etică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ro-RO" dirty="0" smtClean="0"/>
              <a:t>Cum evaluăm moral o situație?</a:t>
            </a:r>
          </a:p>
          <a:p>
            <a:pPr>
              <a:buFontTx/>
              <a:buChar char="-"/>
            </a:pPr>
            <a:endParaRPr lang="ro-RO" dirty="0" smtClean="0"/>
          </a:p>
          <a:p>
            <a:pPr>
              <a:buNone/>
            </a:pPr>
            <a:r>
              <a:rPr lang="ro-RO" sz="3800" b="1" dirty="0" smtClean="0"/>
              <a:t>(1) </a:t>
            </a:r>
            <a:r>
              <a:rPr lang="ro-RO" sz="3800" dirty="0" smtClean="0"/>
              <a:t>Ne vedem adeseori în postura de a ne folosi </a:t>
            </a:r>
            <a:r>
              <a:rPr lang="ro-RO" sz="3800" b="1" dirty="0" smtClean="0"/>
              <a:t>intuițiile morale.</a:t>
            </a:r>
          </a:p>
          <a:p>
            <a:pPr>
              <a:buNone/>
            </a:pPr>
            <a:endParaRPr lang="ro-RO" dirty="0"/>
          </a:p>
          <a:p>
            <a:pPr>
              <a:buNone/>
            </a:pPr>
            <a:r>
              <a:rPr lang="ro-RO" dirty="0" smtClean="0"/>
              <a:t> </a:t>
            </a:r>
            <a:r>
              <a:rPr lang="ro-RO" b="1" dirty="0" smtClean="0"/>
              <a:t>Exemple: </a:t>
            </a:r>
            <a:r>
              <a:rPr lang="ro-RO" dirty="0" smtClean="0"/>
              <a:t>canibalismul.</a:t>
            </a:r>
            <a:endParaRPr lang="ro-RO" b="1" dirty="0" smtClean="0"/>
          </a:p>
          <a:p>
            <a:pPr>
              <a:buNone/>
            </a:pPr>
            <a:endParaRPr lang="ro-RO" dirty="0" smtClean="0"/>
          </a:p>
          <a:p>
            <a:pPr>
              <a:buNone/>
            </a:pPr>
            <a:r>
              <a:rPr lang="ro-RO" b="1" dirty="0" smtClean="0"/>
              <a:t>Problemă</a:t>
            </a:r>
            <a:r>
              <a:rPr lang="ro-RO" dirty="0" smtClean="0"/>
              <a:t>: adeseori, intuițiile morale sunt influențate de factori irelevanți moral (spre exemplu: gusturi, preferințe, reacții emoționale).</a:t>
            </a:r>
          </a:p>
          <a:p>
            <a:pPr>
              <a:buNone/>
            </a:pPr>
            <a:endParaRPr lang="ro-RO" dirty="0"/>
          </a:p>
          <a:p>
            <a:pPr>
              <a:buNone/>
            </a:pPr>
            <a:r>
              <a:rPr lang="ro-RO" sz="3800" b="1" dirty="0" smtClean="0"/>
              <a:t>(2) </a:t>
            </a:r>
            <a:r>
              <a:rPr lang="ro-RO" sz="3800" dirty="0" smtClean="0"/>
              <a:t>Apelăm la reguli (imperative) intuitive de tipul: </a:t>
            </a:r>
            <a:r>
              <a:rPr lang="en-US" sz="3800" dirty="0" smtClean="0"/>
              <a:t>“s</a:t>
            </a:r>
            <a:r>
              <a:rPr lang="ro-RO" sz="3800" dirty="0" smtClean="0"/>
              <a:t>ă nu minți</a:t>
            </a:r>
            <a:r>
              <a:rPr lang="en-US" sz="3800" dirty="0" smtClean="0"/>
              <a:t>”</a:t>
            </a:r>
            <a:r>
              <a:rPr lang="ro-RO" sz="3800" dirty="0" smtClean="0"/>
              <a:t> etc.</a:t>
            </a:r>
          </a:p>
          <a:p>
            <a:pPr>
              <a:buNone/>
            </a:pPr>
            <a:endParaRPr lang="ro-RO" dirty="0"/>
          </a:p>
          <a:p>
            <a:pPr>
              <a:buNone/>
            </a:pPr>
            <a:r>
              <a:rPr lang="ro-RO" b="1" dirty="0" smtClean="0"/>
              <a:t>Problemă</a:t>
            </a:r>
            <a:r>
              <a:rPr lang="ro-RO" dirty="0" smtClean="0"/>
              <a:t>: regulile nu sunt suficient de flexibile în anumite situații =</a:t>
            </a:r>
            <a:r>
              <a:rPr lang="en-US" dirty="0" smtClean="0"/>
              <a:t>&gt; ne pot </a:t>
            </a:r>
            <a:r>
              <a:rPr lang="en-US" dirty="0" err="1" smtClean="0"/>
              <a:t>prezice</a:t>
            </a:r>
            <a:r>
              <a:rPr lang="en-US" dirty="0" smtClean="0"/>
              <a:t> </a:t>
            </a:r>
            <a:r>
              <a:rPr lang="en-US" dirty="0" err="1" smtClean="0"/>
              <a:t>comportamente</a:t>
            </a:r>
            <a:r>
              <a:rPr lang="en-US" dirty="0" smtClean="0"/>
              <a:t> </a:t>
            </a:r>
            <a:r>
              <a:rPr lang="ro-RO" dirty="0" smtClean="0"/>
              <a:t>intuitiv </a:t>
            </a:r>
            <a:r>
              <a:rPr lang="en-US" dirty="0" err="1" smtClean="0"/>
              <a:t>imorale</a:t>
            </a:r>
            <a:r>
              <a:rPr lang="ro-RO" dirty="0" smtClean="0"/>
              <a:t> (a minți poate fi benefic în anumite situații).</a:t>
            </a:r>
          </a:p>
          <a:p>
            <a:pPr>
              <a:buNone/>
            </a:pPr>
            <a:endParaRPr lang="ro-RO" dirty="0"/>
          </a:p>
          <a:p>
            <a:pPr>
              <a:buNone/>
            </a:pPr>
            <a:r>
              <a:rPr lang="ro-RO" sz="3800" b="1" dirty="0" smtClean="0"/>
              <a:t>(3) </a:t>
            </a:r>
            <a:r>
              <a:rPr lang="ro-RO" sz="3800" dirty="0" smtClean="0"/>
              <a:t>Analizăm din perspectiva unor sisteme etice – etica fericirii generale (utilitarismul</a:t>
            </a:r>
            <a:r>
              <a:rPr lang="en-US" sz="3800" dirty="0" smtClean="0"/>
              <a:t>), </a:t>
            </a:r>
            <a:r>
              <a:rPr lang="en-US" sz="3800" dirty="0" err="1" smtClean="0"/>
              <a:t>etica</a:t>
            </a:r>
            <a:r>
              <a:rPr lang="en-US" sz="3800" dirty="0" smtClean="0"/>
              <a:t> </a:t>
            </a:r>
            <a:r>
              <a:rPr lang="en-US" sz="3800" dirty="0" err="1" smtClean="0"/>
              <a:t>respectului</a:t>
            </a:r>
            <a:r>
              <a:rPr lang="en-US" sz="3800" dirty="0" smtClean="0"/>
              <a:t> </a:t>
            </a:r>
            <a:r>
              <a:rPr lang="en-US" sz="3800" dirty="0" err="1" smtClean="0"/>
              <a:t>fa</a:t>
            </a:r>
            <a:r>
              <a:rPr lang="ro-RO" sz="3800" dirty="0" smtClean="0"/>
              <a:t>ță de persoane, etica vieții virtuoase.</a:t>
            </a:r>
          </a:p>
          <a:p>
            <a:pPr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046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Etica fericirii generale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70000" lnSpcReduction="20000"/>
          </a:bodyPr>
          <a:lstStyle/>
          <a:p>
            <a:pPr>
              <a:buFontTx/>
              <a:buChar char="-"/>
            </a:pPr>
            <a:r>
              <a:rPr lang="ro-RO" dirty="0" smtClean="0"/>
              <a:t>Evaluăm moralitatea unei acțiuni în funcție de consecințele ei!</a:t>
            </a:r>
          </a:p>
          <a:p>
            <a:pPr>
              <a:buFontTx/>
              <a:buChar char="-"/>
            </a:pPr>
            <a:r>
              <a:rPr lang="ro-RO" dirty="0" smtClean="0"/>
              <a:t>Scopul moral ultim al oricărei acțiuni = fericirea generală:</a:t>
            </a:r>
          </a:p>
          <a:p>
            <a:pPr>
              <a:buFontTx/>
              <a:buChar char="-"/>
            </a:pPr>
            <a:endParaRPr lang="ro-RO" dirty="0" smtClean="0"/>
          </a:p>
          <a:p>
            <a:pPr>
              <a:buNone/>
            </a:pPr>
            <a:r>
              <a:rPr lang="ro-RO" b="1" dirty="0" smtClean="0"/>
              <a:t>Principiul utilității</a:t>
            </a:r>
            <a:r>
              <a:rPr lang="ro-RO" dirty="0" smtClean="0"/>
              <a:t>: o acțiune este morală dacă produce cea mai mare cantitate de fericire pentru cel mai mare număr de oameni.</a:t>
            </a:r>
          </a:p>
          <a:p>
            <a:pPr>
              <a:buNone/>
            </a:pPr>
            <a:r>
              <a:rPr lang="ro-RO" dirty="0" smtClean="0"/>
              <a:t>	</a:t>
            </a:r>
          </a:p>
          <a:p>
            <a:pPr>
              <a:buNone/>
            </a:pPr>
            <a:r>
              <a:rPr lang="ro-RO" dirty="0"/>
              <a:t>	</a:t>
            </a:r>
            <a:r>
              <a:rPr lang="ro-RO" dirty="0" smtClean="0"/>
              <a:t>Proponent principal: John Stuart Mill (1806 – 1873).</a:t>
            </a:r>
          </a:p>
          <a:p>
            <a:pPr>
              <a:buFontTx/>
              <a:buChar char="-"/>
            </a:pPr>
            <a:endParaRPr lang="ro-RO" dirty="0"/>
          </a:p>
          <a:p>
            <a:pPr>
              <a:buFontTx/>
              <a:buChar char="-"/>
            </a:pPr>
            <a:endParaRPr lang="ro-RO" dirty="0"/>
          </a:p>
          <a:p>
            <a:pPr>
              <a:buNone/>
            </a:pPr>
            <a:r>
              <a:rPr lang="ro-RO" b="1" dirty="0" smtClean="0"/>
              <a:t>Avantaj</a:t>
            </a:r>
            <a:r>
              <a:rPr lang="ro-RO" dirty="0" smtClean="0"/>
              <a:t>: Este foarte ușor să comparăm moralitatea acțiunilor: acțiunea A este mai bună decât acțiunea B dacă A produce mai multă fericire unui număr mai mare de oameni decât acțiunea B.</a:t>
            </a:r>
          </a:p>
          <a:p>
            <a:pPr>
              <a:buNone/>
            </a:pPr>
            <a:r>
              <a:rPr lang="ro-RO" dirty="0" smtClean="0"/>
              <a:t>-- Avem un răspuns simplu la problema tramvaiului.</a:t>
            </a:r>
          </a:p>
          <a:p>
            <a:pPr>
              <a:buNone/>
            </a:pPr>
            <a:r>
              <a:rPr lang="ro-RO" b="1" dirty="0" smtClean="0"/>
              <a:t>Dezavantaj</a:t>
            </a:r>
            <a:r>
              <a:rPr lang="ro-RO" dirty="0" smtClean="0"/>
              <a:t>: Cum puteam cuantifica fericirea? Ce este o unitate de fericire (plăcere)?</a:t>
            </a:r>
          </a:p>
          <a:p>
            <a:pPr>
              <a:buFontTx/>
              <a:buChar char="-"/>
            </a:pPr>
            <a:endParaRPr lang="ro-RO" dirty="0" smtClean="0"/>
          </a:p>
          <a:p>
            <a:pPr>
              <a:buFontTx/>
              <a:buChar char="-"/>
            </a:pPr>
            <a:endParaRPr lang="ro-RO" dirty="0" smtClean="0"/>
          </a:p>
        </p:txBody>
      </p:sp>
    </p:spTree>
    <p:extLst>
      <p:ext uri="{BB962C8B-B14F-4D97-AF65-F5344CB8AC3E}">
        <p14:creationId xmlns:p14="http://schemas.microsoft.com/office/powerpoint/2010/main" val="4080316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o-RO" dirty="0" smtClean="0"/>
              <a:t>Utilitarism</a:t>
            </a: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8951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r>
              <a:rPr lang="ro-RO" sz="2200" dirty="0" smtClean="0">
                <a:latin typeface="Times New Roman" pitchFamily="16" charset="0"/>
              </a:rPr>
              <a:t>Faptul că o acţiune este corectă sau incorectă depinde de consecinţele sale </a:t>
            </a:r>
          </a:p>
          <a:p>
            <a:pPr marL="595313" indent="-595313" eaLnBrk="1" hangingPunct="1">
              <a:lnSpc>
                <a:spcPct val="90000"/>
              </a:lnSpc>
              <a:buClrTx/>
              <a:buFontTx/>
              <a:buNone/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r>
              <a:rPr lang="ro-RO" sz="2200" dirty="0" smtClean="0">
                <a:latin typeface="Times New Roman" pitchFamily="16" charset="0"/>
              </a:rPr>
              <a:t>	− consecinţele pot fi evaluate din mai multe puncte de vedere</a:t>
            </a:r>
          </a:p>
          <a:p>
            <a:pPr marL="595313" indent="-595313" eaLnBrk="1" hangingPunct="1">
              <a:lnSpc>
                <a:spcPct val="90000"/>
              </a:lnSpc>
              <a:buClrTx/>
              <a:buFontTx/>
              <a:buNone/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endParaRPr lang="ro-RO" sz="2200" dirty="0" smtClean="0">
              <a:latin typeface="Times New Roman" pitchFamily="16" charset="0"/>
            </a:endParaRPr>
          </a:p>
          <a:p>
            <a:pPr marL="595313" indent="-595313" eaLnBrk="1" hangingPunct="1">
              <a:lnSpc>
                <a:spcPct val="90000"/>
              </a:lnSpc>
              <a:buClrTx/>
              <a:buFontTx/>
              <a:buNone/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r>
              <a:rPr lang="ro-RO" sz="2200" dirty="0" smtClean="0">
                <a:latin typeface="Times New Roman" pitchFamily="16" charset="0"/>
              </a:rPr>
              <a:t>	 − utilitarismul – consecinţele evaluate din punctul de vedere al utilității  </a:t>
            </a:r>
          </a:p>
          <a:p>
            <a:pPr marL="595313" indent="-595313" eaLnBrk="1" hangingPunct="1">
              <a:lnSpc>
                <a:spcPct val="90000"/>
              </a:lnSpc>
              <a:buClrTx/>
              <a:buFontTx/>
              <a:buNone/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endParaRPr lang="ro-RO" sz="2200" dirty="0" smtClean="0">
              <a:latin typeface="Times New Roman" pitchFamily="16" charset="0"/>
            </a:endParaRPr>
          </a:p>
          <a:p>
            <a:pPr marL="595313" indent="-595313" eaLnBrk="1" hangingPunct="1">
              <a:lnSpc>
                <a:spcPct val="90000"/>
              </a:lnSpc>
              <a:buClrTx/>
              <a:buFontTx/>
              <a:buNone/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r>
              <a:rPr lang="ro-RO" sz="2200" dirty="0" smtClean="0">
                <a:latin typeface="Times New Roman" pitchFamily="16" charset="0"/>
              </a:rPr>
              <a:t>	 − utilitarism – acţiunea corectă este cea care maximizează utilitatea.</a:t>
            </a:r>
          </a:p>
          <a:p>
            <a:pPr marL="595313" indent="-595313" eaLnBrk="1" hangingPunct="1">
              <a:lnSpc>
                <a:spcPct val="90000"/>
              </a:lnSpc>
              <a:buClrTx/>
              <a:buFontTx/>
              <a:buNone/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endParaRPr lang="ro-RO" sz="2200" dirty="0" smtClean="0">
              <a:latin typeface="Times New Roman" pitchFamily="1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3888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0960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r>
              <a:rPr lang="ro-RO" dirty="0" smtClean="0">
                <a:latin typeface="Times New Roman" pitchFamily="16" charset="0"/>
              </a:rPr>
              <a:t>Utilitate pozitivă – plăcere</a:t>
            </a:r>
          </a:p>
          <a:p>
            <a:pPr>
              <a:lnSpc>
                <a:spcPct val="90000"/>
              </a:lnSpc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r>
              <a:rPr lang="ro-RO" dirty="0">
                <a:latin typeface="Times New Roman" pitchFamily="16" charset="0"/>
              </a:rPr>
              <a:t>U</a:t>
            </a:r>
            <a:r>
              <a:rPr lang="ro-RO" dirty="0" smtClean="0">
                <a:latin typeface="Times New Roman" pitchFamily="16" charset="0"/>
              </a:rPr>
              <a:t>tilitate negativă – durere</a:t>
            </a:r>
          </a:p>
          <a:p>
            <a:pPr>
              <a:lnSpc>
                <a:spcPct val="90000"/>
              </a:lnSpc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endParaRPr lang="ro-RO" dirty="0" smtClean="0">
              <a:latin typeface="Times New Roman" pitchFamily="16" charset="0"/>
            </a:endParaRPr>
          </a:p>
          <a:p>
            <a:pPr>
              <a:lnSpc>
                <a:spcPct val="90000"/>
              </a:lnSpc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r>
              <a:rPr lang="ro-RO" dirty="0" smtClean="0">
                <a:latin typeface="Times New Roman" pitchFamily="16" charset="0"/>
                <a:cs typeface="Times New Roman" pitchFamily="16" charset="0"/>
              </a:rPr>
              <a:t> Decizia utilitaristă</a:t>
            </a:r>
          </a:p>
          <a:p>
            <a:pPr marL="595313" indent="-595313" algn="just">
              <a:spcBef>
                <a:spcPct val="0"/>
              </a:spcBef>
              <a:buNone/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r>
              <a:rPr lang="en-US" dirty="0" smtClean="0">
                <a:latin typeface="Times New Roman" pitchFamily="16" charset="0"/>
                <a:cs typeface="Times New Roman" pitchFamily="16" charset="0"/>
              </a:rPr>
              <a:t>a. </a:t>
            </a:r>
            <a:r>
              <a:rPr lang="en-US" dirty="0" err="1" smtClean="0">
                <a:latin typeface="Times New Roman" pitchFamily="16" charset="0"/>
                <a:cs typeface="Times New Roman" pitchFamily="16" charset="0"/>
              </a:rPr>
              <a:t>Identifică</a:t>
            </a:r>
            <a:r>
              <a:rPr lang="en-US" dirty="0" smtClean="0">
                <a:latin typeface="Times New Roman" pitchFamily="16" charset="0"/>
                <a:cs typeface="Times New Roman" pitchFamily="16" charset="0"/>
              </a:rPr>
              <a:t> </a:t>
            </a:r>
            <a:r>
              <a:rPr lang="en-US" dirty="0" err="1" smtClean="0">
                <a:latin typeface="Times New Roman" pitchFamily="16" charset="0"/>
                <a:cs typeface="Times New Roman" pitchFamily="16" charset="0"/>
              </a:rPr>
              <a:t>toate</a:t>
            </a:r>
            <a:r>
              <a:rPr lang="en-US" dirty="0" smtClean="0">
                <a:latin typeface="Times New Roman" pitchFamily="16" charset="0"/>
                <a:cs typeface="Times New Roman" pitchFamily="16" charset="0"/>
              </a:rPr>
              <a:t> </a:t>
            </a:r>
            <a:r>
              <a:rPr lang="en-US" dirty="0" err="1" smtClean="0">
                <a:latin typeface="Times New Roman" pitchFamily="16" charset="0"/>
                <a:cs typeface="Times New Roman" pitchFamily="16" charset="0"/>
              </a:rPr>
              <a:t>variantele</a:t>
            </a:r>
            <a:r>
              <a:rPr lang="en-US" dirty="0" smtClean="0">
                <a:latin typeface="Times New Roman" pitchFamily="16" charset="0"/>
                <a:cs typeface="Times New Roman" pitchFamily="16" charset="0"/>
              </a:rPr>
              <a:t> de </a:t>
            </a:r>
            <a:r>
              <a:rPr lang="en-US" dirty="0" err="1" smtClean="0">
                <a:latin typeface="Times New Roman" pitchFamily="16" charset="0"/>
                <a:cs typeface="Times New Roman" pitchFamily="16" charset="0"/>
              </a:rPr>
              <a:t>acțiune</a:t>
            </a:r>
            <a:r>
              <a:rPr lang="en-US" dirty="0" smtClean="0">
                <a:latin typeface="Times New Roman" pitchFamily="16" charset="0"/>
                <a:cs typeface="Times New Roman" pitchFamily="16" charset="0"/>
              </a:rPr>
              <a:t> </a:t>
            </a:r>
            <a:r>
              <a:rPr lang="en-US" dirty="0" err="1" smtClean="0">
                <a:latin typeface="Times New Roman" pitchFamily="16" charset="0"/>
                <a:cs typeface="Times New Roman" pitchFamily="16" charset="0"/>
              </a:rPr>
              <a:t>posibile</a:t>
            </a:r>
            <a:r>
              <a:rPr lang="en-US" dirty="0" smtClean="0">
                <a:latin typeface="Times New Roman" pitchFamily="16" charset="0"/>
                <a:cs typeface="Times New Roman" pitchFamily="16" charset="0"/>
              </a:rPr>
              <a:t>.</a:t>
            </a:r>
          </a:p>
          <a:p>
            <a:pPr marL="595313" indent="-595313" algn="just">
              <a:spcBef>
                <a:spcPct val="0"/>
              </a:spcBef>
              <a:buNone/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r>
              <a:rPr lang="ro-RO" dirty="0" smtClean="0">
                <a:latin typeface="Times New Roman" pitchFamily="16" charset="0"/>
                <a:cs typeface="Times New Roman" pitchFamily="16" charset="0"/>
              </a:rPr>
              <a:t>b. Identifică toate părțile afectate de acțiunile posibile.</a:t>
            </a:r>
          </a:p>
          <a:p>
            <a:pPr marL="595313" indent="-595313" algn="just">
              <a:spcBef>
                <a:spcPct val="0"/>
              </a:spcBef>
              <a:buNone/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r>
              <a:rPr lang="ro-RO" dirty="0" smtClean="0">
                <a:latin typeface="Times New Roman" pitchFamily="16" charset="0"/>
                <a:cs typeface="Times New Roman" pitchFamily="16" charset="0"/>
              </a:rPr>
              <a:t>c. Determină cum e afectată fiecare parte (negativ sau pozitiv).</a:t>
            </a:r>
          </a:p>
          <a:p>
            <a:pPr marL="595313" indent="-595313" algn="just">
              <a:spcBef>
                <a:spcPct val="0"/>
              </a:spcBef>
              <a:buNone/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r>
              <a:rPr lang="ro-RO" dirty="0" smtClean="0">
                <a:latin typeface="Times New Roman" pitchFamily="16" charset="0"/>
                <a:cs typeface="Times New Roman" pitchFamily="16" charset="0"/>
              </a:rPr>
              <a:t>d. În măsura în care e posibil, încearcă să estimezi care acțiune aduce utilitate maximă.</a:t>
            </a:r>
            <a:r>
              <a:rPr lang="ro-RO" dirty="0" smtClean="0">
                <a:latin typeface="Times New Roman" pitchFamily="16" charset="0"/>
              </a:rPr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416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o-RO" smtClean="0"/>
              <a:t>Exemplu</a:t>
            </a:r>
            <a:r>
              <a:rPr lang="en-US" smtClean="0"/>
              <a:t> utilitarism</a:t>
            </a:r>
          </a:p>
        </p:txBody>
      </p:sp>
      <p:graphicFrame>
        <p:nvGraphicFramePr>
          <p:cNvPr id="7170" name="Group 2"/>
          <p:cNvGraphicFramePr>
            <a:graphicFrameLocks noGrp="1"/>
          </p:cNvGraphicFramePr>
          <p:nvPr/>
        </p:nvGraphicFramePr>
        <p:xfrm>
          <a:off x="1143000" y="1524000"/>
          <a:ext cx="7315200" cy="4505326"/>
        </p:xfrm>
        <a:graphic>
          <a:graphicData uri="http://schemas.openxmlformats.org/drawingml/2006/table">
            <a:tbl>
              <a:tblPr/>
              <a:tblGrid>
                <a:gridCol w="1557566"/>
                <a:gridCol w="1368514"/>
                <a:gridCol w="1463040"/>
                <a:gridCol w="1463040"/>
                <a:gridCol w="1463040"/>
              </a:tblGrid>
              <a:tr h="388543">
                <a:tc rowSpan="2" gridSpan="2"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ro-RO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6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Arial" charset="0"/>
                        </a:rPr>
                        <a:t>Persoane afectate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81188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6" charset="0"/>
                        <a:cs typeface="Times New Roman" pitchFamily="16" charset="0"/>
                      </a:endParaRP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Times New Roman" pitchFamily="16" charset="0"/>
                        </a:rPr>
                        <a:t>P</a:t>
                      </a:r>
                      <a:r>
                        <a:rPr kumimoji="0" lang="ro-RO" sz="20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Times New Roman" pitchFamily="16" charset="0"/>
                        </a:rPr>
                        <a:t>1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Arial" charset="0"/>
                        </a:rPr>
                        <a:t>(</a:t>
                      </a:r>
                      <a:r>
                        <a:rPr kumimoji="0" 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Arial" charset="0"/>
                        </a:rPr>
                        <a:t>agentul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Arial" charset="0"/>
                        </a:rPr>
                        <a:t> ac</a:t>
                      </a: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Arial" charset="0"/>
                        </a:rPr>
                        <a:t>ţiunii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Arial" charset="0"/>
                        </a:rPr>
                        <a:t>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6" charset="0"/>
                        <a:cs typeface="Times New Roman" pitchFamily="16" charset="0"/>
                      </a:endParaRP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Times New Roman" pitchFamily="16" charset="0"/>
                        </a:rPr>
                        <a:t>P</a:t>
                      </a:r>
                      <a:r>
                        <a:rPr kumimoji="0" lang="en-US" sz="20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Times New Roman" pitchFamily="16" charset="0"/>
                        </a:rPr>
                        <a:t>2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sz="2000" b="0" i="0" u="none" strike="noStrike" cap="none" normalizeH="0" baseline="-30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6" charset="0"/>
                        <a:cs typeface="Times New Roman" pitchFamily="16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6" charset="0"/>
                        <a:cs typeface="Times New Roman" pitchFamily="16" charset="0"/>
                      </a:endParaRP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Times New Roman" pitchFamily="16" charset="0"/>
                        </a:rPr>
                        <a:t>P</a:t>
                      </a:r>
                      <a:r>
                        <a:rPr kumimoji="0" lang="en-US" sz="20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Times New Roman" pitchFamily="16" charset="0"/>
                        </a:rPr>
                        <a:t>3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sz="2000" b="0" i="0" u="none" strike="noStrike" cap="none" normalizeH="0" baseline="-30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6" charset="0"/>
                        <a:cs typeface="Times New Roman" pitchFamily="16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7817">
                <a:tc rowSpan="3"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ro-RO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6" charset="0"/>
                        <a:cs typeface="Arial" charset="0"/>
                      </a:endParaRP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ro-RO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Arial" charset="0"/>
                        </a:rPr>
                        <a:t>Acţiuni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ro-RO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Arial" charset="0"/>
                        </a:rPr>
                        <a:t>posibile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6" charset="0"/>
                        <a:cs typeface="Arial" charset="0"/>
                      </a:endParaRP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Arial" charset="0"/>
                        </a:rPr>
                        <a:t>A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6" charset="0"/>
                        <a:cs typeface="Arial" charset="0"/>
                      </a:endParaRP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Arial" charset="0"/>
                        </a:rPr>
                        <a:t>-1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6" charset="0"/>
                        <a:cs typeface="Arial" charset="0"/>
                      </a:endParaRP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Arial" charset="0"/>
                        </a:rPr>
                        <a:t>2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6" charset="0"/>
                        <a:cs typeface="Arial" charset="0"/>
                      </a:endParaRP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Arial" charset="0"/>
                        </a:rPr>
                        <a:t>3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854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Arial" charset="0"/>
                        </a:rPr>
                        <a:t>B</a:t>
                      </a:r>
                    </a:p>
                  </a:txBody>
                  <a:tcPr marL="45720" marR="4572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Arial" charset="0"/>
                        </a:rPr>
                        <a:t>1</a:t>
                      </a:r>
                    </a:p>
                  </a:txBody>
                  <a:tcPr marL="45720" marR="4572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Arial" charset="0"/>
                        </a:rPr>
                        <a:t>1</a:t>
                      </a:r>
                    </a:p>
                  </a:txBody>
                  <a:tcPr marL="45720" marR="4572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Arial" charset="0"/>
                        </a:rPr>
                        <a:t>1</a:t>
                      </a:r>
                    </a:p>
                  </a:txBody>
                  <a:tcPr marL="45720" marR="4572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854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ro-RO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Arial" charset="0"/>
                        </a:rPr>
                        <a:t>C</a:t>
                      </a:r>
                    </a:p>
                  </a:txBody>
                  <a:tcPr marL="45720" marR="4572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ro-RO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Arial" charset="0"/>
                        </a:rPr>
                        <a:t>6</a:t>
                      </a:r>
                    </a:p>
                  </a:txBody>
                  <a:tcPr marL="45720" marR="4572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Arial" charset="0"/>
                        </a:rPr>
                        <a:t>-2</a:t>
                      </a:r>
                    </a:p>
                  </a:txBody>
                  <a:tcPr marL="45720" marR="4572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Arial" charset="0"/>
                        </a:rPr>
                        <a:t>-2</a:t>
                      </a:r>
                    </a:p>
                  </a:txBody>
                  <a:tcPr marL="45720" marR="4572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46199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Critici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-331788">
              <a:lnSpc>
                <a:spcPct val="80000"/>
              </a:lnSpc>
              <a:spcBef>
                <a:spcPts val="700"/>
              </a:spcBef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Dificultatea de a cunoaşte exact consecinţele.</a:t>
            </a:r>
          </a:p>
          <a:p>
            <a:pPr indent="-331788" algn="just">
              <a:lnSpc>
                <a:spcPct val="80000"/>
              </a:lnSpc>
              <a:spcBef>
                <a:spcPts val="700"/>
              </a:spcBef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dirty="0" smtClean="0"/>
              <a:t>Ex.: </a:t>
            </a:r>
            <a:r>
              <a:rPr lang="en-US" dirty="0" smtClean="0"/>
              <a:t>De </a:t>
            </a:r>
            <a:r>
              <a:rPr lang="en-US" dirty="0" err="1" smtClean="0"/>
              <a:t>pildă</a:t>
            </a:r>
            <a:r>
              <a:rPr lang="en-US" dirty="0" smtClean="0"/>
              <a:t>, un </a:t>
            </a:r>
            <a:r>
              <a:rPr lang="en-US" dirty="0" err="1" smtClean="0"/>
              <a:t>angajat</a:t>
            </a:r>
            <a:r>
              <a:rPr lang="en-US" dirty="0" smtClean="0"/>
              <a:t> </a:t>
            </a:r>
            <a:r>
              <a:rPr lang="en-US" dirty="0" err="1" smtClean="0"/>
              <a:t>ştie</a:t>
            </a:r>
            <a:r>
              <a:rPr lang="en-US" dirty="0" smtClean="0"/>
              <a:t> </a:t>
            </a:r>
            <a:r>
              <a:rPr lang="en-US" dirty="0" err="1" smtClean="0"/>
              <a:t>că</a:t>
            </a:r>
            <a:r>
              <a:rPr lang="en-US" dirty="0" smtClean="0"/>
              <a:t> </a:t>
            </a:r>
            <a:r>
              <a:rPr lang="en-US" dirty="0" err="1" smtClean="0"/>
              <a:t>unul</a:t>
            </a:r>
            <a:r>
              <a:rPr lang="en-US" dirty="0" smtClean="0"/>
              <a:t> </a:t>
            </a:r>
            <a:r>
              <a:rPr lang="en-US" dirty="0" err="1" smtClean="0"/>
              <a:t>dintre</a:t>
            </a:r>
            <a:r>
              <a:rPr lang="en-US" dirty="0" smtClean="0"/>
              <a:t> </a:t>
            </a:r>
            <a:r>
              <a:rPr lang="en-US" dirty="0" err="1" smtClean="0"/>
              <a:t>colegii</a:t>
            </a:r>
            <a:r>
              <a:rPr lang="en-US" dirty="0" smtClean="0"/>
              <a:t> </a:t>
            </a:r>
            <a:r>
              <a:rPr lang="en-US" dirty="0" err="1" smtClean="0"/>
              <a:t>săi</a:t>
            </a:r>
            <a:r>
              <a:rPr lang="en-US" dirty="0" smtClean="0"/>
              <a:t> nu </a:t>
            </a:r>
            <a:r>
              <a:rPr lang="en-US" dirty="0" err="1" smtClean="0"/>
              <a:t>respectă</a:t>
            </a:r>
            <a:r>
              <a:rPr lang="en-US" dirty="0" smtClean="0"/>
              <a:t> </a:t>
            </a:r>
            <a:r>
              <a:rPr lang="en-US" dirty="0" err="1" smtClean="0"/>
              <a:t>în</a:t>
            </a:r>
            <a:r>
              <a:rPr lang="en-US" dirty="0" smtClean="0"/>
              <a:t> mod constant </a:t>
            </a:r>
            <a:r>
              <a:rPr lang="en-US" dirty="0" err="1" smtClean="0"/>
              <a:t>anumite</a:t>
            </a:r>
            <a:r>
              <a:rPr lang="en-US" dirty="0" smtClean="0"/>
              <a:t> </a:t>
            </a:r>
            <a:r>
              <a:rPr lang="en-US" dirty="0" err="1" smtClean="0"/>
              <a:t>proceduri</a:t>
            </a:r>
            <a:r>
              <a:rPr lang="en-US" dirty="0" smtClean="0"/>
              <a:t> </a:t>
            </a:r>
            <a:r>
              <a:rPr lang="en-US" dirty="0" err="1" smtClean="0"/>
              <a:t>în</a:t>
            </a:r>
            <a:r>
              <a:rPr lang="en-US" dirty="0" smtClean="0"/>
              <a:t> </a:t>
            </a:r>
            <a:r>
              <a:rPr lang="en-US" dirty="0" err="1" smtClean="0"/>
              <a:t>procesul</a:t>
            </a:r>
            <a:r>
              <a:rPr lang="en-US" dirty="0" smtClean="0"/>
              <a:t> de </a:t>
            </a:r>
            <a:r>
              <a:rPr lang="en-US" dirty="0" err="1" smtClean="0"/>
              <a:t>producţie</a:t>
            </a:r>
            <a:r>
              <a:rPr lang="en-US" dirty="0" smtClean="0"/>
              <a:t>, </a:t>
            </a:r>
            <a:r>
              <a:rPr lang="en-US" dirty="0" err="1" smtClean="0"/>
              <a:t>ceea</a:t>
            </a:r>
            <a:r>
              <a:rPr lang="en-US" dirty="0" smtClean="0"/>
              <a:t> </a:t>
            </a:r>
            <a:r>
              <a:rPr lang="en-US" dirty="0" err="1" smtClean="0"/>
              <a:t>ce</a:t>
            </a:r>
            <a:r>
              <a:rPr lang="en-US" dirty="0" smtClean="0"/>
              <a:t> </a:t>
            </a:r>
            <a:r>
              <a:rPr lang="en-US" dirty="0" err="1" smtClean="0"/>
              <a:t>însă</a:t>
            </a:r>
            <a:r>
              <a:rPr lang="en-US" dirty="0" smtClean="0"/>
              <a:t> nu a </a:t>
            </a:r>
            <a:r>
              <a:rPr lang="en-US" dirty="0" err="1" smtClean="0"/>
              <a:t>adus</a:t>
            </a:r>
            <a:r>
              <a:rPr lang="en-US" dirty="0" smtClean="0"/>
              <a:t> </a:t>
            </a:r>
            <a:r>
              <a:rPr lang="en-US" dirty="0" err="1" smtClean="0"/>
              <a:t>până</a:t>
            </a:r>
            <a:r>
              <a:rPr lang="en-US" dirty="0" smtClean="0"/>
              <a:t> </a:t>
            </a:r>
            <a:r>
              <a:rPr lang="en-US" dirty="0" err="1" smtClean="0"/>
              <a:t>acum</a:t>
            </a:r>
            <a:r>
              <a:rPr lang="en-US" dirty="0" smtClean="0"/>
              <a:t> </a:t>
            </a:r>
            <a:r>
              <a:rPr lang="en-US" dirty="0" err="1" smtClean="0"/>
              <a:t>consecinţe</a:t>
            </a:r>
            <a:r>
              <a:rPr lang="en-US" dirty="0" smtClean="0"/>
              <a:t> negative. </a:t>
            </a:r>
            <a:r>
              <a:rPr lang="en-US" dirty="0" err="1" smtClean="0"/>
              <a:t>Ar</a:t>
            </a:r>
            <a:r>
              <a:rPr lang="en-US" dirty="0" smtClean="0"/>
              <a:t> </a:t>
            </a:r>
            <a:r>
              <a:rPr lang="en-US" dirty="0" err="1" smtClean="0"/>
              <a:t>trebui</a:t>
            </a:r>
            <a:r>
              <a:rPr lang="en-US" dirty="0" smtClean="0"/>
              <a:t> </a:t>
            </a:r>
            <a:r>
              <a:rPr lang="en-US" dirty="0" err="1" smtClean="0"/>
              <a:t>respectivul</a:t>
            </a:r>
            <a:r>
              <a:rPr lang="en-US" dirty="0" smtClean="0"/>
              <a:t> </a:t>
            </a:r>
            <a:r>
              <a:rPr lang="en-US" dirty="0" err="1" smtClean="0"/>
              <a:t>angajat</a:t>
            </a:r>
            <a:r>
              <a:rPr lang="en-US" dirty="0" smtClean="0"/>
              <a:t> </a:t>
            </a:r>
            <a:r>
              <a:rPr lang="en-US" dirty="0" err="1" smtClean="0"/>
              <a:t>să</a:t>
            </a:r>
            <a:r>
              <a:rPr lang="en-US" dirty="0" smtClean="0"/>
              <a:t> </a:t>
            </a:r>
            <a:r>
              <a:rPr lang="en-US" dirty="0" err="1" smtClean="0"/>
              <a:t>îşi</a:t>
            </a:r>
            <a:r>
              <a:rPr lang="en-US" dirty="0" smtClean="0"/>
              <a:t> </a:t>
            </a:r>
            <a:r>
              <a:rPr lang="en-US" dirty="0" err="1" smtClean="0"/>
              <a:t>sesizeze</a:t>
            </a:r>
            <a:r>
              <a:rPr lang="en-US" dirty="0" smtClean="0"/>
              <a:t> </a:t>
            </a:r>
            <a:r>
              <a:rPr lang="en-US" dirty="0" err="1" smtClean="0"/>
              <a:t>şeful</a:t>
            </a:r>
            <a:r>
              <a:rPr lang="en-US" dirty="0" smtClean="0"/>
              <a:t> direct? </a:t>
            </a:r>
            <a:r>
              <a:rPr lang="ro-RO" dirty="0" smtClean="0"/>
              <a:t>Problemă: Nu poate ști consecințele: ce se va întâmpla </a:t>
            </a:r>
            <a:r>
              <a:rPr lang="en-US" dirty="0" err="1" smtClean="0"/>
              <a:t>dac</a:t>
            </a:r>
            <a:r>
              <a:rPr lang="ro-RO" dirty="0" smtClean="0"/>
              <a:t>ă</a:t>
            </a:r>
            <a:r>
              <a:rPr lang="en-US" dirty="0" smtClean="0"/>
              <a:t> </a:t>
            </a:r>
            <a:r>
              <a:rPr lang="ro-RO" dirty="0" smtClean="0"/>
              <a:t>îşi </a:t>
            </a:r>
            <a:r>
              <a:rPr lang="en-US" dirty="0" err="1" smtClean="0"/>
              <a:t>sesizea</a:t>
            </a:r>
            <a:r>
              <a:rPr lang="ro-RO" dirty="0" smtClean="0"/>
              <a:t>ză şeful? Dar dacă nu sesizează?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555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Critici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763000" cy="5334000"/>
          </a:xfrm>
        </p:spPr>
        <p:txBody>
          <a:bodyPr>
            <a:normAutofit lnSpcReduction="10000"/>
          </a:bodyPr>
          <a:lstStyle/>
          <a:p>
            <a:r>
              <a:rPr lang="ro-RO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Dificultatea cuantificării.</a:t>
            </a:r>
          </a:p>
          <a:p>
            <a:pPr marL="468312" indent="-457200">
              <a:lnSpc>
                <a:spcPct val="90000"/>
              </a:lnSpc>
              <a:spcBef>
                <a:spcPct val="0"/>
              </a:spcBef>
              <a:tabLst>
                <a:tab pos="606425" algn="l"/>
                <a:tab pos="719138" algn="l"/>
                <a:tab pos="1176338" algn="l"/>
                <a:tab pos="1633538" algn="l"/>
                <a:tab pos="2090738" algn="l"/>
                <a:tab pos="2547938" algn="l"/>
                <a:tab pos="3005138" algn="l"/>
                <a:tab pos="3462338" algn="l"/>
                <a:tab pos="3919538" algn="l"/>
                <a:tab pos="4376738" algn="l"/>
                <a:tab pos="4833938" algn="l"/>
                <a:tab pos="5291138" algn="l"/>
                <a:tab pos="5748338" algn="l"/>
                <a:tab pos="6205538" algn="l"/>
                <a:tab pos="6662738" algn="l"/>
                <a:tab pos="7119938" algn="l"/>
                <a:tab pos="7577138" algn="l"/>
                <a:tab pos="8034338" algn="l"/>
                <a:tab pos="8491538" algn="l"/>
                <a:tab pos="8948738" algn="l"/>
                <a:tab pos="9405938" algn="l"/>
              </a:tabLst>
            </a:pPr>
            <a:r>
              <a:rPr lang="ro-RO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Problema comparației interpersonale a utilității. </a:t>
            </a:r>
          </a:p>
          <a:p>
            <a:pPr marL="606425" indent="-595313">
              <a:lnSpc>
                <a:spcPct val="90000"/>
              </a:lnSpc>
              <a:spcBef>
                <a:spcPct val="0"/>
              </a:spcBef>
              <a:buNone/>
              <a:tabLst>
                <a:tab pos="606425" algn="l"/>
                <a:tab pos="719138" algn="l"/>
                <a:tab pos="1176338" algn="l"/>
                <a:tab pos="1633538" algn="l"/>
                <a:tab pos="2090738" algn="l"/>
                <a:tab pos="2547938" algn="l"/>
                <a:tab pos="3005138" algn="l"/>
                <a:tab pos="3462338" algn="l"/>
                <a:tab pos="3919538" algn="l"/>
                <a:tab pos="4376738" algn="l"/>
                <a:tab pos="4833938" algn="l"/>
                <a:tab pos="5291138" algn="l"/>
                <a:tab pos="5748338" algn="l"/>
                <a:tab pos="6205538" algn="l"/>
                <a:tab pos="6662738" algn="l"/>
                <a:tab pos="7119938" algn="l"/>
                <a:tab pos="7577138" algn="l"/>
                <a:tab pos="8034338" algn="l"/>
                <a:tab pos="8491538" algn="l"/>
                <a:tab pos="8948738" algn="l"/>
                <a:tab pos="9405938" algn="l"/>
              </a:tabLst>
            </a:pPr>
            <a:r>
              <a:rPr lang="ro-RO" dirty="0" smtClean="0"/>
              <a:t>Daunele sunt aduse unor indivizi diferiţi: angajatului neatent şi, poate, consumatorilor. Cum pot fi comparate utilitățile aduse unor indivizi diferiți? Cine ar trebui să atribuie aceste utilități? </a:t>
            </a:r>
          </a:p>
          <a:p>
            <a:pPr marL="606425" indent="-595313">
              <a:lnSpc>
                <a:spcPct val="90000"/>
              </a:lnSpc>
              <a:spcBef>
                <a:spcPct val="0"/>
              </a:spcBef>
              <a:tabLst>
                <a:tab pos="606425" algn="l"/>
                <a:tab pos="719138" algn="l"/>
                <a:tab pos="1176338" algn="l"/>
                <a:tab pos="1633538" algn="l"/>
                <a:tab pos="2090738" algn="l"/>
                <a:tab pos="2547938" algn="l"/>
                <a:tab pos="3005138" algn="l"/>
                <a:tab pos="3462338" algn="l"/>
                <a:tab pos="3919538" algn="l"/>
                <a:tab pos="4376738" algn="l"/>
                <a:tab pos="4833938" algn="l"/>
                <a:tab pos="5291138" algn="l"/>
                <a:tab pos="5748338" algn="l"/>
                <a:tab pos="6205538" algn="l"/>
                <a:tab pos="6662738" algn="l"/>
                <a:tab pos="7119938" algn="l"/>
                <a:tab pos="7577138" algn="l"/>
                <a:tab pos="8034338" algn="l"/>
                <a:tab pos="8491538" algn="l"/>
                <a:tab pos="8948738" algn="l"/>
                <a:tab pos="9405938" algn="l"/>
              </a:tabLst>
            </a:pPr>
            <a:r>
              <a:rPr lang="ro-RO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Utilitarismul nu ia în considerare drepturile celor afectați.</a:t>
            </a:r>
          </a:p>
          <a:p>
            <a:pPr marL="606425" indent="-595313">
              <a:lnSpc>
                <a:spcPct val="90000"/>
              </a:lnSpc>
              <a:spcBef>
                <a:spcPct val="0"/>
              </a:spcBef>
              <a:buNone/>
              <a:tabLst>
                <a:tab pos="606425" algn="l"/>
                <a:tab pos="719138" algn="l"/>
                <a:tab pos="1176338" algn="l"/>
                <a:tab pos="1633538" algn="l"/>
                <a:tab pos="2090738" algn="l"/>
                <a:tab pos="2547938" algn="l"/>
                <a:tab pos="3005138" algn="l"/>
                <a:tab pos="3462338" algn="l"/>
                <a:tab pos="3919538" algn="l"/>
                <a:tab pos="4376738" algn="l"/>
                <a:tab pos="4833938" algn="l"/>
                <a:tab pos="5291138" algn="l"/>
                <a:tab pos="5748338" algn="l"/>
                <a:tab pos="6205538" algn="l"/>
                <a:tab pos="6662738" algn="l"/>
                <a:tab pos="7119938" algn="l"/>
                <a:tab pos="7577138" algn="l"/>
                <a:tab pos="8034338" algn="l"/>
                <a:tab pos="8491538" algn="l"/>
                <a:tab pos="8948738" algn="l"/>
                <a:tab pos="9405938" algn="l"/>
              </a:tabLst>
            </a:pPr>
            <a:r>
              <a:rPr lang="ro-RO" dirty="0" smtClean="0"/>
              <a:t>În unele cazuri, acțiunea care aduce utilitate maximă încalcă drepturile uneia dintre părți. Este acest lucru acceptabil?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438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172200"/>
          </a:xfrm>
        </p:spPr>
        <p:txBody>
          <a:bodyPr>
            <a:normAutofit/>
          </a:bodyPr>
          <a:lstStyle/>
          <a:p>
            <a:pPr indent="-334963" algn="just">
              <a:lnSpc>
                <a:spcPct val="90000"/>
              </a:lnSpc>
              <a:spcBef>
                <a:spcPct val="0"/>
              </a:spcBef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dirty="0" smtClean="0"/>
              <a:t>Un </a:t>
            </a:r>
            <a:r>
              <a:rPr lang="en-US" dirty="0" err="1" smtClean="0"/>
              <a:t>șef</a:t>
            </a:r>
            <a:r>
              <a:rPr lang="en-US" dirty="0" smtClean="0"/>
              <a:t> de </a:t>
            </a:r>
            <a:r>
              <a:rPr lang="en-US" dirty="0" err="1" smtClean="0"/>
              <a:t>departament</a:t>
            </a:r>
            <a:r>
              <a:rPr lang="en-US" dirty="0" smtClean="0"/>
              <a:t> </a:t>
            </a:r>
            <a:r>
              <a:rPr lang="en-US" dirty="0" err="1" smtClean="0"/>
              <a:t>află</a:t>
            </a:r>
            <a:r>
              <a:rPr lang="en-US" dirty="0" smtClean="0"/>
              <a:t> </a:t>
            </a:r>
            <a:r>
              <a:rPr lang="en-US" dirty="0" err="1" smtClean="0"/>
              <a:t>că</a:t>
            </a:r>
            <a:r>
              <a:rPr lang="en-US" dirty="0" smtClean="0"/>
              <a:t> </a:t>
            </a:r>
            <a:r>
              <a:rPr lang="en-US" dirty="0" err="1" smtClean="0"/>
              <a:t>unul</a:t>
            </a:r>
            <a:r>
              <a:rPr lang="en-US" dirty="0" smtClean="0"/>
              <a:t> </a:t>
            </a:r>
            <a:r>
              <a:rPr lang="en-US" dirty="0" err="1" smtClean="0"/>
              <a:t>dintre</a:t>
            </a:r>
            <a:r>
              <a:rPr lang="en-US" dirty="0" smtClean="0"/>
              <a:t> </a:t>
            </a:r>
            <a:r>
              <a:rPr lang="en-US" dirty="0" err="1" smtClean="0"/>
              <a:t>angajați</a:t>
            </a:r>
            <a:r>
              <a:rPr lang="en-US" dirty="0" smtClean="0"/>
              <a:t> a </a:t>
            </a:r>
            <a:r>
              <a:rPr lang="en-US" dirty="0" err="1" smtClean="0"/>
              <a:t>făcut</a:t>
            </a:r>
            <a:r>
              <a:rPr lang="en-US" dirty="0" smtClean="0"/>
              <a:t> o </a:t>
            </a:r>
            <a:r>
              <a:rPr lang="en-US" dirty="0" err="1" smtClean="0"/>
              <a:t>greșeală</a:t>
            </a:r>
            <a:r>
              <a:rPr lang="en-US" dirty="0" smtClean="0"/>
              <a:t>. </a:t>
            </a:r>
            <a:r>
              <a:rPr lang="en-US" dirty="0" err="1" smtClean="0"/>
              <a:t>Presat</a:t>
            </a:r>
            <a:r>
              <a:rPr lang="en-US" dirty="0" smtClean="0"/>
              <a:t> de </a:t>
            </a:r>
            <a:r>
              <a:rPr lang="en-US" dirty="0" err="1" smtClean="0"/>
              <a:t>șeful</a:t>
            </a:r>
            <a:r>
              <a:rPr lang="en-US" dirty="0" smtClean="0"/>
              <a:t> </a:t>
            </a:r>
            <a:r>
              <a:rPr lang="en-US" dirty="0" err="1" smtClean="0"/>
              <a:t>său</a:t>
            </a:r>
            <a:r>
              <a:rPr lang="en-US" dirty="0" smtClean="0"/>
              <a:t>, </a:t>
            </a:r>
            <a:r>
              <a:rPr lang="en-US" dirty="0" err="1" smtClean="0"/>
              <a:t>trebuie</a:t>
            </a:r>
            <a:r>
              <a:rPr lang="en-US" dirty="0" smtClean="0"/>
              <a:t> </a:t>
            </a:r>
            <a:r>
              <a:rPr lang="en-US" dirty="0" err="1" smtClean="0"/>
              <a:t>să</a:t>
            </a:r>
            <a:r>
              <a:rPr lang="en-US" dirty="0" smtClean="0"/>
              <a:t> </a:t>
            </a:r>
            <a:r>
              <a:rPr lang="en-US" dirty="0" err="1" smtClean="0"/>
              <a:t>sancționeze</a:t>
            </a:r>
            <a:r>
              <a:rPr lang="en-US" dirty="0" smtClean="0"/>
              <a:t> </a:t>
            </a:r>
            <a:r>
              <a:rPr lang="en-US" dirty="0" err="1" smtClean="0"/>
              <a:t>pe</a:t>
            </a:r>
            <a:r>
              <a:rPr lang="en-US" dirty="0" smtClean="0"/>
              <a:t> </a:t>
            </a:r>
            <a:r>
              <a:rPr lang="en-US" dirty="0" err="1" smtClean="0"/>
              <a:t>cineva</a:t>
            </a:r>
            <a:r>
              <a:rPr lang="en-US" dirty="0" smtClean="0"/>
              <a:t>. </a:t>
            </a:r>
            <a:r>
              <a:rPr lang="en-US" dirty="0" err="1" smtClean="0"/>
              <a:t>Vrea</a:t>
            </a:r>
            <a:r>
              <a:rPr lang="en-US" dirty="0" smtClean="0"/>
              <a:t> </a:t>
            </a:r>
            <a:r>
              <a:rPr lang="en-US" dirty="0" err="1" smtClean="0"/>
              <a:t>să</a:t>
            </a:r>
            <a:r>
              <a:rPr lang="en-US" dirty="0" smtClean="0"/>
              <a:t> </a:t>
            </a:r>
            <a:r>
              <a:rPr lang="en-US" dirty="0" err="1" smtClean="0"/>
              <a:t>aplice</a:t>
            </a:r>
            <a:r>
              <a:rPr lang="en-US" dirty="0" smtClean="0"/>
              <a:t> </a:t>
            </a:r>
            <a:r>
              <a:rPr lang="en-US" dirty="0" err="1" smtClean="0"/>
              <a:t>cea</a:t>
            </a:r>
            <a:r>
              <a:rPr lang="en-US" dirty="0" smtClean="0"/>
              <a:t> </a:t>
            </a:r>
            <a:r>
              <a:rPr lang="en-US" dirty="0" err="1" smtClean="0"/>
              <a:t>mai</a:t>
            </a:r>
            <a:r>
              <a:rPr lang="en-US" dirty="0" smtClean="0"/>
              <a:t> </a:t>
            </a:r>
            <a:r>
              <a:rPr lang="en-US" dirty="0" err="1" smtClean="0"/>
              <a:t>ușoară</a:t>
            </a:r>
            <a:r>
              <a:rPr lang="en-US" dirty="0" smtClean="0"/>
              <a:t> </a:t>
            </a:r>
            <a:r>
              <a:rPr lang="en-US" dirty="0" err="1" smtClean="0"/>
              <a:t>sancțiune</a:t>
            </a:r>
            <a:r>
              <a:rPr lang="en-US" dirty="0" smtClean="0"/>
              <a:t>. Din </a:t>
            </a:r>
            <a:r>
              <a:rPr lang="en-US" dirty="0" err="1" smtClean="0"/>
              <a:t>păcate</a:t>
            </a:r>
            <a:r>
              <a:rPr lang="en-US" dirty="0" smtClean="0"/>
              <a:t>, </a:t>
            </a:r>
            <a:r>
              <a:rPr lang="en-US" dirty="0" err="1" smtClean="0"/>
              <a:t>află</a:t>
            </a:r>
            <a:r>
              <a:rPr lang="en-US" dirty="0" smtClean="0"/>
              <a:t> </a:t>
            </a:r>
            <a:r>
              <a:rPr lang="en-US" dirty="0" err="1" smtClean="0"/>
              <a:t>că</a:t>
            </a:r>
            <a:r>
              <a:rPr lang="en-US" dirty="0" smtClean="0"/>
              <a:t> </a:t>
            </a:r>
            <a:r>
              <a:rPr lang="en-US" dirty="0" err="1" smtClean="0"/>
              <a:t>cel</a:t>
            </a:r>
            <a:r>
              <a:rPr lang="en-US" dirty="0" smtClean="0"/>
              <a:t> care a </a:t>
            </a:r>
            <a:r>
              <a:rPr lang="en-US" dirty="0" err="1" smtClean="0"/>
              <a:t>făcut</a:t>
            </a:r>
            <a:r>
              <a:rPr lang="en-US" dirty="0" smtClean="0"/>
              <a:t> </a:t>
            </a:r>
            <a:r>
              <a:rPr lang="en-US" dirty="0" err="1" smtClean="0"/>
              <a:t>greșeala</a:t>
            </a:r>
            <a:r>
              <a:rPr lang="en-US" dirty="0" smtClean="0"/>
              <a:t> </a:t>
            </a:r>
            <a:r>
              <a:rPr lang="en-US" dirty="0" err="1" smtClean="0"/>
              <a:t>este</a:t>
            </a:r>
            <a:r>
              <a:rPr lang="en-US" dirty="0" smtClean="0"/>
              <a:t> un </a:t>
            </a:r>
            <a:r>
              <a:rPr lang="en-US" dirty="0" err="1" smtClean="0"/>
              <a:t>angajat</a:t>
            </a:r>
            <a:r>
              <a:rPr lang="en-US" dirty="0" smtClean="0"/>
              <a:t> cu </a:t>
            </a:r>
            <a:r>
              <a:rPr lang="en-US" dirty="0" err="1" smtClean="0"/>
              <a:t>probleme</a:t>
            </a:r>
            <a:r>
              <a:rPr lang="en-US" dirty="0" smtClean="0"/>
              <a:t> </a:t>
            </a:r>
            <a:r>
              <a:rPr lang="en-US" dirty="0" err="1" smtClean="0"/>
              <a:t>familiale</a:t>
            </a:r>
            <a:r>
              <a:rPr lang="en-US" dirty="0" smtClean="0"/>
              <a:t>. Este a </a:t>
            </a:r>
            <a:r>
              <a:rPr lang="en-US" dirty="0" err="1" smtClean="0"/>
              <a:t>doua</a:t>
            </a:r>
            <a:r>
              <a:rPr lang="en-US" dirty="0" smtClean="0"/>
              <a:t> </a:t>
            </a:r>
            <a:r>
              <a:rPr lang="en-US" dirty="0" err="1" smtClean="0"/>
              <a:t>sa</a:t>
            </a:r>
            <a:r>
              <a:rPr lang="en-US" dirty="0" smtClean="0"/>
              <a:t> </a:t>
            </a:r>
            <a:r>
              <a:rPr lang="en-US" dirty="0" err="1" smtClean="0"/>
              <a:t>greșeală</a:t>
            </a:r>
            <a:r>
              <a:rPr lang="en-US" dirty="0" smtClean="0"/>
              <a:t>, </a:t>
            </a:r>
            <a:r>
              <a:rPr lang="en-US" dirty="0" err="1" smtClean="0"/>
              <a:t>iar</a:t>
            </a:r>
            <a:r>
              <a:rPr lang="en-US" dirty="0" smtClean="0"/>
              <a:t> </a:t>
            </a:r>
            <a:r>
              <a:rPr lang="en-US" dirty="0" err="1" smtClean="0"/>
              <a:t>managerul</a:t>
            </a:r>
            <a:r>
              <a:rPr lang="en-US" dirty="0" smtClean="0"/>
              <a:t>  </a:t>
            </a:r>
            <a:r>
              <a:rPr lang="en-US" dirty="0" err="1" smtClean="0"/>
              <a:t>îl</a:t>
            </a:r>
            <a:r>
              <a:rPr lang="en-US" dirty="0" smtClean="0"/>
              <a:t> </a:t>
            </a:r>
            <a:r>
              <a:rPr lang="en-US" dirty="0" err="1" smtClean="0"/>
              <a:t>va</a:t>
            </a:r>
            <a:r>
              <a:rPr lang="en-US" dirty="0" smtClean="0"/>
              <a:t> </a:t>
            </a:r>
            <a:r>
              <a:rPr lang="en-US" dirty="0" err="1" smtClean="0"/>
              <a:t>concedia</a:t>
            </a:r>
            <a:r>
              <a:rPr lang="en-US" dirty="0" smtClean="0"/>
              <a:t>. </a:t>
            </a:r>
            <a:r>
              <a:rPr lang="en-US" dirty="0" err="1" smtClean="0"/>
              <a:t>Managerul</a:t>
            </a:r>
            <a:r>
              <a:rPr lang="en-US" dirty="0" smtClean="0"/>
              <a:t> </a:t>
            </a:r>
            <a:r>
              <a:rPr lang="en-US" dirty="0" err="1" smtClean="0"/>
              <a:t>vrea</a:t>
            </a:r>
            <a:r>
              <a:rPr lang="en-US" dirty="0" smtClean="0"/>
              <a:t> </a:t>
            </a:r>
            <a:r>
              <a:rPr lang="en-US" dirty="0" err="1" smtClean="0"/>
              <a:t>să</a:t>
            </a:r>
            <a:r>
              <a:rPr lang="en-US" dirty="0" smtClean="0"/>
              <a:t> </a:t>
            </a:r>
            <a:r>
              <a:rPr lang="en-US" dirty="0" err="1" smtClean="0"/>
              <a:t>îl</a:t>
            </a:r>
            <a:r>
              <a:rPr lang="en-US" dirty="0" smtClean="0"/>
              <a:t> </a:t>
            </a:r>
            <a:r>
              <a:rPr lang="en-US" dirty="0" err="1" smtClean="0"/>
              <a:t>pedepsească</a:t>
            </a:r>
            <a:r>
              <a:rPr lang="en-US" dirty="0" smtClean="0"/>
              <a:t> </a:t>
            </a:r>
            <a:r>
              <a:rPr lang="en-US" dirty="0" err="1" smtClean="0"/>
              <a:t>pe</a:t>
            </a:r>
            <a:r>
              <a:rPr lang="en-US" dirty="0" smtClean="0"/>
              <a:t> </a:t>
            </a:r>
            <a:r>
              <a:rPr lang="en-US" dirty="0" err="1" smtClean="0"/>
              <a:t>cel</a:t>
            </a:r>
            <a:r>
              <a:rPr lang="en-US" dirty="0" smtClean="0"/>
              <a:t> </a:t>
            </a:r>
            <a:r>
              <a:rPr lang="en-US" dirty="0" err="1" smtClean="0"/>
              <a:t>nevinovat</a:t>
            </a:r>
            <a:r>
              <a:rPr lang="en-US" dirty="0" smtClean="0"/>
              <a:t>. Este </a:t>
            </a:r>
            <a:r>
              <a:rPr lang="en-US" dirty="0" err="1" smtClean="0"/>
              <a:t>corect</a:t>
            </a:r>
            <a:r>
              <a:rPr lang="en-US" dirty="0" smtClean="0"/>
              <a:t> din </a:t>
            </a:r>
            <a:r>
              <a:rPr lang="en-US" dirty="0" err="1" smtClean="0"/>
              <a:t>punct</a:t>
            </a:r>
            <a:r>
              <a:rPr lang="en-US" dirty="0" smtClean="0"/>
              <a:t> de </a:t>
            </a:r>
            <a:r>
              <a:rPr lang="en-US" dirty="0" err="1" smtClean="0"/>
              <a:t>vedere</a:t>
            </a:r>
            <a:r>
              <a:rPr lang="en-US" dirty="0" smtClean="0"/>
              <a:t> moral?</a:t>
            </a:r>
          </a:p>
          <a:p>
            <a:pPr indent="-334963">
              <a:lnSpc>
                <a:spcPct val="90000"/>
              </a:lnSpc>
              <a:spcBef>
                <a:spcPct val="0"/>
              </a:spcBef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dirty="0" smtClean="0"/>
              <a:t>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0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-334963">
              <a:lnSpc>
                <a:spcPct val="90000"/>
              </a:lnSpc>
              <a:spcBef>
                <a:spcPct val="0"/>
              </a:spcBef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dirty="0" smtClean="0"/>
              <a:t>Utilitarism – este corect, pentru că va maximiza utilitatea</a:t>
            </a:r>
          </a:p>
          <a:p>
            <a:pPr indent="-334963">
              <a:lnSpc>
                <a:spcPct val="90000"/>
              </a:lnSpc>
              <a:spcBef>
                <a:spcPct val="0"/>
              </a:spcBef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ro-RO" dirty="0" smtClean="0"/>
          </a:p>
          <a:p>
            <a:pPr indent="-334963">
              <a:lnSpc>
                <a:spcPct val="90000"/>
              </a:lnSpc>
              <a:spcBef>
                <a:spcPct val="0"/>
              </a:spcBef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dirty="0" smtClean="0"/>
              <a:t>  Dar în acest caz, dreptul angajatului nevinovat va fi încălcat.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892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190500"/>
            <a:ext cx="8229600" cy="1312863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o-RO" sz="4000" smtClean="0"/>
              <a:t>Utilitarismul acţional vs. utilitarismul regulii</a:t>
            </a: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791075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spcBef>
                <a:spcPts val="700"/>
              </a:spcBef>
              <a:buNone/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r>
              <a:rPr lang="ro-RO" sz="2400" dirty="0" smtClean="0">
                <a:latin typeface="Times New Roman" pitchFamily="16" charset="0"/>
              </a:rPr>
              <a:t>Situaţie: un om sărac fură de la unul bogat.</a:t>
            </a:r>
          </a:p>
          <a:p>
            <a:pPr marL="0" indent="0" eaLnBrk="1" hangingPunct="1">
              <a:lnSpc>
                <a:spcPct val="80000"/>
              </a:lnSpc>
              <a:spcBef>
                <a:spcPts val="700"/>
              </a:spcBef>
              <a:buNone/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endParaRPr lang="ro-RO" sz="2400" dirty="0" smtClean="0">
              <a:latin typeface="Times New Roman" pitchFamily="16" charset="0"/>
            </a:endParaRPr>
          </a:p>
          <a:p>
            <a:pPr>
              <a:lnSpc>
                <a:spcPct val="80000"/>
              </a:lnSpc>
              <a:spcBef>
                <a:spcPts val="700"/>
              </a:spcBef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r>
              <a:rPr lang="ro-RO" sz="2400" dirty="0" smtClean="0">
                <a:latin typeface="Times New Roman" pitchFamily="16" charset="0"/>
              </a:rPr>
              <a:t>Trebuie să ţinem cont de toate consecinţele aplicării unei reguli de acest tip. </a:t>
            </a:r>
          </a:p>
          <a:p>
            <a:pPr>
              <a:lnSpc>
                <a:spcPct val="80000"/>
              </a:lnSpc>
              <a:spcBef>
                <a:spcPts val="700"/>
              </a:spcBef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endParaRPr lang="ro-RO" sz="2400" dirty="0">
              <a:latin typeface="Times New Roman" pitchFamily="16" charset="0"/>
            </a:endParaRPr>
          </a:p>
          <a:p>
            <a:pPr eaLnBrk="1" hangingPunct="1">
              <a:lnSpc>
                <a:spcPct val="80000"/>
              </a:lnSpc>
              <a:spcBef>
                <a:spcPts val="700"/>
              </a:spcBef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r>
              <a:rPr lang="ro-RO" sz="2400" dirty="0">
                <a:latin typeface="Times New Roman" pitchFamily="16" charset="0"/>
              </a:rPr>
              <a:t> </a:t>
            </a:r>
            <a:r>
              <a:rPr lang="ro-RO" sz="2400" dirty="0" smtClean="0">
                <a:latin typeface="Times New Roman" pitchFamily="16" charset="0"/>
              </a:rPr>
              <a:t>Par a exista două tipuri de utilitarism</a:t>
            </a:r>
          </a:p>
          <a:p>
            <a:pPr eaLnBrk="1" hangingPunct="1">
              <a:lnSpc>
                <a:spcPct val="80000"/>
              </a:lnSpc>
              <a:spcBef>
                <a:spcPts val="700"/>
              </a:spcBef>
              <a:buClrTx/>
              <a:buFont typeface="Wingdings" pitchFamily="2" charset="2"/>
              <a:buChar char="q"/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r>
              <a:rPr lang="ro-RO" sz="2400" dirty="0" smtClean="0">
                <a:latin typeface="Times New Roman" pitchFamily="16" charset="0"/>
              </a:rPr>
              <a:t>	utilitarismul acţional – calculul utilităţii pentru fiecare acţiune.</a:t>
            </a:r>
          </a:p>
          <a:p>
            <a:pPr eaLnBrk="1" hangingPunct="1">
              <a:lnSpc>
                <a:spcPct val="80000"/>
              </a:lnSpc>
              <a:spcBef>
                <a:spcPts val="700"/>
              </a:spcBef>
              <a:buClrTx/>
              <a:buFont typeface="Wingdings" pitchFamily="2" charset="2"/>
              <a:buChar char="q"/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r>
              <a:rPr lang="ro-RO" sz="2400" dirty="0" smtClean="0">
                <a:latin typeface="Times New Roman" pitchFamily="16" charset="0"/>
              </a:rPr>
              <a:t>	utilitarismul regulii – calculul utilităţii aduse de aplicarea generală în societate a respectivei reguli (Acționează conform regulii care, aplicată general în societate, aduce utilitate maximă).</a:t>
            </a:r>
          </a:p>
          <a:p>
            <a:pPr marL="595313" indent="-595313" eaLnBrk="1" hangingPunct="1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r>
              <a:rPr lang="ro-RO" sz="2400" dirty="0" smtClean="0">
                <a:latin typeface="Times New Roman" pitchFamily="16" charset="0"/>
              </a:rPr>
              <a:t>    </a:t>
            </a:r>
          </a:p>
          <a:p>
            <a:pPr marL="595313" indent="-595313" algn="just" eaLnBrk="1" hangingPunct="1">
              <a:spcBef>
                <a:spcPct val="0"/>
              </a:spcBef>
              <a:buClrTx/>
              <a:buFontTx/>
              <a:buNone/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endParaRPr lang="ro-RO" sz="2400" dirty="0" smtClean="0">
              <a:latin typeface="Times New Roman" pitchFamily="1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215211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o-RO" smtClean="0"/>
              <a:t>Deontologism</a:t>
            </a: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marL="595313" indent="-595313" eaLnBrk="1" hangingPunct="1">
              <a:buFont typeface="Times New Roman" pitchFamily="16" charset="0"/>
              <a:buAutoNum type="arabicPeriod"/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r>
              <a:rPr lang="ro-RO" dirty="0" smtClean="0"/>
              <a:t>O acţiune este corectă dacă este în acord cu un set de datorii morale. </a:t>
            </a:r>
          </a:p>
          <a:p>
            <a:pPr marL="595313" indent="-595313" eaLnBrk="1" hangingPunct="1">
              <a:buFont typeface="Times New Roman" pitchFamily="16" charset="0"/>
              <a:buAutoNum type="arabicPeriod"/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endParaRPr lang="ro-RO" dirty="0" smtClean="0"/>
          </a:p>
          <a:p>
            <a:pPr marL="595313" indent="-595313" eaLnBrk="1" hangingPunct="1">
              <a:buFont typeface="Times New Roman" pitchFamily="16" charset="0"/>
              <a:buAutoNum type="arabicPeriod"/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r>
              <a:rPr lang="ro-RO" dirty="0" smtClean="0"/>
              <a:t>Consecinţele acţiunii nu sunt relevante. </a:t>
            </a:r>
          </a:p>
        </p:txBody>
      </p:sp>
    </p:spTree>
    <p:extLst>
      <p:ext uri="{BB962C8B-B14F-4D97-AF65-F5344CB8AC3E}">
        <p14:creationId xmlns:p14="http://schemas.microsoft.com/office/powerpoint/2010/main" val="192166124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8013" cy="1141412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o-RO" sz="2800" b="1" dirty="0" smtClean="0">
                <a:latin typeface="Times New Roman" pitchFamily="16" charset="0"/>
              </a:rPr>
              <a:t>Kantianismul</a:t>
            </a: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8163" y="1905000"/>
            <a:ext cx="8228012" cy="4572000"/>
          </a:xfrm>
        </p:spPr>
        <p:txBody>
          <a:bodyPr/>
          <a:lstStyle/>
          <a:p>
            <a:pPr marL="482600" indent="-457200" eaLnBrk="1" hangingPunct="1">
              <a:buClrTx/>
              <a:buFontTx/>
              <a:buAutoNum type="arabicPeriod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400" dirty="0" smtClean="0">
                <a:solidFill>
                  <a:srgbClr val="C00000"/>
                </a:solidFill>
              </a:rPr>
              <a:t>Intenţia este relevantă</a:t>
            </a:r>
            <a:r>
              <a:rPr lang="ro-RO" sz="2400" dirty="0" smtClean="0"/>
              <a:t>, consecințele nu. </a:t>
            </a:r>
          </a:p>
          <a:p>
            <a:pPr marL="482600" indent="-457200" eaLnBrk="1" hangingPunct="1">
              <a:buClrTx/>
              <a:buFontTx/>
              <a:buAutoNum type="arabicPeriod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ro-RO" sz="2400" dirty="0" smtClean="0"/>
          </a:p>
          <a:p>
            <a:pPr indent="-31750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400" dirty="0" smtClean="0"/>
              <a:t>2. </a:t>
            </a:r>
            <a:r>
              <a:rPr lang="ro-RO" sz="2400" dirty="0" smtClean="0">
                <a:solidFill>
                  <a:srgbClr val="C00000"/>
                </a:solidFill>
              </a:rPr>
              <a:t>Universalitatea </a:t>
            </a:r>
            <a:r>
              <a:rPr lang="ro-RO" sz="2400" dirty="0" smtClean="0"/>
              <a:t>(Imperativul categoric – prima formulare): Acționează conform unei maxime care ai putea dori să devină lege universală, fără ca acest lucru să conducă la contradicție.</a:t>
            </a:r>
          </a:p>
          <a:p>
            <a:pPr indent="-31750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ro-RO" sz="2400" dirty="0" smtClean="0"/>
          </a:p>
          <a:p>
            <a:pPr indent="-31750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400" dirty="0" smtClean="0"/>
              <a:t>3. </a:t>
            </a:r>
            <a:r>
              <a:rPr lang="ro-RO" sz="2400" dirty="0" smtClean="0">
                <a:solidFill>
                  <a:srgbClr val="C00000"/>
                </a:solidFill>
              </a:rPr>
              <a:t>Respectarea oamenilor </a:t>
            </a:r>
            <a:r>
              <a:rPr lang="ro-RO" sz="2400" dirty="0" smtClean="0"/>
              <a:t>(imperativul categoric – formularea a doua): Acționează astfel  încât să tratezi umanitatea, în persoana ta sau în persoana celorlalți, și ca scop în sine, nu numai ca mijloc.</a:t>
            </a:r>
          </a:p>
          <a:p>
            <a:pPr indent="-31750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ro-RO" sz="2400" dirty="0" smtClean="0"/>
          </a:p>
        </p:txBody>
      </p:sp>
    </p:spTree>
    <p:extLst>
      <p:ext uri="{BB962C8B-B14F-4D97-AF65-F5344CB8AC3E}">
        <p14:creationId xmlns:p14="http://schemas.microsoft.com/office/powerpoint/2010/main" val="71084654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8013" cy="715962"/>
          </a:xfrm>
        </p:spPr>
        <p:txBody>
          <a:bodyPr>
            <a:normAutofit fontScale="90000"/>
          </a:bodyPr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o-RO" dirty="0" smtClean="0"/>
              <a:t>Intenția este relevantă</a:t>
            </a: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8163" y="1058863"/>
            <a:ext cx="8228012" cy="6126162"/>
          </a:xfrm>
        </p:spPr>
        <p:txBody>
          <a:bodyPr/>
          <a:lstStyle/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200" dirty="0" smtClean="0"/>
              <a:t> 1</a:t>
            </a:r>
            <a:r>
              <a:rPr lang="ro-RO" sz="2200" dirty="0" smtClean="0">
                <a:solidFill>
                  <a:srgbClr val="C00000"/>
                </a:solidFill>
              </a:rPr>
              <a:t>. Intenția este relevantă, consecințele nu.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200" dirty="0" smtClean="0"/>
              <a:t>     </a:t>
            </a:r>
            <a:r>
              <a:rPr lang="ro-RO" sz="2200" b="1" dirty="0" smtClean="0"/>
              <a:t>O acțiune poate fi morală chiar atunci când consecințele sunt negative.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200" dirty="0" smtClean="0"/>
              <a:t>    Ex.: Spui adevărul și rezultatul este rău (de exemplu îi spui șefului cine a făcut o greșeală, iar respectivul este concediat).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200" dirty="0" smtClean="0"/>
              <a:t>   - utilitarism: să evaluăm consecințele și poate cea mai bună soluție este să nu spunem adevărul.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200" dirty="0" smtClean="0"/>
              <a:t>   - Kant: acțiunea ta este corectă dpdv moral: spui adevărul și respecți o datorie, consecințele nu sunt relevante.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200" dirty="0" smtClean="0"/>
              <a:t> 2. </a:t>
            </a:r>
            <a:r>
              <a:rPr lang="ro-RO" sz="2200" dirty="0" smtClean="0">
                <a:solidFill>
                  <a:srgbClr val="C00000"/>
                </a:solidFill>
              </a:rPr>
              <a:t>Trebuie să își respecți datoriile morale în toate situațiile și nu trebuie să faci excepții pentru a crește utilitatea totală.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200" dirty="0" smtClean="0"/>
              <a:t>    - în unele cazuri excepțiile par acceptabile deoarece cresc utilitatea totală.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200" dirty="0" smtClean="0"/>
              <a:t>   Ex.: Într-o companie este în vigoare o regulă, iar un angajat crede că încălcarea ei va conduce la avantaje semnificative.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200" dirty="0" smtClean="0"/>
              <a:t>   - utilitarism (cel puțin al acțiunii): poți încălca regula.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200" dirty="0" smtClean="0"/>
              <a:t>    - Kant: nu trebuie să încalci regula pentru a crește utilitatea.      </a:t>
            </a:r>
          </a:p>
        </p:txBody>
      </p:sp>
    </p:spTree>
    <p:extLst>
      <p:ext uri="{BB962C8B-B14F-4D97-AF65-F5344CB8AC3E}">
        <p14:creationId xmlns:p14="http://schemas.microsoft.com/office/powerpoint/2010/main" val="301624541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8013" cy="715962"/>
          </a:xfrm>
        </p:spPr>
        <p:txBody>
          <a:bodyPr>
            <a:normAutofit fontScale="90000"/>
          </a:bodyPr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o-RO" dirty="0" smtClean="0"/>
              <a:t>Intenția este relevantă (II)</a:t>
            </a: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8163" y="1058863"/>
            <a:ext cx="8228012" cy="5567362"/>
          </a:xfrm>
        </p:spPr>
        <p:txBody>
          <a:bodyPr/>
          <a:lstStyle/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200" dirty="0" smtClean="0"/>
              <a:t>3. </a:t>
            </a:r>
            <a:r>
              <a:rPr lang="ro-RO" sz="2200" dirty="0" smtClean="0">
                <a:solidFill>
                  <a:srgbClr val="C00000"/>
                </a:solidFill>
              </a:rPr>
              <a:t>Exact aceeași acțiune poate fi morală (și demnă de laudă) sau nu, depinzând de intenția agentului.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ro-RO" sz="2200" dirty="0" smtClean="0">
              <a:solidFill>
                <a:srgbClr val="C00000"/>
              </a:solidFill>
            </a:endParaRP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200" dirty="0" smtClean="0"/>
              <a:t>Exemplu: un comerciant vinde numai produse bune și sigure, ...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ro-RO" sz="2200" dirty="0" smtClean="0"/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200" dirty="0" smtClean="0"/>
              <a:t>       − utilitarism (și teoria interesului rațional): comerciantul acționează în mod moral.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ro-RO" sz="2200" dirty="0" smtClean="0"/>
          </a:p>
          <a:p>
            <a:pPr indent="-317500" algn="just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200" dirty="0" smtClean="0"/>
              <a:t>− Kant: </a:t>
            </a:r>
            <a:r>
              <a:rPr lang="en-US" sz="2200" dirty="0" err="1" smtClean="0"/>
              <a:t>comerciantul</a:t>
            </a:r>
            <a:r>
              <a:rPr lang="en-US" sz="2200" dirty="0" smtClean="0"/>
              <a:t> </a:t>
            </a:r>
            <a:r>
              <a:rPr lang="en-US" sz="2200" dirty="0" err="1" smtClean="0"/>
              <a:t>acționează</a:t>
            </a:r>
            <a:r>
              <a:rPr lang="en-US" sz="2200" dirty="0" smtClean="0"/>
              <a:t> </a:t>
            </a:r>
            <a:r>
              <a:rPr lang="en-US" sz="2200" dirty="0" err="1" smtClean="0"/>
              <a:t>morală</a:t>
            </a:r>
            <a:r>
              <a:rPr lang="en-US" sz="2200" dirty="0" smtClean="0"/>
              <a:t> </a:t>
            </a:r>
            <a:r>
              <a:rPr lang="en-US" sz="2200" dirty="0" err="1" smtClean="0"/>
              <a:t>numai</a:t>
            </a:r>
            <a:r>
              <a:rPr lang="en-US" sz="2200" dirty="0" smtClean="0"/>
              <a:t> </a:t>
            </a:r>
            <a:r>
              <a:rPr lang="en-US" sz="2200" dirty="0" err="1" smtClean="0"/>
              <a:t>dacă</a:t>
            </a:r>
            <a:r>
              <a:rPr lang="en-US" sz="2200" dirty="0" smtClean="0"/>
              <a:t> </a:t>
            </a:r>
            <a:r>
              <a:rPr lang="en-US" sz="2200" dirty="0" err="1" smtClean="0"/>
              <a:t>intenția</a:t>
            </a:r>
            <a:r>
              <a:rPr lang="en-US" sz="2200" dirty="0" smtClean="0"/>
              <a:t> </a:t>
            </a:r>
            <a:r>
              <a:rPr lang="en-US" sz="2200" dirty="0" err="1" smtClean="0"/>
              <a:t>sa</a:t>
            </a:r>
            <a:r>
              <a:rPr lang="en-US" sz="2200" dirty="0" smtClean="0"/>
              <a:t> nu </a:t>
            </a:r>
            <a:r>
              <a:rPr lang="en-US" sz="2200" dirty="0" err="1" smtClean="0"/>
              <a:t>este</a:t>
            </a:r>
            <a:r>
              <a:rPr lang="en-US" sz="2200" dirty="0" smtClean="0"/>
              <a:t> </a:t>
            </a:r>
            <a:r>
              <a:rPr lang="en-US" sz="2200" dirty="0" err="1" smtClean="0"/>
              <a:t>aceea</a:t>
            </a:r>
            <a:r>
              <a:rPr lang="en-US" sz="2200" dirty="0" smtClean="0"/>
              <a:t> de a c</a:t>
            </a:r>
            <a:r>
              <a:rPr lang="ro-RO" sz="2200" dirty="0"/>
              <a:t>â</a:t>
            </a:r>
            <a:r>
              <a:rPr lang="en-US" sz="2200" dirty="0" err="1" smtClean="0"/>
              <a:t>știga</a:t>
            </a:r>
            <a:r>
              <a:rPr lang="en-US" sz="2200" dirty="0" smtClean="0"/>
              <a:t> </a:t>
            </a:r>
            <a:r>
              <a:rPr lang="en-US" sz="2200" dirty="0" err="1" smtClean="0"/>
              <a:t>reputație</a:t>
            </a:r>
            <a:r>
              <a:rPr lang="en-US" sz="2200" dirty="0" smtClean="0"/>
              <a:t>, </a:t>
            </a:r>
            <a:r>
              <a:rPr lang="en-US" sz="2200" dirty="0" err="1" smtClean="0"/>
              <a:t>pentru</a:t>
            </a:r>
            <a:r>
              <a:rPr lang="en-US" sz="2200" dirty="0" smtClean="0"/>
              <a:t> a </a:t>
            </a:r>
            <a:r>
              <a:rPr lang="en-US" sz="2200" dirty="0" err="1" smtClean="0"/>
              <a:t>avea</a:t>
            </a:r>
            <a:r>
              <a:rPr lang="en-US" sz="2200" dirty="0" smtClean="0"/>
              <a:t> </a:t>
            </a:r>
            <a:r>
              <a:rPr lang="en-US" sz="2200" dirty="0" err="1" smtClean="0"/>
              <a:t>mai</a:t>
            </a:r>
            <a:r>
              <a:rPr lang="en-US" sz="2200" dirty="0" smtClean="0"/>
              <a:t> </a:t>
            </a:r>
            <a:r>
              <a:rPr lang="en-US" sz="2200" dirty="0" err="1" smtClean="0"/>
              <a:t>mulți</a:t>
            </a:r>
            <a:r>
              <a:rPr lang="en-US" sz="2200" dirty="0" smtClean="0"/>
              <a:t> </a:t>
            </a:r>
            <a:r>
              <a:rPr lang="en-US" sz="2200" dirty="0" err="1" smtClean="0"/>
              <a:t>clienți</a:t>
            </a:r>
            <a:r>
              <a:rPr lang="en-US" sz="2200" dirty="0" smtClean="0"/>
              <a:t> </a:t>
            </a:r>
            <a:r>
              <a:rPr lang="en-US" sz="2200" dirty="0" err="1" smtClean="0"/>
              <a:t>și</a:t>
            </a:r>
            <a:r>
              <a:rPr lang="en-US" sz="2200" dirty="0" smtClean="0"/>
              <a:t> profit </a:t>
            </a:r>
            <a:r>
              <a:rPr lang="en-US" sz="2200" dirty="0" err="1" smtClean="0"/>
              <a:t>mai</a:t>
            </a:r>
            <a:r>
              <a:rPr lang="en-US" sz="2200" dirty="0" smtClean="0"/>
              <a:t> mare. </a:t>
            </a:r>
            <a:r>
              <a:rPr lang="en-US" sz="2200" dirty="0" err="1" smtClean="0"/>
              <a:t>Dacă</a:t>
            </a:r>
            <a:r>
              <a:rPr lang="en-US" sz="2200" dirty="0" smtClean="0"/>
              <a:t> </a:t>
            </a:r>
            <a:r>
              <a:rPr lang="en-US" sz="2200" dirty="0" err="1" smtClean="0"/>
              <a:t>așa</a:t>
            </a:r>
            <a:r>
              <a:rPr lang="en-US" sz="2200" dirty="0" smtClean="0"/>
              <a:t> se </a:t>
            </a:r>
            <a:r>
              <a:rPr lang="en-US" sz="2200" dirty="0" err="1" smtClean="0"/>
              <a:t>întâmplă</a:t>
            </a:r>
            <a:r>
              <a:rPr lang="en-US" sz="2200" dirty="0" smtClean="0"/>
              <a:t>, </a:t>
            </a:r>
            <a:r>
              <a:rPr lang="en-US" sz="2200" dirty="0" err="1" smtClean="0"/>
              <a:t>atunci</a:t>
            </a:r>
            <a:r>
              <a:rPr lang="en-US" sz="2200" dirty="0" smtClean="0"/>
              <a:t> </a:t>
            </a:r>
            <a:r>
              <a:rPr lang="en-US" sz="2200" dirty="0" err="1" smtClean="0"/>
              <a:t>comerciantul</a:t>
            </a:r>
            <a:r>
              <a:rPr lang="en-US" sz="2200" dirty="0" smtClean="0"/>
              <a:t> </a:t>
            </a:r>
            <a:r>
              <a:rPr lang="en-US" sz="2200" dirty="0" err="1" smtClean="0"/>
              <a:t>acționează</a:t>
            </a:r>
            <a:r>
              <a:rPr lang="en-US" sz="2200" dirty="0" smtClean="0"/>
              <a:t> </a:t>
            </a:r>
            <a:r>
              <a:rPr lang="en-US" sz="2200" dirty="0" err="1" smtClean="0"/>
              <a:t>în</a:t>
            </a:r>
            <a:r>
              <a:rPr lang="en-US" sz="2200" dirty="0" smtClean="0"/>
              <a:t> mod </a:t>
            </a:r>
            <a:r>
              <a:rPr lang="en-US" sz="2200" dirty="0" err="1" smtClean="0"/>
              <a:t>interesat</a:t>
            </a:r>
            <a:endParaRPr lang="en-US" sz="2200" dirty="0" smtClean="0"/>
          </a:p>
          <a:p>
            <a:pPr indent="-31750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200" dirty="0" smtClean="0"/>
              <a:t>      </a:t>
            </a:r>
            <a:r>
              <a:rPr lang="ro-RO" sz="2200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7889234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8013" cy="1141412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o-RO" smtClean="0"/>
              <a:t>Intenția este relevantă (III)</a:t>
            </a: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8163" y="1290638"/>
            <a:ext cx="8228012" cy="5946775"/>
          </a:xfrm>
        </p:spPr>
        <p:txBody>
          <a:bodyPr/>
          <a:lstStyle/>
          <a:p>
            <a:pPr indent="-317500" algn="just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400" dirty="0" smtClean="0"/>
              <a:t> A acționa din datorie/ conform datoriei (Exemplu: Am găsit un portofel plin cu bani și mă gândesc dacă să îl returnez proprietarului)</a:t>
            </a:r>
          </a:p>
          <a:p>
            <a:pPr indent="-317500" algn="just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400" dirty="0" smtClean="0"/>
              <a:t>− a acționa conform datoriei și din datorie: să returnez portofelul, chiar dacă sunt sigur că nu voi fi văzut sau prins dacă îl iau → </a:t>
            </a:r>
            <a:r>
              <a:rPr lang="ro-RO" sz="2400" b="1" dirty="0" smtClean="0"/>
              <a:t>acțiune</a:t>
            </a:r>
            <a:r>
              <a:rPr lang="ro-RO" sz="2400" dirty="0" smtClean="0"/>
              <a:t> </a:t>
            </a:r>
            <a:r>
              <a:rPr lang="en-US" sz="2400" b="1" dirty="0" err="1" smtClean="0"/>
              <a:t>morală</a:t>
            </a:r>
            <a:r>
              <a:rPr lang="en-US" sz="2400" b="1" dirty="0" smtClean="0"/>
              <a:t>.</a:t>
            </a:r>
          </a:p>
          <a:p>
            <a:pPr indent="-317500" algn="just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400" dirty="0" smtClean="0"/>
              <a:t>− a acționa conform datoriei, dar nu din datorie: a returna portofelul, deoarece cineva m-ar putea vedea → </a:t>
            </a:r>
            <a:r>
              <a:rPr lang="ro-RO" sz="2400" b="1" dirty="0" smtClean="0"/>
              <a:t>nu este o acțiune morală și demnă de laudă. </a:t>
            </a:r>
          </a:p>
          <a:p>
            <a:pPr indent="-317500" algn="just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400" dirty="0" smtClean="0"/>
              <a:t>− a nu acționa nici conform datoriei, nici din datorie: să iau portofelul, pentru că am nevoie de bani. → </a:t>
            </a:r>
            <a:r>
              <a:rPr lang="ro-RO" sz="2400" b="1" dirty="0" smtClean="0"/>
              <a:t>acțiune</a:t>
            </a:r>
            <a:r>
              <a:rPr lang="ro-RO" sz="2400" dirty="0" smtClean="0"/>
              <a:t> </a:t>
            </a:r>
            <a:r>
              <a:rPr lang="en-US" sz="2400" b="1" dirty="0" err="1" smtClean="0"/>
              <a:t>imorală</a:t>
            </a:r>
            <a:endParaRPr lang="en-US" sz="2400" b="1" dirty="0" smtClean="0"/>
          </a:p>
          <a:p>
            <a:pPr indent="-317500" algn="just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400" dirty="0" smtClean="0"/>
              <a:t>− a nu acționa conform datoriei, dar din datorie: să nu dau înapoi portofelul, pentru că eu cred că acest lucru este corect  → </a:t>
            </a:r>
            <a:r>
              <a:rPr lang="en-US" sz="2400" b="1" dirty="0" err="1" smtClean="0"/>
              <a:t>caz</a:t>
            </a:r>
            <a:r>
              <a:rPr lang="en-US" sz="2400" b="1" dirty="0" smtClean="0"/>
              <a:t> complex, nu </a:t>
            </a:r>
            <a:r>
              <a:rPr lang="en-US" sz="2400" b="1" dirty="0" err="1" smtClean="0"/>
              <a:t>este</a:t>
            </a:r>
            <a:r>
              <a:rPr lang="en-US" sz="2400" b="1" dirty="0" smtClean="0"/>
              <a:t> o </a:t>
            </a:r>
            <a:r>
              <a:rPr lang="en-US" sz="2400" b="1" dirty="0" err="1" smtClean="0"/>
              <a:t>acțiune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morală</a:t>
            </a:r>
            <a:r>
              <a:rPr lang="en-US" sz="2400" b="1" dirty="0" smtClean="0"/>
              <a:t>.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400" dirty="0" smtClean="0"/>
              <a:t> </a:t>
            </a:r>
            <a:r>
              <a:rPr lang="ro-RO" sz="2400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7886307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o-RO" smtClean="0"/>
              <a:t>Probleme</a:t>
            </a: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153025"/>
          </a:xfrm>
        </p:spPr>
        <p:txBody>
          <a:bodyPr>
            <a:normAutofit lnSpcReduction="10000"/>
          </a:bodyPr>
          <a:lstStyle/>
          <a:p>
            <a:pPr indent="-319088" algn="just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600" dirty="0" smtClean="0">
                <a:latin typeface="Times New Roman" pitchFamily="16" charset="0"/>
              </a:rPr>
              <a:t>  1. </a:t>
            </a:r>
            <a:r>
              <a:rPr lang="ro-RO" sz="2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6" charset="0"/>
              </a:rPr>
              <a:t>Care datorie este mai importantă </a:t>
            </a:r>
          </a:p>
          <a:p>
            <a:pPr indent="-319088" algn="just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600" dirty="0" smtClean="0">
                <a:latin typeface="Times New Roman" pitchFamily="16" charset="0"/>
              </a:rPr>
              <a:t>  Directorul unei companii este pe cale să încheie un contract pentru a începe o afacere, dar ulterior află ceva și își dă seama că desfășurarea afacerii ar afecta mediul. Ar trebui să renunțe? </a:t>
            </a:r>
          </a:p>
          <a:p>
            <a:pPr indent="-319088" eaLnBrk="1" hangingPunct="1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600" dirty="0" smtClean="0">
                <a:latin typeface="Times New Roman" pitchFamily="16" charset="0"/>
              </a:rPr>
              <a:t>   1. Conflict între datorii: datoria de a nu afecta mediul (derivată din datoria de a nu afecta în mod negativ oamenii) vs. datoria de a respecta angajamentele  </a:t>
            </a:r>
          </a:p>
          <a:p>
            <a:pPr indent="-319088" eaLnBrk="1" hangingPunct="1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ro-RO" sz="2600" dirty="0" smtClean="0">
              <a:latin typeface="Times New Roman" pitchFamily="16" charset="0"/>
            </a:endParaRPr>
          </a:p>
          <a:p>
            <a:pPr indent="-319088" eaLnBrk="1" hangingPunct="1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600" dirty="0" smtClean="0">
                <a:latin typeface="Times New Roman" pitchFamily="16" charset="0"/>
              </a:rPr>
              <a:t>  2. </a:t>
            </a:r>
            <a:r>
              <a:rPr lang="ro-RO" sz="2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6" charset="0"/>
              </a:rPr>
              <a:t>Limitele unei datorii</a:t>
            </a:r>
          </a:p>
          <a:p>
            <a:pPr indent="-319088" eaLnBrk="1" hangingPunct="1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600" dirty="0" smtClean="0">
                <a:latin typeface="Times New Roman" pitchFamily="16" charset="0"/>
              </a:rPr>
              <a:t>     ex.: ce implică datoria de </a:t>
            </a:r>
            <a:r>
              <a:rPr lang="en-US" sz="2600" dirty="0" smtClean="0">
                <a:latin typeface="Times New Roman" pitchFamily="16" charset="0"/>
              </a:rPr>
              <a:t>a </a:t>
            </a:r>
            <a:r>
              <a:rPr lang="ro-RO" sz="2600" dirty="0" smtClean="0">
                <a:latin typeface="Times New Roman" pitchFamily="16" charset="0"/>
              </a:rPr>
              <a:t>spune adevărul?</a:t>
            </a:r>
          </a:p>
          <a:p>
            <a:pPr indent="-319088" eaLnBrk="1" hangingPunct="1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600" dirty="0" smtClean="0">
                <a:latin typeface="Times New Roman" pitchFamily="16" charset="0"/>
              </a:rPr>
              <a:t> </a:t>
            </a:r>
          </a:p>
          <a:p>
            <a:pPr indent="-319088" eaLnBrk="1" hangingPunct="1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600" dirty="0" smtClean="0">
                <a:latin typeface="Times New Roman" pitchFamily="16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400915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8013" cy="1141412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o-RO" sz="2800" b="1" dirty="0" smtClean="0">
                <a:latin typeface="Times New Roman" pitchFamily="16" charset="0"/>
              </a:rPr>
              <a:t>Problema 1</a:t>
            </a:r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8163" y="1100138"/>
            <a:ext cx="8228012" cy="5567362"/>
          </a:xfrm>
        </p:spPr>
        <p:txBody>
          <a:bodyPr/>
          <a:lstStyle/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200" dirty="0" smtClean="0"/>
              <a:t>   </a:t>
            </a:r>
            <a:r>
              <a:rPr lang="en-US" sz="2200" dirty="0" err="1" smtClean="0"/>
              <a:t>Ești</a:t>
            </a:r>
            <a:r>
              <a:rPr lang="en-US" sz="2200" dirty="0" smtClean="0"/>
              <a:t> </a:t>
            </a:r>
            <a:r>
              <a:rPr lang="en-US" sz="2200" dirty="0" err="1" smtClean="0"/>
              <a:t>într</a:t>
            </a:r>
            <a:r>
              <a:rPr lang="en-US" sz="2200" dirty="0" smtClean="0"/>
              <a:t>-o </a:t>
            </a:r>
            <a:r>
              <a:rPr lang="en-US" sz="2200" dirty="0" err="1" smtClean="0"/>
              <a:t>comisie</a:t>
            </a:r>
            <a:r>
              <a:rPr lang="en-US" sz="2200" dirty="0" smtClean="0"/>
              <a:t> de concurs </a:t>
            </a:r>
            <a:r>
              <a:rPr lang="en-US" sz="2200" dirty="0" err="1" smtClean="0"/>
              <a:t>și</a:t>
            </a:r>
            <a:r>
              <a:rPr lang="en-US" sz="2200" dirty="0" smtClean="0"/>
              <a:t> </a:t>
            </a:r>
            <a:r>
              <a:rPr lang="en-US" sz="2200" dirty="0" err="1" smtClean="0"/>
              <a:t>vrei</a:t>
            </a:r>
            <a:r>
              <a:rPr lang="en-US" sz="2200" dirty="0" smtClean="0"/>
              <a:t> </a:t>
            </a:r>
            <a:r>
              <a:rPr lang="en-US" sz="2200" dirty="0" err="1" smtClean="0"/>
              <a:t>să</a:t>
            </a:r>
            <a:r>
              <a:rPr lang="en-US" sz="2200" dirty="0" smtClean="0"/>
              <a:t> î</a:t>
            </a:r>
            <a:r>
              <a:rPr lang="ro-RO" sz="2200" dirty="0" smtClean="0"/>
              <a:t>ț</a:t>
            </a:r>
            <a:r>
              <a:rPr lang="en-US" sz="2200" dirty="0" smtClean="0"/>
              <a:t>i </a:t>
            </a:r>
            <a:r>
              <a:rPr lang="en-US" sz="2200" dirty="0" err="1" smtClean="0"/>
              <a:t>ajuți</a:t>
            </a:r>
            <a:r>
              <a:rPr lang="en-US" sz="2200" dirty="0" smtClean="0"/>
              <a:t> un </a:t>
            </a:r>
            <a:r>
              <a:rPr lang="en-US" sz="2200" dirty="0" err="1" smtClean="0"/>
              <a:t>prieten</a:t>
            </a:r>
            <a:r>
              <a:rPr lang="en-US" sz="2200" dirty="0" smtClean="0"/>
              <a:t> </a:t>
            </a:r>
            <a:r>
              <a:rPr lang="en-US" sz="2200" dirty="0" err="1" smtClean="0"/>
              <a:t>să</a:t>
            </a:r>
            <a:r>
              <a:rPr lang="en-US" sz="2200" dirty="0" smtClean="0"/>
              <a:t> c</a:t>
            </a:r>
            <a:r>
              <a:rPr lang="ro-RO" sz="2200" dirty="0"/>
              <a:t>â</a:t>
            </a:r>
            <a:r>
              <a:rPr lang="en-US" sz="2200" dirty="0" err="1" smtClean="0"/>
              <a:t>știge</a:t>
            </a:r>
            <a:r>
              <a:rPr lang="en-US" sz="2200" dirty="0" smtClean="0"/>
              <a:t> </a:t>
            </a:r>
            <a:r>
              <a:rPr lang="en-US" sz="2200" dirty="0" err="1" smtClean="0"/>
              <a:t>în</a:t>
            </a:r>
            <a:r>
              <a:rPr lang="en-US" sz="2200" dirty="0" smtClean="0"/>
              <a:t> </a:t>
            </a:r>
            <a:r>
              <a:rPr lang="en-US" sz="2200" dirty="0" err="1" smtClean="0"/>
              <a:t>fața</a:t>
            </a:r>
            <a:r>
              <a:rPr lang="en-US" sz="2200" dirty="0" smtClean="0"/>
              <a:t> </a:t>
            </a:r>
            <a:r>
              <a:rPr lang="en-US" sz="2200" dirty="0" err="1" smtClean="0"/>
              <a:t>unui</a:t>
            </a:r>
            <a:r>
              <a:rPr lang="en-US" sz="2200" dirty="0" smtClean="0"/>
              <a:t> </a:t>
            </a:r>
            <a:r>
              <a:rPr lang="en-US" sz="2200" dirty="0" err="1" smtClean="0"/>
              <a:t>contracandidat</a:t>
            </a:r>
            <a:r>
              <a:rPr lang="en-US" sz="2200" dirty="0" smtClean="0"/>
              <a:t> </a:t>
            </a:r>
            <a:r>
              <a:rPr lang="en-US" sz="2200" dirty="0" err="1" smtClean="0"/>
              <a:t>mai</a:t>
            </a:r>
            <a:r>
              <a:rPr lang="en-US" sz="2200" dirty="0" smtClean="0"/>
              <a:t> </a:t>
            </a:r>
            <a:r>
              <a:rPr lang="en-US" sz="2200" dirty="0" err="1" smtClean="0"/>
              <a:t>calificat</a:t>
            </a:r>
            <a:r>
              <a:rPr lang="en-US" sz="2200" dirty="0" smtClean="0"/>
              <a:t>. Este </a:t>
            </a:r>
            <a:r>
              <a:rPr lang="en-US" sz="2200" dirty="0" err="1" smtClean="0"/>
              <a:t>acest</a:t>
            </a:r>
            <a:r>
              <a:rPr lang="en-US" sz="2200" dirty="0" smtClean="0"/>
              <a:t> </a:t>
            </a:r>
            <a:r>
              <a:rPr lang="en-US" sz="2200" dirty="0" err="1" smtClean="0"/>
              <a:t>lucru</a:t>
            </a:r>
            <a:r>
              <a:rPr lang="en-US" sz="2200" dirty="0" smtClean="0"/>
              <a:t> </a:t>
            </a:r>
            <a:r>
              <a:rPr lang="en-US" sz="2200" dirty="0" err="1" smtClean="0"/>
              <a:t>corect</a:t>
            </a:r>
            <a:r>
              <a:rPr lang="en-US" sz="2200" dirty="0" smtClean="0"/>
              <a:t>?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200" dirty="0" smtClean="0"/>
              <a:t>   Maxima ta: </a:t>
            </a:r>
            <a:r>
              <a:rPr lang="en-US" sz="2200" dirty="0" err="1" smtClean="0"/>
              <a:t>Ajută-ți</a:t>
            </a:r>
            <a:r>
              <a:rPr lang="en-US" sz="2200" dirty="0" smtClean="0"/>
              <a:t> </a:t>
            </a:r>
            <a:r>
              <a:rPr lang="en-US" sz="2200" dirty="0" err="1" smtClean="0"/>
              <a:t>prietenul</a:t>
            </a:r>
            <a:r>
              <a:rPr lang="en-US" sz="2200" dirty="0" smtClean="0"/>
              <a:t> </a:t>
            </a:r>
            <a:r>
              <a:rPr lang="en-US" sz="2200" dirty="0" err="1" smtClean="0"/>
              <a:t>să</a:t>
            </a:r>
            <a:r>
              <a:rPr lang="en-US" sz="2200" dirty="0" smtClean="0"/>
              <a:t> </a:t>
            </a:r>
            <a:r>
              <a:rPr lang="en-US" sz="2200" dirty="0" err="1" smtClean="0"/>
              <a:t>câștige</a:t>
            </a:r>
            <a:r>
              <a:rPr lang="en-US" sz="2200" dirty="0" smtClean="0"/>
              <a:t> </a:t>
            </a:r>
            <a:r>
              <a:rPr lang="en-US" sz="2200" dirty="0" err="1" smtClean="0"/>
              <a:t>în</a:t>
            </a:r>
            <a:r>
              <a:rPr lang="en-US" sz="2200" dirty="0" smtClean="0"/>
              <a:t> </a:t>
            </a:r>
            <a:r>
              <a:rPr lang="en-US" sz="2200" dirty="0" err="1" smtClean="0"/>
              <a:t>toate</a:t>
            </a:r>
            <a:r>
              <a:rPr lang="en-US" sz="2200" dirty="0" smtClean="0"/>
              <a:t> </a:t>
            </a:r>
            <a:r>
              <a:rPr lang="en-US" sz="2200" dirty="0" err="1" smtClean="0"/>
              <a:t>situațiile</a:t>
            </a:r>
            <a:r>
              <a:rPr lang="en-US" sz="2200" dirty="0" smtClean="0"/>
              <a:t> (</a:t>
            </a:r>
            <a:r>
              <a:rPr lang="en-US" sz="2200" dirty="0" err="1" smtClean="0"/>
              <a:t>chiar</a:t>
            </a:r>
            <a:r>
              <a:rPr lang="en-US" sz="2200" dirty="0" smtClean="0"/>
              <a:t> </a:t>
            </a:r>
            <a:r>
              <a:rPr lang="en-US" sz="2200" dirty="0" err="1" smtClean="0"/>
              <a:t>să</a:t>
            </a:r>
            <a:r>
              <a:rPr lang="en-US" sz="2200" dirty="0" smtClean="0"/>
              <a:t> c</a:t>
            </a:r>
            <a:r>
              <a:rPr lang="ro-RO" sz="2200" dirty="0"/>
              <a:t>â</a:t>
            </a:r>
            <a:r>
              <a:rPr lang="en-US" sz="2200" dirty="0" err="1" smtClean="0"/>
              <a:t>știge</a:t>
            </a:r>
            <a:r>
              <a:rPr lang="en-US" sz="2200" dirty="0" smtClean="0"/>
              <a:t> </a:t>
            </a:r>
            <a:r>
              <a:rPr lang="en-US" sz="2200" dirty="0" err="1" smtClean="0"/>
              <a:t>ceva</a:t>
            </a:r>
            <a:r>
              <a:rPr lang="en-US" sz="2200" dirty="0" smtClean="0"/>
              <a:t> </a:t>
            </a:r>
            <a:r>
              <a:rPr lang="en-US" sz="2200" dirty="0" err="1" smtClean="0"/>
              <a:t>ce</a:t>
            </a:r>
            <a:r>
              <a:rPr lang="en-US" sz="2200" dirty="0" smtClean="0"/>
              <a:t> nu </a:t>
            </a:r>
            <a:r>
              <a:rPr lang="en-US" sz="2200" dirty="0" err="1" smtClean="0"/>
              <a:t>merită</a:t>
            </a:r>
            <a:r>
              <a:rPr lang="en-US" sz="2200" dirty="0" smtClean="0"/>
              <a:t>).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US" sz="2200" dirty="0" smtClean="0"/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200" dirty="0" err="1" smtClean="0"/>
              <a:t>Intenția</a:t>
            </a:r>
            <a:r>
              <a:rPr lang="en-US" sz="2200" dirty="0" smtClean="0"/>
              <a:t> ta </a:t>
            </a:r>
            <a:r>
              <a:rPr lang="en-US" sz="2200" dirty="0" err="1" smtClean="0"/>
              <a:t>este</a:t>
            </a:r>
            <a:r>
              <a:rPr lang="en-US" sz="2200" dirty="0" smtClean="0"/>
              <a:t> </a:t>
            </a:r>
            <a:r>
              <a:rPr lang="en-US" sz="2200" dirty="0" err="1" smtClean="0"/>
              <a:t>bună</a:t>
            </a:r>
            <a:r>
              <a:rPr lang="en-US" sz="2200" dirty="0" smtClean="0"/>
              <a:t>, </a:t>
            </a:r>
            <a:r>
              <a:rPr lang="en-US" sz="2200" dirty="0" err="1" smtClean="0"/>
              <a:t>să</a:t>
            </a:r>
            <a:r>
              <a:rPr lang="en-US" sz="2200" dirty="0" smtClean="0"/>
              <a:t> î</a:t>
            </a:r>
            <a:r>
              <a:rPr lang="ro-RO" sz="2200" dirty="0"/>
              <a:t>ț</a:t>
            </a:r>
            <a:r>
              <a:rPr lang="en-US" sz="2200" dirty="0" smtClean="0"/>
              <a:t>i </a:t>
            </a:r>
            <a:r>
              <a:rPr lang="en-US" sz="2200" dirty="0" err="1" smtClean="0"/>
              <a:t>ajuți</a:t>
            </a:r>
            <a:r>
              <a:rPr lang="en-US" sz="2200" dirty="0" smtClean="0"/>
              <a:t> </a:t>
            </a:r>
            <a:r>
              <a:rPr lang="en-US" sz="2200" dirty="0" err="1" smtClean="0"/>
              <a:t>prietenul</a:t>
            </a:r>
            <a:r>
              <a:rPr lang="en-US" sz="2200" dirty="0" smtClean="0"/>
              <a:t>, </a:t>
            </a:r>
            <a:r>
              <a:rPr lang="en-US" sz="2200" dirty="0" err="1" smtClean="0"/>
              <a:t>deci</a:t>
            </a:r>
            <a:r>
              <a:rPr lang="en-US" sz="2200" dirty="0" smtClean="0"/>
              <a:t> </a:t>
            </a:r>
            <a:r>
              <a:rPr lang="en-US" sz="2200" dirty="0" err="1" smtClean="0"/>
              <a:t>acțiunea</a:t>
            </a:r>
            <a:r>
              <a:rPr lang="en-US" sz="2200" dirty="0" smtClean="0"/>
              <a:t> e </a:t>
            </a:r>
            <a:r>
              <a:rPr lang="en-US" sz="2200" dirty="0" err="1" smtClean="0"/>
              <a:t>corectă</a:t>
            </a:r>
            <a:r>
              <a:rPr lang="en-US" sz="2200" dirty="0" smtClean="0"/>
              <a:t>.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200" dirty="0" smtClean="0"/>
              <a:t> 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200" dirty="0" err="1" smtClean="0"/>
              <a:t>Testul</a:t>
            </a:r>
            <a:r>
              <a:rPr lang="en-US" sz="2200" dirty="0" smtClean="0"/>
              <a:t> </a:t>
            </a:r>
            <a:r>
              <a:rPr lang="en-US" sz="2200" dirty="0" err="1" smtClean="0"/>
              <a:t>universaliz</a:t>
            </a:r>
            <a:r>
              <a:rPr lang="ro-RO" sz="2200" dirty="0" smtClean="0"/>
              <a:t>ă</a:t>
            </a:r>
            <a:r>
              <a:rPr lang="en-US" sz="2200" dirty="0" err="1" smtClean="0"/>
              <a:t>rii</a:t>
            </a:r>
            <a:r>
              <a:rPr lang="en-US" sz="2200" dirty="0" smtClean="0"/>
              <a:t>: 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200" dirty="0" smtClean="0"/>
              <a:t>   i) Maxima nu </a:t>
            </a:r>
            <a:r>
              <a:rPr lang="en-US" sz="2200" dirty="0" err="1" smtClean="0"/>
              <a:t>poate</a:t>
            </a:r>
            <a:r>
              <a:rPr lang="en-US" sz="2200" dirty="0" smtClean="0"/>
              <a:t> fi </a:t>
            </a:r>
            <a:r>
              <a:rPr lang="en-US" sz="2200" dirty="0" err="1" smtClean="0"/>
              <a:t>universalizată</a:t>
            </a:r>
            <a:r>
              <a:rPr lang="en-US" sz="2200" dirty="0" smtClean="0"/>
              <a:t>: </a:t>
            </a:r>
            <a:r>
              <a:rPr lang="en-US" sz="2200" dirty="0" err="1" smtClean="0"/>
              <a:t>Cel</a:t>
            </a:r>
            <a:r>
              <a:rPr lang="en-US" sz="2200" dirty="0" smtClean="0"/>
              <a:t> </a:t>
            </a:r>
            <a:r>
              <a:rPr lang="en-US" sz="2200" dirty="0" err="1" smtClean="0"/>
              <a:t>puțin</a:t>
            </a:r>
            <a:r>
              <a:rPr lang="en-US" sz="2200" dirty="0" smtClean="0"/>
              <a:t> </a:t>
            </a:r>
            <a:r>
              <a:rPr lang="en-US" sz="2200" dirty="0" err="1" smtClean="0"/>
              <a:t>în</a:t>
            </a:r>
            <a:r>
              <a:rPr lang="en-US" sz="2200" dirty="0" smtClean="0"/>
              <a:t> </a:t>
            </a:r>
            <a:r>
              <a:rPr lang="en-US" sz="2200" dirty="0" err="1" smtClean="0"/>
              <a:t>anumite</a:t>
            </a:r>
            <a:r>
              <a:rPr lang="en-US" sz="2200" dirty="0" smtClean="0"/>
              <a:t> </a:t>
            </a:r>
            <a:r>
              <a:rPr lang="en-US" sz="2200" dirty="0" err="1" smtClean="0"/>
              <a:t>situații</a:t>
            </a:r>
            <a:r>
              <a:rPr lang="en-US" sz="2200" dirty="0" smtClean="0"/>
              <a:t>, </a:t>
            </a:r>
            <a:r>
              <a:rPr lang="en-US" sz="2200" dirty="0" err="1" smtClean="0"/>
              <a:t>doi</a:t>
            </a:r>
            <a:r>
              <a:rPr lang="en-US" sz="2200" dirty="0" smtClean="0"/>
              <a:t> </a:t>
            </a:r>
            <a:r>
              <a:rPr lang="en-US" sz="2200" dirty="0" err="1" smtClean="0"/>
              <a:t>membri</a:t>
            </a:r>
            <a:r>
              <a:rPr lang="en-US" sz="2200" dirty="0" smtClean="0"/>
              <a:t> </a:t>
            </a:r>
            <a:r>
              <a:rPr lang="en-US" sz="2200" dirty="0" err="1" smtClean="0"/>
              <a:t>ai</a:t>
            </a:r>
            <a:r>
              <a:rPr lang="en-US" sz="2200" dirty="0" smtClean="0"/>
              <a:t> </a:t>
            </a:r>
            <a:r>
              <a:rPr lang="en-US" sz="2200" dirty="0" err="1" smtClean="0"/>
              <a:t>comisiei</a:t>
            </a:r>
            <a:r>
              <a:rPr lang="en-US" sz="2200" dirty="0" smtClean="0"/>
              <a:t> </a:t>
            </a:r>
            <a:r>
              <a:rPr lang="en-US" sz="2200" dirty="0" err="1" smtClean="0"/>
              <a:t>doresc</a:t>
            </a:r>
            <a:r>
              <a:rPr lang="en-US" sz="2200" dirty="0" smtClean="0"/>
              <a:t> </a:t>
            </a:r>
            <a:r>
              <a:rPr lang="en-US" sz="2200" dirty="0" err="1" smtClean="0"/>
              <a:t>acest</a:t>
            </a:r>
            <a:r>
              <a:rPr lang="en-US" sz="2200" dirty="0" smtClean="0"/>
              <a:t> </a:t>
            </a:r>
            <a:r>
              <a:rPr lang="en-US" sz="2200" dirty="0" err="1" smtClean="0"/>
              <a:t>lucru</a:t>
            </a:r>
            <a:r>
              <a:rPr lang="en-US" sz="2200" dirty="0" smtClean="0"/>
              <a:t>: </a:t>
            </a:r>
            <a:r>
              <a:rPr lang="en-US" sz="2200" dirty="0" err="1" smtClean="0"/>
              <a:t>să</a:t>
            </a:r>
            <a:r>
              <a:rPr lang="en-US" sz="2200" dirty="0" smtClean="0"/>
              <a:t> </a:t>
            </a:r>
            <a:r>
              <a:rPr lang="en-US" sz="2200" dirty="0" err="1" smtClean="0"/>
              <a:t>își</a:t>
            </a:r>
            <a:r>
              <a:rPr lang="en-US" sz="2200" dirty="0" smtClean="0"/>
              <a:t> </a:t>
            </a:r>
            <a:r>
              <a:rPr lang="en-US" sz="2200" dirty="0" err="1" smtClean="0"/>
              <a:t>ajute</a:t>
            </a:r>
            <a:r>
              <a:rPr lang="en-US" sz="2200" dirty="0" smtClean="0"/>
              <a:t> </a:t>
            </a:r>
            <a:r>
              <a:rPr lang="en-US" sz="2200" dirty="0" err="1" smtClean="0"/>
              <a:t>prietenul</a:t>
            </a:r>
            <a:r>
              <a:rPr lang="en-US" sz="2200" dirty="0" smtClean="0"/>
              <a:t>, </a:t>
            </a:r>
            <a:r>
              <a:rPr lang="en-US" sz="2200" dirty="0" err="1" smtClean="0"/>
              <a:t>ceea</a:t>
            </a:r>
            <a:r>
              <a:rPr lang="en-US" sz="2200" dirty="0" smtClean="0"/>
              <a:t> </a:t>
            </a:r>
            <a:r>
              <a:rPr lang="en-US" sz="2200" dirty="0" err="1" smtClean="0"/>
              <a:t>ce</a:t>
            </a:r>
            <a:r>
              <a:rPr lang="en-US" sz="2200" dirty="0" smtClean="0"/>
              <a:t> </a:t>
            </a:r>
            <a:r>
              <a:rPr lang="en-US" sz="2200" dirty="0" err="1" smtClean="0"/>
              <a:t>ar</a:t>
            </a:r>
            <a:r>
              <a:rPr lang="en-US" sz="2200" dirty="0" smtClean="0"/>
              <a:t> fi </a:t>
            </a:r>
            <a:r>
              <a:rPr lang="en-US" sz="2200" dirty="0" err="1" smtClean="0"/>
              <a:t>imposibil</a:t>
            </a:r>
            <a:r>
              <a:rPr lang="en-US" sz="2200" dirty="0" smtClean="0"/>
              <a:t>.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200" dirty="0" smtClean="0"/>
              <a:t>    ii) </a:t>
            </a:r>
            <a:r>
              <a:rPr lang="en-US" sz="2200" dirty="0" err="1" smtClean="0"/>
              <a:t>Reversibilitatea</a:t>
            </a:r>
            <a:r>
              <a:rPr lang="en-US" sz="2200" dirty="0" smtClean="0"/>
              <a:t>: </a:t>
            </a:r>
            <a:r>
              <a:rPr lang="en-US" sz="2200" dirty="0" err="1" smtClean="0"/>
              <a:t>dacă</a:t>
            </a:r>
            <a:r>
              <a:rPr lang="en-US" sz="2200" dirty="0" smtClean="0"/>
              <a:t> </a:t>
            </a:r>
            <a:r>
              <a:rPr lang="en-US" sz="2200" dirty="0" err="1" smtClean="0"/>
              <a:t>ai</a:t>
            </a:r>
            <a:r>
              <a:rPr lang="en-US" sz="2200" dirty="0" smtClean="0"/>
              <a:t> fi un </a:t>
            </a:r>
            <a:r>
              <a:rPr lang="en-US" sz="2200" dirty="0" err="1" smtClean="0"/>
              <a:t>candidat</a:t>
            </a:r>
            <a:r>
              <a:rPr lang="en-US" sz="2200" dirty="0" smtClean="0"/>
              <a:t> </a:t>
            </a:r>
            <a:r>
              <a:rPr lang="en-US" sz="2200" dirty="0" err="1" smtClean="0"/>
              <a:t>nefericit</a:t>
            </a:r>
            <a:r>
              <a:rPr lang="en-US" sz="2200" dirty="0" smtClean="0"/>
              <a:t> care </a:t>
            </a:r>
            <a:r>
              <a:rPr lang="en-US" sz="2200" dirty="0" err="1" smtClean="0"/>
              <a:t>ar</a:t>
            </a:r>
            <a:r>
              <a:rPr lang="en-US" sz="2200" dirty="0" smtClean="0"/>
              <a:t> </a:t>
            </a:r>
            <a:r>
              <a:rPr lang="en-US" sz="2200" dirty="0" err="1" smtClean="0"/>
              <a:t>concura</a:t>
            </a:r>
            <a:r>
              <a:rPr lang="en-US" sz="2200" dirty="0" smtClean="0"/>
              <a:t> </a:t>
            </a:r>
            <a:r>
              <a:rPr lang="en-US" sz="2200" dirty="0" err="1" smtClean="0"/>
              <a:t>împotriva</a:t>
            </a:r>
            <a:r>
              <a:rPr lang="en-US" sz="2200" dirty="0" smtClean="0"/>
              <a:t> </a:t>
            </a:r>
            <a:r>
              <a:rPr lang="en-US" sz="2200" dirty="0" err="1" smtClean="0"/>
              <a:t>unui</a:t>
            </a:r>
            <a:r>
              <a:rPr lang="en-US" sz="2200" dirty="0" smtClean="0"/>
              <a:t> </a:t>
            </a:r>
            <a:r>
              <a:rPr lang="en-US" sz="2200" dirty="0" err="1" smtClean="0"/>
              <a:t>candidat</a:t>
            </a:r>
            <a:r>
              <a:rPr lang="en-US" sz="2200" dirty="0" smtClean="0"/>
              <a:t> cu </a:t>
            </a:r>
            <a:r>
              <a:rPr lang="en-US" sz="2200" dirty="0" err="1" smtClean="0"/>
              <a:t>prie</a:t>
            </a:r>
            <a:r>
              <a:rPr lang="ro-RO" sz="2200" dirty="0" smtClean="0"/>
              <a:t>t</a:t>
            </a:r>
            <a:r>
              <a:rPr lang="en-US" sz="2200" dirty="0" err="1" smtClean="0"/>
              <a:t>ni</a:t>
            </a:r>
            <a:r>
              <a:rPr lang="en-US" sz="2200" dirty="0" smtClean="0"/>
              <a:t> </a:t>
            </a:r>
            <a:r>
              <a:rPr lang="en-US" sz="2200" dirty="0" err="1" smtClean="0"/>
              <a:t>în</a:t>
            </a:r>
            <a:r>
              <a:rPr lang="en-US" sz="2200" dirty="0" smtClean="0"/>
              <a:t> </a:t>
            </a:r>
            <a:r>
              <a:rPr lang="en-US" sz="2200" dirty="0" err="1" smtClean="0"/>
              <a:t>comisie</a:t>
            </a:r>
            <a:r>
              <a:rPr lang="en-US" sz="2200" dirty="0" smtClean="0"/>
              <a:t>, nu </a:t>
            </a:r>
            <a:r>
              <a:rPr lang="en-US" sz="2200" dirty="0" err="1" smtClean="0"/>
              <a:t>ai</a:t>
            </a:r>
            <a:r>
              <a:rPr lang="en-US" sz="2200" dirty="0" smtClean="0"/>
              <a:t> </a:t>
            </a:r>
            <a:r>
              <a:rPr lang="en-US" sz="2200" dirty="0" err="1" smtClean="0"/>
              <a:t>dori</a:t>
            </a:r>
            <a:r>
              <a:rPr lang="en-US" sz="2200" dirty="0" smtClean="0"/>
              <a:t> </a:t>
            </a:r>
            <a:r>
              <a:rPr lang="en-US" sz="2200" dirty="0" err="1" smtClean="0"/>
              <a:t>acest</a:t>
            </a:r>
            <a:r>
              <a:rPr lang="en-US" sz="2200" dirty="0" smtClean="0"/>
              <a:t> </a:t>
            </a:r>
            <a:r>
              <a:rPr lang="en-US" sz="2200" dirty="0" err="1" smtClean="0"/>
              <a:t>lucru</a:t>
            </a:r>
            <a:r>
              <a:rPr lang="en-US" sz="2200" dirty="0" smtClean="0"/>
              <a:t>.  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200" dirty="0" smtClean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4356006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8013" cy="1141412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o-RO" sz="2800" b="1" smtClean="0">
                <a:latin typeface="Times New Roman" pitchFamily="16" charset="0"/>
              </a:rPr>
              <a:t>Problema 2</a:t>
            </a:r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8163" y="1100138"/>
            <a:ext cx="8228012" cy="5567362"/>
          </a:xfrm>
        </p:spPr>
        <p:txBody>
          <a:bodyPr/>
          <a:lstStyle/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200" dirty="0" smtClean="0"/>
              <a:t> </a:t>
            </a:r>
            <a:r>
              <a:rPr lang="en-US" sz="2200" dirty="0" err="1" smtClean="0"/>
              <a:t>Ești</a:t>
            </a:r>
            <a:r>
              <a:rPr lang="en-US" sz="2200" dirty="0" smtClean="0"/>
              <a:t> un </a:t>
            </a:r>
            <a:r>
              <a:rPr lang="en-US" sz="2200" dirty="0" err="1" smtClean="0"/>
              <a:t>angajat</a:t>
            </a:r>
            <a:r>
              <a:rPr lang="en-US" sz="2200" dirty="0" smtClean="0"/>
              <a:t> </a:t>
            </a:r>
            <a:r>
              <a:rPr lang="en-US" sz="2200" dirty="0" err="1" smtClean="0"/>
              <a:t>și</a:t>
            </a:r>
            <a:r>
              <a:rPr lang="en-US" sz="2200" dirty="0" smtClean="0"/>
              <a:t> </a:t>
            </a:r>
            <a:r>
              <a:rPr lang="en-US" sz="2200" dirty="0" err="1" smtClean="0"/>
              <a:t>afli</a:t>
            </a:r>
            <a:r>
              <a:rPr lang="en-US" sz="2200" dirty="0" smtClean="0"/>
              <a:t> </a:t>
            </a:r>
            <a:r>
              <a:rPr lang="en-US" sz="2200" dirty="0" err="1" smtClean="0"/>
              <a:t>că</a:t>
            </a:r>
            <a:r>
              <a:rPr lang="en-US" sz="2200" dirty="0" smtClean="0"/>
              <a:t> s-a </a:t>
            </a:r>
            <a:r>
              <a:rPr lang="en-US" sz="2200" dirty="0" err="1" smtClean="0"/>
              <a:t>întâmplat</a:t>
            </a:r>
            <a:r>
              <a:rPr lang="en-US" sz="2200" dirty="0" smtClean="0"/>
              <a:t> un accident </a:t>
            </a:r>
            <a:r>
              <a:rPr lang="en-US" sz="2200" dirty="0" err="1" smtClean="0"/>
              <a:t>în</a:t>
            </a:r>
            <a:r>
              <a:rPr lang="en-US" sz="2200" dirty="0" smtClean="0"/>
              <a:t> </a:t>
            </a:r>
            <a:r>
              <a:rPr lang="en-US" sz="2200" dirty="0" err="1" smtClean="0"/>
              <a:t>fabrica</a:t>
            </a:r>
            <a:r>
              <a:rPr lang="en-US" sz="2200" dirty="0" smtClean="0"/>
              <a:t> </a:t>
            </a:r>
            <a:r>
              <a:rPr lang="en-US" sz="2200" dirty="0" err="1" smtClean="0"/>
              <a:t>în</a:t>
            </a:r>
            <a:r>
              <a:rPr lang="en-US" sz="2200" dirty="0" smtClean="0"/>
              <a:t> care </a:t>
            </a:r>
            <a:r>
              <a:rPr lang="en-US" sz="2200" dirty="0" err="1" smtClean="0"/>
              <a:t>lucrezi</a:t>
            </a:r>
            <a:r>
              <a:rPr lang="en-US" sz="2200" dirty="0" smtClean="0"/>
              <a:t>. </a:t>
            </a:r>
            <a:r>
              <a:rPr lang="en-US" sz="2200" dirty="0" err="1" smtClean="0"/>
              <a:t>Managerii</a:t>
            </a:r>
            <a:r>
              <a:rPr lang="en-US" sz="2200" dirty="0" smtClean="0"/>
              <a:t> </a:t>
            </a:r>
            <a:r>
              <a:rPr lang="en-US" sz="2200" dirty="0" err="1" smtClean="0"/>
              <a:t>vor</a:t>
            </a:r>
            <a:r>
              <a:rPr lang="en-US" sz="2200" dirty="0" smtClean="0"/>
              <a:t> </a:t>
            </a:r>
            <a:r>
              <a:rPr lang="en-US" sz="2200" dirty="0" err="1" smtClean="0"/>
              <a:t>să</a:t>
            </a:r>
            <a:r>
              <a:rPr lang="en-US" sz="2200" dirty="0" smtClean="0"/>
              <a:t> </a:t>
            </a:r>
            <a:r>
              <a:rPr lang="en-US" sz="2200" dirty="0" err="1" smtClean="0"/>
              <a:t>ascundă</a:t>
            </a:r>
            <a:r>
              <a:rPr lang="en-US" sz="2200" dirty="0" smtClean="0"/>
              <a:t> </a:t>
            </a:r>
            <a:r>
              <a:rPr lang="en-US" sz="2200" dirty="0" err="1" smtClean="0"/>
              <a:t>accidentul</a:t>
            </a:r>
            <a:r>
              <a:rPr lang="en-US" sz="2200" dirty="0" smtClean="0"/>
              <a:t> </a:t>
            </a:r>
            <a:r>
              <a:rPr lang="en-US" sz="2200" dirty="0" err="1" smtClean="0"/>
              <a:t>și</a:t>
            </a:r>
            <a:r>
              <a:rPr lang="en-US" sz="2200" dirty="0" smtClean="0"/>
              <a:t> </a:t>
            </a:r>
            <a:r>
              <a:rPr lang="en-US" sz="2200" dirty="0" err="1" smtClean="0"/>
              <a:t>știi</a:t>
            </a:r>
            <a:r>
              <a:rPr lang="en-US" sz="2200" dirty="0" smtClean="0"/>
              <a:t> </a:t>
            </a:r>
            <a:r>
              <a:rPr lang="en-US" sz="2200" dirty="0" err="1" smtClean="0"/>
              <a:t>că</a:t>
            </a:r>
            <a:r>
              <a:rPr lang="en-US" sz="2200" dirty="0" smtClean="0"/>
              <a:t> </a:t>
            </a:r>
            <a:r>
              <a:rPr lang="en-US" sz="2200" dirty="0" err="1" smtClean="0"/>
              <a:t>dacă</a:t>
            </a:r>
            <a:r>
              <a:rPr lang="en-US" sz="2200" dirty="0" smtClean="0"/>
              <a:t> se </a:t>
            </a:r>
            <a:r>
              <a:rPr lang="en-US" sz="2200" dirty="0" err="1" smtClean="0"/>
              <a:t>află</a:t>
            </a:r>
            <a:r>
              <a:rPr lang="en-US" sz="2200" dirty="0" smtClean="0"/>
              <a:t> </a:t>
            </a:r>
            <a:r>
              <a:rPr lang="en-US" sz="2200" dirty="0" err="1" smtClean="0"/>
              <a:t>fabrica</a:t>
            </a:r>
            <a:r>
              <a:rPr lang="en-US" sz="2200" dirty="0" smtClean="0"/>
              <a:t> </a:t>
            </a:r>
            <a:r>
              <a:rPr lang="en-US" sz="2200" dirty="0" err="1" smtClean="0"/>
              <a:t>va</a:t>
            </a:r>
            <a:r>
              <a:rPr lang="en-US" sz="2200" dirty="0" smtClean="0"/>
              <a:t> fi </a:t>
            </a:r>
            <a:r>
              <a:rPr lang="en-US" sz="2200" dirty="0" err="1" smtClean="0"/>
              <a:t>închisă</a:t>
            </a:r>
            <a:r>
              <a:rPr lang="en-US" sz="2200" dirty="0" smtClean="0"/>
              <a:t>. 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US" sz="2200" dirty="0"/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US" sz="2200" dirty="0" smtClean="0"/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200" dirty="0" err="1" smtClean="0"/>
              <a:t>Ce</a:t>
            </a:r>
            <a:r>
              <a:rPr lang="en-US" sz="2200" dirty="0" smtClean="0"/>
              <a:t> </a:t>
            </a:r>
            <a:r>
              <a:rPr lang="en-US" sz="2200" dirty="0" err="1" smtClean="0"/>
              <a:t>trebuie</a:t>
            </a:r>
            <a:r>
              <a:rPr lang="en-US" sz="2200" dirty="0" smtClean="0"/>
              <a:t> </a:t>
            </a:r>
            <a:r>
              <a:rPr lang="en-US" sz="2200" dirty="0" err="1" smtClean="0"/>
              <a:t>să</a:t>
            </a:r>
            <a:r>
              <a:rPr lang="en-US" sz="2200" dirty="0" smtClean="0"/>
              <a:t> </a:t>
            </a:r>
            <a:r>
              <a:rPr lang="en-US" sz="2200" dirty="0" err="1" smtClean="0"/>
              <a:t>faci</a:t>
            </a:r>
            <a:r>
              <a:rPr lang="en-US" sz="2200" dirty="0" smtClean="0"/>
              <a:t>?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US" sz="2200" dirty="0"/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US" sz="2200" dirty="0" smtClean="0"/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US" sz="2200" dirty="0" smtClean="0"/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200" dirty="0" smtClean="0"/>
              <a:t>    - </a:t>
            </a:r>
            <a:r>
              <a:rPr lang="en-US" sz="2200" dirty="0" err="1" smtClean="0"/>
              <a:t>utilitarism</a:t>
            </a:r>
            <a:r>
              <a:rPr lang="en-US" sz="2200" dirty="0" smtClean="0"/>
              <a:t>: </a:t>
            </a:r>
            <a:r>
              <a:rPr lang="en-US" sz="2200" dirty="0" err="1" smtClean="0"/>
              <a:t>trebuie</a:t>
            </a:r>
            <a:r>
              <a:rPr lang="en-US" sz="2200" dirty="0" smtClean="0"/>
              <a:t> evaluate </a:t>
            </a:r>
            <a:r>
              <a:rPr lang="ro-RO" sz="2200" dirty="0" smtClean="0"/>
              <a:t>consecințele</a:t>
            </a:r>
            <a:r>
              <a:rPr lang="en-US" sz="2200" dirty="0" smtClean="0"/>
              <a:t>.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200" dirty="0" smtClean="0"/>
              <a:t>   - Kant: </a:t>
            </a:r>
            <a:r>
              <a:rPr lang="en-US" sz="2200" dirty="0" err="1" smtClean="0"/>
              <a:t>trebuie</a:t>
            </a:r>
            <a:r>
              <a:rPr lang="en-US" sz="2200" dirty="0" smtClean="0"/>
              <a:t> </a:t>
            </a:r>
            <a:r>
              <a:rPr lang="en-US" sz="2200" dirty="0" err="1" smtClean="0"/>
              <a:t>să</a:t>
            </a:r>
            <a:r>
              <a:rPr lang="en-US" sz="2200" dirty="0" smtClean="0"/>
              <a:t> </a:t>
            </a:r>
            <a:r>
              <a:rPr lang="en-US" sz="2200" dirty="0" err="1" smtClean="0"/>
              <a:t>raportezi</a:t>
            </a:r>
            <a:r>
              <a:rPr lang="en-US" sz="2200" dirty="0" smtClean="0"/>
              <a:t>, </a:t>
            </a:r>
            <a:r>
              <a:rPr lang="en-US" sz="2200" dirty="0" err="1" smtClean="0"/>
              <a:t>pentru</a:t>
            </a:r>
            <a:r>
              <a:rPr lang="en-US" sz="2200" dirty="0" smtClean="0"/>
              <a:t> </a:t>
            </a:r>
            <a:r>
              <a:rPr lang="en-US" sz="2200" dirty="0" err="1" smtClean="0"/>
              <a:t>că</a:t>
            </a:r>
            <a:r>
              <a:rPr lang="en-US" sz="2200" dirty="0" smtClean="0"/>
              <a:t> </a:t>
            </a:r>
            <a:r>
              <a:rPr lang="en-US" sz="2200" dirty="0" err="1" smtClean="0"/>
              <a:t>aceasta</a:t>
            </a:r>
            <a:r>
              <a:rPr lang="en-US" sz="2200" dirty="0" smtClean="0"/>
              <a:t> e </a:t>
            </a:r>
            <a:r>
              <a:rPr lang="en-US" sz="2200" dirty="0" err="1" smtClean="0"/>
              <a:t>datoria</a:t>
            </a:r>
            <a:r>
              <a:rPr lang="en-US" sz="2200" dirty="0" smtClean="0"/>
              <a:t> ta. </a:t>
            </a:r>
            <a:r>
              <a:rPr lang="en-US" sz="2200" dirty="0" err="1" smtClean="0"/>
              <a:t>Consecințele</a:t>
            </a:r>
            <a:r>
              <a:rPr lang="en-US" sz="2200" dirty="0" smtClean="0"/>
              <a:t> nu </a:t>
            </a:r>
            <a:r>
              <a:rPr lang="en-US" sz="2200" dirty="0" err="1" smtClean="0"/>
              <a:t>sunt</a:t>
            </a:r>
            <a:r>
              <a:rPr lang="en-US" sz="2200" dirty="0" smtClean="0"/>
              <a:t> </a:t>
            </a:r>
            <a:r>
              <a:rPr lang="en-US" sz="2200" dirty="0" err="1" smtClean="0"/>
              <a:t>relevante</a:t>
            </a:r>
            <a:r>
              <a:rPr lang="en-US" sz="2200" dirty="0" smtClean="0"/>
              <a:t>.   </a:t>
            </a:r>
          </a:p>
        </p:txBody>
      </p:sp>
    </p:spTree>
    <p:extLst>
      <p:ext uri="{BB962C8B-B14F-4D97-AF65-F5344CB8AC3E}">
        <p14:creationId xmlns:p14="http://schemas.microsoft.com/office/powerpoint/2010/main" val="331868964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8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8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48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48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8013" cy="1141412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o-RO" sz="2800" b="1" smtClean="0">
                <a:latin typeface="Times New Roman" pitchFamily="16" charset="0"/>
              </a:rPr>
              <a:t>Problema 3</a:t>
            </a:r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8163" y="1100138"/>
            <a:ext cx="8228012" cy="5567362"/>
          </a:xfrm>
        </p:spPr>
        <p:txBody>
          <a:bodyPr/>
          <a:lstStyle/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200" dirty="0" smtClean="0"/>
              <a:t>   </a:t>
            </a:r>
            <a:r>
              <a:rPr lang="en-US" sz="2200" dirty="0" err="1" smtClean="0"/>
              <a:t>Ești</a:t>
            </a:r>
            <a:r>
              <a:rPr lang="en-US" sz="2200" dirty="0" smtClean="0"/>
              <a:t> </a:t>
            </a:r>
            <a:r>
              <a:rPr lang="en-US" sz="2200" dirty="0" err="1" smtClean="0"/>
              <a:t>directorul</a:t>
            </a:r>
            <a:r>
              <a:rPr lang="en-US" sz="2200" dirty="0" smtClean="0"/>
              <a:t> </a:t>
            </a:r>
            <a:r>
              <a:rPr lang="en-US" sz="2200" dirty="0" err="1" smtClean="0"/>
              <a:t>unui</a:t>
            </a:r>
            <a:r>
              <a:rPr lang="en-US" sz="2200" dirty="0" smtClean="0"/>
              <a:t> </a:t>
            </a:r>
            <a:r>
              <a:rPr lang="en-US" sz="2200" dirty="0" err="1" smtClean="0"/>
              <a:t>departament</a:t>
            </a:r>
            <a:r>
              <a:rPr lang="en-US" sz="2200" dirty="0" smtClean="0"/>
              <a:t> </a:t>
            </a:r>
            <a:r>
              <a:rPr lang="en-US" sz="2200" dirty="0" err="1" smtClean="0"/>
              <a:t>și</a:t>
            </a:r>
            <a:r>
              <a:rPr lang="en-US" sz="2200" dirty="0" smtClean="0"/>
              <a:t> </a:t>
            </a:r>
            <a:r>
              <a:rPr lang="en-US" sz="2200" dirty="0" err="1" smtClean="0"/>
              <a:t>unul</a:t>
            </a:r>
            <a:r>
              <a:rPr lang="en-US" sz="2200" dirty="0" smtClean="0"/>
              <a:t> </a:t>
            </a:r>
            <a:r>
              <a:rPr lang="en-US" sz="2200" dirty="0" err="1" smtClean="0"/>
              <a:t>dintre</a:t>
            </a:r>
            <a:r>
              <a:rPr lang="en-US" sz="2200" dirty="0" smtClean="0"/>
              <a:t> </a:t>
            </a:r>
            <a:r>
              <a:rPr lang="en-US" sz="2200" dirty="0" err="1" smtClean="0"/>
              <a:t>angajații</a:t>
            </a:r>
            <a:r>
              <a:rPr lang="en-US" sz="2200" dirty="0" smtClean="0"/>
              <a:t> </a:t>
            </a:r>
            <a:r>
              <a:rPr lang="en-US" sz="2200" dirty="0" err="1" smtClean="0"/>
              <a:t>tăi</a:t>
            </a:r>
            <a:r>
              <a:rPr lang="en-US" sz="2200" dirty="0" smtClean="0"/>
              <a:t> face o </a:t>
            </a:r>
            <a:r>
              <a:rPr lang="en-US" sz="2200" dirty="0" err="1" smtClean="0"/>
              <a:t>greșeală</a:t>
            </a:r>
            <a:r>
              <a:rPr lang="en-US" sz="2200" dirty="0" smtClean="0"/>
              <a:t>. </a:t>
            </a:r>
            <a:r>
              <a:rPr lang="en-US" sz="2200" dirty="0" err="1" smtClean="0"/>
              <a:t>Trebuie</a:t>
            </a:r>
            <a:r>
              <a:rPr lang="en-US" sz="2200" dirty="0" smtClean="0"/>
              <a:t> </a:t>
            </a:r>
            <a:r>
              <a:rPr lang="en-US" sz="2200" dirty="0" err="1" smtClean="0"/>
              <a:t>să</a:t>
            </a:r>
            <a:r>
              <a:rPr lang="en-US" sz="2200" dirty="0" smtClean="0"/>
              <a:t> </a:t>
            </a:r>
            <a:r>
              <a:rPr lang="en-US" sz="2200" dirty="0" err="1" smtClean="0"/>
              <a:t>aplici</a:t>
            </a:r>
            <a:r>
              <a:rPr lang="en-US" sz="2200" dirty="0" smtClean="0"/>
              <a:t> o </a:t>
            </a:r>
            <a:r>
              <a:rPr lang="en-US" sz="2200" dirty="0" err="1" smtClean="0"/>
              <a:t>sancțiune</a:t>
            </a:r>
            <a:r>
              <a:rPr lang="en-US" sz="2200" dirty="0" smtClean="0"/>
              <a:t> </a:t>
            </a:r>
            <a:r>
              <a:rPr lang="en-US" sz="2200" dirty="0" err="1" smtClean="0"/>
              <a:t>și</a:t>
            </a:r>
            <a:r>
              <a:rPr lang="en-US" sz="2200" dirty="0" smtClean="0"/>
              <a:t> </a:t>
            </a:r>
            <a:r>
              <a:rPr lang="en-US" sz="2200" dirty="0" err="1" smtClean="0"/>
              <a:t>vrei</a:t>
            </a:r>
            <a:r>
              <a:rPr lang="en-US" sz="2200" dirty="0" smtClean="0"/>
              <a:t> </a:t>
            </a:r>
            <a:r>
              <a:rPr lang="en-US" sz="2200" dirty="0" err="1" smtClean="0"/>
              <a:t>să</a:t>
            </a:r>
            <a:r>
              <a:rPr lang="en-US" sz="2200" dirty="0" smtClean="0"/>
              <a:t> o </a:t>
            </a:r>
            <a:r>
              <a:rPr lang="en-US" sz="2200" dirty="0" err="1" smtClean="0"/>
              <a:t>aplici</a:t>
            </a:r>
            <a:r>
              <a:rPr lang="en-US" sz="2200" dirty="0" smtClean="0"/>
              <a:t> </a:t>
            </a:r>
            <a:r>
              <a:rPr lang="en-US" sz="2200" dirty="0" err="1" smtClean="0"/>
              <a:t>pe</a:t>
            </a:r>
            <a:r>
              <a:rPr lang="en-US" sz="2200" dirty="0" smtClean="0"/>
              <a:t> </a:t>
            </a:r>
            <a:r>
              <a:rPr lang="en-US" sz="2200" dirty="0" err="1" smtClean="0"/>
              <a:t>cea</a:t>
            </a:r>
            <a:r>
              <a:rPr lang="en-US" sz="2200" dirty="0" smtClean="0"/>
              <a:t> </a:t>
            </a:r>
            <a:r>
              <a:rPr lang="en-US" sz="2200" dirty="0" err="1" smtClean="0"/>
              <a:t>mai</a:t>
            </a:r>
            <a:r>
              <a:rPr lang="en-US" sz="2200" dirty="0" smtClean="0"/>
              <a:t> </a:t>
            </a:r>
            <a:r>
              <a:rPr lang="en-US" sz="2200" dirty="0" err="1" smtClean="0"/>
              <a:t>ușoară</a:t>
            </a:r>
            <a:r>
              <a:rPr lang="en-US" sz="2200" dirty="0" smtClean="0"/>
              <a:t>. Din </a:t>
            </a:r>
            <a:r>
              <a:rPr lang="en-US" sz="2200" dirty="0" err="1" smtClean="0"/>
              <a:t>păcate</a:t>
            </a:r>
            <a:r>
              <a:rPr lang="en-US" sz="2200" dirty="0" smtClean="0"/>
              <a:t>, </a:t>
            </a:r>
            <a:r>
              <a:rPr lang="en-US" sz="2200" dirty="0" err="1" smtClean="0"/>
              <a:t>afli</a:t>
            </a:r>
            <a:r>
              <a:rPr lang="en-US" sz="2200" dirty="0" smtClean="0"/>
              <a:t> </a:t>
            </a:r>
            <a:r>
              <a:rPr lang="en-US" sz="2200" dirty="0" err="1" smtClean="0"/>
              <a:t>că</a:t>
            </a:r>
            <a:r>
              <a:rPr lang="en-US" sz="2200" dirty="0" smtClean="0"/>
              <a:t> </a:t>
            </a:r>
            <a:r>
              <a:rPr lang="en-US" sz="2200" dirty="0" err="1" smtClean="0"/>
              <a:t>cel</a:t>
            </a:r>
            <a:r>
              <a:rPr lang="en-US" sz="2200" dirty="0" smtClean="0"/>
              <a:t> </a:t>
            </a:r>
            <a:r>
              <a:rPr lang="en-US" sz="2200" dirty="0" err="1" smtClean="0"/>
              <a:t>vinovat</a:t>
            </a:r>
            <a:r>
              <a:rPr lang="en-US" sz="2200" dirty="0" smtClean="0"/>
              <a:t> a </a:t>
            </a:r>
            <a:r>
              <a:rPr lang="en-US" sz="2200" dirty="0" err="1" smtClean="0"/>
              <a:t>mai</a:t>
            </a:r>
            <a:r>
              <a:rPr lang="en-US" sz="2200" dirty="0" smtClean="0"/>
              <a:t> </a:t>
            </a:r>
            <a:r>
              <a:rPr lang="en-US" sz="2200" dirty="0" err="1" smtClean="0"/>
              <a:t>făcut</a:t>
            </a:r>
            <a:r>
              <a:rPr lang="en-US" sz="2200" dirty="0" smtClean="0"/>
              <a:t> o </a:t>
            </a:r>
            <a:r>
              <a:rPr lang="en-US" sz="2200" dirty="0" err="1" smtClean="0"/>
              <a:t>greșeală</a:t>
            </a:r>
            <a:r>
              <a:rPr lang="en-US" sz="2200" dirty="0" smtClean="0"/>
              <a:t> mare </a:t>
            </a:r>
            <a:r>
              <a:rPr lang="en-US" sz="2200" dirty="0" err="1" smtClean="0"/>
              <a:t>și</a:t>
            </a:r>
            <a:r>
              <a:rPr lang="en-US" sz="2200" dirty="0" smtClean="0"/>
              <a:t> </a:t>
            </a:r>
            <a:r>
              <a:rPr lang="en-US" sz="2200" dirty="0" err="1" smtClean="0"/>
              <a:t>va</a:t>
            </a:r>
            <a:r>
              <a:rPr lang="en-US" sz="2200" dirty="0" smtClean="0"/>
              <a:t> fi </a:t>
            </a:r>
            <a:r>
              <a:rPr lang="en-US" sz="2200" dirty="0" err="1" smtClean="0"/>
              <a:t>probabil</a:t>
            </a:r>
            <a:r>
              <a:rPr lang="en-US" sz="2200" dirty="0" smtClean="0"/>
              <a:t> </a:t>
            </a:r>
            <a:r>
              <a:rPr lang="en-US" sz="2200" dirty="0" err="1" smtClean="0"/>
              <a:t>concediat</a:t>
            </a:r>
            <a:r>
              <a:rPr lang="en-US" sz="2200" dirty="0" smtClean="0"/>
              <a:t>. </a:t>
            </a:r>
            <a:r>
              <a:rPr lang="en-US" sz="2200" dirty="0" err="1" smtClean="0"/>
              <a:t>Vrei</a:t>
            </a:r>
            <a:r>
              <a:rPr lang="en-US" sz="2200" dirty="0" smtClean="0"/>
              <a:t> </a:t>
            </a:r>
            <a:r>
              <a:rPr lang="en-US" sz="2200" dirty="0" err="1" smtClean="0"/>
              <a:t>să</a:t>
            </a:r>
            <a:r>
              <a:rPr lang="en-US" sz="2200" dirty="0" smtClean="0"/>
              <a:t> </a:t>
            </a:r>
            <a:r>
              <a:rPr lang="en-US" sz="2200" dirty="0" err="1" smtClean="0"/>
              <a:t>pedepsești</a:t>
            </a:r>
            <a:r>
              <a:rPr lang="en-US" sz="2200" dirty="0" smtClean="0"/>
              <a:t> un </a:t>
            </a:r>
            <a:r>
              <a:rPr lang="en-US" sz="2200" dirty="0" err="1" smtClean="0"/>
              <a:t>om</a:t>
            </a:r>
            <a:r>
              <a:rPr lang="en-US" sz="2200" dirty="0" smtClean="0"/>
              <a:t> </a:t>
            </a:r>
            <a:r>
              <a:rPr lang="en-US" sz="2200" dirty="0" err="1" smtClean="0"/>
              <a:t>nevinovat</a:t>
            </a:r>
            <a:r>
              <a:rPr lang="en-US" sz="2200" dirty="0" smtClean="0"/>
              <a:t> care are o imagine </a:t>
            </a:r>
            <a:r>
              <a:rPr lang="en-US" sz="2200" dirty="0" err="1" smtClean="0"/>
              <a:t>bună</a:t>
            </a:r>
            <a:r>
              <a:rPr lang="en-US" sz="2200" dirty="0" smtClean="0"/>
              <a:t>. </a:t>
            </a:r>
            <a:r>
              <a:rPr lang="en-US" sz="2200" dirty="0" err="1" smtClean="0"/>
              <a:t>Ar</a:t>
            </a:r>
            <a:r>
              <a:rPr lang="en-US" sz="2200" dirty="0" smtClean="0"/>
              <a:t> fi </a:t>
            </a:r>
            <a:r>
              <a:rPr lang="en-US" sz="2200" dirty="0" err="1" smtClean="0"/>
              <a:t>corect</a:t>
            </a:r>
            <a:r>
              <a:rPr lang="en-US" sz="2200" dirty="0" smtClean="0"/>
              <a:t>?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US" sz="2200" dirty="0" smtClean="0"/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200" dirty="0" smtClean="0"/>
              <a:t>     </a:t>
            </a:r>
            <a:r>
              <a:rPr lang="en-US" sz="2200" dirty="0" err="1" smtClean="0"/>
              <a:t>Aplicare</a:t>
            </a:r>
            <a:r>
              <a:rPr lang="en-US" sz="2200" dirty="0" smtClean="0"/>
              <a:t> </a:t>
            </a:r>
            <a:r>
              <a:rPr lang="en-US" sz="2200" dirty="0" err="1" smtClean="0"/>
              <a:t>greșită</a:t>
            </a:r>
            <a:r>
              <a:rPr lang="en-US" sz="2200" dirty="0" smtClean="0"/>
              <a:t>: da, </a:t>
            </a:r>
            <a:r>
              <a:rPr lang="en-US" sz="2200" dirty="0" err="1" smtClean="0"/>
              <a:t>intenția</a:t>
            </a:r>
            <a:r>
              <a:rPr lang="en-US" sz="2200" dirty="0" smtClean="0"/>
              <a:t> </a:t>
            </a:r>
            <a:r>
              <a:rPr lang="en-US" sz="2200" dirty="0" err="1" smtClean="0"/>
              <a:t>este</a:t>
            </a:r>
            <a:r>
              <a:rPr lang="en-US" sz="2200" dirty="0" smtClean="0"/>
              <a:t> </a:t>
            </a:r>
            <a:r>
              <a:rPr lang="en-US" sz="2200" dirty="0" err="1" smtClean="0"/>
              <a:t>bună</a:t>
            </a:r>
            <a:r>
              <a:rPr lang="en-US" sz="2200" dirty="0" smtClean="0"/>
              <a:t>.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200" dirty="0" smtClean="0"/>
              <a:t>    </a:t>
            </a:r>
            <a:r>
              <a:rPr lang="en-US" sz="2200" dirty="0" err="1" smtClean="0"/>
              <a:t>Aplicare</a:t>
            </a:r>
            <a:r>
              <a:rPr lang="en-US" sz="2200" dirty="0" smtClean="0"/>
              <a:t> </a:t>
            </a:r>
            <a:r>
              <a:rPr lang="en-US" sz="2200" dirty="0" err="1" smtClean="0"/>
              <a:t>corectă</a:t>
            </a:r>
            <a:r>
              <a:rPr lang="en-US" sz="2200" dirty="0" smtClean="0"/>
              <a:t>: Nu, </a:t>
            </a:r>
            <a:r>
              <a:rPr lang="en-US" sz="2200" dirty="0" err="1" smtClean="0"/>
              <a:t>pentru</a:t>
            </a:r>
            <a:r>
              <a:rPr lang="en-US" sz="2200" dirty="0" smtClean="0"/>
              <a:t> </a:t>
            </a:r>
            <a:r>
              <a:rPr lang="en-US" sz="2200" dirty="0" err="1" smtClean="0"/>
              <a:t>că</a:t>
            </a:r>
            <a:r>
              <a:rPr lang="en-US" sz="2200" dirty="0" smtClean="0"/>
              <a:t> l-</a:t>
            </a:r>
            <a:r>
              <a:rPr lang="en-US" sz="2200" dirty="0" err="1" smtClean="0"/>
              <a:t>ai</a:t>
            </a:r>
            <a:r>
              <a:rPr lang="en-US" sz="2200" dirty="0" smtClean="0"/>
              <a:t> </a:t>
            </a:r>
            <a:r>
              <a:rPr lang="en-US" sz="2200" dirty="0" err="1" smtClean="0"/>
              <a:t>folosi</a:t>
            </a:r>
            <a:r>
              <a:rPr lang="en-US" sz="2200" dirty="0" smtClean="0"/>
              <a:t> </a:t>
            </a:r>
            <a:r>
              <a:rPr lang="en-US" sz="2200" dirty="0" err="1" smtClean="0"/>
              <a:t>pe</a:t>
            </a:r>
            <a:r>
              <a:rPr lang="en-US" sz="2200" dirty="0" smtClean="0"/>
              <a:t> </a:t>
            </a:r>
            <a:r>
              <a:rPr lang="en-US" sz="2200" dirty="0" err="1" smtClean="0"/>
              <a:t>cel</a:t>
            </a:r>
            <a:r>
              <a:rPr lang="en-US" sz="2200" dirty="0" smtClean="0"/>
              <a:t> </a:t>
            </a:r>
            <a:r>
              <a:rPr lang="en-US" sz="2200" dirty="0" err="1" smtClean="0"/>
              <a:t>nevinovat</a:t>
            </a:r>
            <a:r>
              <a:rPr lang="en-US" sz="2200" dirty="0" smtClean="0"/>
              <a:t> </a:t>
            </a:r>
            <a:r>
              <a:rPr lang="en-US" sz="2200" dirty="0" err="1" smtClean="0"/>
              <a:t>în</a:t>
            </a:r>
            <a:r>
              <a:rPr lang="en-US" sz="2200" dirty="0" smtClean="0"/>
              <a:t> </a:t>
            </a:r>
            <a:r>
              <a:rPr lang="en-US" sz="2200" dirty="0" err="1" smtClean="0"/>
              <a:t>avantajul</a:t>
            </a:r>
            <a:r>
              <a:rPr lang="en-US" sz="2200" dirty="0" smtClean="0"/>
              <a:t> </a:t>
            </a:r>
            <a:r>
              <a:rPr lang="en-US" sz="2200" dirty="0" err="1" smtClean="0"/>
              <a:t>celui</a:t>
            </a:r>
            <a:r>
              <a:rPr lang="en-US" sz="2200" dirty="0" smtClean="0"/>
              <a:t> </a:t>
            </a:r>
            <a:r>
              <a:rPr lang="en-US" sz="2200" dirty="0" err="1" smtClean="0"/>
              <a:t>vinovat</a:t>
            </a:r>
            <a:r>
              <a:rPr lang="en-US" sz="22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614924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Batman vs. The Joker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smtClean="0"/>
              <a:t>De ce nu îl ucide Batman pe Joker?</a:t>
            </a:r>
          </a:p>
          <a:p>
            <a:r>
              <a:rPr lang="ro-RO" dirty="0" smtClean="0"/>
              <a:t>E utilitarist sau deontologist?</a:t>
            </a:r>
          </a:p>
          <a:p>
            <a:endParaRPr lang="ro-RO" dirty="0"/>
          </a:p>
          <a:p>
            <a:endParaRPr lang="ro-RO" dirty="0" smtClean="0"/>
          </a:p>
          <a:p>
            <a:r>
              <a:rPr lang="ro-RO" dirty="0" smtClean="0"/>
              <a:t>Dacă ai fi Batman, ce ai face?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6344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Etica vieții virtuoase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610600" cy="4876800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ro-RO" dirty="0" smtClean="0"/>
              <a:t>Punct de plecare: existența unor persoane cu un comportament exemplar din punct de vedere moral (Socrate, Dalai Lama, Gandhi etc.).</a:t>
            </a:r>
          </a:p>
          <a:p>
            <a:pPr>
              <a:buNone/>
            </a:pPr>
            <a:endParaRPr lang="ro-RO" dirty="0" smtClean="0"/>
          </a:p>
          <a:p>
            <a:pPr>
              <a:buNone/>
            </a:pPr>
            <a:r>
              <a:rPr lang="ro-RO" b="1" dirty="0" smtClean="0"/>
              <a:t>Raționament (ideea de bază)</a:t>
            </a:r>
            <a:r>
              <a:rPr lang="ro-RO" dirty="0" smtClean="0"/>
              <a:t>:</a:t>
            </a:r>
            <a:endParaRPr lang="ro-RO" dirty="0"/>
          </a:p>
          <a:p>
            <a:pPr>
              <a:buNone/>
            </a:pPr>
            <a:r>
              <a:rPr lang="ro-RO" dirty="0" smtClean="0"/>
              <a:t>(1) X este o persoană virtuoasă. </a:t>
            </a:r>
          </a:p>
          <a:p>
            <a:pPr>
              <a:buNone/>
            </a:pPr>
            <a:r>
              <a:rPr lang="ro-RO" dirty="0" smtClean="0"/>
              <a:t>(2) Dacă X realizează acțiunea A, atunci A este o acțiune bună</a:t>
            </a:r>
          </a:p>
          <a:p>
            <a:pPr>
              <a:buNone/>
            </a:pPr>
            <a:r>
              <a:rPr lang="ro-RO" dirty="0" smtClean="0"/>
              <a:t>(3) Dacă vreau ca acțiunea mea B să fie bună, trebuie să fiu o persoană asemănătoare lui X.</a:t>
            </a:r>
          </a:p>
          <a:p>
            <a:pPr>
              <a:buNone/>
            </a:pPr>
            <a:endParaRPr lang="ro-RO" dirty="0"/>
          </a:p>
          <a:p>
            <a:pPr>
              <a:buNone/>
            </a:pPr>
            <a:r>
              <a:rPr lang="ro-RO" b="1" dirty="0" smtClean="0"/>
              <a:t>Observație</a:t>
            </a:r>
            <a:r>
              <a:rPr lang="ro-RO" dirty="0" smtClean="0"/>
              <a:t>: calitatea morală a acțiunii decurge din calitatea caracterului persoanei respective (caracterul virtuos).</a:t>
            </a:r>
          </a:p>
          <a:p>
            <a:pPr>
              <a:buNone/>
            </a:pPr>
            <a:endParaRPr lang="ro-RO" dirty="0"/>
          </a:p>
          <a:p>
            <a:pPr>
              <a:buNone/>
            </a:pPr>
            <a:r>
              <a:rPr lang="ro-RO" dirty="0" smtClean="0"/>
              <a:t>Atunci: cum mă pot asigura că sunt o persoană virtuoasă? Căpătând:</a:t>
            </a:r>
          </a:p>
          <a:p>
            <a:pPr>
              <a:buNone/>
            </a:pPr>
            <a:r>
              <a:rPr lang="ro-RO" dirty="0" smtClean="0"/>
              <a:t>(1) virtuți morale: curajul, cumpătarea, mărinimia</a:t>
            </a:r>
          </a:p>
          <a:p>
            <a:pPr>
              <a:buNone/>
            </a:pPr>
            <a:r>
              <a:rPr lang="ro-RO" dirty="0" smtClean="0"/>
              <a:t>(2) virtuți intelectuale: înțelepciunea, inteligența, discernământul</a:t>
            </a:r>
          </a:p>
          <a:p>
            <a:pPr>
              <a:buNone/>
            </a:pPr>
            <a:endParaRPr lang="ro-RO" dirty="0" smtClean="0"/>
          </a:p>
          <a:p>
            <a:pPr>
              <a:buNone/>
            </a:pPr>
            <a:r>
              <a:rPr lang="ro-RO" b="1" dirty="0" smtClean="0"/>
              <a:t>Probleme</a:t>
            </a:r>
            <a:r>
              <a:rPr lang="ro-RO" dirty="0" smtClean="0"/>
              <a:t>: lista este completă și corectă? Circularitate?</a:t>
            </a:r>
            <a:endParaRPr lang="ro-RO" dirty="0"/>
          </a:p>
          <a:p>
            <a:pPr>
              <a:buNone/>
            </a:pPr>
            <a:endParaRPr lang="ro-RO" dirty="0" smtClean="0"/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325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762000"/>
            <a:ext cx="6858000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8230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3E6573EBEF95419FE5CDD911A166BF" ma:contentTypeVersion="2" ma:contentTypeDescription="Create a new document." ma:contentTypeScope="" ma:versionID="af8772857c8577c6f39c3966c4db86f2">
  <xsd:schema xmlns:xsd="http://www.w3.org/2001/XMLSchema" xmlns:xs="http://www.w3.org/2001/XMLSchema" xmlns:p="http://schemas.microsoft.com/office/2006/metadata/properties" xmlns:ns2="d06dbadc-5ebd-4821-b299-ce6b9eaad42b" targetNamespace="http://schemas.microsoft.com/office/2006/metadata/properties" ma:root="true" ma:fieldsID="4b8ab12f56004d35a3ac51f67fb975e2" ns2:_="">
    <xsd:import namespace="d06dbadc-5ebd-4821-b299-ce6b9eaad4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6dbadc-5ebd-4821-b299-ce6b9eaad4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29F3552-FAB9-45B2-9AF5-D6626EF27AAC}"/>
</file>

<file path=customXml/itemProps2.xml><?xml version="1.0" encoding="utf-8"?>
<ds:datastoreItem xmlns:ds="http://schemas.openxmlformats.org/officeDocument/2006/customXml" ds:itemID="{66AC9063-0FAA-4288-9B99-5CE7C5A434B0}"/>
</file>

<file path=customXml/itemProps3.xml><?xml version="1.0" encoding="utf-8"?>
<ds:datastoreItem xmlns:ds="http://schemas.openxmlformats.org/officeDocument/2006/customXml" ds:itemID="{4EE7BF71-68B5-4F6D-A9F1-76C5EB50B428}"/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2663</Words>
  <Application>Microsoft Office PowerPoint</Application>
  <PresentationFormat>On-screen Show (4:3)</PresentationFormat>
  <Paragraphs>268</Paragraphs>
  <Slides>39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Office Theme</vt:lpstr>
      <vt:lpstr>Noțiuni de etică</vt:lpstr>
      <vt:lpstr>Cum ați defini termenul „moral”?</vt:lpstr>
      <vt:lpstr>Acțiuni morale, imorale, amorale</vt:lpstr>
      <vt:lpstr>PowerPoint Presentation</vt:lpstr>
      <vt:lpstr>PowerPoint Presentation</vt:lpstr>
      <vt:lpstr>Wittgenstein - O conferință despre etică </vt:lpstr>
      <vt:lpstr>Etică vs. Morală</vt:lpstr>
      <vt:lpstr>PowerPoint Presentation</vt:lpstr>
      <vt:lpstr>PowerPoint Presentation</vt:lpstr>
      <vt:lpstr>PowerPoint Presentation</vt:lpstr>
      <vt:lpstr>Conflicte între etică și morală </vt:lpstr>
      <vt:lpstr>Ce părere aveți?</vt:lpstr>
      <vt:lpstr>PowerPoint Presentation</vt:lpstr>
      <vt:lpstr>Principii, valori și reguli morale</vt:lpstr>
      <vt:lpstr>Principii, valori și reguli morale</vt:lpstr>
      <vt:lpstr>Principii, valori și reguli morale</vt:lpstr>
      <vt:lpstr>PowerPoint Presentation</vt:lpstr>
      <vt:lpstr>Cum analizăm o problemă etică</vt:lpstr>
      <vt:lpstr>Etica fericirii generale</vt:lpstr>
      <vt:lpstr>Utilitarism</vt:lpstr>
      <vt:lpstr>PowerPoint Presentation</vt:lpstr>
      <vt:lpstr>Exemplu utilitarism</vt:lpstr>
      <vt:lpstr>Critici</vt:lpstr>
      <vt:lpstr>Critici</vt:lpstr>
      <vt:lpstr>PowerPoint Presentation</vt:lpstr>
      <vt:lpstr>PowerPoint Presentation</vt:lpstr>
      <vt:lpstr>Utilitarismul acţional vs. utilitarismul regulii</vt:lpstr>
      <vt:lpstr>Deontologism</vt:lpstr>
      <vt:lpstr>Kantianismul</vt:lpstr>
      <vt:lpstr>Intenția este relevantă</vt:lpstr>
      <vt:lpstr>Intenția este relevantă (II)</vt:lpstr>
      <vt:lpstr>Intenția este relevantă (III)</vt:lpstr>
      <vt:lpstr>Probleme</vt:lpstr>
      <vt:lpstr>Problema 1</vt:lpstr>
      <vt:lpstr>Problema 2</vt:lpstr>
      <vt:lpstr>Problema 3</vt:lpstr>
      <vt:lpstr>Batman vs. The Joker</vt:lpstr>
      <vt:lpstr>Etica vieții virtuoase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Noțiuni de etică</dc:title>
  <dc:creator>ADMINX</dc:creator>
  <cp:lastModifiedBy>ADMINX</cp:lastModifiedBy>
  <cp:revision>1</cp:revision>
  <dcterms:created xsi:type="dcterms:W3CDTF">2020-12-21T19:20:52Z</dcterms:created>
  <dcterms:modified xsi:type="dcterms:W3CDTF">2020-12-21T19:26:19Z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0x010100F33E6573EBEF95419FE5CDD911A166BF</vt:lpwstr>
  </property>
</Properties>
</file>